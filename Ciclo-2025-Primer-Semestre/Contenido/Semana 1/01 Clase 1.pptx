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Arial Bold" charset="1" panose="020B0802020202020204"/>
      <p:regular r:id="rId42"/>
    </p:embeddedFont>
    <p:embeddedFont>
      <p:font typeface="Arial" charset="1" panose="020B0502020202020204"/>
      <p:regular r:id="rId43"/>
    </p:embeddedFont>
    <p:embeddedFont>
      <p:font typeface="Open Sauce Semi-Bold" charset="1" panose="00000700000000000000"/>
      <p:regular r:id="rId44"/>
    </p:embeddedFont>
    <p:embeddedFont>
      <p:font typeface="Open Sauce" charset="1" panose="00000500000000000000"/>
      <p:regular r:id="rId45"/>
    </p:embeddedFont>
    <p:embeddedFont>
      <p:font typeface="Open Sauce Bold" charset="1" panose="0000080000000000000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802" y="-2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4335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167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7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971775" y="4512775"/>
            <a:ext cx="134011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71775" y="5807200"/>
            <a:ext cx="109903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Auxiliar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481642" y="4371352"/>
            <a:ext cx="7324716" cy="71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CLASE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0373" y="8277816"/>
            <a:ext cx="7005985" cy="36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371352"/>
            <a:ext cx="7324716" cy="293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CONCEPTOS INICIALES DE BASES DE DATOS SQL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533108"/>
            <a:ext cx="393106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AGENDA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505810"/>
            <a:ext cx="6036000" cy="684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Introducción a los diferentes tipos de respaldo: completo, incremental y diferencial</a:t>
            </a:r>
          </a:p>
          <a:p>
            <a:pPr algn="l">
              <a:lnSpc>
                <a:spcPts val="2736"/>
              </a:lnSpc>
            </a:pP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Estrategias de respaldo según el tamaño y uso de la base de datos</a:t>
            </a:r>
          </a:p>
          <a:p>
            <a:pPr algn="l">
              <a:lnSpc>
                <a:spcPts val="2736"/>
              </a:lnSpc>
            </a:pP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Herramientas de respaldo: ventajas y desventajas de diferentes soluciones</a:t>
            </a:r>
          </a:p>
          <a:p>
            <a:pPr algn="l">
              <a:lnSpc>
                <a:spcPts val="2736"/>
              </a:lnSpc>
            </a:pP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Automatización de respaldos: creación de scripts para realizar respaldos regulares</a:t>
            </a:r>
          </a:p>
          <a:p>
            <a:pPr algn="l">
              <a:lnSpc>
                <a:spcPts val="2736"/>
              </a:lnSpc>
            </a:pP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Planificación de respaldos: cómo definir la frecuencia adecuada</a:t>
            </a:r>
          </a:p>
          <a:p>
            <a:pPr algn="l">
              <a:lnSpc>
                <a:spcPts val="2736"/>
              </a:lnSpc>
            </a:pP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Recuperación a partir de diferentes tipos de respaldos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Ejercicio práctico: implementación de un plan de respaldo en un entorno de prueba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16790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¿QUÉ ES UNA BASE DE DATOS RELACIONAL?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08427"/>
            <a:ext cx="6036000" cy="341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Conjunto organizado de datos estructurados en tablas.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Usa SQL (Structured Query Language) para manipular la información.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Diseñada para mantener integridad y evitar redundancia.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Ejemplo: base de datos de estudiantes, cursos y notas.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587121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¿QUÉ ES UNA TABLA?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666409"/>
            <a:ext cx="6036000" cy="238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Representa una entidad (como alumnos, productos, ventas).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Compue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sta por filas (registros) y columnas (atributos).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ada fila tiene una estructura fija según las columnas.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61945" y="3595688"/>
          <a:ext cx="7315200" cy="309562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Nombre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Carrera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Derecho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Luis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Ingenieria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1750467" y="4587121"/>
            <a:ext cx="393106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EJEMPLO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587121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CLAVE PRIMARIA (PRIMARY KEY)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666409"/>
            <a:ext cx="6036000" cy="204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Columna (o conjunto de columnas) que identifica d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forma única cada fila.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No se repite y no puede ser nula.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Ejemplo: ID en la tabla Estudiantes.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🧠 To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da tabla debe tener una clave primaria.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587121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CLAVE FORÁNEA (FOREIGN KEY)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55373"/>
            <a:ext cx="6036000" cy="272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Enlace entre dos tablas.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Una clave que referencia la clav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primaria de otra tabla.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Permite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mantener relaciones y consistencia referencial.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🔗 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Ejemplo: Curso.ID_Carrera referencia a Carrera.ID.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587121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CONSULTAS BÁSICAS EN SQL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2416" y="3525148"/>
            <a:ext cx="6036000" cy="341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-- Seleccionar todo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* FROM Estudiantes;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-- Filtr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ar por campo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* FROM Estudiantes WHERE Carrera = 'Ing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iería';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-- Inserta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un nuevo registro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INSERT INTO Estudiantes (ID, Nombre, Carrera)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VALUES (3, 'Marta', 'Arquitectura');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4587121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CONSULTAS BÁSICAS EN SQL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2416" y="3525148"/>
            <a:ext cx="6036000" cy="341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-- Seleccionar todo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* FROM Estudiantes;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-- Filtr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ar por campo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* FROM Estudiantes WHERE Carrera = 'Ing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iería';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-- Inserta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un nuevo registro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INSERT INTO Estudiantes (ID, Nombre, Carrera)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VALUES (3, 'Marta', 'Arquitectura');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3291052"/>
            <a:ext cx="7324716" cy="293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PRINCIPIOS BÁSICOS DE NORMALIZACIÓN (1FN, 2FN, 3FN).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763724" y="490855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¿QUÉ ES LA NORMALIZACIÓN?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908" y="4204462"/>
            <a:ext cx="10184614" cy="1820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Proceso para organizar los datos y reducir la redundancia.</a:t>
            </a:r>
          </a:p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Mejora la consistencia y facilita el mantenimiento.</a:t>
            </a:r>
          </a:p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 aplica mediante formas normales (FN) que siguen reglas progresivas.</a:t>
            </a:r>
          </a:p>
          <a:p>
            <a:pPr algn="just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Se realiza sobre el modelo lógico.</a:t>
            </a:r>
          </a:p>
          <a:p>
            <a:pPr algn="just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763724" y="490855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PRIMERA FORMA NORMAL (1FN)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784" y="4690999"/>
            <a:ext cx="10184614" cy="151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Reglas:</a:t>
            </a:r>
          </a:p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Todos los atributos deben s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er atómicos (sin listas ni valores repetidos).</a:t>
            </a:r>
          </a:p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No debe haber repetición de grupos de columnas.</a:t>
            </a:r>
          </a:p>
          <a:p>
            <a:pPr algn="just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164882" y="3959225"/>
          <a:ext cx="7315200" cy="180975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410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ESTUDIANTE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CURSOS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Mate, Fisica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EJEMPLO NO NORMALIZADO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164882" y="3959225"/>
          <a:ext cx="7315200" cy="2562225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345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ESTUDIANTE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Curso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Fisica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 1FN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4032" y="3290062"/>
            <a:ext cx="10184614" cy="364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Cu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mple 1FN.</a:t>
            </a:r>
          </a:p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No hay dependencias parciales (atributos no dependen de parte de una clave compuesta).</a:t>
            </a:r>
          </a:p>
          <a:p>
            <a:pPr algn="just">
              <a:lnSpc>
                <a:spcPts val="2431"/>
              </a:lnSpc>
            </a:pPr>
          </a:p>
          <a:p>
            <a:pPr algn="just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Ejemplo</a:t>
            </a:r>
          </a:p>
          <a:p>
            <a:pPr algn="just">
              <a:lnSpc>
                <a:spcPts val="2431"/>
              </a:lnSpc>
            </a:pPr>
          </a:p>
          <a:p>
            <a:pPr algn="just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(EstudianteID, CursoID) → NombreEstudiante</a:t>
            </a:r>
          </a:p>
          <a:p>
            <a:pPr algn="just">
              <a:lnSpc>
                <a:spcPts val="2431"/>
              </a:lnSpc>
            </a:pPr>
          </a:p>
          <a:p>
            <a:pPr algn="just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 separa:</a:t>
            </a:r>
          </a:p>
          <a:p>
            <a:pPr algn="just">
              <a:lnSpc>
                <a:spcPts val="2431"/>
              </a:lnSpc>
            </a:pPr>
          </a:p>
          <a:p>
            <a:pPr algn="just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Tabla 1: EstudianteID → Nombre Estudiante</a:t>
            </a:r>
          </a:p>
          <a:p>
            <a:pPr algn="just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Tabla 2: EstudianteID, CursoID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SEGUNDA FORMA NORMAL (2FN)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4032" y="3290062"/>
            <a:ext cx="10184614" cy="364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Reglas:</a:t>
            </a:r>
          </a:p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Cu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mple 2FN.</a:t>
            </a:r>
          </a:p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No hay dependencias transitivas (atributo depende de otro que 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no es clave primaria).</a:t>
            </a:r>
          </a:p>
          <a:p>
            <a:pPr algn="just">
              <a:lnSpc>
                <a:spcPts val="2431"/>
              </a:lnSpc>
            </a:pPr>
          </a:p>
          <a:p>
            <a:pPr algn="just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Ejemplo:</a:t>
            </a:r>
          </a:p>
          <a:p>
            <a:pPr algn="just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EstudianteID → ID_Carrera → NombreCarrera</a:t>
            </a:r>
          </a:p>
          <a:p>
            <a:pPr algn="just">
              <a:lnSpc>
                <a:spcPts val="2431"/>
              </a:lnSpc>
            </a:pPr>
          </a:p>
          <a:p>
            <a:pPr algn="just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 separa en:</a:t>
            </a:r>
          </a:p>
          <a:p>
            <a:pPr algn="just">
              <a:lnSpc>
                <a:spcPts val="2431"/>
              </a:lnSpc>
            </a:pP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Estudiante(ID, ID_Carrera)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Carrera(ID_Carrera, NombreCarrera)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TERCERA FORMA NORMAL (3FN)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828800" y="3263463"/>
          <a:ext cx="7315200" cy="43053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7591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FORMA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Que Evita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Que Exige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63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1FN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Atributos repetidos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Datos Atomicos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63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2FN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Dependencias Parciales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Dependecnia total de la clave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3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3FN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Dependencias Transitivas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Atirbutos solo dependen de la clave.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558576" y="4956921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RESUMEN DE LAS FORMAS NORMALES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371352"/>
            <a:ext cx="7324716" cy="14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FUNCIONES SQL MÁS COMUNES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6279" y="4370324"/>
            <a:ext cx="10184614" cy="121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Son funci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ones que realizan cálculos sobre un conju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nto de filas.</a:t>
            </a:r>
          </a:p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 usan junto con SELECT para resumir información.</a:t>
            </a:r>
          </a:p>
          <a:p>
            <a:pPr algn="just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Muy útiles para reportes, estadísticas, totales y promedios.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¿QUÉ SON LAS FUNCIONES DE AGREGACIÓN?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64651" y="3966337"/>
            <a:ext cx="10184614" cy="273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Devuelve cuá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ntas filas hay que cumplan cierta condición.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🧾 Ejemplo: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COUNT(*) FROM Ventas;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Cuenta todas las ventas registradas.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COUNT(*) FROM Ventas WHERE Total &gt; 500;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Cuenta solo las ventas mayores a 500.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COUNT() – CONTAR FILAS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899" y="4118737"/>
            <a:ext cx="10184614" cy="243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Sum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 todos los valores de una columna numérica.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🧾 Ejemplo: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SUM(Total) FROM Ventas;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Total general de todas las ventas.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SUM(Cantidad) FROM DetalleVentas WHERE Producto = 'Mouse';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Total de unidades vendidas del producto "Mouse".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SUM() – SUMAR VALORES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899" y="4118737"/>
            <a:ext cx="10184614" cy="243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Sum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 todos los valores de una columna numérica.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🧾 Ejemplo: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SUM(Total) FROM Ventas;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Total general de todas las ventas.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SUM(Cantidad) FROM DetalleVentas WHERE Producto = 'Mouse';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Total de unidades vendidas del producto "Mouse".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SUM() – SUMAR VALORES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1784" y="3442462"/>
            <a:ext cx="10184614" cy="334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Calcul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 el promedio aritmético de una columna numérica.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🧾 Ejemplo: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AVG(Total) FROM Ventas;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Promedio de ventas realizadas.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AVG(Edad) FROM Estudiantes WHERE Carrera = 'Ingeniería';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Edad promedio de estudiantes de ingeniería.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AVG() – PROMEDIO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1784" y="3442462"/>
            <a:ext cx="10184614" cy="486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Ot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ras funciones úti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les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MIN() y MAX()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MIN(campo) → valor más pequeño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MAX(campo) → valor más alto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🧾 Ejemplo: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MIN(Precio), MAX(Precio) FROM Productos;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Combinación con GROUP BY: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SELECT Carrera, AVG(Edad)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FROM Estudiantes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GROUP BY Carrera;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Promedio de edad por carrera.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AVG() – PROMEDIO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371352"/>
            <a:ext cx="7324716" cy="219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PROCEDIMIENTOS ALMACENADOS EN SQL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93642" y="4017137"/>
            <a:ext cx="10184614" cy="1820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 un bloque de instruccion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es SQL guardado en la base de datos.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 eje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cuta con una sola llamada (CALL o EXEC).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Puede recibir parámetros y devolver resultados.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Ideal para automatizar procesos repetitivos.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Ejemplo: registrar ventas, actualizar inventario, generar reportes.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¿QUÉ ES UN PROCEDIMIENTO ALMACENADO?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899" y="4509262"/>
            <a:ext cx="10184614" cy="121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Mayor rendimiento: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evita enviar múltiples comandos.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Re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utilización: una vez creado, puede llamarse muchas veces.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 Seguridad: se pueden controlar permisos a nivel del procedimiento.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✅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Mantenimiento: facilita actualizaciones y reduce errores.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4189048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VENTAJAS DE USAR PROCEDIMIENTOS ALMACENADOS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899" y="4067937"/>
            <a:ext cx="10184614" cy="273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PROCEDURE MostrarEstudiantes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AS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BEGIN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SELECT * FROM Estudiantes;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END;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Este procedimiento muestra todos los registros de la tabla Estudiantes.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418904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SINTAXIS BÁSICA EN SQL SERVER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899" y="4067937"/>
            <a:ext cx="10184614" cy="273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PROCEDURE MostrarEstudiantes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AS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BEGIN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SELECT * FROM Estudiantes;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END;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🔍 Este procedimiento muestra todos los registros de la tabla Estudiantes.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418904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SINTAXIS BÁSICA EN SQL SERVER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899" y="4118737"/>
            <a:ext cx="10184614" cy="243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EXE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 MostrarEstudiantes;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📌 Si tiene parámetros: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EXEC BuscarEstudiantePorCarrera @Carrera = 'Ingeniería';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📘 EXECUTE es equivalente a EXEC.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418904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LLAMAR UN PROCEDIMIENTO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899" y="4118737"/>
            <a:ext cx="10184614" cy="364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PRO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CEDURE InsertarAlumno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@Nombre NVARCHAR(100),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@Carrera NVARCHAR(50)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AS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BEGIN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INSERT INTO Estudiantes (Nombre, Carrera)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VALUES (@Nombre, @Carrera);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END;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📥 Se llama así: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EXEC InsertarAlumno @Nombre = 'Luis', @Carrera = 'Ingeniería';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418904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LLAMAR UN PROCEDIMIENTO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899" y="4118737"/>
            <a:ext cx="10184614" cy="364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PRO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CEDURE InsertarAlumno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@Nombre NVARCHAR(100),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@Carrera NVARCHAR(50)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AS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BEGIN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INSERT INTO Estudiantes (Nombre, Carrera)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VALUES (@Nombre, @Carrera);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END;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📥 Se llama así: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EXEC InsertarAlumno @Nombre = 'Luis', @Carrera = 'Ingeniería';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418904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LLAMAR UN PROCEDIMIENTO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168" y="0"/>
            <a:ext cx="7546832" cy="10287000"/>
            <a:chOff x="0" y="0"/>
            <a:chExt cx="1006244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561" t="0" r="25561" b="0"/>
            <a:stretch>
              <a:fillRect/>
            </a:stretch>
          </p:blipFill>
          <p:spPr>
            <a:xfrm flipH="false" flipV="false">
              <a:off x="0" y="0"/>
              <a:ext cx="1006244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750693" y="0"/>
            <a:ext cx="7546832" cy="10287000"/>
            <a:chOff x="0" y="0"/>
            <a:chExt cx="19876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76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87643">
                  <a:moveTo>
                    <a:pt x="0" y="0"/>
                  </a:moveTo>
                  <a:lnTo>
                    <a:pt x="1987643" y="0"/>
                  </a:lnTo>
                  <a:lnTo>
                    <a:pt x="19876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76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899" y="4118737"/>
            <a:ext cx="10184614" cy="364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 PRO</a:t>
            </a: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CEDURE InsertarAlumno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@Nombre NVARCHAR(100),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@Carrera NVARCHAR(50)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AS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BEGIN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INSERT INTO Estudiantes (Nombre, Carrera)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   VALUES (@Nombre, @Carrera);</a:t>
            </a:r>
          </a:p>
          <a:p>
            <a:pPr algn="l" marL="345439" indent="-172720" lvl="1">
              <a:lnSpc>
                <a:spcPts val="2431"/>
              </a:lnSpc>
              <a:buFont typeface="Arial"/>
              <a:buChar char="•"/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END;</a:t>
            </a:r>
          </a:p>
          <a:p>
            <a:pPr algn="l">
              <a:lnSpc>
                <a:spcPts val="2431"/>
              </a:lnSpc>
            </a:pP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📥 Se llama así:</a:t>
            </a:r>
          </a:p>
          <a:p>
            <a:pPr algn="l">
              <a:lnSpc>
                <a:spcPts val="2431"/>
              </a:lnSpc>
            </a:pPr>
            <a:r>
              <a:rPr lang="en-US" sz="1599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EXEC InsertarAlumno @Nombre = 'Luis', @Carrera = 'Ingeniería';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63724" y="4908550"/>
            <a:ext cx="418904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LLAMAR UN PROCEDIMIENTO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1642" y="4741027"/>
            <a:ext cx="7324716" cy="71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DAF7CWjkB70</dc:identifier>
  <dcterms:modified xsi:type="dcterms:W3CDTF">2011-08-01T06:04:30Z</dcterms:modified>
  <cp:revision>1</cp:revision>
  <dc:title>01 Clase 1</dc:title>
</cp:coreProperties>
</file>