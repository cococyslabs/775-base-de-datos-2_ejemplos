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8229600" cx="14630400"/>
  <p:notesSz cx="8229600" cy="14630400"/>
  <p:embeddedFontLst>
    <p:embeddedFont>
      <p:font typeface="Fira Mono Medium"/>
      <p:regular r:id="rId20"/>
      <p:bold r:id="rId21"/>
    </p:embeddedFont>
    <p:embeddedFont>
      <p:font typeface="Fira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N1wF/UwjY3KmugHTJNCQTblZv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iraMonoMedium-regular.fntdata"/><Relationship Id="rId22" Type="http://schemas.openxmlformats.org/officeDocument/2006/relationships/font" Target="fonts/FiraSans-regular.fntdata"/><Relationship Id="rId21" Type="http://schemas.openxmlformats.org/officeDocument/2006/relationships/font" Target="fonts/FiraMonoMedium-bold.fntdata"/><Relationship Id="rId24" Type="http://schemas.openxmlformats.org/officeDocument/2006/relationships/font" Target="fonts/FiraSans-italic.fntdata"/><Relationship Id="rId23" Type="http://schemas.openxmlformats.org/officeDocument/2006/relationships/font" Target="fonts/Fira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Fira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7.png"/><Relationship Id="rId5"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9.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8.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descr="preencoded.png" id="61" name="Google Shape;61;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62" name="Google Shape;62;p1"/>
          <p:cNvPicPr preferRelativeResize="0"/>
          <p:nvPr/>
        </p:nvPicPr>
        <p:blipFill rotWithShape="1">
          <a:blip r:embed="rId4">
            <a:alphaModFix/>
          </a:blip>
          <a:srcRect b="0" l="0" r="0" t="0"/>
          <a:stretch/>
        </p:blipFill>
        <p:spPr>
          <a:xfrm>
            <a:off x="9427607" y="2159318"/>
            <a:ext cx="4919186" cy="3910846"/>
          </a:xfrm>
          <a:prstGeom prst="rect">
            <a:avLst/>
          </a:prstGeom>
          <a:noFill/>
          <a:ln>
            <a:noFill/>
          </a:ln>
        </p:spPr>
      </p:pic>
      <p:sp>
        <p:nvSpPr>
          <p:cNvPr id="63" name="Google Shape;63;p1"/>
          <p:cNvSpPr/>
          <p:nvPr/>
        </p:nvSpPr>
        <p:spPr>
          <a:xfrm>
            <a:off x="793790" y="218408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Fundamentos de Bases de Datos NoSQL</a:t>
            </a:r>
            <a:endParaRPr b="0" i="0" sz="4450" u="none" cap="none" strike="noStrike"/>
          </a:p>
        </p:txBody>
      </p:sp>
      <p:sp>
        <p:nvSpPr>
          <p:cNvPr id="64" name="Google Shape;64;p1"/>
          <p:cNvSpPr/>
          <p:nvPr/>
        </p:nvSpPr>
        <p:spPr>
          <a:xfrm>
            <a:off x="793790" y="3941802"/>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NoSQL (Not only SQL) representan un paradigma de almacenamiento y procesamiento de datos que se aleja del modelo relacional tradicional de las bases de datos SQL. Ofrecen soluciones flexibles y escalables para abordar los desafíos de la era del Big Data.</a:t>
            </a:r>
            <a:endParaRPr b="0" i="0" sz="1750" u="none" cap="none" strike="noStrike"/>
          </a:p>
        </p:txBody>
      </p:sp>
      <p:pic>
        <p:nvPicPr>
          <p:cNvPr descr="preencoded.png" id="65" name="Google Shape;65;p1"/>
          <p:cNvPicPr preferRelativeResize="0"/>
          <p:nvPr/>
        </p:nvPicPr>
        <p:blipFill rotWithShape="1">
          <a:blip r:embed="rId5">
            <a:alphaModFix/>
          </a:blip>
          <a:srcRect b="0" l="0" r="0" t="0"/>
          <a:stretch/>
        </p:blipFill>
        <p:spPr>
          <a:xfrm>
            <a:off x="801410" y="5673090"/>
            <a:ext cx="347663" cy="3476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preencoded.png" id="71" name="Google Shape;71;p2"/>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72" name="Google Shape;72;p2"/>
          <p:cNvPicPr preferRelativeResize="0"/>
          <p:nvPr/>
        </p:nvPicPr>
        <p:blipFill rotWithShape="1">
          <a:blip r:embed="rId4">
            <a:alphaModFix/>
          </a:blip>
          <a:srcRect b="0" l="0" r="0" t="0"/>
          <a:stretch/>
        </p:blipFill>
        <p:spPr>
          <a:xfrm>
            <a:off x="238839" y="1858804"/>
            <a:ext cx="5008602" cy="4511993"/>
          </a:xfrm>
          <a:prstGeom prst="rect">
            <a:avLst/>
          </a:prstGeom>
          <a:noFill/>
          <a:ln>
            <a:noFill/>
          </a:ln>
        </p:spPr>
      </p:pic>
      <p:sp>
        <p:nvSpPr>
          <p:cNvPr id="73" name="Google Shape;73;p2"/>
          <p:cNvSpPr/>
          <p:nvPr/>
        </p:nvSpPr>
        <p:spPr>
          <a:xfrm>
            <a:off x="6155174" y="559475"/>
            <a:ext cx="4777621" cy="597218"/>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FBF3FA"/>
              </a:buClr>
              <a:buSzPts val="3750"/>
              <a:buFont typeface="Fira Mono Medium"/>
              <a:buNone/>
            </a:pPr>
            <a:r>
              <a:rPr b="0" i="0" lang="en-US" sz="3750" u="none" cap="none" strike="noStrike">
                <a:solidFill>
                  <a:srgbClr val="FBF3FA"/>
                </a:solidFill>
                <a:latin typeface="Fira Mono Medium"/>
                <a:ea typeface="Fira Mono Medium"/>
                <a:cs typeface="Fira Mono Medium"/>
                <a:sym typeface="Fira Mono Medium"/>
              </a:rPr>
              <a:t>¿Qué es NoSQL?</a:t>
            </a:r>
            <a:endParaRPr b="0" i="0" sz="3750" u="none" cap="none" strike="noStrike"/>
          </a:p>
        </p:txBody>
      </p:sp>
      <p:pic>
        <p:nvPicPr>
          <p:cNvPr descr="preencoded.png" id="74" name="Google Shape;74;p2"/>
          <p:cNvPicPr preferRelativeResize="0"/>
          <p:nvPr/>
        </p:nvPicPr>
        <p:blipFill rotWithShape="1">
          <a:blip r:embed="rId5">
            <a:alphaModFix/>
          </a:blip>
          <a:srcRect b="0" l="0" r="0" t="0"/>
          <a:stretch/>
        </p:blipFill>
        <p:spPr>
          <a:xfrm>
            <a:off x="6155174" y="1443276"/>
            <a:ext cx="477679" cy="477679"/>
          </a:xfrm>
          <a:prstGeom prst="rect">
            <a:avLst/>
          </a:prstGeom>
          <a:noFill/>
          <a:ln>
            <a:noFill/>
          </a:ln>
        </p:spPr>
      </p:pic>
      <p:sp>
        <p:nvSpPr>
          <p:cNvPr id="75" name="Google Shape;75;p2"/>
          <p:cNvSpPr/>
          <p:nvPr/>
        </p:nvSpPr>
        <p:spPr>
          <a:xfrm>
            <a:off x="6155174" y="2112050"/>
            <a:ext cx="2864763" cy="2984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D6DE"/>
              </a:buClr>
              <a:buSzPts val="1850"/>
              <a:buFont typeface="Fira Mono Medium"/>
              <a:buNone/>
            </a:pPr>
            <a:r>
              <a:rPr b="0" i="0" lang="en-US" sz="1850" u="none" cap="none" strike="noStrike">
                <a:solidFill>
                  <a:srgbClr val="E0D6DE"/>
                </a:solidFill>
                <a:latin typeface="Fira Mono Medium"/>
                <a:ea typeface="Fira Mono Medium"/>
                <a:cs typeface="Fira Mono Medium"/>
                <a:sym typeface="Fira Mono Medium"/>
              </a:rPr>
              <a:t>Bases de Datos NoSQL</a:t>
            </a:r>
            <a:endParaRPr b="0" i="0" sz="1850" u="none" cap="none" strike="noStrike"/>
          </a:p>
        </p:txBody>
      </p:sp>
      <p:sp>
        <p:nvSpPr>
          <p:cNvPr id="76" name="Google Shape;76;p2"/>
          <p:cNvSpPr/>
          <p:nvPr/>
        </p:nvSpPr>
        <p:spPr>
          <a:xfrm>
            <a:off x="6155174" y="2525197"/>
            <a:ext cx="7806452" cy="6115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NoSQL se refiere a una clase de sistemas de gestión de bases de datos que se diferencian de los sistemas de bases de datos relacionales tradicionales.</a:t>
            </a:r>
            <a:endParaRPr b="0" i="0" sz="1500" u="none" cap="none" strike="noStrike"/>
          </a:p>
        </p:txBody>
      </p:sp>
      <p:pic>
        <p:nvPicPr>
          <p:cNvPr descr="preencoded.png" id="77" name="Google Shape;77;p2"/>
          <p:cNvPicPr preferRelativeResize="0"/>
          <p:nvPr/>
        </p:nvPicPr>
        <p:blipFill rotWithShape="1">
          <a:blip r:embed="rId6">
            <a:alphaModFix/>
          </a:blip>
          <a:srcRect b="0" l="0" r="0" t="0"/>
          <a:stretch/>
        </p:blipFill>
        <p:spPr>
          <a:xfrm>
            <a:off x="6155174" y="3709988"/>
            <a:ext cx="477679" cy="477679"/>
          </a:xfrm>
          <a:prstGeom prst="rect">
            <a:avLst/>
          </a:prstGeom>
          <a:noFill/>
          <a:ln>
            <a:noFill/>
          </a:ln>
        </p:spPr>
      </p:pic>
      <p:sp>
        <p:nvSpPr>
          <p:cNvPr id="78" name="Google Shape;78;p2"/>
          <p:cNvSpPr/>
          <p:nvPr/>
        </p:nvSpPr>
        <p:spPr>
          <a:xfrm>
            <a:off x="6155174" y="4378762"/>
            <a:ext cx="2721531" cy="2984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D6DE"/>
              </a:buClr>
              <a:buSzPts val="1850"/>
              <a:buFont typeface="Fira Mono Medium"/>
              <a:buNone/>
            </a:pPr>
            <a:r>
              <a:rPr b="0" i="0" lang="en-US" sz="1850" u="none" cap="none" strike="noStrike">
                <a:solidFill>
                  <a:srgbClr val="E0D6DE"/>
                </a:solidFill>
                <a:latin typeface="Fira Mono Medium"/>
                <a:ea typeface="Fira Mono Medium"/>
                <a:cs typeface="Fira Mono Medium"/>
                <a:sym typeface="Fira Mono Medium"/>
              </a:rPr>
              <a:t>Estructura Flexible</a:t>
            </a:r>
            <a:endParaRPr b="0" i="0" sz="1850" u="none" cap="none" strike="noStrike"/>
          </a:p>
        </p:txBody>
      </p:sp>
      <p:sp>
        <p:nvSpPr>
          <p:cNvPr id="79" name="Google Shape;79;p2"/>
          <p:cNvSpPr/>
          <p:nvPr/>
        </p:nvSpPr>
        <p:spPr>
          <a:xfrm>
            <a:off x="6155174" y="4791908"/>
            <a:ext cx="7806452" cy="6115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A diferencia de las bases de datos SQL, las bases de datos NoSQL no se basan en el modelo relacional y tabular, sino en estructuras de datos más flexibles.</a:t>
            </a:r>
            <a:endParaRPr b="0" i="0" sz="1500" u="none" cap="none" strike="noStrike"/>
          </a:p>
        </p:txBody>
      </p:sp>
      <p:pic>
        <p:nvPicPr>
          <p:cNvPr descr="preencoded.png" id="80" name="Google Shape;80;p2"/>
          <p:cNvPicPr preferRelativeResize="0"/>
          <p:nvPr/>
        </p:nvPicPr>
        <p:blipFill rotWithShape="1">
          <a:blip r:embed="rId7">
            <a:alphaModFix/>
          </a:blip>
          <a:srcRect b="0" l="0" r="0" t="0"/>
          <a:stretch/>
        </p:blipFill>
        <p:spPr>
          <a:xfrm>
            <a:off x="6155174" y="5976699"/>
            <a:ext cx="477679" cy="477679"/>
          </a:xfrm>
          <a:prstGeom prst="rect">
            <a:avLst/>
          </a:prstGeom>
          <a:noFill/>
          <a:ln>
            <a:noFill/>
          </a:ln>
        </p:spPr>
      </p:pic>
      <p:sp>
        <p:nvSpPr>
          <p:cNvPr id="81" name="Google Shape;81;p2"/>
          <p:cNvSpPr/>
          <p:nvPr/>
        </p:nvSpPr>
        <p:spPr>
          <a:xfrm>
            <a:off x="6155174" y="6645473"/>
            <a:ext cx="2578298" cy="2984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E0D6DE"/>
              </a:buClr>
              <a:buSzPts val="1850"/>
              <a:buFont typeface="Fira Mono Medium"/>
              <a:buNone/>
            </a:pPr>
            <a:r>
              <a:rPr b="0" i="0" lang="en-US" sz="1850" u="none" cap="none" strike="noStrike">
                <a:solidFill>
                  <a:srgbClr val="E0D6DE"/>
                </a:solidFill>
                <a:latin typeface="Fira Mono Medium"/>
                <a:ea typeface="Fira Mono Medium"/>
                <a:cs typeface="Fira Mono Medium"/>
                <a:sym typeface="Fira Mono Medium"/>
              </a:rPr>
              <a:t>Alta Escalabilidad</a:t>
            </a:r>
            <a:endParaRPr b="0" i="0" sz="1850" u="none" cap="none" strike="noStrike"/>
          </a:p>
        </p:txBody>
      </p:sp>
      <p:sp>
        <p:nvSpPr>
          <p:cNvPr id="82" name="Google Shape;82;p2"/>
          <p:cNvSpPr/>
          <p:nvPr/>
        </p:nvSpPr>
        <p:spPr>
          <a:xfrm>
            <a:off x="6155174" y="7058620"/>
            <a:ext cx="7806452" cy="61150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NoSQL está diseñado para escalar horizontalmente, distribuyendo datos a través de múltiples servidores para manejar grandes volúmenes de datos y alta carga de trabajo.</a:t>
            </a:r>
            <a:endParaRPr b="0" i="0" sz="15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p:nvPr/>
        </p:nvSpPr>
        <p:spPr>
          <a:xfrm>
            <a:off x="793790" y="1133475"/>
            <a:ext cx="986540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Tipos de Bases de Datos NoSQL</a:t>
            </a:r>
            <a:endParaRPr b="0" i="0" sz="4450" u="none" cap="none" strike="noStrike"/>
          </a:p>
        </p:txBody>
      </p:sp>
      <p:pic>
        <p:nvPicPr>
          <p:cNvPr descr="preencoded.png" id="89" name="Google Shape;89;p3"/>
          <p:cNvPicPr preferRelativeResize="0"/>
          <p:nvPr/>
        </p:nvPicPr>
        <p:blipFill rotWithShape="1">
          <a:blip r:embed="rId3">
            <a:alphaModFix/>
          </a:blip>
          <a:srcRect b="0" l="0" r="0" t="0"/>
          <a:stretch/>
        </p:blipFill>
        <p:spPr>
          <a:xfrm>
            <a:off x="793790" y="2295882"/>
            <a:ext cx="3005495" cy="1857494"/>
          </a:xfrm>
          <a:prstGeom prst="rect">
            <a:avLst/>
          </a:prstGeom>
          <a:noFill/>
          <a:ln>
            <a:noFill/>
          </a:ln>
        </p:spPr>
      </p:pic>
      <p:sp>
        <p:nvSpPr>
          <p:cNvPr id="90" name="Google Shape;90;p3"/>
          <p:cNvSpPr/>
          <p:nvPr/>
        </p:nvSpPr>
        <p:spPr>
          <a:xfrm>
            <a:off x="793790" y="4436864"/>
            <a:ext cx="3005495"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Bases de Datos Documentales</a:t>
            </a:r>
            <a:endParaRPr b="0" i="0" sz="2200" u="none" cap="none" strike="noStrike"/>
          </a:p>
        </p:txBody>
      </p:sp>
      <p:sp>
        <p:nvSpPr>
          <p:cNvPr id="91" name="Google Shape;91;p3"/>
          <p:cNvSpPr/>
          <p:nvPr/>
        </p:nvSpPr>
        <p:spPr>
          <a:xfrm>
            <a:off x="793790" y="5281613"/>
            <a:ext cx="3005495"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Almacenan datos en forma de documentos, como JSON o XML, permitiendo una estructura flexible y jerárquica.</a:t>
            </a:r>
            <a:endParaRPr b="0" i="0" sz="1750" u="none" cap="none" strike="noStrike"/>
          </a:p>
        </p:txBody>
      </p:sp>
      <p:pic>
        <p:nvPicPr>
          <p:cNvPr descr="preencoded.png" id="92" name="Google Shape;92;p3"/>
          <p:cNvPicPr preferRelativeResize="0"/>
          <p:nvPr/>
        </p:nvPicPr>
        <p:blipFill rotWithShape="1">
          <a:blip r:embed="rId4">
            <a:alphaModFix/>
          </a:blip>
          <a:srcRect b="0" l="0" r="0" t="0"/>
          <a:stretch/>
        </p:blipFill>
        <p:spPr>
          <a:xfrm>
            <a:off x="4139446" y="2295882"/>
            <a:ext cx="3005614" cy="1857494"/>
          </a:xfrm>
          <a:prstGeom prst="rect">
            <a:avLst/>
          </a:prstGeom>
          <a:noFill/>
          <a:ln>
            <a:noFill/>
          </a:ln>
        </p:spPr>
      </p:pic>
      <p:sp>
        <p:nvSpPr>
          <p:cNvPr id="93" name="Google Shape;93;p3"/>
          <p:cNvSpPr/>
          <p:nvPr/>
        </p:nvSpPr>
        <p:spPr>
          <a:xfrm>
            <a:off x="4139446"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Bases de Datos Clave-Valor</a:t>
            </a:r>
            <a:endParaRPr b="0" i="0" sz="2200" u="none" cap="none" strike="noStrike"/>
          </a:p>
        </p:txBody>
      </p:sp>
      <p:sp>
        <p:nvSpPr>
          <p:cNvPr id="94" name="Google Shape;94;p3"/>
          <p:cNvSpPr/>
          <p:nvPr/>
        </p:nvSpPr>
        <p:spPr>
          <a:xfrm>
            <a:off x="4139446" y="5281613"/>
            <a:ext cx="300561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Utilizan un esquema simple de pares clave-valor para almacenar y recuperar datos de manera rápida y eficiente.</a:t>
            </a:r>
            <a:endParaRPr b="0" i="0" sz="1750" u="none" cap="none" strike="noStrike"/>
          </a:p>
        </p:txBody>
      </p:sp>
      <p:pic>
        <p:nvPicPr>
          <p:cNvPr descr="preencoded.png" id="95" name="Google Shape;95;p3"/>
          <p:cNvPicPr preferRelativeResize="0"/>
          <p:nvPr/>
        </p:nvPicPr>
        <p:blipFill rotWithShape="1">
          <a:blip r:embed="rId5">
            <a:alphaModFix/>
          </a:blip>
          <a:srcRect b="0" l="0" r="0" t="0"/>
          <a:stretch/>
        </p:blipFill>
        <p:spPr>
          <a:xfrm>
            <a:off x="7485221" y="2295882"/>
            <a:ext cx="3005614" cy="1857494"/>
          </a:xfrm>
          <a:prstGeom prst="rect">
            <a:avLst/>
          </a:prstGeom>
          <a:noFill/>
          <a:ln>
            <a:noFill/>
          </a:ln>
        </p:spPr>
      </p:pic>
      <p:sp>
        <p:nvSpPr>
          <p:cNvPr id="96" name="Google Shape;96;p3"/>
          <p:cNvSpPr/>
          <p:nvPr/>
        </p:nvSpPr>
        <p:spPr>
          <a:xfrm>
            <a:off x="7485221"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Bases de Datos Columnares</a:t>
            </a:r>
            <a:endParaRPr b="0" i="0" sz="2200" u="none" cap="none" strike="noStrike"/>
          </a:p>
        </p:txBody>
      </p:sp>
      <p:sp>
        <p:nvSpPr>
          <p:cNvPr id="97" name="Google Shape;97;p3"/>
          <p:cNvSpPr/>
          <p:nvPr/>
        </p:nvSpPr>
        <p:spPr>
          <a:xfrm>
            <a:off x="7485221" y="5281613"/>
            <a:ext cx="300561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Organizan los datos por columnas en lugar de filas, lo que las hace eficientes para análisis y consultas.</a:t>
            </a:r>
            <a:endParaRPr b="0" i="0" sz="1750" u="none" cap="none" strike="noStrike"/>
          </a:p>
        </p:txBody>
      </p:sp>
      <p:pic>
        <p:nvPicPr>
          <p:cNvPr descr="preencoded.png" id="98" name="Google Shape;98;p3"/>
          <p:cNvPicPr preferRelativeResize="0"/>
          <p:nvPr/>
        </p:nvPicPr>
        <p:blipFill rotWithShape="1">
          <a:blip r:embed="rId6">
            <a:alphaModFix/>
          </a:blip>
          <a:srcRect b="0" l="0" r="0" t="0"/>
          <a:stretch/>
        </p:blipFill>
        <p:spPr>
          <a:xfrm>
            <a:off x="10830997" y="2295882"/>
            <a:ext cx="3005614" cy="1857494"/>
          </a:xfrm>
          <a:prstGeom prst="rect">
            <a:avLst/>
          </a:prstGeom>
          <a:noFill/>
          <a:ln>
            <a:noFill/>
          </a:ln>
        </p:spPr>
      </p:pic>
      <p:sp>
        <p:nvSpPr>
          <p:cNvPr id="99" name="Google Shape;99;p3"/>
          <p:cNvSpPr/>
          <p:nvPr/>
        </p:nvSpPr>
        <p:spPr>
          <a:xfrm>
            <a:off x="10830997" y="4436864"/>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Bases de Datos de Grafos</a:t>
            </a:r>
            <a:endParaRPr b="0" i="0" sz="2200" u="none" cap="none" strike="noStrike"/>
          </a:p>
        </p:txBody>
      </p:sp>
      <p:sp>
        <p:nvSpPr>
          <p:cNvPr id="100" name="Google Shape;100;p3"/>
          <p:cNvSpPr/>
          <p:nvPr/>
        </p:nvSpPr>
        <p:spPr>
          <a:xfrm>
            <a:off x="10830997" y="5281613"/>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Modelan los datos como una red de nodos y relaciones, siendo ideales para aplicaciones con estructuras complejas.</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p:nvPr/>
        </p:nvSpPr>
        <p:spPr>
          <a:xfrm>
            <a:off x="793790" y="1617107"/>
            <a:ext cx="9185077"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Bases de Datos Documentales</a:t>
            </a:r>
            <a:endParaRPr b="0" i="0" sz="4450" u="none" cap="none" strike="noStrike"/>
          </a:p>
        </p:txBody>
      </p:sp>
      <p:sp>
        <p:nvSpPr>
          <p:cNvPr id="107" name="Google Shape;107;p4"/>
          <p:cNvSpPr/>
          <p:nvPr/>
        </p:nvSpPr>
        <p:spPr>
          <a:xfrm>
            <a:off x="793790" y="2870121"/>
            <a:ext cx="6244709"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documentales, como MongoDB, almacenan datos en formato de documentos flexibles, generalmente en JSON o XML. Cada documento puede tener una estructura única, lo que permite una mayor flexibilidad y adaptabilidad a las necesidades cambiantes de los datos.</a:t>
            </a:r>
            <a:endParaRPr b="0" i="0" sz="1750" u="none" cap="none" strike="noStrike"/>
          </a:p>
        </p:txBody>
      </p:sp>
      <p:sp>
        <p:nvSpPr>
          <p:cNvPr id="108" name="Google Shape;108;p4"/>
          <p:cNvSpPr/>
          <p:nvPr/>
        </p:nvSpPr>
        <p:spPr>
          <a:xfrm>
            <a:off x="793790" y="4888706"/>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A diferencia de las bases de datos relacionales, las bases de datos documentales no requieren un esquema rígido, permitiendo una rápida iteración y desarrollo ágil de aplicaciones.</a:t>
            </a:r>
            <a:endParaRPr b="0" i="0" sz="1750" u="none" cap="none" strike="noStrike"/>
          </a:p>
        </p:txBody>
      </p:sp>
      <p:pic>
        <p:nvPicPr>
          <p:cNvPr descr="preencoded.png" id="109" name="Google Shape;109;p4"/>
          <p:cNvPicPr preferRelativeResize="0"/>
          <p:nvPr/>
        </p:nvPicPr>
        <p:blipFill rotWithShape="1">
          <a:blip r:embed="rId3">
            <a:alphaModFix/>
          </a:blip>
          <a:srcRect b="0" l="0" r="0" t="0"/>
          <a:stretch/>
        </p:blipFill>
        <p:spPr>
          <a:xfrm>
            <a:off x="7599521" y="2921198"/>
            <a:ext cx="6244709" cy="3436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preencoded.png" id="115" name="Google Shape;115;p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16" name="Google Shape;116;p5"/>
          <p:cNvPicPr preferRelativeResize="0"/>
          <p:nvPr/>
        </p:nvPicPr>
        <p:blipFill rotWithShape="1">
          <a:blip r:embed="rId4">
            <a:alphaModFix/>
          </a:blip>
          <a:srcRect b="0" l="0" r="0" t="0"/>
          <a:stretch/>
        </p:blipFill>
        <p:spPr>
          <a:xfrm>
            <a:off x="9427488" y="931545"/>
            <a:ext cx="4919305" cy="6366510"/>
          </a:xfrm>
          <a:prstGeom prst="rect">
            <a:avLst/>
          </a:prstGeom>
          <a:noFill/>
          <a:ln>
            <a:noFill/>
          </a:ln>
        </p:spPr>
      </p:pic>
      <p:sp>
        <p:nvSpPr>
          <p:cNvPr id="117" name="Google Shape;117;p5"/>
          <p:cNvSpPr/>
          <p:nvPr/>
        </p:nvSpPr>
        <p:spPr>
          <a:xfrm>
            <a:off x="793790" y="1838206"/>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Bases de Datos Clave-Valor</a:t>
            </a:r>
            <a:endParaRPr b="0" i="0" sz="4450" u="none" cap="none" strike="noStrike"/>
          </a:p>
        </p:txBody>
      </p:sp>
      <p:sp>
        <p:nvSpPr>
          <p:cNvPr id="118" name="Google Shape;118;p5"/>
          <p:cNvSpPr/>
          <p:nvPr/>
        </p:nvSpPr>
        <p:spPr>
          <a:xfrm>
            <a:off x="793790" y="3595926"/>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clave-valor son un tipo de base de datos NoSQL que almacenan datos en pares de clave-valor. Cada clave es única y se asocia con un valor, que puede ser un simple dato o un objeto complejo.</a:t>
            </a:r>
            <a:endParaRPr b="0" i="0" sz="1750" u="none" cap="none" strike="noStrike"/>
          </a:p>
        </p:txBody>
      </p:sp>
      <p:sp>
        <p:nvSpPr>
          <p:cNvPr id="119" name="Google Shape;119;p5"/>
          <p:cNvSpPr/>
          <p:nvPr/>
        </p:nvSpPr>
        <p:spPr>
          <a:xfrm>
            <a:off x="793790" y="4939784"/>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Este modelo de datos es simple y eficiente, lo que lo hace ideal para aplicaciones que requieren un acceso rápido a datos sin necesidad de complejas consultas. Ejemplos de uso incluyen almacenamiento de sesiones, caché de aplicaciones y gestión de preferencias de usuario.</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p:nvPr/>
        </p:nvSpPr>
        <p:spPr>
          <a:xfrm>
            <a:off x="793790" y="784503"/>
            <a:ext cx="850463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Bases de Datos Columnares</a:t>
            </a:r>
            <a:endParaRPr b="0" i="0" sz="4450" u="none" cap="none" strike="noStrike"/>
          </a:p>
        </p:txBody>
      </p:sp>
      <p:pic>
        <p:nvPicPr>
          <p:cNvPr descr="preencoded.png" id="126" name="Google Shape;126;p6"/>
          <p:cNvPicPr preferRelativeResize="0"/>
          <p:nvPr/>
        </p:nvPicPr>
        <p:blipFill rotWithShape="1">
          <a:blip r:embed="rId3">
            <a:alphaModFix/>
          </a:blip>
          <a:srcRect b="0" l="0" r="0" t="0"/>
          <a:stretch/>
        </p:blipFill>
        <p:spPr>
          <a:xfrm>
            <a:off x="793790" y="1946910"/>
            <a:ext cx="4120753" cy="2546747"/>
          </a:xfrm>
          <a:prstGeom prst="rect">
            <a:avLst/>
          </a:prstGeom>
          <a:noFill/>
          <a:ln>
            <a:noFill/>
          </a:ln>
        </p:spPr>
      </p:pic>
      <p:sp>
        <p:nvSpPr>
          <p:cNvPr id="127" name="Google Shape;127;p6"/>
          <p:cNvSpPr/>
          <p:nvPr/>
        </p:nvSpPr>
        <p:spPr>
          <a:xfrm>
            <a:off x="793790" y="4777145"/>
            <a:ext cx="374058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Estructura de Columnas</a:t>
            </a:r>
            <a:endParaRPr b="0" i="0" sz="2200" u="none" cap="none" strike="noStrike"/>
          </a:p>
        </p:txBody>
      </p:sp>
      <p:sp>
        <p:nvSpPr>
          <p:cNvPr id="128" name="Google Shape;128;p6"/>
          <p:cNvSpPr/>
          <p:nvPr/>
        </p:nvSpPr>
        <p:spPr>
          <a:xfrm>
            <a:off x="793790" y="5267563"/>
            <a:ext cx="4120753"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columnares organizan los datos en columnas en lugar de filas, lo que permite un acceso rápido y eficiente a datos específicos.</a:t>
            </a:r>
            <a:endParaRPr b="0" i="0" sz="1750" u="none" cap="none" strike="noStrike"/>
          </a:p>
        </p:txBody>
      </p:sp>
      <p:pic>
        <p:nvPicPr>
          <p:cNvPr descr="preencoded.png" id="129" name="Google Shape;129;p6"/>
          <p:cNvPicPr preferRelativeResize="0"/>
          <p:nvPr/>
        </p:nvPicPr>
        <p:blipFill rotWithShape="1">
          <a:blip r:embed="rId4">
            <a:alphaModFix/>
          </a:blip>
          <a:srcRect b="0" l="0" r="0" t="0"/>
          <a:stretch/>
        </p:blipFill>
        <p:spPr>
          <a:xfrm>
            <a:off x="5254704" y="1946910"/>
            <a:ext cx="4120872" cy="2546866"/>
          </a:xfrm>
          <a:prstGeom prst="rect">
            <a:avLst/>
          </a:prstGeom>
          <a:noFill/>
          <a:ln>
            <a:noFill/>
          </a:ln>
        </p:spPr>
      </p:pic>
      <p:sp>
        <p:nvSpPr>
          <p:cNvPr id="130" name="Google Shape;130;p6"/>
          <p:cNvSpPr/>
          <p:nvPr/>
        </p:nvSpPr>
        <p:spPr>
          <a:xfrm>
            <a:off x="5254704" y="4777264"/>
            <a:ext cx="289048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Análisis de Datos</a:t>
            </a:r>
            <a:endParaRPr b="0" i="0" sz="2200" u="none" cap="none" strike="noStrike"/>
          </a:p>
        </p:txBody>
      </p:sp>
      <p:sp>
        <p:nvSpPr>
          <p:cNvPr id="131" name="Google Shape;131;p6"/>
          <p:cNvSpPr/>
          <p:nvPr/>
        </p:nvSpPr>
        <p:spPr>
          <a:xfrm>
            <a:off x="5254704" y="5267682"/>
            <a:ext cx="4120872"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Estas bases de datos son especialmente útiles para análisis de big data y aplicaciones de inteligencia de negocios que requieren consultas rápidas sobre grandes conjuntos de datos.</a:t>
            </a:r>
            <a:endParaRPr b="0" i="0" sz="1750" u="none" cap="none" strike="noStrike"/>
          </a:p>
        </p:txBody>
      </p:sp>
      <p:pic>
        <p:nvPicPr>
          <p:cNvPr descr="preencoded.png" id="132" name="Google Shape;132;p6"/>
          <p:cNvPicPr preferRelativeResize="0"/>
          <p:nvPr/>
        </p:nvPicPr>
        <p:blipFill rotWithShape="1">
          <a:blip r:embed="rId5">
            <a:alphaModFix/>
          </a:blip>
          <a:srcRect b="0" l="0" r="0" t="0"/>
          <a:stretch/>
        </p:blipFill>
        <p:spPr>
          <a:xfrm>
            <a:off x="9715738" y="1946910"/>
            <a:ext cx="4120753" cy="2546747"/>
          </a:xfrm>
          <a:prstGeom prst="rect">
            <a:avLst/>
          </a:prstGeom>
          <a:noFill/>
          <a:ln>
            <a:noFill/>
          </a:ln>
        </p:spPr>
      </p:pic>
      <p:sp>
        <p:nvSpPr>
          <p:cNvPr id="133" name="Google Shape;133;p6"/>
          <p:cNvSpPr/>
          <p:nvPr/>
        </p:nvSpPr>
        <p:spPr>
          <a:xfrm>
            <a:off x="9715738" y="4777145"/>
            <a:ext cx="408062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Almacenamiento Eficiente</a:t>
            </a:r>
            <a:endParaRPr b="0" i="0" sz="2200" u="none" cap="none" strike="noStrike"/>
          </a:p>
        </p:txBody>
      </p:sp>
      <p:sp>
        <p:nvSpPr>
          <p:cNvPr id="134" name="Google Shape;134;p6"/>
          <p:cNvSpPr/>
          <p:nvPr/>
        </p:nvSpPr>
        <p:spPr>
          <a:xfrm>
            <a:off x="9715738" y="5267563"/>
            <a:ext cx="4120753"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El almacenamiento por columna permite una mayor compresión de datos y un uso más eficiente del espacio de almacenamiento en comparación con las bases de datos relacionales.</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preencoded.png" id="140" name="Google Shape;140;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41" name="Google Shape;141;p7"/>
          <p:cNvPicPr preferRelativeResize="0"/>
          <p:nvPr/>
        </p:nvPicPr>
        <p:blipFill rotWithShape="1">
          <a:blip r:embed="rId4">
            <a:alphaModFix/>
          </a:blip>
          <a:srcRect b="0" l="0" r="0" t="0"/>
          <a:stretch/>
        </p:blipFill>
        <p:spPr>
          <a:xfrm>
            <a:off x="9427488" y="2589728"/>
            <a:ext cx="4919305" cy="3050024"/>
          </a:xfrm>
          <a:prstGeom prst="rect">
            <a:avLst/>
          </a:prstGeom>
          <a:noFill/>
          <a:ln>
            <a:noFill/>
          </a:ln>
        </p:spPr>
      </p:pic>
      <p:sp>
        <p:nvSpPr>
          <p:cNvPr id="142" name="Google Shape;142;p7"/>
          <p:cNvSpPr/>
          <p:nvPr/>
        </p:nvSpPr>
        <p:spPr>
          <a:xfrm>
            <a:off x="793790" y="1656755"/>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Bases de Datos de Grafos</a:t>
            </a:r>
            <a:endParaRPr b="0" i="0" sz="4450" u="none" cap="none" strike="noStrike"/>
          </a:p>
        </p:txBody>
      </p:sp>
      <p:sp>
        <p:nvSpPr>
          <p:cNvPr id="143" name="Google Shape;143;p7"/>
          <p:cNvSpPr/>
          <p:nvPr/>
        </p:nvSpPr>
        <p:spPr>
          <a:xfrm>
            <a:off x="793790" y="3414474"/>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de grafos representan relaciones complejas entre entidades utilizando una estructura de nodos y aristas. Esta aproximación es particularmente eficaz para analizar redes sociales, sistemas de recomendación y aplicaciones de inteligencia artificial.</a:t>
            </a:r>
            <a:endParaRPr b="0" i="0" sz="1750" u="none" cap="none" strike="noStrike"/>
          </a:p>
        </p:txBody>
      </p:sp>
      <p:sp>
        <p:nvSpPr>
          <p:cNvPr id="144" name="Google Shape;144;p7"/>
          <p:cNvSpPr/>
          <p:nvPr/>
        </p:nvSpPr>
        <p:spPr>
          <a:xfrm>
            <a:off x="793790" y="512123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de grafos destacan por su capacidad para modelar e interrogar datos con estructuras jerárquicas y conectadas, lo que las convierte en una opción ideal para aplicaciones que requieren análisis de patrones y recorridos a través de conexiones entre datos.</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p:nvPr/>
        </p:nvSpPr>
        <p:spPr>
          <a:xfrm>
            <a:off x="793790" y="1092637"/>
            <a:ext cx="129270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Ventajas y desventajas de NoSQL vs SQL</a:t>
            </a:r>
            <a:endParaRPr b="0" i="0" sz="4450" u="none" cap="none" strike="noStrike"/>
          </a:p>
        </p:txBody>
      </p:sp>
      <p:sp>
        <p:nvSpPr>
          <p:cNvPr id="151" name="Google Shape;151;p8"/>
          <p:cNvSpPr/>
          <p:nvPr/>
        </p:nvSpPr>
        <p:spPr>
          <a:xfrm>
            <a:off x="793790" y="2368391"/>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rgbClr val="FBF3FA"/>
                </a:solidFill>
                <a:latin typeface="Fira Mono Medium"/>
                <a:ea typeface="Fira Mono Medium"/>
                <a:cs typeface="Fira Mono Medium"/>
                <a:sym typeface="Fira Mono Medium"/>
              </a:rPr>
              <a:t>Ventajas de NoSQL</a:t>
            </a:r>
            <a:endParaRPr b="0" i="0" sz="2200" u="none" cap="none" strike="noStrike"/>
          </a:p>
        </p:txBody>
      </p:sp>
      <p:sp>
        <p:nvSpPr>
          <p:cNvPr id="152" name="Google Shape;152;p8"/>
          <p:cNvSpPr/>
          <p:nvPr/>
        </p:nvSpPr>
        <p:spPr>
          <a:xfrm>
            <a:off x="793790" y="3303865"/>
            <a:ext cx="2845594"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Mayor escalabilidad y rendimiento para grandes volúmenes de datos. Flexibilidad en el esquema, adaptándose mejor a cambios en los datos. Mejor rendimiento para ciertos tipos de consultas, como búsquedas y análisis en tiempo real.</a:t>
            </a:r>
            <a:endParaRPr b="0" i="0" sz="1750" u="none" cap="none" strike="noStrike"/>
          </a:p>
        </p:txBody>
      </p:sp>
      <p:sp>
        <p:nvSpPr>
          <p:cNvPr id="153" name="Google Shape;153;p8"/>
          <p:cNvSpPr/>
          <p:nvPr/>
        </p:nvSpPr>
        <p:spPr>
          <a:xfrm>
            <a:off x="4200406" y="2368391"/>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rgbClr val="FBF3FA"/>
                </a:solidFill>
                <a:latin typeface="Fira Mono Medium"/>
                <a:ea typeface="Fira Mono Medium"/>
                <a:cs typeface="Fira Mono Medium"/>
                <a:sym typeface="Fira Mono Medium"/>
              </a:rPr>
              <a:t>Desventajas de NoSQL</a:t>
            </a:r>
            <a:endParaRPr b="0" i="0" sz="2200" u="none" cap="none" strike="noStrike"/>
          </a:p>
        </p:txBody>
      </p:sp>
      <p:sp>
        <p:nvSpPr>
          <p:cNvPr id="154" name="Google Shape;154;p8"/>
          <p:cNvSpPr/>
          <p:nvPr/>
        </p:nvSpPr>
        <p:spPr>
          <a:xfrm>
            <a:off x="4200406" y="3303865"/>
            <a:ext cx="284559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Menor soporte para transacciones complejas y consistencia de datos. Menor madurez y soporte en el mercado. Requiere mayor experiencia técnica para su correcta implementación y mantenimiento.</a:t>
            </a:r>
            <a:endParaRPr b="0" i="0" sz="1750" u="none" cap="none" strike="noStrike"/>
          </a:p>
        </p:txBody>
      </p:sp>
      <p:sp>
        <p:nvSpPr>
          <p:cNvPr id="155" name="Google Shape;155;p8"/>
          <p:cNvSpPr/>
          <p:nvPr/>
        </p:nvSpPr>
        <p:spPr>
          <a:xfrm>
            <a:off x="7607022" y="236839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rgbClr val="FBF3FA"/>
                </a:solidFill>
                <a:latin typeface="Fira Mono Medium"/>
                <a:ea typeface="Fira Mono Medium"/>
                <a:cs typeface="Fira Mono Medium"/>
                <a:sym typeface="Fira Mono Medium"/>
              </a:rPr>
              <a:t>Ventajas de SQL</a:t>
            </a:r>
            <a:endParaRPr b="0" i="0" sz="2200" u="none" cap="none" strike="noStrike"/>
          </a:p>
        </p:txBody>
      </p:sp>
      <p:sp>
        <p:nvSpPr>
          <p:cNvPr id="156" name="Google Shape;156;p8"/>
          <p:cNvSpPr/>
          <p:nvPr/>
        </p:nvSpPr>
        <p:spPr>
          <a:xfrm>
            <a:off x="7607022" y="2949535"/>
            <a:ext cx="2845594"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Robustez y madurez, con sólidas garantías de Atomicidad, Consistencia, Aislamiento y Durabilidad (ACID) de las transacciones. Mayor soporte y herramientas disponibles. Mejor opción para aplicaciones que requieren integridad de datos.</a:t>
            </a:r>
            <a:endParaRPr b="0" i="0" sz="1750" u="none" cap="none" strike="noStrike"/>
          </a:p>
        </p:txBody>
      </p:sp>
      <p:sp>
        <p:nvSpPr>
          <p:cNvPr id="157" name="Google Shape;157;p8"/>
          <p:cNvSpPr/>
          <p:nvPr/>
        </p:nvSpPr>
        <p:spPr>
          <a:xfrm>
            <a:off x="11013638" y="2368391"/>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2200"/>
              <a:buFont typeface="Fira Mono Medium"/>
              <a:buNone/>
            </a:pPr>
            <a:r>
              <a:rPr b="0" i="0" lang="en-US" sz="2200" u="none" cap="none" strike="noStrike">
                <a:solidFill>
                  <a:srgbClr val="FBF3FA"/>
                </a:solidFill>
                <a:latin typeface="Fira Mono Medium"/>
                <a:ea typeface="Fira Mono Medium"/>
                <a:cs typeface="Fira Mono Medium"/>
                <a:sym typeface="Fira Mono Medium"/>
              </a:rPr>
              <a:t>Desventajas de SQL</a:t>
            </a:r>
            <a:endParaRPr b="0" i="0" sz="2200" u="none" cap="none" strike="noStrike"/>
          </a:p>
        </p:txBody>
      </p:sp>
      <p:sp>
        <p:nvSpPr>
          <p:cNvPr id="158" name="Google Shape;158;p8"/>
          <p:cNvSpPr/>
          <p:nvPr/>
        </p:nvSpPr>
        <p:spPr>
          <a:xfrm>
            <a:off x="11013638" y="3303865"/>
            <a:ext cx="2845594"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Menor escalabilidad y rendimiento para grandes volúmenes de datos y cargas de trabajo altamente paralelas. Esquemas más rígidos que dificultan adaptarse a cambios en los datos.</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p:nvPr/>
        </p:nvSpPr>
        <p:spPr>
          <a:xfrm>
            <a:off x="793790" y="1024533"/>
            <a:ext cx="714398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Casos de uso de NoSQL</a:t>
            </a:r>
            <a:endParaRPr b="0" i="0" sz="4450" u="none" cap="none" strike="noStrike"/>
          </a:p>
        </p:txBody>
      </p:sp>
      <p:sp>
        <p:nvSpPr>
          <p:cNvPr id="165" name="Google Shape;165;p9"/>
          <p:cNvSpPr/>
          <p:nvPr/>
        </p:nvSpPr>
        <p:spPr>
          <a:xfrm>
            <a:off x="793790" y="2186940"/>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020604" y="2413754"/>
            <a:ext cx="5780842"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Big Data y Análisis en Tiempo Real</a:t>
            </a:r>
            <a:endParaRPr b="0" i="0" sz="2200" u="none" cap="none" strike="noStrike"/>
          </a:p>
        </p:txBody>
      </p:sp>
      <p:sp>
        <p:nvSpPr>
          <p:cNvPr id="167" name="Google Shape;167;p9"/>
          <p:cNvSpPr/>
          <p:nvPr/>
        </p:nvSpPr>
        <p:spPr>
          <a:xfrm>
            <a:off x="1020604" y="290417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NoSQL son ideales para manejar grandes volúmenes de datos no estructurados y procesar información en tiempo real, como en aplicaciones web, IoT y análisis predictivo.</a:t>
            </a:r>
            <a:endParaRPr b="0" i="0" sz="1750" u="none" cap="none" strike="noStrike"/>
          </a:p>
        </p:txBody>
      </p:sp>
      <p:sp>
        <p:nvSpPr>
          <p:cNvPr id="168" name="Google Shape;168;p9"/>
          <p:cNvSpPr/>
          <p:nvPr/>
        </p:nvSpPr>
        <p:spPr>
          <a:xfrm>
            <a:off x="7428667" y="2186940"/>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7655481" y="2413754"/>
            <a:ext cx="425065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Sistemas de Recomendación</a:t>
            </a:r>
            <a:endParaRPr b="0" i="0" sz="2200" u="none" cap="none" strike="noStrike"/>
          </a:p>
        </p:txBody>
      </p:sp>
      <p:sp>
        <p:nvSpPr>
          <p:cNvPr id="170" name="Google Shape;170;p9"/>
          <p:cNvSpPr/>
          <p:nvPr/>
        </p:nvSpPr>
        <p:spPr>
          <a:xfrm>
            <a:off x="7655481" y="290417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NoSQL permiten almacenar y procesar rápidamente datos de comportamiento de usuarios, preferencias y relaciones complejas, fundamentales para sistemas de recomendación efectivos.</a:t>
            </a:r>
            <a:endParaRPr b="0" i="0" sz="1750" u="none" cap="none" strike="noStrike"/>
          </a:p>
        </p:txBody>
      </p:sp>
      <p:sp>
        <p:nvSpPr>
          <p:cNvPr id="171" name="Google Shape;171;p9"/>
          <p:cNvSpPr/>
          <p:nvPr/>
        </p:nvSpPr>
        <p:spPr>
          <a:xfrm>
            <a:off x="793790" y="4809411"/>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1020604" y="5036225"/>
            <a:ext cx="49307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Aplicaciones Móviles y Juegos</a:t>
            </a:r>
            <a:endParaRPr b="0" i="0" sz="2200" u="none" cap="none" strike="noStrike"/>
          </a:p>
        </p:txBody>
      </p:sp>
      <p:sp>
        <p:nvSpPr>
          <p:cNvPr id="173" name="Google Shape;173;p9"/>
          <p:cNvSpPr/>
          <p:nvPr/>
        </p:nvSpPr>
        <p:spPr>
          <a:xfrm>
            <a:off x="1020604" y="552664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 escalabilidad y rendimiento de las bases de datos NoSQL las vuelven adecuadas para aplicaciones con gran cantidad de usuarios y datos cambiantes, como aplicaciones móviles y juegos en línea.</a:t>
            </a:r>
            <a:endParaRPr b="0" i="0" sz="1750" u="none" cap="none" strike="noStrike"/>
          </a:p>
        </p:txBody>
      </p:sp>
      <p:sp>
        <p:nvSpPr>
          <p:cNvPr id="174" name="Google Shape;174;p9"/>
          <p:cNvSpPr/>
          <p:nvPr/>
        </p:nvSpPr>
        <p:spPr>
          <a:xfrm>
            <a:off x="7428667" y="4809411"/>
            <a:ext cx="6408063" cy="2395657"/>
          </a:xfrm>
          <a:prstGeom prst="roundRect">
            <a:avLst>
              <a:gd fmla="val 1420"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7655481" y="5036225"/>
            <a:ext cx="459069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Internet de las Cosas (IoT)</a:t>
            </a:r>
            <a:endParaRPr b="0" i="0" sz="2200" u="none" cap="none" strike="noStrike"/>
          </a:p>
        </p:txBody>
      </p:sp>
      <p:sp>
        <p:nvSpPr>
          <p:cNvPr id="176" name="Google Shape;176;p9"/>
          <p:cNvSpPr/>
          <p:nvPr/>
        </p:nvSpPr>
        <p:spPr>
          <a:xfrm>
            <a:off x="7655481" y="5526643"/>
            <a:ext cx="5954435"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Los datos generados por sensores y dispositivos IoT se adaptan bien a las bases de datos NoSQL, que pueden procesar altos volúmenes y velocidades de datos en tiempo real.</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p:nvPr/>
        </p:nvSpPr>
        <p:spPr>
          <a:xfrm>
            <a:off x="726519" y="737592"/>
            <a:ext cx="8096369" cy="648653"/>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FBF3FA"/>
              </a:buClr>
              <a:buSzPts val="4050"/>
              <a:buFont typeface="Fira Mono Medium"/>
              <a:buNone/>
            </a:pPr>
            <a:r>
              <a:rPr b="0" i="0" lang="en-US" sz="4050" u="none" cap="none" strike="noStrike">
                <a:solidFill>
                  <a:srgbClr val="FBF3FA"/>
                </a:solidFill>
                <a:latin typeface="Fira Mono Medium"/>
                <a:ea typeface="Fira Mono Medium"/>
                <a:cs typeface="Fira Mono Medium"/>
                <a:sym typeface="Fira Mono Medium"/>
              </a:rPr>
              <a:t>Modelo Documental: MongoDB</a:t>
            </a:r>
            <a:endParaRPr b="0" i="0" sz="4050" u="none" cap="none" strike="noStrike"/>
          </a:p>
        </p:txBody>
      </p:sp>
      <p:sp>
        <p:nvSpPr>
          <p:cNvPr id="183" name="Google Shape;183;p10"/>
          <p:cNvSpPr/>
          <p:nvPr/>
        </p:nvSpPr>
        <p:spPr>
          <a:xfrm>
            <a:off x="726519" y="1801416"/>
            <a:ext cx="2196108" cy="1196221"/>
          </a:xfrm>
          <a:prstGeom prst="roundRect">
            <a:avLst>
              <a:gd fmla="val 2603"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934045" y="2191822"/>
            <a:ext cx="155734" cy="415290"/>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1</a:t>
            </a:r>
            <a:endParaRPr b="0" i="0" sz="2000" u="none" cap="none" strike="noStrike"/>
          </a:p>
        </p:txBody>
      </p:sp>
      <p:sp>
        <p:nvSpPr>
          <p:cNvPr id="185" name="Google Shape;185;p10"/>
          <p:cNvSpPr/>
          <p:nvPr/>
        </p:nvSpPr>
        <p:spPr>
          <a:xfrm>
            <a:off x="3130153" y="2008942"/>
            <a:ext cx="2802017"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Esquemas Flexibles</a:t>
            </a:r>
            <a:endParaRPr b="0" i="0" sz="2000" u="none" cap="none" strike="noStrike"/>
          </a:p>
        </p:txBody>
      </p:sp>
      <p:sp>
        <p:nvSpPr>
          <p:cNvPr id="186" name="Google Shape;186;p10"/>
          <p:cNvSpPr/>
          <p:nvPr/>
        </p:nvSpPr>
        <p:spPr>
          <a:xfrm>
            <a:off x="3130153" y="2457926"/>
            <a:ext cx="10505599" cy="33218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MongoDB permite esquemas de datos flexibles, adaptándose a las necesidades cambiantes de las aplicaciones.</a:t>
            </a:r>
            <a:endParaRPr b="0" i="0" sz="1600" u="none" cap="none" strike="noStrike"/>
          </a:p>
        </p:txBody>
      </p:sp>
      <p:sp>
        <p:nvSpPr>
          <p:cNvPr id="187" name="Google Shape;187;p10"/>
          <p:cNvSpPr/>
          <p:nvPr/>
        </p:nvSpPr>
        <p:spPr>
          <a:xfrm>
            <a:off x="3026331" y="2988112"/>
            <a:ext cx="10773847" cy="11430"/>
          </a:xfrm>
          <a:prstGeom prst="roundRect">
            <a:avLst>
              <a:gd fmla="val 272448"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726519" y="3101340"/>
            <a:ext cx="4392335" cy="1528405"/>
          </a:xfrm>
          <a:prstGeom prst="roundRect">
            <a:avLst>
              <a:gd fmla="val 203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934045" y="3657838"/>
            <a:ext cx="155734" cy="415290"/>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2</a:t>
            </a:r>
            <a:endParaRPr b="0" i="0" sz="2000" u="none" cap="none" strike="noStrike"/>
          </a:p>
        </p:txBody>
      </p:sp>
      <p:sp>
        <p:nvSpPr>
          <p:cNvPr id="190" name="Google Shape;190;p10"/>
          <p:cNvSpPr/>
          <p:nvPr/>
        </p:nvSpPr>
        <p:spPr>
          <a:xfrm>
            <a:off x="5326380" y="3308866"/>
            <a:ext cx="2594967"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Datos Anidados</a:t>
            </a:r>
            <a:endParaRPr b="0" i="0" sz="2000" u="none" cap="none" strike="noStrike"/>
          </a:p>
        </p:txBody>
      </p:sp>
      <p:sp>
        <p:nvSpPr>
          <p:cNvPr id="191" name="Google Shape;191;p10"/>
          <p:cNvSpPr/>
          <p:nvPr/>
        </p:nvSpPr>
        <p:spPr>
          <a:xfrm>
            <a:off x="5326380" y="3757851"/>
            <a:ext cx="8369975" cy="664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Los documentos pueden contener datos complejos y anidados, reflejando la estructura de los objetos de la aplicación.</a:t>
            </a:r>
            <a:endParaRPr b="0" i="0" sz="1600" u="none" cap="none" strike="noStrike"/>
          </a:p>
        </p:txBody>
      </p:sp>
      <p:sp>
        <p:nvSpPr>
          <p:cNvPr id="192" name="Google Shape;192;p10"/>
          <p:cNvSpPr/>
          <p:nvPr/>
        </p:nvSpPr>
        <p:spPr>
          <a:xfrm>
            <a:off x="5222558" y="4620220"/>
            <a:ext cx="8577620" cy="11430"/>
          </a:xfrm>
          <a:prstGeom prst="roundRect">
            <a:avLst>
              <a:gd fmla="val 272448"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726519" y="4733449"/>
            <a:ext cx="6588681" cy="1528405"/>
          </a:xfrm>
          <a:prstGeom prst="roundRect">
            <a:avLst>
              <a:gd fmla="val 203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934045" y="5289947"/>
            <a:ext cx="155734" cy="415290"/>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3</a:t>
            </a:r>
            <a:endParaRPr b="0" i="0" sz="2000" u="none" cap="none" strike="noStrike"/>
          </a:p>
        </p:txBody>
      </p:sp>
      <p:sp>
        <p:nvSpPr>
          <p:cNvPr id="195" name="Google Shape;195;p10"/>
          <p:cNvSpPr/>
          <p:nvPr/>
        </p:nvSpPr>
        <p:spPr>
          <a:xfrm>
            <a:off x="7522726" y="4940975"/>
            <a:ext cx="3113365" cy="32444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Consultas Eficientes</a:t>
            </a:r>
            <a:endParaRPr b="0" i="0" sz="2000" u="none" cap="none" strike="noStrike"/>
          </a:p>
        </p:txBody>
      </p:sp>
      <p:sp>
        <p:nvSpPr>
          <p:cNvPr id="196" name="Google Shape;196;p10"/>
          <p:cNvSpPr/>
          <p:nvPr/>
        </p:nvSpPr>
        <p:spPr>
          <a:xfrm>
            <a:off x="7522726" y="5389959"/>
            <a:ext cx="6173629" cy="664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MongoDB ofrece consultas flexibles y poderosas para recuperar y manipular datos de manera eficiente.</a:t>
            </a:r>
            <a:endParaRPr b="0" i="0" sz="1600" u="none" cap="none" strike="noStrike"/>
          </a:p>
        </p:txBody>
      </p:sp>
      <p:sp>
        <p:nvSpPr>
          <p:cNvPr id="197" name="Google Shape;197;p10"/>
          <p:cNvSpPr/>
          <p:nvPr/>
        </p:nvSpPr>
        <p:spPr>
          <a:xfrm>
            <a:off x="726519" y="6495336"/>
            <a:ext cx="13177361" cy="996553"/>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MongoDB es una base de datos documental NoSQL que se destaca por su flexibilidad y facilidad de uso. A diferencia de las bases de datos relacionales, MongoDB permite almacenar datos en documentos con esquemas flexibles, lo que facilita la adaptación a los cambios en los requisitos de la aplicación.</a:t>
            </a:r>
            <a:endParaRPr b="0" i="0" sz="16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1"/>
          <p:cNvSpPr/>
          <p:nvPr/>
        </p:nvSpPr>
        <p:spPr>
          <a:xfrm>
            <a:off x="714018" y="561023"/>
            <a:ext cx="9181148" cy="6375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4000"/>
              <a:buFont typeface="Fira Mono Medium"/>
              <a:buNone/>
            </a:pPr>
            <a:r>
              <a:rPr b="0" i="0" lang="en-US" sz="4000" u="none" cap="none" strike="noStrike">
                <a:solidFill>
                  <a:srgbClr val="FBF3FA"/>
                </a:solidFill>
                <a:latin typeface="Fira Mono Medium"/>
                <a:ea typeface="Fira Mono Medium"/>
                <a:cs typeface="Fira Mono Medium"/>
                <a:sym typeface="Fira Mono Medium"/>
              </a:rPr>
              <a:t>Operaciones básicas en MongoDB</a:t>
            </a:r>
            <a:endParaRPr b="0" i="0" sz="4000" u="none" cap="none" strike="noStrike"/>
          </a:p>
        </p:txBody>
      </p:sp>
      <p:pic>
        <p:nvPicPr>
          <p:cNvPr descr="preencoded.png" id="204" name="Google Shape;204;p11"/>
          <p:cNvPicPr preferRelativeResize="0"/>
          <p:nvPr/>
        </p:nvPicPr>
        <p:blipFill rotWithShape="1">
          <a:blip r:embed="rId3">
            <a:alphaModFix/>
          </a:blip>
          <a:srcRect b="0" l="0" r="0" t="0"/>
          <a:stretch/>
        </p:blipFill>
        <p:spPr>
          <a:xfrm>
            <a:off x="3197662" y="1606629"/>
            <a:ext cx="1633776" cy="1175504"/>
          </a:xfrm>
          <a:prstGeom prst="rect">
            <a:avLst/>
          </a:prstGeom>
          <a:noFill/>
          <a:ln>
            <a:noFill/>
          </a:ln>
        </p:spPr>
      </p:pic>
      <p:sp>
        <p:nvSpPr>
          <p:cNvPr id="205" name="Google Shape;205;p11"/>
          <p:cNvSpPr/>
          <p:nvPr/>
        </p:nvSpPr>
        <p:spPr>
          <a:xfrm>
            <a:off x="3937873" y="2136100"/>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1</a:t>
            </a:r>
            <a:endParaRPr b="0" i="0" sz="2000" u="none" cap="none" strike="noStrike"/>
          </a:p>
        </p:txBody>
      </p:sp>
      <p:sp>
        <p:nvSpPr>
          <p:cNvPr id="206" name="Google Shape;206;p11"/>
          <p:cNvSpPr/>
          <p:nvPr/>
        </p:nvSpPr>
        <p:spPr>
          <a:xfrm>
            <a:off x="5035391" y="1810583"/>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Insertar</a:t>
            </a:r>
            <a:endParaRPr b="0" i="0" sz="2000" u="none" cap="none" strike="noStrike"/>
          </a:p>
        </p:txBody>
      </p:sp>
      <p:sp>
        <p:nvSpPr>
          <p:cNvPr id="207" name="Google Shape;207;p11"/>
          <p:cNvSpPr/>
          <p:nvPr/>
        </p:nvSpPr>
        <p:spPr>
          <a:xfrm>
            <a:off x="5035391" y="2251710"/>
            <a:ext cx="3389948"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Agregar documentos a una colección</a:t>
            </a:r>
            <a:endParaRPr b="0" i="0" sz="1600" u="none" cap="none" strike="noStrike"/>
          </a:p>
        </p:txBody>
      </p:sp>
      <p:sp>
        <p:nvSpPr>
          <p:cNvPr id="208" name="Google Shape;208;p11"/>
          <p:cNvSpPr/>
          <p:nvPr/>
        </p:nvSpPr>
        <p:spPr>
          <a:xfrm>
            <a:off x="4882396" y="2798088"/>
            <a:ext cx="8983028" cy="11430"/>
          </a:xfrm>
          <a:prstGeom prst="roundRect">
            <a:avLst>
              <a:gd fmla="val 267763"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9" name="Google Shape;209;p11"/>
          <p:cNvPicPr preferRelativeResize="0"/>
          <p:nvPr/>
        </p:nvPicPr>
        <p:blipFill rotWithShape="1">
          <a:blip r:embed="rId4">
            <a:alphaModFix/>
          </a:blip>
          <a:srcRect b="0" l="0" r="0" t="0"/>
          <a:stretch/>
        </p:blipFill>
        <p:spPr>
          <a:xfrm>
            <a:off x="2380774" y="2833092"/>
            <a:ext cx="3267551" cy="1175504"/>
          </a:xfrm>
          <a:prstGeom prst="rect">
            <a:avLst/>
          </a:prstGeom>
          <a:noFill/>
          <a:ln>
            <a:noFill/>
          </a:ln>
        </p:spPr>
      </p:pic>
      <p:sp>
        <p:nvSpPr>
          <p:cNvPr id="210" name="Google Shape;210;p11"/>
          <p:cNvSpPr/>
          <p:nvPr/>
        </p:nvSpPr>
        <p:spPr>
          <a:xfrm>
            <a:off x="3937992" y="3216831"/>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2</a:t>
            </a:r>
            <a:endParaRPr b="0" i="0" sz="2000" u="none" cap="none" strike="noStrike"/>
          </a:p>
        </p:txBody>
      </p:sp>
      <p:sp>
        <p:nvSpPr>
          <p:cNvPr id="211" name="Google Shape;211;p11"/>
          <p:cNvSpPr/>
          <p:nvPr/>
        </p:nvSpPr>
        <p:spPr>
          <a:xfrm>
            <a:off x="5852279" y="3037046"/>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Consultar</a:t>
            </a:r>
            <a:endParaRPr b="0" i="0" sz="2000" u="none" cap="none" strike="noStrike"/>
          </a:p>
        </p:txBody>
      </p:sp>
      <p:sp>
        <p:nvSpPr>
          <p:cNvPr id="212" name="Google Shape;212;p11"/>
          <p:cNvSpPr/>
          <p:nvPr/>
        </p:nvSpPr>
        <p:spPr>
          <a:xfrm>
            <a:off x="5852279" y="3478173"/>
            <a:ext cx="2922746"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Buscar y recuperar documentos</a:t>
            </a:r>
            <a:endParaRPr b="0" i="0" sz="1600" u="none" cap="none" strike="noStrike"/>
          </a:p>
        </p:txBody>
      </p:sp>
      <p:sp>
        <p:nvSpPr>
          <p:cNvPr id="213" name="Google Shape;213;p11"/>
          <p:cNvSpPr/>
          <p:nvPr/>
        </p:nvSpPr>
        <p:spPr>
          <a:xfrm>
            <a:off x="5699284" y="4024551"/>
            <a:ext cx="8166140" cy="11430"/>
          </a:xfrm>
          <a:prstGeom prst="roundRect">
            <a:avLst>
              <a:gd fmla="val 267763"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4" name="Google Shape;214;p11"/>
          <p:cNvPicPr preferRelativeResize="0"/>
          <p:nvPr/>
        </p:nvPicPr>
        <p:blipFill rotWithShape="1">
          <a:blip r:embed="rId5">
            <a:alphaModFix/>
          </a:blip>
          <a:srcRect b="0" l="0" r="0" t="0"/>
          <a:stretch/>
        </p:blipFill>
        <p:spPr>
          <a:xfrm>
            <a:off x="1563886" y="4059555"/>
            <a:ext cx="4901327" cy="1175504"/>
          </a:xfrm>
          <a:prstGeom prst="rect">
            <a:avLst/>
          </a:prstGeom>
          <a:noFill/>
          <a:ln>
            <a:noFill/>
          </a:ln>
        </p:spPr>
      </p:pic>
      <p:sp>
        <p:nvSpPr>
          <p:cNvPr id="215" name="Google Shape;215;p11"/>
          <p:cNvSpPr/>
          <p:nvPr/>
        </p:nvSpPr>
        <p:spPr>
          <a:xfrm>
            <a:off x="3937873" y="4443293"/>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3</a:t>
            </a:r>
            <a:endParaRPr b="0" i="0" sz="2000" u="none" cap="none" strike="noStrike"/>
          </a:p>
        </p:txBody>
      </p:sp>
      <p:sp>
        <p:nvSpPr>
          <p:cNvPr id="216" name="Google Shape;216;p11"/>
          <p:cNvSpPr/>
          <p:nvPr/>
        </p:nvSpPr>
        <p:spPr>
          <a:xfrm>
            <a:off x="6669167" y="4263509"/>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Actualizar</a:t>
            </a:r>
            <a:endParaRPr b="0" i="0" sz="2000" u="none" cap="none" strike="noStrike"/>
          </a:p>
        </p:txBody>
      </p:sp>
      <p:sp>
        <p:nvSpPr>
          <p:cNvPr id="217" name="Google Shape;217;p11"/>
          <p:cNvSpPr/>
          <p:nvPr/>
        </p:nvSpPr>
        <p:spPr>
          <a:xfrm>
            <a:off x="6669167" y="4704636"/>
            <a:ext cx="3893106"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Modificar el contenido de los documentos</a:t>
            </a:r>
            <a:endParaRPr b="0" i="0" sz="1600" u="none" cap="none" strike="noStrike"/>
          </a:p>
        </p:txBody>
      </p:sp>
      <p:sp>
        <p:nvSpPr>
          <p:cNvPr id="218" name="Google Shape;218;p11"/>
          <p:cNvSpPr/>
          <p:nvPr/>
        </p:nvSpPr>
        <p:spPr>
          <a:xfrm>
            <a:off x="6516172" y="5251013"/>
            <a:ext cx="7349252" cy="11430"/>
          </a:xfrm>
          <a:prstGeom prst="roundRect">
            <a:avLst>
              <a:gd fmla="val 267763"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9" name="Google Shape;219;p11"/>
          <p:cNvPicPr preferRelativeResize="0"/>
          <p:nvPr/>
        </p:nvPicPr>
        <p:blipFill rotWithShape="1">
          <a:blip r:embed="rId6">
            <a:alphaModFix/>
          </a:blip>
          <a:srcRect b="0" l="0" r="0" t="0"/>
          <a:stretch/>
        </p:blipFill>
        <p:spPr>
          <a:xfrm>
            <a:off x="746998" y="5286018"/>
            <a:ext cx="6535103" cy="1175504"/>
          </a:xfrm>
          <a:prstGeom prst="rect">
            <a:avLst/>
          </a:prstGeom>
          <a:noFill/>
          <a:ln>
            <a:noFill/>
          </a:ln>
        </p:spPr>
      </p:pic>
      <p:sp>
        <p:nvSpPr>
          <p:cNvPr id="220" name="Google Shape;220;p11"/>
          <p:cNvSpPr/>
          <p:nvPr/>
        </p:nvSpPr>
        <p:spPr>
          <a:xfrm>
            <a:off x="3937992" y="5669756"/>
            <a:ext cx="153114" cy="408027"/>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4</a:t>
            </a:r>
            <a:endParaRPr b="0" i="0" sz="2000" u="none" cap="none" strike="noStrike"/>
          </a:p>
        </p:txBody>
      </p:sp>
      <p:sp>
        <p:nvSpPr>
          <p:cNvPr id="221" name="Google Shape;221;p11"/>
          <p:cNvSpPr/>
          <p:nvPr/>
        </p:nvSpPr>
        <p:spPr>
          <a:xfrm>
            <a:off x="7486055" y="5489972"/>
            <a:ext cx="2550438" cy="3187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000"/>
              <a:buFont typeface="Fira Mono Medium"/>
              <a:buNone/>
            </a:pPr>
            <a:r>
              <a:rPr b="0" i="0" lang="en-US" sz="2000" u="none" cap="none" strike="noStrike">
                <a:solidFill>
                  <a:srgbClr val="E0D6DE"/>
                </a:solidFill>
                <a:latin typeface="Fira Mono Medium"/>
                <a:ea typeface="Fira Mono Medium"/>
                <a:cs typeface="Fira Mono Medium"/>
                <a:sym typeface="Fira Mono Medium"/>
              </a:rPr>
              <a:t>Eliminar</a:t>
            </a:r>
            <a:endParaRPr b="0" i="0" sz="2000" u="none" cap="none" strike="noStrike"/>
          </a:p>
        </p:txBody>
      </p:sp>
      <p:sp>
        <p:nvSpPr>
          <p:cNvPr id="222" name="Google Shape;222;p11"/>
          <p:cNvSpPr/>
          <p:nvPr/>
        </p:nvSpPr>
        <p:spPr>
          <a:xfrm>
            <a:off x="7486055" y="5931098"/>
            <a:ext cx="3627596" cy="3264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Remover documentos de una colección</a:t>
            </a:r>
            <a:endParaRPr b="0" i="0" sz="1600" u="none" cap="none" strike="noStrike"/>
          </a:p>
        </p:txBody>
      </p:sp>
      <p:sp>
        <p:nvSpPr>
          <p:cNvPr id="223" name="Google Shape;223;p11"/>
          <p:cNvSpPr/>
          <p:nvPr/>
        </p:nvSpPr>
        <p:spPr>
          <a:xfrm>
            <a:off x="714018" y="6690955"/>
            <a:ext cx="13202364" cy="9794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E0D6DE"/>
              </a:buClr>
              <a:buSzPts val="1600"/>
              <a:buFont typeface="Fira Sans"/>
              <a:buNone/>
            </a:pPr>
            <a:r>
              <a:rPr b="0" i="0" lang="en-US" sz="1600" u="none" cap="none" strike="noStrike">
                <a:solidFill>
                  <a:srgbClr val="E0D6DE"/>
                </a:solidFill>
                <a:latin typeface="Fira Sans"/>
                <a:ea typeface="Fira Sans"/>
                <a:cs typeface="Fira Sans"/>
                <a:sym typeface="Fira Sans"/>
              </a:rPr>
              <a:t>MongoDB ofrece operaciones CRUD (Crear, Leer, Actualizar, Eliminar) para manejar los datos almacenados en sus colecciones de documentos. Estas funciones básicas permiten a los desarrolladores interactuar de manera eficiente con la base de datos, agregando, consultando, modificando y eliminando la información según sea necesario.</a:t>
            </a:r>
            <a:endParaRPr b="0" i="0" sz="16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p:nvPr/>
        </p:nvSpPr>
        <p:spPr>
          <a:xfrm>
            <a:off x="675561" y="531495"/>
            <a:ext cx="9554766" cy="6031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BF3FA"/>
              </a:buClr>
              <a:buSzPts val="3800"/>
              <a:buFont typeface="Fira Mono Medium"/>
              <a:buNone/>
            </a:pPr>
            <a:r>
              <a:rPr b="0" i="0" lang="en-US" sz="3800" u="none" cap="none" strike="noStrike">
                <a:solidFill>
                  <a:srgbClr val="FBF3FA"/>
                </a:solidFill>
                <a:latin typeface="Fira Mono Medium"/>
                <a:ea typeface="Fira Mono Medium"/>
                <a:cs typeface="Fira Mono Medium"/>
                <a:sym typeface="Fira Mono Medium"/>
              </a:rPr>
              <a:t>Bases de Datos Clave-Valor: Redis</a:t>
            </a:r>
            <a:endParaRPr b="0" i="0" sz="3800" u="none" cap="none" strike="noStrike"/>
          </a:p>
        </p:txBody>
      </p:sp>
      <p:pic>
        <p:nvPicPr>
          <p:cNvPr descr="preencoded.png" id="230" name="Google Shape;230;p12"/>
          <p:cNvPicPr preferRelativeResize="0"/>
          <p:nvPr/>
        </p:nvPicPr>
        <p:blipFill rotWithShape="1">
          <a:blip r:embed="rId3">
            <a:alphaModFix/>
          </a:blip>
          <a:srcRect b="0" l="0" r="0" t="0"/>
          <a:stretch/>
        </p:blipFill>
        <p:spPr>
          <a:xfrm>
            <a:off x="675561" y="1520666"/>
            <a:ext cx="965121" cy="1544360"/>
          </a:xfrm>
          <a:prstGeom prst="rect">
            <a:avLst/>
          </a:prstGeom>
          <a:noFill/>
          <a:ln>
            <a:noFill/>
          </a:ln>
        </p:spPr>
      </p:pic>
      <p:sp>
        <p:nvSpPr>
          <p:cNvPr id="231" name="Google Shape;231;p12"/>
          <p:cNvSpPr/>
          <p:nvPr/>
        </p:nvSpPr>
        <p:spPr>
          <a:xfrm>
            <a:off x="1930241" y="1713667"/>
            <a:ext cx="2413040" cy="301585"/>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rgbClr val="E0D6DE"/>
                </a:solidFill>
                <a:latin typeface="Fira Mono Medium"/>
                <a:ea typeface="Fira Mono Medium"/>
                <a:cs typeface="Fira Mono Medium"/>
                <a:sym typeface="Fira Mono Medium"/>
              </a:rPr>
              <a:t>Conceptos Clave</a:t>
            </a:r>
            <a:endParaRPr b="0" i="0" sz="1900" u="none" cap="none" strike="noStrike"/>
          </a:p>
        </p:txBody>
      </p:sp>
      <p:sp>
        <p:nvSpPr>
          <p:cNvPr id="232" name="Google Shape;232;p12"/>
          <p:cNvSpPr/>
          <p:nvPr/>
        </p:nvSpPr>
        <p:spPr>
          <a:xfrm>
            <a:off x="1930241" y="2130981"/>
            <a:ext cx="12024598" cy="30872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Redis (Remote Dictionary Server) es una base de datos de tipo clave-valor, en memoria, de código abierto y de gran rendimiento.</a:t>
            </a:r>
            <a:endParaRPr b="0" i="0" sz="1500" u="none" cap="none" strike="noStrike"/>
          </a:p>
        </p:txBody>
      </p:sp>
      <p:pic>
        <p:nvPicPr>
          <p:cNvPr descr="preencoded.png" id="233" name="Google Shape;233;p12"/>
          <p:cNvPicPr preferRelativeResize="0"/>
          <p:nvPr/>
        </p:nvPicPr>
        <p:blipFill rotWithShape="1">
          <a:blip r:embed="rId4">
            <a:alphaModFix/>
          </a:blip>
          <a:srcRect b="0" l="0" r="0" t="0"/>
          <a:stretch/>
        </p:blipFill>
        <p:spPr>
          <a:xfrm>
            <a:off x="675561" y="3065026"/>
            <a:ext cx="965121" cy="1544360"/>
          </a:xfrm>
          <a:prstGeom prst="rect">
            <a:avLst/>
          </a:prstGeom>
          <a:noFill/>
          <a:ln>
            <a:noFill/>
          </a:ln>
        </p:spPr>
      </p:pic>
      <p:sp>
        <p:nvSpPr>
          <p:cNvPr id="234" name="Google Shape;234;p12"/>
          <p:cNvSpPr/>
          <p:nvPr/>
        </p:nvSpPr>
        <p:spPr>
          <a:xfrm>
            <a:off x="1930241" y="3258026"/>
            <a:ext cx="3328868" cy="301585"/>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rgbClr val="E0D6DE"/>
                </a:solidFill>
                <a:latin typeface="Fira Mono Medium"/>
                <a:ea typeface="Fira Mono Medium"/>
                <a:cs typeface="Fira Mono Medium"/>
                <a:sym typeface="Fira Mono Medium"/>
              </a:rPr>
              <a:t>Almacenamiento de Datos</a:t>
            </a:r>
            <a:endParaRPr b="0" i="0" sz="1900" u="none" cap="none" strike="noStrike"/>
          </a:p>
        </p:txBody>
      </p:sp>
      <p:sp>
        <p:nvSpPr>
          <p:cNvPr id="235" name="Google Shape;235;p12"/>
          <p:cNvSpPr/>
          <p:nvPr/>
        </p:nvSpPr>
        <p:spPr>
          <a:xfrm>
            <a:off x="1930241" y="3675340"/>
            <a:ext cx="12024598" cy="617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A diferencia de las bases de datos relacionales, Redis utiliza una estructura sencilla de pares clave-valor para el almacenamiento y recuperación rápida de datos.</a:t>
            </a:r>
            <a:endParaRPr b="0" i="0" sz="1500" u="none" cap="none" strike="noStrike"/>
          </a:p>
        </p:txBody>
      </p:sp>
      <p:pic>
        <p:nvPicPr>
          <p:cNvPr descr="preencoded.png" id="236" name="Google Shape;236;p12"/>
          <p:cNvPicPr preferRelativeResize="0"/>
          <p:nvPr/>
        </p:nvPicPr>
        <p:blipFill rotWithShape="1">
          <a:blip r:embed="rId5">
            <a:alphaModFix/>
          </a:blip>
          <a:srcRect b="0" l="0" r="0" t="0"/>
          <a:stretch/>
        </p:blipFill>
        <p:spPr>
          <a:xfrm>
            <a:off x="675561" y="4609386"/>
            <a:ext cx="965121" cy="1544360"/>
          </a:xfrm>
          <a:prstGeom prst="rect">
            <a:avLst/>
          </a:prstGeom>
          <a:noFill/>
          <a:ln>
            <a:noFill/>
          </a:ln>
        </p:spPr>
      </p:pic>
      <p:sp>
        <p:nvSpPr>
          <p:cNvPr id="237" name="Google Shape;237;p12"/>
          <p:cNvSpPr/>
          <p:nvPr/>
        </p:nvSpPr>
        <p:spPr>
          <a:xfrm>
            <a:off x="1930241" y="4451086"/>
            <a:ext cx="3763200" cy="301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rgbClr val="E0D6DE"/>
                </a:solidFill>
                <a:latin typeface="Fira Mono Medium"/>
                <a:ea typeface="Fira Mono Medium"/>
                <a:cs typeface="Fira Mono Medium"/>
                <a:sym typeface="Fira Mono Medium"/>
              </a:rPr>
              <a:t>Características Destacadas</a:t>
            </a:r>
            <a:endParaRPr b="0" i="0" sz="1900" u="none" cap="none" strike="noStrike"/>
          </a:p>
        </p:txBody>
      </p:sp>
      <p:sp>
        <p:nvSpPr>
          <p:cNvPr id="238" name="Google Shape;238;p12"/>
          <p:cNvSpPr/>
          <p:nvPr/>
        </p:nvSpPr>
        <p:spPr>
          <a:xfrm>
            <a:off x="1930241" y="5219700"/>
            <a:ext cx="12024598" cy="617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Redis ofrece una gran variedad de tipos de datos, como cadenas, listas, conjuntos y hashes, lo que lo hace muy flexible y adaptable a diversas necesidades.</a:t>
            </a:r>
            <a:endParaRPr b="0" i="0" sz="1500" u="none" cap="none" strike="noStrike"/>
          </a:p>
        </p:txBody>
      </p:sp>
      <p:pic>
        <p:nvPicPr>
          <p:cNvPr descr="preencoded.png" id="239" name="Google Shape;239;p12"/>
          <p:cNvPicPr preferRelativeResize="0"/>
          <p:nvPr/>
        </p:nvPicPr>
        <p:blipFill rotWithShape="1">
          <a:blip r:embed="rId6">
            <a:alphaModFix/>
          </a:blip>
          <a:srcRect b="0" l="0" r="0" t="0"/>
          <a:stretch/>
        </p:blipFill>
        <p:spPr>
          <a:xfrm>
            <a:off x="675561" y="6153745"/>
            <a:ext cx="965121" cy="1544360"/>
          </a:xfrm>
          <a:prstGeom prst="rect">
            <a:avLst/>
          </a:prstGeom>
          <a:noFill/>
          <a:ln>
            <a:noFill/>
          </a:ln>
        </p:spPr>
      </p:pic>
      <p:sp>
        <p:nvSpPr>
          <p:cNvPr id="240" name="Google Shape;240;p12"/>
          <p:cNvSpPr/>
          <p:nvPr/>
        </p:nvSpPr>
        <p:spPr>
          <a:xfrm>
            <a:off x="1930241" y="5952896"/>
            <a:ext cx="3907800" cy="301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E0D6DE"/>
              </a:buClr>
              <a:buSzPts val="1900"/>
              <a:buFont typeface="Fira Mono Medium"/>
              <a:buNone/>
            </a:pPr>
            <a:r>
              <a:rPr b="0" i="0" lang="en-US" sz="1900" u="none" cap="none" strike="noStrike">
                <a:solidFill>
                  <a:srgbClr val="E0D6DE"/>
                </a:solidFill>
                <a:latin typeface="Fira Mono Medium"/>
                <a:ea typeface="Fira Mono Medium"/>
                <a:cs typeface="Fira Mono Medium"/>
                <a:sym typeface="Fira Mono Medium"/>
              </a:rPr>
              <a:t>Rendimiento y Escalabilidad</a:t>
            </a:r>
            <a:endParaRPr b="0" i="0" sz="1900" u="none" cap="none" strike="noStrike"/>
          </a:p>
        </p:txBody>
      </p:sp>
      <p:sp>
        <p:nvSpPr>
          <p:cNvPr id="241" name="Google Shape;241;p12"/>
          <p:cNvSpPr/>
          <p:nvPr/>
        </p:nvSpPr>
        <p:spPr>
          <a:xfrm>
            <a:off x="1930241" y="6764060"/>
            <a:ext cx="12024598" cy="61745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E0D6DE"/>
              </a:buClr>
              <a:buSzPts val="1500"/>
              <a:buFont typeface="Fira Sans"/>
              <a:buNone/>
            </a:pPr>
            <a:r>
              <a:rPr b="0" i="0" lang="en-US" sz="1500" u="none" cap="none" strike="noStrike">
                <a:solidFill>
                  <a:srgbClr val="E0D6DE"/>
                </a:solidFill>
                <a:latin typeface="Fira Sans"/>
                <a:ea typeface="Fira Sans"/>
                <a:cs typeface="Fira Sans"/>
                <a:sym typeface="Fira Sans"/>
              </a:rPr>
              <a:t>Gracias a su arquitectura en memoria, Redis es capaz de procesar un gran volumen de consultas con baja latencia, lo que lo convierte en una solución ideal para aplicaciones con altas demandas de rendimiento.</a:t>
            </a:r>
            <a:endParaRPr b="0" i="0" sz="150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descr="preencoded.png" id="247" name="Google Shape;247;p13"/>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48" name="Google Shape;248;p13"/>
          <p:cNvPicPr preferRelativeResize="0"/>
          <p:nvPr/>
        </p:nvPicPr>
        <p:blipFill rotWithShape="1">
          <a:blip r:embed="rId4">
            <a:alphaModFix/>
          </a:blip>
          <a:srcRect b="0" l="0" r="0" t="0"/>
          <a:stretch/>
        </p:blipFill>
        <p:spPr>
          <a:xfrm>
            <a:off x="253841" y="3320296"/>
            <a:ext cx="4978598" cy="1589008"/>
          </a:xfrm>
          <a:prstGeom prst="rect">
            <a:avLst/>
          </a:prstGeom>
          <a:noFill/>
          <a:ln>
            <a:noFill/>
          </a:ln>
        </p:spPr>
      </p:pic>
      <p:sp>
        <p:nvSpPr>
          <p:cNvPr id="249" name="Google Shape;249;p13"/>
          <p:cNvSpPr/>
          <p:nvPr/>
        </p:nvSpPr>
        <p:spPr>
          <a:xfrm>
            <a:off x="6196965" y="558284"/>
            <a:ext cx="7722870" cy="1268730"/>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FBF3FA"/>
              </a:buClr>
              <a:buSzPts val="3950"/>
              <a:buFont typeface="Fira Mono Medium"/>
              <a:buNone/>
            </a:pPr>
            <a:r>
              <a:rPr b="0" i="0" lang="en-US" sz="3950" u="none" cap="none" strike="noStrike">
                <a:solidFill>
                  <a:srgbClr val="FBF3FA"/>
                </a:solidFill>
                <a:latin typeface="Fira Mono Medium"/>
                <a:ea typeface="Fira Mono Medium"/>
                <a:cs typeface="Fira Mono Medium"/>
                <a:sym typeface="Fira Mono Medium"/>
              </a:rPr>
              <a:t>Operaciones básicas en Redis</a:t>
            </a:r>
            <a:endParaRPr b="0" i="0" sz="3950" u="none" cap="none" strike="noStrike"/>
          </a:p>
        </p:txBody>
      </p:sp>
      <p:sp>
        <p:nvSpPr>
          <p:cNvPr id="250" name="Google Shape;250;p13"/>
          <p:cNvSpPr/>
          <p:nvPr/>
        </p:nvSpPr>
        <p:spPr>
          <a:xfrm>
            <a:off x="6489978" y="2131457"/>
            <a:ext cx="22860" cy="553974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a:off x="6706910" y="2576751"/>
            <a:ext cx="710565" cy="2286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6273046" y="2359819"/>
            <a:ext cx="456724" cy="456724"/>
          </a:xfrm>
          <a:prstGeom prst="roundRect">
            <a:avLst>
              <a:gd fmla="val 6668"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6409968" y="2435900"/>
            <a:ext cx="182761"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350"/>
              <a:buFont typeface="Fira Mono Medium"/>
              <a:buNone/>
            </a:pPr>
            <a:r>
              <a:rPr b="0" i="0" lang="en-US" sz="2350" u="none" cap="none" strike="noStrike">
                <a:solidFill>
                  <a:srgbClr val="E0D6DE"/>
                </a:solidFill>
                <a:latin typeface="Fira Mono Medium"/>
                <a:ea typeface="Fira Mono Medium"/>
                <a:cs typeface="Fira Mono Medium"/>
                <a:sym typeface="Fira Mono Medium"/>
              </a:rPr>
              <a:t>1</a:t>
            </a:r>
            <a:endParaRPr b="0" i="0" sz="2350" u="none" cap="none" strike="noStrike"/>
          </a:p>
        </p:txBody>
      </p:sp>
      <p:sp>
        <p:nvSpPr>
          <p:cNvPr id="254" name="Google Shape;254;p13"/>
          <p:cNvSpPr/>
          <p:nvPr/>
        </p:nvSpPr>
        <p:spPr>
          <a:xfrm>
            <a:off x="7617976" y="2334458"/>
            <a:ext cx="2537817"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Fira Mono Medium"/>
              <a:buNone/>
            </a:pPr>
            <a:r>
              <a:rPr b="0" i="0" lang="en-US" sz="1950" u="none" cap="none" strike="noStrike">
                <a:solidFill>
                  <a:srgbClr val="E0D6DE"/>
                </a:solidFill>
                <a:latin typeface="Fira Mono Medium"/>
                <a:ea typeface="Fira Mono Medium"/>
                <a:cs typeface="Fira Mono Medium"/>
                <a:sym typeface="Fira Mono Medium"/>
              </a:rPr>
              <a:t>Almacenamiento</a:t>
            </a:r>
            <a:endParaRPr b="0" i="0" sz="1950" u="none" cap="none" strike="noStrike"/>
          </a:p>
        </p:txBody>
      </p:sp>
      <p:sp>
        <p:nvSpPr>
          <p:cNvPr id="255" name="Google Shape;255;p13"/>
          <p:cNvSpPr/>
          <p:nvPr/>
        </p:nvSpPr>
        <p:spPr>
          <a:xfrm>
            <a:off x="7617976" y="2773561"/>
            <a:ext cx="6301859" cy="649605"/>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0D6DE"/>
              </a:buClr>
              <a:buSzPts val="1550"/>
              <a:buFont typeface="Fira Sans"/>
              <a:buNone/>
            </a:pPr>
            <a:r>
              <a:rPr b="0" i="0" lang="en-US" sz="1550" u="none" cap="none" strike="noStrike">
                <a:solidFill>
                  <a:srgbClr val="E0D6DE"/>
                </a:solidFill>
                <a:latin typeface="Fira Sans"/>
                <a:ea typeface="Fira Sans"/>
                <a:cs typeface="Fira Sans"/>
                <a:sym typeface="Fira Sans"/>
              </a:rPr>
              <a:t>Redis permite almacenar datos en estructuras como cadenas, listas, conjuntos y hashes de manera sencilla y eficiente.</a:t>
            </a:r>
            <a:endParaRPr b="0" i="0" sz="1550" u="none" cap="none" strike="noStrike"/>
          </a:p>
        </p:txBody>
      </p:sp>
      <p:sp>
        <p:nvSpPr>
          <p:cNvPr id="256" name="Google Shape;256;p13"/>
          <p:cNvSpPr/>
          <p:nvPr/>
        </p:nvSpPr>
        <p:spPr>
          <a:xfrm>
            <a:off x="6706910" y="4274463"/>
            <a:ext cx="710565" cy="2286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6273046" y="4057531"/>
            <a:ext cx="456724" cy="456724"/>
          </a:xfrm>
          <a:prstGeom prst="roundRect">
            <a:avLst>
              <a:gd fmla="val 6668"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6409968" y="4133612"/>
            <a:ext cx="182761"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350"/>
              <a:buFont typeface="Fira Mono Medium"/>
              <a:buNone/>
            </a:pPr>
            <a:r>
              <a:rPr b="0" i="0" lang="en-US" sz="2350" u="none" cap="none" strike="noStrike">
                <a:solidFill>
                  <a:srgbClr val="E0D6DE"/>
                </a:solidFill>
                <a:latin typeface="Fira Mono Medium"/>
                <a:ea typeface="Fira Mono Medium"/>
                <a:cs typeface="Fira Mono Medium"/>
                <a:sym typeface="Fira Mono Medium"/>
              </a:rPr>
              <a:t>2</a:t>
            </a:r>
            <a:endParaRPr b="0" i="0" sz="2350" u="none" cap="none" strike="noStrike"/>
          </a:p>
        </p:txBody>
      </p:sp>
      <p:sp>
        <p:nvSpPr>
          <p:cNvPr id="259" name="Google Shape;259;p13"/>
          <p:cNvSpPr/>
          <p:nvPr/>
        </p:nvSpPr>
        <p:spPr>
          <a:xfrm>
            <a:off x="7617976" y="4032171"/>
            <a:ext cx="2537817"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Fira Mono Medium"/>
              <a:buNone/>
            </a:pPr>
            <a:r>
              <a:rPr b="0" i="0" lang="en-US" sz="1950" u="none" cap="none" strike="noStrike">
                <a:solidFill>
                  <a:srgbClr val="E0D6DE"/>
                </a:solidFill>
                <a:latin typeface="Fira Mono Medium"/>
                <a:ea typeface="Fira Mono Medium"/>
                <a:cs typeface="Fira Mono Medium"/>
                <a:sym typeface="Fira Mono Medium"/>
              </a:rPr>
              <a:t>Recuperación</a:t>
            </a:r>
            <a:endParaRPr b="0" i="0" sz="1950" u="none" cap="none" strike="noStrike"/>
          </a:p>
        </p:txBody>
      </p:sp>
      <p:sp>
        <p:nvSpPr>
          <p:cNvPr id="260" name="Google Shape;260;p13"/>
          <p:cNvSpPr/>
          <p:nvPr/>
        </p:nvSpPr>
        <p:spPr>
          <a:xfrm>
            <a:off x="7617976" y="4471273"/>
            <a:ext cx="6301859" cy="974408"/>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0D6DE"/>
              </a:buClr>
              <a:buSzPts val="1550"/>
              <a:buFont typeface="Fira Sans"/>
              <a:buNone/>
            </a:pPr>
            <a:r>
              <a:rPr b="0" i="0" lang="en-US" sz="1550" u="none" cap="none" strike="noStrike">
                <a:solidFill>
                  <a:srgbClr val="E0D6DE"/>
                </a:solidFill>
                <a:latin typeface="Fira Sans"/>
                <a:ea typeface="Fira Sans"/>
                <a:cs typeface="Fira Sans"/>
                <a:sym typeface="Fira Sans"/>
              </a:rPr>
              <a:t>Acceder y recuperar datos almacenados en Redis es rápido y directo, gracias a su diseño optimizado para el acceso y la búsqueda.</a:t>
            </a:r>
            <a:endParaRPr b="0" i="0" sz="1550" u="none" cap="none" strike="noStrike"/>
          </a:p>
        </p:txBody>
      </p:sp>
      <p:sp>
        <p:nvSpPr>
          <p:cNvPr id="261" name="Google Shape;261;p13"/>
          <p:cNvSpPr/>
          <p:nvPr/>
        </p:nvSpPr>
        <p:spPr>
          <a:xfrm>
            <a:off x="6706910" y="6296978"/>
            <a:ext cx="710565" cy="22860"/>
          </a:xfrm>
          <a:prstGeom prst="roundRect">
            <a:avLst>
              <a:gd fmla="val 133219" name="adj"/>
            </a:avLst>
          </a:prstGeom>
          <a:solidFill>
            <a:srgbClr val="4747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6273046" y="6080046"/>
            <a:ext cx="456724" cy="456724"/>
          </a:xfrm>
          <a:prstGeom prst="roundRect">
            <a:avLst>
              <a:gd fmla="val 6668"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6409968" y="6156127"/>
            <a:ext cx="182761" cy="30456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350"/>
              <a:buFont typeface="Fira Mono Medium"/>
              <a:buNone/>
            </a:pPr>
            <a:r>
              <a:rPr b="0" i="0" lang="en-US" sz="2350" u="none" cap="none" strike="noStrike">
                <a:solidFill>
                  <a:srgbClr val="E0D6DE"/>
                </a:solidFill>
                <a:latin typeface="Fira Mono Medium"/>
                <a:ea typeface="Fira Mono Medium"/>
                <a:cs typeface="Fira Mono Medium"/>
                <a:sym typeface="Fira Mono Medium"/>
              </a:rPr>
              <a:t>3</a:t>
            </a:r>
            <a:endParaRPr b="0" i="0" sz="2350" u="none" cap="none" strike="noStrike"/>
          </a:p>
        </p:txBody>
      </p:sp>
      <p:sp>
        <p:nvSpPr>
          <p:cNvPr id="264" name="Google Shape;264;p13"/>
          <p:cNvSpPr/>
          <p:nvPr/>
        </p:nvSpPr>
        <p:spPr>
          <a:xfrm>
            <a:off x="7617976" y="6054685"/>
            <a:ext cx="2537817" cy="317302"/>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E0D6DE"/>
              </a:buClr>
              <a:buSzPts val="1950"/>
              <a:buFont typeface="Fira Mono Medium"/>
              <a:buNone/>
            </a:pPr>
            <a:r>
              <a:rPr b="0" i="0" lang="en-US" sz="1950" u="none" cap="none" strike="noStrike">
                <a:solidFill>
                  <a:srgbClr val="E0D6DE"/>
                </a:solidFill>
                <a:latin typeface="Fira Mono Medium"/>
                <a:ea typeface="Fira Mono Medium"/>
                <a:cs typeface="Fira Mono Medium"/>
                <a:sym typeface="Fira Mono Medium"/>
              </a:rPr>
              <a:t>Manipulación</a:t>
            </a:r>
            <a:endParaRPr b="0" i="0" sz="1950" u="none" cap="none" strike="noStrike"/>
          </a:p>
        </p:txBody>
      </p:sp>
      <p:sp>
        <p:nvSpPr>
          <p:cNvPr id="265" name="Google Shape;265;p13"/>
          <p:cNvSpPr/>
          <p:nvPr/>
        </p:nvSpPr>
        <p:spPr>
          <a:xfrm>
            <a:off x="7617976" y="6493788"/>
            <a:ext cx="6301859" cy="974408"/>
          </a:xfrm>
          <a:prstGeom prst="rect">
            <a:avLst/>
          </a:prstGeom>
          <a:noFill/>
          <a:ln>
            <a:noFill/>
          </a:ln>
        </p:spPr>
        <p:txBody>
          <a:bodyPr anchorCtr="0" anchor="t" bIns="0" lIns="0" spcFirstLastPara="1" rIns="0" wrap="square" tIns="0">
            <a:noAutofit/>
          </a:bodyPr>
          <a:lstStyle/>
          <a:p>
            <a:pPr indent="0" lvl="0" marL="0" marR="0" rtl="0" algn="l">
              <a:lnSpc>
                <a:spcPct val="164516"/>
              </a:lnSpc>
              <a:spcBef>
                <a:spcPts val="0"/>
              </a:spcBef>
              <a:spcAft>
                <a:spcPts val="0"/>
              </a:spcAft>
              <a:buClr>
                <a:srgbClr val="E0D6DE"/>
              </a:buClr>
              <a:buSzPts val="1550"/>
              <a:buFont typeface="Fira Sans"/>
              <a:buNone/>
            </a:pPr>
            <a:r>
              <a:rPr b="0" i="0" lang="en-US" sz="1550" u="none" cap="none" strike="noStrike">
                <a:solidFill>
                  <a:srgbClr val="E0D6DE"/>
                </a:solidFill>
                <a:latin typeface="Fira Sans"/>
                <a:ea typeface="Fira Sans"/>
                <a:cs typeface="Fira Sans"/>
                <a:sym typeface="Fira Sans"/>
              </a:rPr>
              <a:t>Redis ofrece una amplia gama de comandos para manipular los datos almacenados, como incrementar, decrementar, agregar, remover y más.</a:t>
            </a:r>
            <a:endParaRPr b="0" i="0" sz="15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descr="preencoded.png" id="271" name="Google Shape;271;p14"/>
          <p:cNvPicPr preferRelativeResize="0"/>
          <p:nvPr/>
        </p:nvPicPr>
        <p:blipFill rotWithShape="1">
          <a:blip r:embed="rId3">
            <a:alphaModFix/>
          </a:blip>
          <a:srcRect b="0" l="0" r="0" t="0"/>
          <a:stretch/>
        </p:blipFill>
        <p:spPr>
          <a:xfrm>
            <a:off x="0" y="0"/>
            <a:ext cx="14630400" cy="2143006"/>
          </a:xfrm>
          <a:prstGeom prst="rect">
            <a:avLst/>
          </a:prstGeom>
          <a:noFill/>
          <a:ln>
            <a:noFill/>
          </a:ln>
        </p:spPr>
      </p:pic>
      <p:sp>
        <p:nvSpPr>
          <p:cNvPr id="272" name="Google Shape;272;p14"/>
          <p:cNvSpPr/>
          <p:nvPr/>
        </p:nvSpPr>
        <p:spPr>
          <a:xfrm>
            <a:off x="599956" y="2748439"/>
            <a:ext cx="6170533" cy="535781"/>
          </a:xfrm>
          <a:prstGeom prst="rect">
            <a:avLst/>
          </a:prstGeom>
          <a:noFill/>
          <a:ln>
            <a:noFill/>
          </a:ln>
        </p:spPr>
        <p:txBody>
          <a:bodyPr anchorCtr="0" anchor="t" bIns="0" lIns="0" spcFirstLastPara="1" rIns="0" wrap="square" tIns="0">
            <a:noAutofit/>
          </a:bodyPr>
          <a:lstStyle/>
          <a:p>
            <a:pPr indent="0" lvl="0" marL="0" marR="0" rtl="0" algn="l">
              <a:lnSpc>
                <a:spcPct val="125373"/>
              </a:lnSpc>
              <a:spcBef>
                <a:spcPts val="0"/>
              </a:spcBef>
              <a:spcAft>
                <a:spcPts val="0"/>
              </a:spcAft>
              <a:buClr>
                <a:srgbClr val="FBF3FA"/>
              </a:buClr>
              <a:buSzPts val="3350"/>
              <a:buFont typeface="Fira Mono Medium"/>
              <a:buNone/>
            </a:pPr>
            <a:r>
              <a:rPr b="0" i="0" lang="en-US" sz="3350" u="none" cap="none" strike="noStrike">
                <a:solidFill>
                  <a:srgbClr val="FBF3FA"/>
                </a:solidFill>
                <a:latin typeface="Fira Mono Medium"/>
                <a:ea typeface="Fira Mono Medium"/>
                <a:cs typeface="Fira Mono Medium"/>
                <a:sym typeface="Fira Mono Medium"/>
              </a:rPr>
              <a:t>Comparación NoSQL vs SQL</a:t>
            </a:r>
            <a:endParaRPr b="0" i="0" sz="3350" u="none" cap="none" strike="noStrike"/>
          </a:p>
        </p:txBody>
      </p:sp>
      <p:sp>
        <p:nvSpPr>
          <p:cNvPr id="273" name="Google Shape;273;p14"/>
          <p:cNvSpPr/>
          <p:nvPr/>
        </p:nvSpPr>
        <p:spPr>
          <a:xfrm>
            <a:off x="599956" y="3541276"/>
            <a:ext cx="13430488" cy="4082891"/>
          </a:xfrm>
          <a:prstGeom prst="roundRect">
            <a:avLst>
              <a:gd fmla="val 630"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607576" y="3548896"/>
            <a:ext cx="13413819" cy="495062"/>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780336" y="3659267"/>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1" i="0" lang="en-US" sz="1300" u="none" cap="none" strike="noStrike">
                <a:solidFill>
                  <a:srgbClr val="E0D6DE"/>
                </a:solidFill>
                <a:latin typeface="Fira Sans"/>
                <a:ea typeface="Fira Sans"/>
                <a:cs typeface="Fira Sans"/>
                <a:sym typeface="Fira Sans"/>
              </a:rPr>
              <a:t>Característica</a:t>
            </a:r>
            <a:endParaRPr b="0" i="0" sz="1300" u="none" cap="none" strike="noStrike"/>
          </a:p>
        </p:txBody>
      </p:sp>
      <p:sp>
        <p:nvSpPr>
          <p:cNvPr id="276" name="Google Shape;276;p14"/>
          <p:cNvSpPr/>
          <p:nvPr/>
        </p:nvSpPr>
        <p:spPr>
          <a:xfrm>
            <a:off x="5254943" y="3659267"/>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1" i="0" lang="en-US" sz="1300" u="none" cap="none" strike="noStrike">
                <a:solidFill>
                  <a:srgbClr val="E0D6DE"/>
                </a:solidFill>
                <a:latin typeface="Fira Sans"/>
                <a:ea typeface="Fira Sans"/>
                <a:cs typeface="Fira Sans"/>
                <a:sym typeface="Fira Sans"/>
              </a:rPr>
              <a:t>Bases de Datos SQL</a:t>
            </a:r>
            <a:endParaRPr b="0" i="0" sz="1300" u="none" cap="none" strike="noStrike"/>
          </a:p>
        </p:txBody>
      </p:sp>
      <p:sp>
        <p:nvSpPr>
          <p:cNvPr id="277" name="Google Shape;277;p14"/>
          <p:cNvSpPr/>
          <p:nvPr/>
        </p:nvSpPr>
        <p:spPr>
          <a:xfrm>
            <a:off x="9725739" y="3659267"/>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1" i="0" lang="en-US" sz="1300" u="none" cap="none" strike="noStrike">
                <a:solidFill>
                  <a:srgbClr val="E0D6DE"/>
                </a:solidFill>
                <a:latin typeface="Fira Sans"/>
                <a:ea typeface="Fira Sans"/>
                <a:cs typeface="Fira Sans"/>
                <a:sym typeface="Fira Sans"/>
              </a:rPr>
              <a:t>Bases de Datos NoSQL</a:t>
            </a:r>
            <a:endParaRPr b="0" i="0" sz="1300" u="none" cap="none" strike="noStrike"/>
          </a:p>
        </p:txBody>
      </p:sp>
      <p:sp>
        <p:nvSpPr>
          <p:cNvPr id="278" name="Google Shape;278;p14"/>
          <p:cNvSpPr/>
          <p:nvPr/>
        </p:nvSpPr>
        <p:spPr>
          <a:xfrm>
            <a:off x="607576" y="4043958"/>
            <a:ext cx="13413819" cy="769382"/>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780336" y="4154329"/>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Modelo de Datos</a:t>
            </a:r>
            <a:endParaRPr b="0" i="0" sz="1300" u="none" cap="none" strike="noStrike"/>
          </a:p>
        </p:txBody>
      </p:sp>
      <p:sp>
        <p:nvSpPr>
          <p:cNvPr id="280" name="Google Shape;280;p14"/>
          <p:cNvSpPr/>
          <p:nvPr/>
        </p:nvSpPr>
        <p:spPr>
          <a:xfrm>
            <a:off x="5254943" y="4154329"/>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Relacional, basado en tablas y esquemas fijos</a:t>
            </a:r>
            <a:endParaRPr b="0" i="0" sz="1300" u="none" cap="none" strike="noStrike"/>
          </a:p>
        </p:txBody>
      </p:sp>
      <p:sp>
        <p:nvSpPr>
          <p:cNvPr id="281" name="Google Shape;281;p14"/>
          <p:cNvSpPr/>
          <p:nvPr/>
        </p:nvSpPr>
        <p:spPr>
          <a:xfrm>
            <a:off x="9725739" y="4154329"/>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Diversos modelos, como documento, clave-valor, columnar y grafo, con esquemas flexibles</a:t>
            </a:r>
            <a:endParaRPr b="0" i="0" sz="1300" u="none" cap="none" strike="noStrike"/>
          </a:p>
        </p:txBody>
      </p:sp>
      <p:sp>
        <p:nvSpPr>
          <p:cNvPr id="282" name="Google Shape;282;p14"/>
          <p:cNvSpPr/>
          <p:nvPr/>
        </p:nvSpPr>
        <p:spPr>
          <a:xfrm>
            <a:off x="607576" y="4813340"/>
            <a:ext cx="13413819" cy="769382"/>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780336" y="4923711"/>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Escalabilidad</a:t>
            </a:r>
            <a:endParaRPr b="0" i="0" sz="1300" u="none" cap="none" strike="noStrike"/>
          </a:p>
        </p:txBody>
      </p:sp>
      <p:sp>
        <p:nvSpPr>
          <p:cNvPr id="284" name="Google Shape;284;p14"/>
          <p:cNvSpPr/>
          <p:nvPr/>
        </p:nvSpPr>
        <p:spPr>
          <a:xfrm>
            <a:off x="5254943" y="4923711"/>
            <a:ext cx="412051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Escalabilidad vertical, limitada por la capacidad del hardware</a:t>
            </a:r>
            <a:endParaRPr b="0" i="0" sz="1300" u="none" cap="none" strike="noStrike"/>
          </a:p>
        </p:txBody>
      </p:sp>
      <p:sp>
        <p:nvSpPr>
          <p:cNvPr id="285" name="Google Shape;285;p14"/>
          <p:cNvSpPr/>
          <p:nvPr/>
        </p:nvSpPr>
        <p:spPr>
          <a:xfrm>
            <a:off x="9725739" y="4923711"/>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Escalabilidad horizontal, distribuyendo datos entre múltiples servidores</a:t>
            </a:r>
            <a:endParaRPr b="0" i="0" sz="1300" u="none" cap="none" strike="noStrike"/>
          </a:p>
        </p:txBody>
      </p:sp>
      <p:sp>
        <p:nvSpPr>
          <p:cNvPr id="286" name="Google Shape;286;p14"/>
          <p:cNvSpPr/>
          <p:nvPr/>
        </p:nvSpPr>
        <p:spPr>
          <a:xfrm>
            <a:off x="607576" y="5582722"/>
            <a:ext cx="13413819" cy="769382"/>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780336" y="5693093"/>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Consistencia de Datos</a:t>
            </a:r>
            <a:endParaRPr b="0" i="0" sz="1300" u="none" cap="none" strike="noStrike"/>
          </a:p>
        </p:txBody>
      </p:sp>
      <p:sp>
        <p:nvSpPr>
          <p:cNvPr id="288" name="Google Shape;288;p14"/>
          <p:cNvSpPr/>
          <p:nvPr/>
        </p:nvSpPr>
        <p:spPr>
          <a:xfrm>
            <a:off x="5254943" y="5693093"/>
            <a:ext cx="412051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ACID: Atomicidad, Consistencia, Aislamiento, Durabilidad</a:t>
            </a:r>
            <a:endParaRPr b="0" i="0" sz="1300" u="none" cap="none" strike="noStrike"/>
          </a:p>
        </p:txBody>
      </p:sp>
      <p:sp>
        <p:nvSpPr>
          <p:cNvPr id="289" name="Google Shape;289;p14"/>
          <p:cNvSpPr/>
          <p:nvPr/>
        </p:nvSpPr>
        <p:spPr>
          <a:xfrm>
            <a:off x="9725739" y="5693093"/>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BASE: Disponibilidad, Tolerancia a Particiones, Eventual Consistencia</a:t>
            </a:r>
            <a:endParaRPr b="0" i="0" sz="1300" u="none" cap="none" strike="noStrike"/>
          </a:p>
        </p:txBody>
      </p:sp>
      <p:sp>
        <p:nvSpPr>
          <p:cNvPr id="290" name="Google Shape;290;p14"/>
          <p:cNvSpPr/>
          <p:nvPr/>
        </p:nvSpPr>
        <p:spPr>
          <a:xfrm>
            <a:off x="607576" y="6352103"/>
            <a:ext cx="13413819" cy="495062"/>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780336" y="6462474"/>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Latencia</a:t>
            </a:r>
            <a:endParaRPr b="0" i="0" sz="1300" u="none" cap="none" strike="noStrike"/>
          </a:p>
        </p:txBody>
      </p:sp>
      <p:sp>
        <p:nvSpPr>
          <p:cNvPr id="292" name="Google Shape;292;p14"/>
          <p:cNvSpPr/>
          <p:nvPr/>
        </p:nvSpPr>
        <p:spPr>
          <a:xfrm>
            <a:off x="5254943" y="6462474"/>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Mayor latencia en operaciones de lectura y escritura</a:t>
            </a:r>
            <a:endParaRPr b="0" i="0" sz="1300" u="none" cap="none" strike="noStrike"/>
          </a:p>
        </p:txBody>
      </p:sp>
      <p:sp>
        <p:nvSpPr>
          <p:cNvPr id="293" name="Google Shape;293;p14"/>
          <p:cNvSpPr/>
          <p:nvPr/>
        </p:nvSpPr>
        <p:spPr>
          <a:xfrm>
            <a:off x="9725739" y="6462474"/>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Menor latencia en operaciones de lectura y escritura</a:t>
            </a:r>
            <a:endParaRPr b="0" i="0" sz="1300" u="none" cap="none" strike="noStrike"/>
          </a:p>
        </p:txBody>
      </p:sp>
      <p:sp>
        <p:nvSpPr>
          <p:cNvPr id="294" name="Google Shape;294;p14"/>
          <p:cNvSpPr/>
          <p:nvPr/>
        </p:nvSpPr>
        <p:spPr>
          <a:xfrm>
            <a:off x="607576" y="6847165"/>
            <a:ext cx="13413819" cy="769382"/>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780336" y="6957536"/>
            <a:ext cx="412432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Consultas Complejas</a:t>
            </a:r>
            <a:endParaRPr b="0" i="0" sz="1300" u="none" cap="none" strike="noStrike"/>
          </a:p>
        </p:txBody>
      </p:sp>
      <p:sp>
        <p:nvSpPr>
          <p:cNvPr id="296" name="Google Shape;296;p14"/>
          <p:cNvSpPr/>
          <p:nvPr/>
        </p:nvSpPr>
        <p:spPr>
          <a:xfrm>
            <a:off x="5254943" y="6957536"/>
            <a:ext cx="4120515" cy="27432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Mejor soporte para consultas complejas con JOINs</a:t>
            </a:r>
            <a:endParaRPr b="0" i="0" sz="1300" u="none" cap="none" strike="noStrike"/>
          </a:p>
        </p:txBody>
      </p:sp>
      <p:sp>
        <p:nvSpPr>
          <p:cNvPr id="297" name="Google Shape;297;p14"/>
          <p:cNvSpPr/>
          <p:nvPr/>
        </p:nvSpPr>
        <p:spPr>
          <a:xfrm>
            <a:off x="9725739" y="6957536"/>
            <a:ext cx="4124325" cy="548640"/>
          </a:xfrm>
          <a:prstGeom prst="rect">
            <a:avLst/>
          </a:prstGeom>
          <a:noFill/>
          <a:ln>
            <a:noFill/>
          </a:ln>
        </p:spPr>
        <p:txBody>
          <a:bodyPr anchorCtr="0" anchor="t" bIns="0" lIns="0" spcFirstLastPara="1" rIns="0" wrap="square" tIns="0">
            <a:noAutofit/>
          </a:bodyPr>
          <a:lstStyle/>
          <a:p>
            <a:pPr indent="0" lvl="0" marL="0" marR="0" rtl="0" algn="l">
              <a:lnSpc>
                <a:spcPct val="165384"/>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Mejor soporte para consultas y procesamiento de datos no estructurados</a:t>
            </a:r>
            <a:endParaRPr b="0" i="0" sz="13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5"/>
          <p:cNvSpPr/>
          <p:nvPr/>
        </p:nvSpPr>
        <p:spPr>
          <a:xfrm>
            <a:off x="793790" y="1045845"/>
            <a:ext cx="1292709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BF3FA"/>
              </a:buClr>
              <a:buSzPts val="4450"/>
              <a:buFont typeface="Fira Mono Medium"/>
              <a:buNone/>
            </a:pPr>
            <a:r>
              <a:rPr b="0" i="0" lang="en-US" sz="4450" u="none" cap="none" strike="noStrike">
                <a:solidFill>
                  <a:srgbClr val="FBF3FA"/>
                </a:solidFill>
                <a:latin typeface="Fira Mono Medium"/>
                <a:ea typeface="Fira Mono Medium"/>
                <a:cs typeface="Fira Mono Medium"/>
                <a:sym typeface="Fira Mono Medium"/>
              </a:rPr>
              <a:t>Conclusiones y Consideraciones Finales</a:t>
            </a:r>
            <a:endParaRPr b="0" i="0" sz="4450" u="none" cap="none" strike="noStrike"/>
          </a:p>
        </p:txBody>
      </p:sp>
      <p:sp>
        <p:nvSpPr>
          <p:cNvPr id="304" name="Google Shape;304;p15"/>
          <p:cNvSpPr/>
          <p:nvPr/>
        </p:nvSpPr>
        <p:spPr>
          <a:xfrm>
            <a:off x="793790" y="2463403"/>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946785" y="2548414"/>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rgbClr val="E0D6DE"/>
                </a:solidFill>
                <a:latin typeface="Fira Mono Medium"/>
                <a:ea typeface="Fira Mono Medium"/>
                <a:cs typeface="Fira Mono Medium"/>
                <a:sym typeface="Fira Mono Medium"/>
              </a:rPr>
              <a:t>1</a:t>
            </a:r>
            <a:endParaRPr b="0" i="0" sz="2650" u="none" cap="none" strike="noStrike"/>
          </a:p>
        </p:txBody>
      </p:sp>
      <p:sp>
        <p:nvSpPr>
          <p:cNvPr id="306" name="Google Shape;306;p15"/>
          <p:cNvSpPr/>
          <p:nvPr/>
        </p:nvSpPr>
        <p:spPr>
          <a:xfrm>
            <a:off x="1530906" y="2463403"/>
            <a:ext cx="5670947"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Complementariedad entre SQL y NoSQL</a:t>
            </a:r>
            <a:endParaRPr b="0" i="0" sz="2200" u="none" cap="none" strike="noStrike"/>
          </a:p>
        </p:txBody>
      </p:sp>
      <p:sp>
        <p:nvSpPr>
          <p:cNvPr id="307" name="Google Shape;307;p15"/>
          <p:cNvSpPr/>
          <p:nvPr/>
        </p:nvSpPr>
        <p:spPr>
          <a:xfrm>
            <a:off x="1530906" y="3308152"/>
            <a:ext cx="5670947"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bases de datos SQL y NoSQL no son mutuamente excluyentes, sino que se complementan. Cada una tiene fortalezas y debilidades que deben considerarse según los requisitos específicos de cada proyecto.</a:t>
            </a:r>
            <a:endParaRPr b="0" i="0" sz="1750" u="none" cap="none" strike="noStrike"/>
          </a:p>
        </p:txBody>
      </p:sp>
      <p:sp>
        <p:nvSpPr>
          <p:cNvPr id="308" name="Google Shape;308;p15"/>
          <p:cNvSpPr/>
          <p:nvPr/>
        </p:nvSpPr>
        <p:spPr>
          <a:xfrm>
            <a:off x="7428667" y="2463403"/>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7581662" y="2548414"/>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rgbClr val="E0D6DE"/>
                </a:solidFill>
                <a:latin typeface="Fira Mono Medium"/>
                <a:ea typeface="Fira Mono Medium"/>
                <a:cs typeface="Fira Mono Medium"/>
                <a:sym typeface="Fira Mono Medium"/>
              </a:rPr>
              <a:t>2</a:t>
            </a:r>
            <a:endParaRPr b="0" i="0" sz="2650" u="none" cap="none" strike="noStrike"/>
          </a:p>
        </p:txBody>
      </p:sp>
      <p:sp>
        <p:nvSpPr>
          <p:cNvPr id="310" name="Google Shape;310;p15"/>
          <p:cNvSpPr/>
          <p:nvPr/>
        </p:nvSpPr>
        <p:spPr>
          <a:xfrm>
            <a:off x="8165783" y="2463403"/>
            <a:ext cx="49307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Selección del modelo adecuado</a:t>
            </a:r>
            <a:endParaRPr b="0" i="0" sz="2200" u="none" cap="none" strike="noStrike"/>
          </a:p>
        </p:txBody>
      </p:sp>
      <p:sp>
        <p:nvSpPr>
          <p:cNvPr id="311" name="Google Shape;311;p15"/>
          <p:cNvSpPr/>
          <p:nvPr/>
        </p:nvSpPr>
        <p:spPr>
          <a:xfrm>
            <a:off x="8165783" y="2953822"/>
            <a:ext cx="5670947"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 elección entre SQL o NoSQL dependerá de factores como el tipo de datos, las necesidades de escalabilidad, consistencia y disponibilidad, así como los casos de uso particulares.</a:t>
            </a:r>
            <a:endParaRPr b="0" i="0" sz="1750" u="none" cap="none" strike="noStrike"/>
          </a:p>
        </p:txBody>
      </p:sp>
      <p:sp>
        <p:nvSpPr>
          <p:cNvPr id="312" name="Google Shape;312;p15"/>
          <p:cNvSpPr/>
          <p:nvPr/>
        </p:nvSpPr>
        <p:spPr>
          <a:xfrm>
            <a:off x="793790" y="5241727"/>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946785" y="5326737"/>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rgbClr val="E0D6DE"/>
                </a:solidFill>
                <a:latin typeface="Fira Mono Medium"/>
                <a:ea typeface="Fira Mono Medium"/>
                <a:cs typeface="Fira Mono Medium"/>
                <a:sym typeface="Fira Mono Medium"/>
              </a:rPr>
              <a:t>3</a:t>
            </a:r>
            <a:endParaRPr b="0" i="0" sz="2650" u="none" cap="none" strike="noStrike"/>
          </a:p>
        </p:txBody>
      </p:sp>
      <p:sp>
        <p:nvSpPr>
          <p:cNvPr id="314" name="Google Shape;314;p15"/>
          <p:cNvSpPr/>
          <p:nvPr/>
        </p:nvSpPr>
        <p:spPr>
          <a:xfrm>
            <a:off x="1530906" y="5241727"/>
            <a:ext cx="544079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Continuo aprendizaje y evolución</a:t>
            </a:r>
            <a:endParaRPr b="0" i="0" sz="2200" u="none" cap="none" strike="noStrike"/>
          </a:p>
        </p:txBody>
      </p:sp>
      <p:sp>
        <p:nvSpPr>
          <p:cNvPr id="315" name="Google Shape;315;p15"/>
          <p:cNvSpPr/>
          <p:nvPr/>
        </p:nvSpPr>
        <p:spPr>
          <a:xfrm>
            <a:off x="1530906" y="5732145"/>
            <a:ext cx="5670947"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El campo de las bases de datos NoSQL está en constante evolución, por lo que es importante mantenerse actualizado y explorar nuevas herramientas y tecnologías.</a:t>
            </a:r>
            <a:endParaRPr b="0" i="0" sz="1750" u="none" cap="none" strike="noStrike"/>
          </a:p>
        </p:txBody>
      </p:sp>
      <p:sp>
        <p:nvSpPr>
          <p:cNvPr id="316" name="Google Shape;316;p15"/>
          <p:cNvSpPr/>
          <p:nvPr/>
        </p:nvSpPr>
        <p:spPr>
          <a:xfrm>
            <a:off x="7428667" y="5241727"/>
            <a:ext cx="510302" cy="510302"/>
          </a:xfrm>
          <a:prstGeom prst="roundRect">
            <a:avLst>
              <a:gd fmla="val 666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7581662" y="5326737"/>
            <a:ext cx="204192"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D6DE"/>
              </a:buClr>
              <a:buSzPts val="2650"/>
              <a:buFont typeface="Fira Mono Medium"/>
              <a:buNone/>
            </a:pPr>
            <a:r>
              <a:rPr b="0" i="0" lang="en-US" sz="2650" u="none" cap="none" strike="noStrike">
                <a:solidFill>
                  <a:srgbClr val="E0D6DE"/>
                </a:solidFill>
                <a:latin typeface="Fira Mono Medium"/>
                <a:ea typeface="Fira Mono Medium"/>
                <a:cs typeface="Fira Mono Medium"/>
                <a:sym typeface="Fira Mono Medium"/>
              </a:rPr>
              <a:t>4</a:t>
            </a:r>
            <a:endParaRPr b="0" i="0" sz="2650" u="none" cap="none" strike="noStrike"/>
          </a:p>
        </p:txBody>
      </p:sp>
      <p:sp>
        <p:nvSpPr>
          <p:cNvPr id="318" name="Google Shape;318;p15"/>
          <p:cNvSpPr/>
          <p:nvPr/>
        </p:nvSpPr>
        <p:spPr>
          <a:xfrm>
            <a:off x="8165783" y="5241727"/>
            <a:ext cx="408062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D6DE"/>
              </a:buClr>
              <a:buSzPts val="2200"/>
              <a:buFont typeface="Fira Mono Medium"/>
              <a:buNone/>
            </a:pPr>
            <a:r>
              <a:rPr b="0" i="0" lang="en-US" sz="2200" u="none" cap="none" strike="noStrike">
                <a:solidFill>
                  <a:srgbClr val="E0D6DE"/>
                </a:solidFill>
                <a:latin typeface="Fira Mono Medium"/>
                <a:ea typeface="Fira Mono Medium"/>
                <a:cs typeface="Fira Mono Medium"/>
                <a:sym typeface="Fira Mono Medium"/>
              </a:rPr>
              <a:t>Integración y ecosistema</a:t>
            </a:r>
            <a:endParaRPr b="0" i="0" sz="2200" u="none" cap="none" strike="noStrike"/>
          </a:p>
        </p:txBody>
      </p:sp>
      <p:sp>
        <p:nvSpPr>
          <p:cNvPr id="319" name="Google Shape;319;p15"/>
          <p:cNvSpPr/>
          <p:nvPr/>
        </p:nvSpPr>
        <p:spPr>
          <a:xfrm>
            <a:off x="8165783" y="5732145"/>
            <a:ext cx="5670947"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0D6DE"/>
              </a:buClr>
              <a:buSzPts val="1750"/>
              <a:buFont typeface="Fira Sans"/>
              <a:buNone/>
            </a:pPr>
            <a:r>
              <a:rPr b="0" i="0" lang="en-US" sz="1750" u="none" cap="none" strike="noStrike">
                <a:solidFill>
                  <a:srgbClr val="E0D6DE"/>
                </a:solidFill>
                <a:latin typeface="Fira Sans"/>
                <a:ea typeface="Fira Sans"/>
                <a:cs typeface="Fira Sans"/>
                <a:sym typeface="Fira Sans"/>
              </a:rPr>
              <a:t>Las soluciones NoSQL a menudo se integran con otros sistemas y forman parte de un ecosistema más amplio de procesamiento de datos.</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2024-11-05T14:29:35Z</dcterms:created>
  <dc:creator>PptxGenJS</dc:creator>
</cp:coreProperties>
</file>