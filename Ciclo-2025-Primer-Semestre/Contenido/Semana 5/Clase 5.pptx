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hlizYyrTa3JCU+8+vZf9SI29p7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092F5B-E696-46A0-AAE2-79A2DA682D9F}">
  <a:tblStyle styleId="{C4092F5B-E696-46A0-AAE2-79A2DA682D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2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{C4092F5B-E696-46A0-AAE2-79A2DA682D9F}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Miercoles, 20 de Agosto de 2025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17:20 - 19:00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Emiliano Velásquez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481642" y="4371352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5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DISTRIBUIDOS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Definición y características de los sistemas distribuidos.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Tipos de arquitectura distribuida: cliente-servidor, peer-to-peer.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Ventajas y desafíos de los sistemas distribuidos.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Modelos de consistencia en sistemas distribuidos.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Algoritmos de consenso distribuidos.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Gestión de fallos en sistemas distribuidos.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Casos de uso de bases de datos distribuidas.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 SISTEMA DISTRIBUIDO?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Conjunto de computadoras independientes que se presentan al usuario como un sistema único y coherente.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Los nodos están conectados por una red y colaboran para compartir recursos, ejecutar procesos o manejar datos.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 Google, Netflix, Amazon, bases de datos distribuidas como Cassandra.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DE LOS SISTEMAS DISTRIBUIDOS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Ofrecer a los usuarios una visión unificada.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Compartir carga de trabajo y escalar horizontalmente.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Aumentar disponibilidad, redundancia y resistencia a fallos.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El sistema debe parecer uno solo, aunque funcione sobre muchos equipos.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1" name="Google Shape;141;p7"/>
          <p:cNvGraphicFramePr/>
          <p:nvPr/>
        </p:nvGraphicFramePr>
        <p:xfrm>
          <a:off x="1028700" y="327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{C4092F5B-E696-46A0-AAE2-79A2DA682D9F}</a:tableStyleId>
              </a:tblPr>
              <a:tblGrid>
                <a:gridCol w="3657600"/>
                <a:gridCol w="3657600"/>
              </a:tblGrid>
              <a:tr h="10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 breve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Transparencia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Oculta la distribución (ubicación, acceso, fallos)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Capacidad de crecer agregando más nodos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Concurrencia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Varios usuarios acceden y trabajan simultáneamente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Tolerancia a fallos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Capacidad de continuar funcionando ante errores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Independencia de nodos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Cada nodo puede operar por separado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COMUNES DE TRANSPARENCIA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Transparencia de ubicación: no importa dónde esté el recurso.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Transparencia de acceso: misma forma de acceder, local o remoto.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Transparencia de replicación: múltiples copias, mismo resultado.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Transparencia de fallos: el sistema maneja errores automáticamente.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Un buen sistema distribuido es invisible para el usuario.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EJEMPLOS DE SISTEMAS DISTRIBUIDOS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Bases de datos distribuidas: Cassandra, MongoDB Sharded, Google Spanner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Servicios web en la nube: AWS, Azure, GCP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archivos distribuidos: HDFS, Dropbox, Google Drive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globales: WhatsApp, Spotify, Facebook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Todos comparten procesamiento y datos entre múltiples ubicaciones.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4193989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ARQUITECTURAS DISTRIBUIDAS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ARQUITECTURA DISTRIBUIDA?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 la forma en que los componentes de un sistema distribuido se organizan y se comunican entre sí.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Define: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rol de cada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Cómo se comparten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Cómo se manejan las peticiones y respuestas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dos arquitecturas más comunes son Cliente-Servidor y Peer-to-Peer (P2P).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PEER-TO-PEER (P2P)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🔄 Todos los nodos son iguales (peers)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Comparten recursos directamente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Cada uno actúa como cliente y servidor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BitTorrent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de mensajería descentralizadas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Escalabilidad, tolerancia a fallos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Mayor complejidad de coordinación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96" name="Google Shape;196;p13"/>
          <p:cNvGraphicFramePr/>
          <p:nvPr/>
        </p:nvGraphicFramePr>
        <p:xfrm>
          <a:off x="874972" y="308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{C4092F5B-E696-46A0-AAE2-79A2DA682D9F}</a:tableStyleId>
              </a:tblPr>
              <a:tblGrid>
                <a:gridCol w="2438400"/>
                <a:gridCol w="2438400"/>
                <a:gridCol w="2438400"/>
              </a:tblGrid>
              <a:tr h="107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Cliente-Servidor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Peer-to-Peer (P2P)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central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Sí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Limitada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clásico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Web, correo, BD centralizada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Torrent, blockchain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Seguridad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Centralizada y controlada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Descentralizada y variable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13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 DIRECTA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¿CUÁL USAR Y CUÁNDO?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Cliente-Servidor: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Ideal para sistemas organizados, con reglas claras y autoridad central.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Peer-to-Peer: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Útil en sistemas distribuidos a gran escala, donde la resiliencia es más importante que el control.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Algunos sistemas híbridos usan ambas: por ejemplo, Spotify, Skype, Dropbox.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/>
        </p:nvSpPr>
        <p:spPr>
          <a:xfrm>
            <a:off x="5481642" y="4193989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VENTAJAS Y DESAFÍOS DE LOS SISTEMAS DISTRIBUIDOS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1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PRINCIPALES VENTAJAS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1028700" y="340842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Escalabilidad: se pueden agregar más nodos fácilmente.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disponibilidad: el sistema sigue funcionando aunque un nodo falle.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Tolerancia a fallos: los errores se aíslan y se recuperan localmente.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Distribución geográfica: los datos y servicios pueden estar más cerca del usuario.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Eficiencia en carga: se reparte el trabajo entre varios equipos.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Son ideales para grandes volúmenes de usuarios y datos.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MÁS VENTAJAS IMPORTANTES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028700" y="340842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Flexibilidad tecnológica: se pueden combinar distintos sistemas.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Mantenimiento modular: un nodo puede actualizarse sin detener todo el sistema.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Costo controlado: se puede escalar usando hardware común (horizontalmente).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Redundancia: múltiples copias de los datos evitan pérdidas.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PRINCIPALES DESAFÍOS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Complejidad de diseño: requiere una arquitectura más avanzada.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Coordinación y sincronización: mantener consistencia entre nodos es difícil.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Depuración y monitoreo: más nodos = más puntos de falla.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Seguridad distribuida: cada nodo puede representar un punto vulnerable.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Latencia: la red puede ralentizar la comunicación entre nodos.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TEOREMA CAP COMO DESAFÍO CENTRAL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CAP = Consistency, Availability, Partition Tolerance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Solo se pueden garantizar 2 de los 3 al mismo tiempo.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🔁 Elecciones difíciles: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¿Prefieres datos siempre consistentes pero menos disponibles?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¿O acceso garantizado aunque los datos puedan no estar sincronizados?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Cada sistema prioriza según sus necesidades.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0" name="Google Shape;260;p2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CASOS REALES (BREVE ANÁLISIS)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Google: gran rendimiento y redundancia → prioriza disponibilidad y partición.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Bancos: priorizan consistencia → toleran menos latencia.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Netflix: múltiples réplicas → prioriza disponibilidad y rendimiento.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Blockchain: red P2P confiable pero lenta.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No hay solución perfecta: se elige la mejor combinación para cada contexto.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/>
        </p:nvSpPr>
        <p:spPr>
          <a:xfrm>
            <a:off x="5481642" y="4193989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CONSISTENCIA EN SISTEMAS DISTRIBUIDOS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74" name="Google Shape;274;p2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75" name="Google Shape;275;p2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2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LA CONSISTENCIA EN SISTEMAS DISTRIBUIDOS?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28700" y="340842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refiere a cómo y cuándo los cambios realizados en un nodo son reflejados en los demás nodos.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Dado que los datos se replican, es necesario definir una política para mantenerlos sincronizados.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todos los sistemas necesitan la misma consistencia.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 una compra debe verse reflejada inmediatamente, pero un “me gusta” en redes sociales puede esperar.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4" name="Google Shape;284;p2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85" name="Google Shape;285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CONSISTENCIA FUERTE (STRONG CONSISTENCY)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028700" y="3408427"/>
            <a:ext cx="6036000" cy="54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🟢 Garantiza que todos los nodos ven exactamente los mismos datos en todo momento.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Bancos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inventario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críticas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Desventajas: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latencia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Requiere sincronización antes de confirmar una operación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Sistemas como Spanner y Zookeeper la implementan.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4" name="Google Shape;294;p2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95" name="Google Shape;295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4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CONSISTENCIA EVENTUAL (EVENTUAL CONSISTENCY)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🔄 Los nodos pueden tener diferentes valores temporalmente, pero convergen con el tiempo.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Cachés distribuidas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con mucha disponibilidad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Más rápida y escalable, pero puede provocar lectura de datos “antiguos”.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Usada en Cassandra, DynamoDB, Couchbase.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4" name="Google Shape;304;p2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05" name="Google Shape;305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OTROS MODELOS RELEVANTES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028700" y="340842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Consistencia causal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Mantiene el orden lógico de eventos relacionados.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 A causó B, todos los nodos verán A antes que B.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Útil para chats, redes sociales.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Consistencia por sesión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 usuario ve sus propios cambios inmediatamente.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se garantiza consistencia entre usuarios distintos.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Común en apps móviles y de usuario único.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/>
        </p:nvSpPr>
        <p:spPr>
          <a:xfrm>
            <a:off x="5481642" y="4193989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ALGORITMOS DE CONSENSO EN SISTEMAS DISTRIBUIDOS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9" name="Google Shape;319;p2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20" name="Google Shape;320;p2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27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EL CONSENSO DISTRIBUIDO?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Proceso mediante el cual múltiples nodos acuerdan un mismo valor o estado.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 crucial cuando no hay un nodo maestro único.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Permite coordinar: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Transacciones distribuidas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Elección de líderes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Validación de bloques (blockchain)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Sin consenso, cada nodo podría tomar decisiones contradictorias.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29" name="Google Shape;329;p2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30" name="Google Shape;330;p2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PAXOS – EL CLÁSICO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Diseñado para tolerancia a fallos y garantizar consistencia.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✔ Fases: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Propuesta: un nodo propone un valor.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Aceptación: mayoría de nodos lo aprueban.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Decisión: todos acuerdan el valor.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confiable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Difícil de implementar y mantener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Utilizado en sistemas como Google Chubby.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39" name="Google Shape;339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40" name="Google Shape;340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29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RAFT – EL CONSENSO MODERNO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✔ Más fácil de entender e implementar que Paxos.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✔ Divide el proceso en pasos claros: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Líder elegido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de logs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Confirmación de mayoría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Utilizado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etcd (Kubernetes)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Consul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TiDB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Ofrece alto rendimiento y consistencia fuerte.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9" name="Google Shape;349;p3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50" name="Google Shape;350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30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GOSSIP Y BLOCKCHAIN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Gossip Protocol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Nodos se propagan información entre ellos como un rumor.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Consenso probabilístico, eventual.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Usado en Cassandra, DynamoDB.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Blockchain / Proof of Work (PoW)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Cada nodo compite por validar un bloque.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más rápido gana y propaga su bloque.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Descentralizado y tolerante a fallos, pero costoso en recursos.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/>
        </p:nvSpPr>
        <p:spPr>
          <a:xfrm>
            <a:off x="5481642" y="4193989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ALGORITMOS DE CONSENSO EN SISTEMAS DISTRIBUIDOS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3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64" name="Google Shape;364;p3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65" name="Google Shape;365;p3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32"/>
          <p:cNvSpPr txBox="1"/>
          <p:nvPr/>
        </p:nvSpPr>
        <p:spPr>
          <a:xfrm>
            <a:off x="11750467" y="4470400"/>
            <a:ext cx="3931066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OCURREN FALLOS EN SISTEMAS DISTRIBUIDOS?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1028700" y="340842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Por tener múltiples nodos conectados por red, pueden fallar: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🔌 Conectividad (red caída)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Nodo individual (crash)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💾 Almacenamiento (pérdida de datos)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🧩 Software inconsistente (bugs, versiones)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Fallos son inevitables: el reto es detectarlos y recuperarse sin afectar al usuario.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74" name="Google Shape;374;p3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75" name="Google Shape;375;p3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76" name="Google Shape;376;p33"/>
          <p:cNvGraphicFramePr/>
          <p:nvPr/>
        </p:nvGraphicFramePr>
        <p:xfrm>
          <a:off x="907220" y="2392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{C4092F5B-E696-46A0-AAE2-79A2DA682D9F}</a:tableStyleId>
              </a:tblPr>
              <a:tblGrid>
                <a:gridCol w="3657600"/>
                <a:gridCol w="3657600"/>
              </a:tblGrid>
              <a:tr h="10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fallo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Falla de nodo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 servidor deja de responder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Falla de red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 nodo pierde conexión temporal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Falla de disco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corrompe un archivo de datos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Falla de software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Bug que genera respuestas incorrectas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Falla bizantina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Nodo actúa de forma errática o maliciosa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33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FALLOS COMUNES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84" name="Google Shape;384;p3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85" name="Google Shape;385;p3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ESTRATEGIAS DE GESTIÓN DE FALLOS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1028700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Redundancia: múltiples copias de los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Replicación: nodos espejos sincronizados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Timeouts y retransmisiones: para detectar nodos caídos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Reintentos automáticos: en capas cliente o balanceadores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Logs distribuidos: para recuperación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Todos se combinan para mantener disponibilidad.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3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94" name="Google Shape;394;p3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95" name="Google Shape;395;p3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35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TOLERANCIA A FALLOS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1028700" y="340842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Capacidad del sistema para seguir funcionando aunque un componente falle.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Ejemplo: si un nodo falla, otro asume su rol.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Usado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Cassandra (replicación automática)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Kubernetes (pods reiniciados)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MongoDB (réplica primaria pasa a secundaria)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Diseñar para fallar ≠ fallar por mal diseño.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3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04" name="Google Shape;404;p3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05" name="Google Shape;405;p3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36"/>
          <p:cNvSpPr txBox="1"/>
          <p:nvPr/>
        </p:nvSpPr>
        <p:spPr>
          <a:xfrm>
            <a:off x="11750467" y="492442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TÉCNICAS ADICIONALES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Heartbeat: señales periódicas para saber si un nodo está vivo.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Election protocols: eligen nuevos líderes tras fallos.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Snapshots y backups frecuentes: minimizan pérdida.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Circuit Breakers: evitan que un fallo se propague.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Logging centralizado: para análisis post-fallo.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Mientras más distribuido el sistema, más importante es automatizar la resiliencia.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14" name="Google Shape;414;p3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15" name="Google Shape;415;p3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7"/>
          <p:cNvSpPr txBox="1"/>
          <p:nvPr/>
        </p:nvSpPr>
        <p:spPr>
          <a:xfrm>
            <a:off x="11750467" y="492442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TÉCNICAS ADICIONALES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Heartbeat: señales periódicas para saber si un nodo está vivo.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Election protocols: eligen nuevos líderes tras fallos.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Snapshots y backups frecuentes: minimizan pérdida.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Circuit Breakers: evitan que un fallo se propague.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Logging centralizado: para análisis post-fallo.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Mientras más distribuido el sistema, más importante es automatizar la resiliencia.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5481642" y="4193989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DE BASES DE DATOS DISTRIBUIDAS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8" name="Google Shape;428;p3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29" name="Google Shape;429;p3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30" name="Google Shape;430;p3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39"/>
          <p:cNvSpPr txBox="1"/>
          <p:nvPr/>
        </p:nvSpPr>
        <p:spPr>
          <a:xfrm>
            <a:off x="11750467" y="4924425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BASE DE DATOS DISTRIBUIDA?</a:t>
            </a:r>
            <a:endParaRPr/>
          </a:p>
        </p:txBody>
      </p:sp>
      <p:sp>
        <p:nvSpPr>
          <p:cNvPr id="432" name="Google Shape;432;p39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Base de datos cuyo contenido se almacena en múltiples nodos conectados por red.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Los nodos pueden estar en diferentes ubicaciones físicas.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Pueden operar como un sistema unificado o parcialmente independiente.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Ideal cuando se requiere disponibilidad, redundancia o distribución geográfica.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4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4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39" name="Google Shape;439;p4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40" name="Google Shape;440;p4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40"/>
          <p:cNvSpPr txBox="1"/>
          <p:nvPr/>
        </p:nvSpPr>
        <p:spPr>
          <a:xfrm>
            <a:off x="11750467" y="492442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COMERCIO ELECTRÓNICO</a:t>
            </a:r>
            <a:endParaRPr/>
          </a:p>
        </p:txBody>
      </p:sp>
      <p:sp>
        <p:nvSpPr>
          <p:cNvPr id="442" name="Google Shape;442;p40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🛒 Plataformas como Amazon, Mercado Libre o Shopify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¿Por qué distribuidas?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Miles de usuarios comprando simultáneamente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Bases de productos, carritos, pagos y reseñas en tiempo real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y disponibilidad 24/7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La caída de un nodo no debe detener las ventas.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4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49" name="Google Shape;449;p4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50" name="Google Shape;450;p4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" name="Google Shape;451;p41"/>
          <p:cNvSpPr txBox="1"/>
          <p:nvPr/>
        </p:nvSpPr>
        <p:spPr>
          <a:xfrm>
            <a:off x="11750467" y="492442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 DE STREAMING</a:t>
            </a:r>
            <a:endParaRPr/>
          </a:p>
        </p:txBody>
      </p:sp>
      <p:sp>
        <p:nvSpPr>
          <p:cNvPr id="452" name="Google Shape;452;p41"/>
          <p:cNvSpPr txBox="1"/>
          <p:nvPr/>
        </p:nvSpPr>
        <p:spPr>
          <a:xfrm>
            <a:off x="1028700" y="340842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📺 Netflix, Spotify, YouTube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¿Por qué distribuidas?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Millones de reproducciones por minuto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regionales (videos populares, historial, recomendaciones)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necesita baja latencia + entrega cercana al usuario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Usan Cassandra, DynamoDB, Google Spanner.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4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4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59" name="Google Shape;459;p4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60" name="Google Shape;460;p4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p42"/>
          <p:cNvSpPr txBox="1"/>
          <p:nvPr/>
        </p:nvSpPr>
        <p:spPr>
          <a:xfrm>
            <a:off x="11750467" y="4924425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REDES SOCIALES Y MENSAJERÍA</a:t>
            </a:r>
            <a:endParaRPr/>
          </a:p>
        </p:txBody>
      </p:sp>
      <p:sp>
        <p:nvSpPr>
          <p:cNvPr id="462" name="Google Shape;462;p42"/>
          <p:cNvSpPr txBox="1"/>
          <p:nvPr/>
        </p:nvSpPr>
        <p:spPr>
          <a:xfrm>
            <a:off x="1028700" y="340842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💬 WhatsApp, Instagram, TikTok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¿Por qué distribuidas?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Mensajes, likes, comentarios, reacciones en tiempo real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Usuarios activos globalmente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Tolerancia a fallos para mantener chats activos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Algunas usan bases distribuidas + colas de mensajes (Kafka, RabbitMQ).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8" name="Google Shape;468;p4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69" name="Google Shape;469;p4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70" name="Google Shape;470;p4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43"/>
          <p:cNvSpPr txBox="1"/>
          <p:nvPr/>
        </p:nvSpPr>
        <p:spPr>
          <a:xfrm>
            <a:off x="11750467" y="4924425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FINANZAS, SALUD, LOGÍSTICA</a:t>
            </a:r>
            <a:endParaRPr/>
          </a:p>
        </p:txBody>
      </p:sp>
      <p:sp>
        <p:nvSpPr>
          <p:cNvPr id="472" name="Google Shape;472;p43"/>
          <p:cNvSpPr txBox="1"/>
          <p:nvPr/>
        </p:nvSpPr>
        <p:spPr>
          <a:xfrm>
            <a:off x="1028700" y="340842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🏦 Banca: replicación para transacciones consistentes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🏥 Salud: acceso rápido a expedientes desde varias clínicas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🚚 Logística: rastreo de paquetes y rutas en múltiples países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En todos estos casos se requiere: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disponibilidad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Integridad de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Geo-redundancia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