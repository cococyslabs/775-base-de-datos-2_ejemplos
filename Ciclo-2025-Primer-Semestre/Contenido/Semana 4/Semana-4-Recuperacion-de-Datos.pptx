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8229600" cx="14630400"/>
  <p:notesSz cx="8229600" cy="14630400"/>
  <p:embeddedFontLst>
    <p:embeddedFont>
      <p:font typeface="Fraunces Medium"/>
      <p:regular r:id="rId20"/>
      <p:bold r:id="rId21"/>
      <p:italic r:id="rId22"/>
      <p:boldItalic r:id="rId23"/>
    </p:embeddedFont>
    <p:embeddedFont>
      <p:font typeface="Epilogue"/>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jXvU4LqkHOmIMoo30u3X7YTlq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FrauncesMedium-regular.fntdata"/><Relationship Id="rId22" Type="http://schemas.openxmlformats.org/officeDocument/2006/relationships/font" Target="fonts/FrauncesMedium-italic.fntdata"/><Relationship Id="rId21" Type="http://schemas.openxmlformats.org/officeDocument/2006/relationships/font" Target="fonts/FrauncesMedium-bold.fntdata"/><Relationship Id="rId24" Type="http://schemas.openxmlformats.org/officeDocument/2006/relationships/font" Target="fonts/Epilogue-regular.fntdata"/><Relationship Id="rId23" Type="http://schemas.openxmlformats.org/officeDocument/2006/relationships/font" Target="fonts/FrauncesMedium-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Epilogue-italic.fntdata"/><Relationship Id="rId25" Type="http://schemas.openxmlformats.org/officeDocument/2006/relationships/font" Target="fonts/Epilogue-bold.fntdata"/><Relationship Id="rId28" Type="http://customschemas.google.com/relationships/presentationmetadata" Target="metadata"/><Relationship Id="rId27" Type="http://schemas.openxmlformats.org/officeDocument/2006/relationships/font" Target="fonts/Epilogue-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17"/>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7"/>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3" name="Shape 13"/>
        <p:cNvGrpSpPr/>
        <p:nvPr/>
      </p:nvGrpSpPr>
      <p:grpSpPr>
        <a:xfrm>
          <a:off x="0" y="0"/>
          <a:ext cx="0" cy="0"/>
          <a:chOff x="0" y="0"/>
          <a:chExt cx="0" cy="0"/>
        </a:xfrm>
      </p:grpSpPr>
      <p:sp>
        <p:nvSpPr>
          <p:cNvPr id="14" name="Google Shape;14;p18"/>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8"/>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6" name="Shape 16"/>
        <p:cNvGrpSpPr/>
        <p:nvPr/>
      </p:nvGrpSpPr>
      <p:grpSpPr>
        <a:xfrm>
          <a:off x="0" y="0"/>
          <a:ext cx="0" cy="0"/>
          <a:chOff x="0" y="0"/>
          <a:chExt cx="0" cy="0"/>
        </a:xfrm>
      </p:grpSpPr>
      <p:sp>
        <p:nvSpPr>
          <p:cNvPr id="17" name="Google Shape;17;p19"/>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9"/>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9" name="Shape 19"/>
        <p:cNvGrpSpPr/>
        <p:nvPr/>
      </p:nvGrpSpPr>
      <p:grpSpPr>
        <a:xfrm>
          <a:off x="0" y="0"/>
          <a:ext cx="0" cy="0"/>
          <a:chOff x="0" y="0"/>
          <a:chExt cx="0" cy="0"/>
        </a:xfrm>
      </p:grpSpPr>
      <p:sp>
        <p:nvSpPr>
          <p:cNvPr id="20" name="Google Shape;20;p20"/>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0"/>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2" name="Shape 22"/>
        <p:cNvGrpSpPr/>
        <p:nvPr/>
      </p:nvGrpSpPr>
      <p:grpSpPr>
        <a:xfrm>
          <a:off x="0" y="0"/>
          <a:ext cx="0" cy="0"/>
          <a:chOff x="0" y="0"/>
          <a:chExt cx="0" cy="0"/>
        </a:xfrm>
      </p:grpSpPr>
      <p:sp>
        <p:nvSpPr>
          <p:cNvPr id="23" name="Google Shape;23;p21"/>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1"/>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5" name="Shape 25"/>
        <p:cNvGrpSpPr/>
        <p:nvPr/>
      </p:nvGrpSpPr>
      <p:grpSpPr>
        <a:xfrm>
          <a:off x="0" y="0"/>
          <a:ext cx="0" cy="0"/>
          <a:chOff x="0" y="0"/>
          <a:chExt cx="0" cy="0"/>
        </a:xfrm>
      </p:grpSpPr>
      <p:sp>
        <p:nvSpPr>
          <p:cNvPr id="26" name="Google Shape;26;p22"/>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2"/>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28" name="Shape 28"/>
        <p:cNvGrpSpPr/>
        <p:nvPr/>
      </p:nvGrpSpPr>
      <p:grpSpPr>
        <a:xfrm>
          <a:off x="0" y="0"/>
          <a:ext cx="0" cy="0"/>
          <a:chOff x="0" y="0"/>
          <a:chExt cx="0" cy="0"/>
        </a:xfrm>
      </p:grpSpPr>
      <p:sp>
        <p:nvSpPr>
          <p:cNvPr id="29" name="Google Shape;29;p23"/>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3"/>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1" name="Shape 31"/>
        <p:cNvGrpSpPr/>
        <p:nvPr/>
      </p:nvGrpSpPr>
      <p:grpSpPr>
        <a:xfrm>
          <a:off x="0" y="0"/>
          <a:ext cx="0" cy="0"/>
          <a:chOff x="0" y="0"/>
          <a:chExt cx="0" cy="0"/>
        </a:xfrm>
      </p:grpSpPr>
      <p:sp>
        <p:nvSpPr>
          <p:cNvPr id="32" name="Google Shape;32;p24"/>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4"/>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4" name="Shape 34"/>
        <p:cNvGrpSpPr/>
        <p:nvPr/>
      </p:nvGrpSpPr>
      <p:grpSpPr>
        <a:xfrm>
          <a:off x="0" y="0"/>
          <a:ext cx="0" cy="0"/>
          <a:chOff x="0" y="0"/>
          <a:chExt cx="0" cy="0"/>
        </a:xfrm>
      </p:grpSpPr>
      <p:sp>
        <p:nvSpPr>
          <p:cNvPr id="35" name="Google Shape;35;p25"/>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5"/>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37" name="Shape 37"/>
        <p:cNvGrpSpPr/>
        <p:nvPr/>
      </p:nvGrpSpPr>
      <p:grpSpPr>
        <a:xfrm>
          <a:off x="0" y="0"/>
          <a:ext cx="0" cy="0"/>
          <a:chOff x="0" y="0"/>
          <a:chExt cx="0" cy="0"/>
        </a:xfrm>
      </p:grpSpPr>
      <p:sp>
        <p:nvSpPr>
          <p:cNvPr id="38" name="Google Shape;38;p26"/>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6"/>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40" name="Shape 40"/>
        <p:cNvGrpSpPr/>
        <p:nvPr/>
      </p:nvGrpSpPr>
      <p:grpSpPr>
        <a:xfrm>
          <a:off x="0" y="0"/>
          <a:ext cx="0" cy="0"/>
          <a:chOff x="0" y="0"/>
          <a:chExt cx="0" cy="0"/>
        </a:xfrm>
      </p:grpSpPr>
      <p:sp>
        <p:nvSpPr>
          <p:cNvPr id="41" name="Google Shape;41;p27"/>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7"/>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spTree>
      <p:nvGrpSpPr>
        <p:cNvPr id="43" name="Shape 43"/>
        <p:cNvGrpSpPr/>
        <p:nvPr/>
      </p:nvGrpSpPr>
      <p:grpSpPr>
        <a:xfrm>
          <a:off x="0" y="0"/>
          <a:ext cx="0" cy="0"/>
          <a:chOff x="0" y="0"/>
          <a:chExt cx="0" cy="0"/>
        </a:xfrm>
      </p:grpSpPr>
      <p:sp>
        <p:nvSpPr>
          <p:cNvPr id="44" name="Google Shape;44;p28"/>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8"/>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46" name="Shape 46"/>
        <p:cNvGrpSpPr/>
        <p:nvPr/>
      </p:nvGrpSpPr>
      <p:grpSpPr>
        <a:xfrm>
          <a:off x="0" y="0"/>
          <a:ext cx="0" cy="0"/>
          <a:chOff x="0" y="0"/>
          <a:chExt cx="0" cy="0"/>
        </a:xfrm>
      </p:grpSpPr>
      <p:sp>
        <p:nvSpPr>
          <p:cNvPr id="47" name="Google Shape;47;p29"/>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9"/>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spTree>
      <p:nvGrpSpPr>
        <p:cNvPr id="49" name="Shape 49"/>
        <p:cNvGrpSpPr/>
        <p:nvPr/>
      </p:nvGrpSpPr>
      <p:grpSpPr>
        <a:xfrm>
          <a:off x="0" y="0"/>
          <a:ext cx="0" cy="0"/>
          <a:chOff x="0" y="0"/>
          <a:chExt cx="0" cy="0"/>
        </a:xfrm>
      </p:grpSpPr>
      <p:sp>
        <p:nvSpPr>
          <p:cNvPr id="50" name="Google Shape;50;p30"/>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0"/>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spTree>
      <p:nvGrpSpPr>
        <p:cNvPr id="52" name="Shape 52"/>
        <p:cNvGrpSpPr/>
        <p:nvPr/>
      </p:nvGrpSpPr>
      <p:grpSpPr>
        <a:xfrm>
          <a:off x="0" y="0"/>
          <a:ext cx="0" cy="0"/>
          <a:chOff x="0" y="0"/>
          <a:chExt cx="0" cy="0"/>
        </a:xfrm>
      </p:grpSpPr>
      <p:sp>
        <p:nvSpPr>
          <p:cNvPr id="53" name="Google Shape;53;p31"/>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1"/>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5" name="Shape 5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6.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1.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16.png"/><Relationship Id="rId6" Type="http://schemas.openxmlformats.org/officeDocument/2006/relationships/image" Target="../media/image4.png"/><Relationship Id="rId7"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19.png"/><Relationship Id="rId5" Type="http://schemas.openxmlformats.org/officeDocument/2006/relationships/image" Target="../media/image9.png"/><Relationship Id="rId6" Type="http://schemas.openxmlformats.org/officeDocument/2006/relationships/image" Target="../media/image15.png"/><Relationship Id="rId7" Type="http://schemas.openxmlformats.org/officeDocument/2006/relationships/image" Target="../media/image25.png"/><Relationship Id="rId8"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40.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38.png"/><Relationship Id="rId7"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36.png"/><Relationship Id="rId4" Type="http://schemas.openxmlformats.org/officeDocument/2006/relationships/image" Target="../media/image35.png"/><Relationship Id="rId5" Type="http://schemas.openxmlformats.org/officeDocument/2006/relationships/image" Target="../media/image33.png"/><Relationship Id="rId6" Type="http://schemas.openxmlformats.org/officeDocument/2006/relationships/image" Target="../media/image30.png"/><Relationship Id="rId7" Type="http://schemas.openxmlformats.org/officeDocument/2006/relationships/image" Target="../media/image27.png"/><Relationship Id="rId8" Type="http://schemas.openxmlformats.org/officeDocument/2006/relationships/image" Target="../media/image4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34.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descr="preencoded.png" id="61" name="Google Shape;61;p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62" name="Google Shape;62;p1"/>
          <p:cNvPicPr preferRelativeResize="0"/>
          <p:nvPr/>
        </p:nvPicPr>
        <p:blipFill rotWithShape="1">
          <a:blip r:embed="rId4">
            <a:alphaModFix/>
          </a:blip>
          <a:srcRect b="0" l="0" r="0" t="0"/>
          <a:stretch/>
        </p:blipFill>
        <p:spPr>
          <a:xfrm>
            <a:off x="9427607" y="2577465"/>
            <a:ext cx="4919186" cy="3074551"/>
          </a:xfrm>
          <a:prstGeom prst="rect">
            <a:avLst/>
          </a:prstGeom>
          <a:noFill/>
          <a:ln>
            <a:noFill/>
          </a:ln>
        </p:spPr>
      </p:pic>
      <p:sp>
        <p:nvSpPr>
          <p:cNvPr id="63" name="Google Shape;63;p1"/>
          <p:cNvSpPr/>
          <p:nvPr/>
        </p:nvSpPr>
        <p:spPr>
          <a:xfrm>
            <a:off x="793790" y="2002631"/>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FFF"/>
              </a:buClr>
              <a:buSzPts val="4450"/>
              <a:buFont typeface="Fraunces Medium"/>
              <a:buNone/>
            </a:pPr>
            <a:r>
              <a:rPr b="0" i="0" lang="en-US" sz="4450" u="none" cap="none" strike="noStrike">
                <a:solidFill>
                  <a:srgbClr val="FFFFFF"/>
                </a:solidFill>
                <a:latin typeface="Fraunces Medium"/>
                <a:ea typeface="Fraunces Medium"/>
                <a:cs typeface="Fraunces Medium"/>
                <a:sym typeface="Fraunces Medium"/>
              </a:rPr>
              <a:t>Semana 4: Recuperación de Datos</a:t>
            </a:r>
            <a:endParaRPr b="0" i="0" sz="4450" u="none" cap="none" strike="noStrike"/>
          </a:p>
        </p:txBody>
      </p:sp>
      <p:sp>
        <p:nvSpPr>
          <p:cNvPr id="64" name="Google Shape;64;p1"/>
          <p:cNvSpPr/>
          <p:nvPr/>
        </p:nvSpPr>
        <p:spPr>
          <a:xfrm>
            <a:off x="793790" y="3760351"/>
            <a:ext cx="7556421"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En esta cuarta semana, nos enfocaremos en las estrategias y técnicas esenciales para la recuperación de datos en sistemas de bases de datos. Aprenderemos a implementar planes de respaldo y herramientas avanzadas para garantizar la integridad y disponibilidad de la información.</a:t>
            </a:r>
            <a:endParaRPr b="0" i="0" sz="1750" u="none" cap="none" strike="noStrike"/>
          </a:p>
        </p:txBody>
      </p:sp>
      <p:sp>
        <p:nvSpPr>
          <p:cNvPr id="65" name="Google Shape;65;p1"/>
          <p:cNvSpPr/>
          <p:nvPr/>
        </p:nvSpPr>
        <p:spPr>
          <a:xfrm>
            <a:off x="793790" y="5846921"/>
            <a:ext cx="362903" cy="362903"/>
          </a:xfrm>
          <a:prstGeom prst="roundRect">
            <a:avLst>
              <a:gd fmla="val 25194296"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
          <p:cNvSpPr/>
          <p:nvPr/>
        </p:nvSpPr>
        <p:spPr>
          <a:xfrm>
            <a:off x="1270040" y="5830014"/>
            <a:ext cx="5898713" cy="396835"/>
          </a:xfrm>
          <a:prstGeom prst="rect">
            <a:avLst/>
          </a:prstGeom>
          <a:noFill/>
          <a:ln>
            <a:noFill/>
          </a:ln>
        </p:spPr>
        <p:txBody>
          <a:bodyPr anchorCtr="0" anchor="t" bIns="0" lIns="0" spcFirstLastPara="1" rIns="0" wrap="square" tIns="0">
            <a:noAutofit/>
          </a:bodyPr>
          <a:lstStyle/>
          <a:p>
            <a:pPr indent="0" lvl="0" marL="0" marR="0" rtl="0" algn="l">
              <a:lnSpc>
                <a:spcPct val="140909"/>
              </a:lnSpc>
              <a:spcBef>
                <a:spcPts val="0"/>
              </a:spcBef>
              <a:spcAft>
                <a:spcPts val="0"/>
              </a:spcAft>
              <a:buClr>
                <a:srgbClr val="EBECEF"/>
              </a:buClr>
              <a:buSzPts val="2200"/>
              <a:buFont typeface="Epilogue"/>
              <a:buNone/>
            </a:pPr>
            <a:r>
              <a:t/>
            </a:r>
            <a:endParaRPr b="0" i="0" sz="220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2"/>
          <p:cNvSpPr/>
          <p:nvPr/>
        </p:nvSpPr>
        <p:spPr>
          <a:xfrm>
            <a:off x="793790" y="1274088"/>
            <a:ext cx="10943273"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FFF"/>
              </a:buClr>
              <a:buSzPts val="4450"/>
              <a:buFont typeface="Fraunces Medium"/>
              <a:buNone/>
            </a:pPr>
            <a:r>
              <a:rPr b="0" i="0" lang="en-US" sz="4450" u="none" cap="none" strike="noStrike">
                <a:solidFill>
                  <a:srgbClr val="FFFFFF"/>
                </a:solidFill>
                <a:latin typeface="Fraunces Medium"/>
                <a:ea typeface="Fraunces Medium"/>
                <a:cs typeface="Fraunces Medium"/>
                <a:sym typeface="Fraunces Medium"/>
              </a:rPr>
              <a:t>Conceptos Clave: Recuperación de Datos</a:t>
            </a:r>
            <a:endParaRPr b="0" i="0" sz="4450" u="none" cap="none" strike="noStrike"/>
          </a:p>
        </p:txBody>
      </p:sp>
      <p:sp>
        <p:nvSpPr>
          <p:cNvPr id="73" name="Google Shape;73;p2"/>
          <p:cNvSpPr/>
          <p:nvPr/>
        </p:nvSpPr>
        <p:spPr>
          <a:xfrm>
            <a:off x="793790" y="2549843"/>
            <a:ext cx="284559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Fraunces Medium"/>
              <a:buNone/>
            </a:pPr>
            <a:r>
              <a:rPr b="0" i="0" lang="en-US" sz="2200" u="none" cap="none" strike="noStrike">
                <a:solidFill>
                  <a:srgbClr val="FFFFFF"/>
                </a:solidFill>
                <a:latin typeface="Fraunces Medium"/>
                <a:ea typeface="Fraunces Medium"/>
                <a:cs typeface="Fraunces Medium"/>
                <a:sym typeface="Fraunces Medium"/>
              </a:rPr>
              <a:t>Disponibilidad de Datos</a:t>
            </a:r>
            <a:endParaRPr b="0" i="0" sz="2200" u="none" cap="none" strike="noStrike"/>
          </a:p>
        </p:txBody>
      </p:sp>
      <p:sp>
        <p:nvSpPr>
          <p:cNvPr id="74" name="Google Shape;74;p2"/>
          <p:cNvSpPr/>
          <p:nvPr/>
        </p:nvSpPr>
        <p:spPr>
          <a:xfrm>
            <a:off x="793790" y="3485317"/>
            <a:ext cx="2845594" cy="290322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La recuperación de datos garantiza que la información esté disponible y accesible cuando se necesite, incluso después de incidentes o fallos en el sistema.</a:t>
            </a:r>
            <a:endParaRPr b="0" i="0" sz="1750" u="none" cap="none" strike="noStrike"/>
          </a:p>
        </p:txBody>
      </p:sp>
      <p:sp>
        <p:nvSpPr>
          <p:cNvPr id="75" name="Google Shape;75;p2"/>
          <p:cNvSpPr/>
          <p:nvPr/>
        </p:nvSpPr>
        <p:spPr>
          <a:xfrm>
            <a:off x="4200406" y="2549843"/>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Fraunces Medium"/>
              <a:buNone/>
            </a:pPr>
            <a:r>
              <a:rPr b="0" i="0" lang="en-US" sz="2200" u="none" cap="none" strike="noStrike">
                <a:solidFill>
                  <a:srgbClr val="FFFFFF"/>
                </a:solidFill>
                <a:latin typeface="Fraunces Medium"/>
                <a:ea typeface="Fraunces Medium"/>
                <a:cs typeface="Fraunces Medium"/>
                <a:sym typeface="Fraunces Medium"/>
              </a:rPr>
              <a:t>Integridad de Datos</a:t>
            </a:r>
            <a:endParaRPr b="0" i="0" sz="2200" u="none" cap="none" strike="noStrike"/>
          </a:p>
        </p:txBody>
      </p:sp>
      <p:sp>
        <p:nvSpPr>
          <p:cNvPr id="76" name="Google Shape;76;p2"/>
          <p:cNvSpPr/>
          <p:nvPr/>
        </p:nvSpPr>
        <p:spPr>
          <a:xfrm>
            <a:off x="4200406" y="3130987"/>
            <a:ext cx="2845594" cy="254031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Los procesos de recuperación aseguran que los datos se restauren completamente y mantengan su consistencia y precisión.</a:t>
            </a:r>
            <a:endParaRPr b="0" i="0" sz="1750" u="none" cap="none" strike="noStrike"/>
          </a:p>
        </p:txBody>
      </p:sp>
      <p:sp>
        <p:nvSpPr>
          <p:cNvPr id="77" name="Google Shape;77;p2"/>
          <p:cNvSpPr/>
          <p:nvPr/>
        </p:nvSpPr>
        <p:spPr>
          <a:xfrm>
            <a:off x="7607022" y="2549843"/>
            <a:ext cx="284559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Fraunces Medium"/>
              <a:buNone/>
            </a:pPr>
            <a:r>
              <a:rPr b="0" i="0" lang="en-US" sz="2200" u="none" cap="none" strike="noStrike">
                <a:solidFill>
                  <a:srgbClr val="FFFFFF"/>
                </a:solidFill>
                <a:latin typeface="Fraunces Medium"/>
                <a:ea typeface="Fraunces Medium"/>
                <a:cs typeface="Fraunces Medium"/>
                <a:sym typeface="Fraunces Medium"/>
              </a:rPr>
              <a:t>Continuidad del Negocio</a:t>
            </a:r>
            <a:endParaRPr b="0" i="0" sz="2200" u="none" cap="none" strike="noStrike"/>
          </a:p>
        </p:txBody>
      </p:sp>
      <p:sp>
        <p:nvSpPr>
          <p:cNvPr id="78" name="Google Shape;78;p2"/>
          <p:cNvSpPr/>
          <p:nvPr/>
        </p:nvSpPr>
        <p:spPr>
          <a:xfrm>
            <a:off x="7607022" y="3485317"/>
            <a:ext cx="2845594" cy="326612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Una estrategia sólida de recuperación de datos permite a las organizaciones continuar sus operaciones y minimizar el impacto de interrupciones inesperadas.</a:t>
            </a:r>
            <a:endParaRPr b="0" i="0" sz="1750" u="none" cap="none" strike="noStrike"/>
          </a:p>
        </p:txBody>
      </p:sp>
      <p:sp>
        <p:nvSpPr>
          <p:cNvPr id="79" name="Google Shape;79;p2"/>
          <p:cNvSpPr/>
          <p:nvPr/>
        </p:nvSpPr>
        <p:spPr>
          <a:xfrm>
            <a:off x="11013638" y="2549843"/>
            <a:ext cx="284559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Fraunces Medium"/>
              <a:buNone/>
            </a:pPr>
            <a:r>
              <a:rPr b="0" i="0" lang="en-US" sz="2200" u="none" cap="none" strike="noStrike">
                <a:solidFill>
                  <a:srgbClr val="FFFFFF"/>
                </a:solidFill>
                <a:latin typeface="Fraunces Medium"/>
                <a:ea typeface="Fraunces Medium"/>
                <a:cs typeface="Fraunces Medium"/>
                <a:sym typeface="Fraunces Medium"/>
              </a:rPr>
              <a:t>Cumplimiento Normativo</a:t>
            </a:r>
            <a:endParaRPr b="0" i="0" sz="2200" u="none" cap="none" strike="noStrike"/>
          </a:p>
        </p:txBody>
      </p:sp>
      <p:sp>
        <p:nvSpPr>
          <p:cNvPr id="80" name="Google Shape;80;p2"/>
          <p:cNvSpPr/>
          <p:nvPr/>
        </p:nvSpPr>
        <p:spPr>
          <a:xfrm>
            <a:off x="11013638" y="3485317"/>
            <a:ext cx="2845594" cy="290322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La recuperación de datos es crucial para cumplir con requisitos legales y regulatorios relacionados con la protección y conservación de la información.</a:t>
            </a:r>
            <a:endParaRPr b="0" i="0" sz="17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descr="preencoded.png" id="86" name="Google Shape;86;p3"/>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87" name="Google Shape;87;p3"/>
          <p:cNvPicPr preferRelativeResize="0"/>
          <p:nvPr/>
        </p:nvPicPr>
        <p:blipFill rotWithShape="1">
          <a:blip r:embed="rId4">
            <a:alphaModFix/>
          </a:blip>
          <a:srcRect b="0" l="0" r="0" t="0"/>
          <a:stretch/>
        </p:blipFill>
        <p:spPr>
          <a:xfrm>
            <a:off x="9391769" y="2688193"/>
            <a:ext cx="4990743" cy="2853095"/>
          </a:xfrm>
          <a:prstGeom prst="rect">
            <a:avLst/>
          </a:prstGeom>
          <a:noFill/>
          <a:ln>
            <a:noFill/>
          </a:ln>
        </p:spPr>
      </p:pic>
      <p:sp>
        <p:nvSpPr>
          <p:cNvPr id="88" name="Google Shape;88;p3"/>
          <p:cNvSpPr/>
          <p:nvPr/>
        </p:nvSpPr>
        <p:spPr>
          <a:xfrm>
            <a:off x="693658" y="1320046"/>
            <a:ext cx="6692503" cy="619363"/>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FFFFFF"/>
              </a:buClr>
              <a:buSzPts val="3900"/>
              <a:buFont typeface="Fraunces Medium"/>
              <a:buNone/>
            </a:pPr>
            <a:r>
              <a:rPr b="0" i="0" lang="en-US" sz="3900" u="none" cap="none" strike="noStrike">
                <a:solidFill>
                  <a:srgbClr val="FFFFFF"/>
                </a:solidFill>
                <a:latin typeface="Fraunces Medium"/>
                <a:ea typeface="Fraunces Medium"/>
                <a:cs typeface="Fraunces Medium"/>
                <a:sym typeface="Fraunces Medium"/>
              </a:rPr>
              <a:t>Estrategias de Recuperación</a:t>
            </a:r>
            <a:endParaRPr b="0" i="0" sz="3900" u="none" cap="none" strike="noStrike"/>
          </a:p>
        </p:txBody>
      </p:sp>
      <p:sp>
        <p:nvSpPr>
          <p:cNvPr id="89" name="Google Shape;89;p3"/>
          <p:cNvSpPr/>
          <p:nvPr/>
        </p:nvSpPr>
        <p:spPr>
          <a:xfrm>
            <a:off x="693658" y="2459593"/>
            <a:ext cx="445889" cy="445889"/>
          </a:xfrm>
          <a:prstGeom prst="roundRect">
            <a:avLst>
              <a:gd fmla="val 18671"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848439" y="2533888"/>
            <a:ext cx="136327" cy="29729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BECEF"/>
              </a:buClr>
              <a:buSzPts val="2300"/>
              <a:buFont typeface="Fraunces Medium"/>
              <a:buNone/>
            </a:pPr>
            <a:r>
              <a:rPr b="0" i="0" lang="en-US" sz="2300" u="none" cap="none" strike="noStrike">
                <a:solidFill>
                  <a:srgbClr val="EBECEF"/>
                </a:solidFill>
                <a:latin typeface="Fraunces Medium"/>
                <a:ea typeface="Fraunces Medium"/>
                <a:cs typeface="Fraunces Medium"/>
                <a:sym typeface="Fraunces Medium"/>
              </a:rPr>
              <a:t>1</a:t>
            </a:r>
            <a:endParaRPr b="0" i="0" sz="2300" u="none" cap="none" strike="noStrike"/>
          </a:p>
        </p:txBody>
      </p:sp>
      <p:sp>
        <p:nvSpPr>
          <p:cNvPr id="91" name="Google Shape;91;p3"/>
          <p:cNvSpPr/>
          <p:nvPr/>
        </p:nvSpPr>
        <p:spPr>
          <a:xfrm>
            <a:off x="1337667" y="2459593"/>
            <a:ext cx="2477691" cy="309682"/>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Respaldos Regulares</a:t>
            </a:r>
            <a:endParaRPr b="0" i="0" sz="1950" u="none" cap="none" strike="noStrike"/>
          </a:p>
        </p:txBody>
      </p:sp>
      <p:sp>
        <p:nvSpPr>
          <p:cNvPr id="92" name="Google Shape;92;p3"/>
          <p:cNvSpPr/>
          <p:nvPr/>
        </p:nvSpPr>
        <p:spPr>
          <a:xfrm>
            <a:off x="1337667" y="2888099"/>
            <a:ext cx="3135273" cy="1585912"/>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EBECEF"/>
              </a:buClr>
              <a:buSzPts val="1550"/>
              <a:buFont typeface="Epilogue"/>
              <a:buNone/>
            </a:pPr>
            <a:r>
              <a:rPr b="0" i="0" lang="en-US" sz="1550" u="none" cap="none" strike="noStrike">
                <a:solidFill>
                  <a:srgbClr val="EBECEF"/>
                </a:solidFill>
                <a:latin typeface="Epilogue"/>
                <a:ea typeface="Epilogue"/>
                <a:cs typeface="Epilogue"/>
                <a:sym typeface="Epilogue"/>
              </a:rPr>
              <a:t>Realizar respaldos completos, incrementales y diferenciales a intervalos programados para poder restaurar datos ante fallas.</a:t>
            </a:r>
            <a:endParaRPr b="0" i="0" sz="1550" u="none" cap="none" strike="noStrike"/>
          </a:p>
        </p:txBody>
      </p:sp>
      <p:sp>
        <p:nvSpPr>
          <p:cNvPr id="93" name="Google Shape;93;p3"/>
          <p:cNvSpPr/>
          <p:nvPr/>
        </p:nvSpPr>
        <p:spPr>
          <a:xfrm>
            <a:off x="4671060" y="2459593"/>
            <a:ext cx="445889" cy="445889"/>
          </a:xfrm>
          <a:prstGeom prst="roundRect">
            <a:avLst>
              <a:gd fmla="val 18671"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4803934" y="2533888"/>
            <a:ext cx="180142" cy="29729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BECEF"/>
              </a:buClr>
              <a:buSzPts val="2300"/>
              <a:buFont typeface="Fraunces Medium"/>
              <a:buNone/>
            </a:pPr>
            <a:r>
              <a:rPr b="0" i="0" lang="en-US" sz="2300" u="none" cap="none" strike="noStrike">
                <a:solidFill>
                  <a:srgbClr val="EBECEF"/>
                </a:solidFill>
                <a:latin typeface="Fraunces Medium"/>
                <a:ea typeface="Fraunces Medium"/>
                <a:cs typeface="Fraunces Medium"/>
                <a:sym typeface="Fraunces Medium"/>
              </a:rPr>
              <a:t>2</a:t>
            </a:r>
            <a:endParaRPr b="0" i="0" sz="2300" u="none" cap="none" strike="noStrike"/>
          </a:p>
        </p:txBody>
      </p:sp>
      <p:sp>
        <p:nvSpPr>
          <p:cNvPr id="95" name="Google Shape;95;p3"/>
          <p:cNvSpPr/>
          <p:nvPr/>
        </p:nvSpPr>
        <p:spPr>
          <a:xfrm>
            <a:off x="5240819" y="2334456"/>
            <a:ext cx="2933100" cy="3096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Pruebas de Restauración</a:t>
            </a:r>
            <a:endParaRPr b="0" i="0" sz="1950" u="none" cap="none" strike="noStrike"/>
          </a:p>
        </p:txBody>
      </p:sp>
      <p:sp>
        <p:nvSpPr>
          <p:cNvPr id="96" name="Google Shape;96;p3"/>
          <p:cNvSpPr/>
          <p:nvPr/>
        </p:nvSpPr>
        <p:spPr>
          <a:xfrm>
            <a:off x="5240832" y="3039199"/>
            <a:ext cx="3135300" cy="1585800"/>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EBECEF"/>
              </a:buClr>
              <a:buSzPts val="1550"/>
              <a:buFont typeface="Epilogue"/>
              <a:buNone/>
            </a:pPr>
            <a:r>
              <a:rPr b="0" i="0" lang="en-US" sz="1550" u="none" cap="none" strike="noStrike">
                <a:solidFill>
                  <a:srgbClr val="EBECEF"/>
                </a:solidFill>
                <a:latin typeface="Epilogue"/>
                <a:ea typeface="Epilogue"/>
                <a:cs typeface="Epilogue"/>
                <a:sym typeface="Epilogue"/>
              </a:rPr>
              <a:t>Verificar periódicamente la integridad de los respaldos realizando simulacros de recuperación para garantizar su funcionalidad.</a:t>
            </a:r>
            <a:endParaRPr b="0" i="0" sz="1550" u="none" cap="none" strike="noStrike"/>
          </a:p>
        </p:txBody>
      </p:sp>
      <p:sp>
        <p:nvSpPr>
          <p:cNvPr id="97" name="Google Shape;97;p3"/>
          <p:cNvSpPr/>
          <p:nvPr/>
        </p:nvSpPr>
        <p:spPr>
          <a:xfrm>
            <a:off x="693658" y="4895017"/>
            <a:ext cx="445889" cy="445889"/>
          </a:xfrm>
          <a:prstGeom prst="roundRect">
            <a:avLst>
              <a:gd fmla="val 18671"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834509" y="4969312"/>
            <a:ext cx="164068" cy="29729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BECEF"/>
              </a:buClr>
              <a:buSzPts val="2300"/>
              <a:buFont typeface="Fraunces Medium"/>
              <a:buNone/>
            </a:pPr>
            <a:r>
              <a:rPr b="0" i="0" lang="en-US" sz="2300" u="none" cap="none" strike="noStrike">
                <a:solidFill>
                  <a:srgbClr val="EBECEF"/>
                </a:solidFill>
                <a:latin typeface="Fraunces Medium"/>
                <a:ea typeface="Fraunces Medium"/>
                <a:cs typeface="Fraunces Medium"/>
                <a:sym typeface="Fraunces Medium"/>
              </a:rPr>
              <a:t>3</a:t>
            </a:r>
            <a:endParaRPr b="0" i="0" sz="2300" u="none" cap="none" strike="noStrike"/>
          </a:p>
        </p:txBody>
      </p:sp>
      <p:sp>
        <p:nvSpPr>
          <p:cNvPr id="99" name="Google Shape;99;p3"/>
          <p:cNvSpPr/>
          <p:nvPr/>
        </p:nvSpPr>
        <p:spPr>
          <a:xfrm>
            <a:off x="1337667" y="4895017"/>
            <a:ext cx="2638306" cy="309682"/>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Redundancia de Datos</a:t>
            </a:r>
            <a:endParaRPr b="0" i="0" sz="1950" u="none" cap="none" strike="noStrike"/>
          </a:p>
        </p:txBody>
      </p:sp>
      <p:sp>
        <p:nvSpPr>
          <p:cNvPr id="100" name="Google Shape;100;p3"/>
          <p:cNvSpPr/>
          <p:nvPr/>
        </p:nvSpPr>
        <p:spPr>
          <a:xfrm>
            <a:off x="1337667" y="5822298"/>
            <a:ext cx="3135300" cy="1585800"/>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EBECEF"/>
              </a:buClr>
              <a:buSzPts val="1550"/>
              <a:buFont typeface="Epilogue"/>
              <a:buNone/>
            </a:pPr>
            <a:r>
              <a:rPr b="0" i="0" lang="en-US" sz="1550" u="none" cap="none" strike="noStrike">
                <a:solidFill>
                  <a:srgbClr val="EBECEF"/>
                </a:solidFill>
                <a:latin typeface="Epilogue"/>
                <a:ea typeface="Epilogue"/>
                <a:cs typeface="Epilogue"/>
                <a:sym typeface="Epilogue"/>
              </a:rPr>
              <a:t>Implementar soluciones de almacenamiento redundante como RAID o replicación para tener múltiples copias de seguridad.</a:t>
            </a:r>
            <a:endParaRPr b="0" i="0" sz="1550" u="none" cap="none" strike="noStrike"/>
          </a:p>
        </p:txBody>
      </p:sp>
      <p:sp>
        <p:nvSpPr>
          <p:cNvPr id="101" name="Google Shape;101;p3"/>
          <p:cNvSpPr/>
          <p:nvPr/>
        </p:nvSpPr>
        <p:spPr>
          <a:xfrm>
            <a:off x="4671060" y="4895017"/>
            <a:ext cx="445889" cy="445889"/>
          </a:xfrm>
          <a:prstGeom prst="roundRect">
            <a:avLst>
              <a:gd fmla="val 18671"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4803100" y="4969312"/>
            <a:ext cx="181808" cy="29729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BECEF"/>
              </a:buClr>
              <a:buSzPts val="2300"/>
              <a:buFont typeface="Fraunces Medium"/>
              <a:buNone/>
            </a:pPr>
            <a:r>
              <a:rPr b="0" i="0" lang="en-US" sz="2300" u="none" cap="none" strike="noStrike">
                <a:solidFill>
                  <a:srgbClr val="EBECEF"/>
                </a:solidFill>
                <a:latin typeface="Fraunces Medium"/>
                <a:ea typeface="Fraunces Medium"/>
                <a:cs typeface="Fraunces Medium"/>
                <a:sym typeface="Fraunces Medium"/>
              </a:rPr>
              <a:t>4</a:t>
            </a:r>
            <a:endParaRPr b="0" i="0" sz="2300" u="none" cap="none" strike="noStrike"/>
          </a:p>
        </p:txBody>
      </p:sp>
      <p:sp>
        <p:nvSpPr>
          <p:cNvPr id="103" name="Google Shape;103;p3"/>
          <p:cNvSpPr/>
          <p:nvPr/>
        </p:nvSpPr>
        <p:spPr>
          <a:xfrm>
            <a:off x="5315069" y="4895017"/>
            <a:ext cx="3135273" cy="619363"/>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Procedimientos Automatizados</a:t>
            </a:r>
            <a:endParaRPr b="0" i="0" sz="1950" u="none" cap="none" strike="noStrike"/>
          </a:p>
        </p:txBody>
      </p:sp>
      <p:sp>
        <p:nvSpPr>
          <p:cNvPr id="104" name="Google Shape;104;p3"/>
          <p:cNvSpPr/>
          <p:nvPr/>
        </p:nvSpPr>
        <p:spPr>
          <a:xfrm>
            <a:off x="5315069" y="5633204"/>
            <a:ext cx="3135273" cy="1268730"/>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EBECEF"/>
              </a:buClr>
              <a:buSzPts val="1550"/>
              <a:buFont typeface="Epilogue"/>
              <a:buNone/>
            </a:pPr>
            <a:r>
              <a:rPr b="0" i="0" lang="en-US" sz="1550" u="none" cap="none" strike="noStrike">
                <a:solidFill>
                  <a:srgbClr val="EBECEF"/>
                </a:solidFill>
                <a:latin typeface="Epilogue"/>
                <a:ea typeface="Epilogue"/>
                <a:cs typeface="Epilogue"/>
                <a:sym typeface="Epilogue"/>
              </a:rPr>
              <a:t>Diseñar scripts y herramientas que agilicen y estandaricen los procesos de respaldo y recuperación de datos.</a:t>
            </a:r>
            <a:endParaRPr b="0" i="0" sz="15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descr="preencoded.png" id="110" name="Google Shape;110;p4"/>
          <p:cNvPicPr preferRelativeResize="0"/>
          <p:nvPr/>
        </p:nvPicPr>
        <p:blipFill rotWithShape="1">
          <a:blip r:embed="rId3">
            <a:alphaModFix/>
          </a:blip>
          <a:srcRect b="0" l="0" r="0" t="0"/>
          <a:stretch/>
        </p:blipFill>
        <p:spPr>
          <a:xfrm>
            <a:off x="0" y="0"/>
            <a:ext cx="5486400" cy="8229600"/>
          </a:xfrm>
          <a:prstGeom prst="rect">
            <a:avLst/>
          </a:prstGeom>
          <a:noFill/>
          <a:ln>
            <a:noFill/>
          </a:ln>
        </p:spPr>
      </p:pic>
      <p:pic>
        <p:nvPicPr>
          <p:cNvPr descr="preencoded.png" id="111" name="Google Shape;111;p4"/>
          <p:cNvPicPr preferRelativeResize="0"/>
          <p:nvPr/>
        </p:nvPicPr>
        <p:blipFill rotWithShape="1">
          <a:blip r:embed="rId4">
            <a:alphaModFix/>
          </a:blip>
          <a:srcRect b="0" l="0" r="0" t="0"/>
          <a:stretch/>
        </p:blipFill>
        <p:spPr>
          <a:xfrm>
            <a:off x="257294" y="1628894"/>
            <a:ext cx="4971812" cy="4971812"/>
          </a:xfrm>
          <a:prstGeom prst="rect">
            <a:avLst/>
          </a:prstGeom>
          <a:noFill/>
          <a:ln>
            <a:noFill/>
          </a:ln>
        </p:spPr>
      </p:pic>
      <p:sp>
        <p:nvSpPr>
          <p:cNvPr id="112" name="Google Shape;112;p4"/>
          <p:cNvSpPr/>
          <p:nvPr/>
        </p:nvSpPr>
        <p:spPr>
          <a:xfrm>
            <a:off x="6206847" y="674013"/>
            <a:ext cx="7703106" cy="1286351"/>
          </a:xfrm>
          <a:prstGeom prst="rect">
            <a:avLst/>
          </a:prstGeom>
          <a:noFill/>
          <a:ln>
            <a:noFill/>
          </a:ln>
        </p:spPr>
        <p:txBody>
          <a:bodyPr anchorCtr="0" anchor="t" bIns="0" lIns="0" spcFirstLastPara="1" rIns="0" wrap="square" tIns="0">
            <a:noAutofit/>
          </a:bodyPr>
          <a:lstStyle/>
          <a:p>
            <a:pPr indent="0" lvl="0" marL="0" marR="0" rtl="0" algn="l">
              <a:lnSpc>
                <a:spcPct val="124691"/>
              </a:lnSpc>
              <a:spcBef>
                <a:spcPts val="0"/>
              </a:spcBef>
              <a:spcAft>
                <a:spcPts val="0"/>
              </a:spcAft>
              <a:buClr>
                <a:srgbClr val="FFFFFF"/>
              </a:buClr>
              <a:buSzPts val="4050"/>
              <a:buFont typeface="Fraunces Medium"/>
              <a:buNone/>
            </a:pPr>
            <a:r>
              <a:rPr b="0" i="0" lang="en-US" sz="4050" u="none" cap="none" strike="noStrike">
                <a:solidFill>
                  <a:srgbClr val="FFFFFF"/>
                </a:solidFill>
                <a:latin typeface="Fraunces Medium"/>
                <a:ea typeface="Fraunces Medium"/>
                <a:cs typeface="Fraunces Medium"/>
                <a:sym typeface="Fraunces Medium"/>
              </a:rPr>
              <a:t>Recuperación con Respaldos Completos</a:t>
            </a:r>
            <a:endParaRPr b="0" i="0" sz="4050" u="none" cap="none" strike="noStrike"/>
          </a:p>
        </p:txBody>
      </p:sp>
      <p:sp>
        <p:nvSpPr>
          <p:cNvPr id="113" name="Google Shape;113;p4"/>
          <p:cNvSpPr/>
          <p:nvPr/>
        </p:nvSpPr>
        <p:spPr>
          <a:xfrm>
            <a:off x="6504146" y="2269093"/>
            <a:ext cx="22860" cy="5286375"/>
          </a:xfrm>
          <a:prstGeom prst="roundRect">
            <a:avLst>
              <a:gd fmla="val 378194" name="adj"/>
            </a:avLst>
          </a:prstGeom>
          <a:solidFill>
            <a:srgbClr val="414A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6724233" y="2720578"/>
            <a:ext cx="720447" cy="22860"/>
          </a:xfrm>
          <a:prstGeom prst="roundRect">
            <a:avLst>
              <a:gd fmla="val 378194" name="adj"/>
            </a:avLst>
          </a:prstGeom>
          <a:solidFill>
            <a:srgbClr val="414A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6284059" y="2500551"/>
            <a:ext cx="463034" cy="463034"/>
          </a:xfrm>
          <a:prstGeom prst="roundRect">
            <a:avLst>
              <a:gd fmla="val 18671"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6444794" y="2577703"/>
            <a:ext cx="141565" cy="30872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BECEF"/>
              </a:buClr>
              <a:buSzPts val="2400"/>
              <a:buFont typeface="Fraunces Medium"/>
              <a:buNone/>
            </a:pPr>
            <a:r>
              <a:rPr b="0" i="0" lang="en-US" sz="2400" u="none" cap="none" strike="noStrike">
                <a:solidFill>
                  <a:srgbClr val="EBECEF"/>
                </a:solidFill>
                <a:latin typeface="Fraunces Medium"/>
                <a:ea typeface="Fraunces Medium"/>
                <a:cs typeface="Fraunces Medium"/>
                <a:sym typeface="Fraunces Medium"/>
              </a:rPr>
              <a:t>1</a:t>
            </a:r>
            <a:endParaRPr b="0" i="0" sz="2400" u="none" cap="none" strike="noStrike"/>
          </a:p>
        </p:txBody>
      </p:sp>
      <p:sp>
        <p:nvSpPr>
          <p:cNvPr id="117" name="Google Shape;117;p4"/>
          <p:cNvSpPr/>
          <p:nvPr/>
        </p:nvSpPr>
        <p:spPr>
          <a:xfrm>
            <a:off x="7647623" y="2474833"/>
            <a:ext cx="3143488" cy="32158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2000"/>
              <a:buFont typeface="Fraunces Medium"/>
              <a:buNone/>
            </a:pPr>
            <a:r>
              <a:rPr b="0" i="0" lang="en-US" sz="2000" u="none" cap="none" strike="noStrike">
                <a:solidFill>
                  <a:srgbClr val="EBECEF"/>
                </a:solidFill>
                <a:latin typeface="Fraunces Medium"/>
                <a:ea typeface="Fraunces Medium"/>
                <a:cs typeface="Fraunces Medium"/>
                <a:sym typeface="Fraunces Medium"/>
              </a:rPr>
              <a:t>Crear Respaldo Completo</a:t>
            </a:r>
            <a:endParaRPr b="0" i="0" sz="2000" u="none" cap="none" strike="noStrike"/>
          </a:p>
        </p:txBody>
      </p:sp>
      <p:sp>
        <p:nvSpPr>
          <p:cNvPr id="118" name="Google Shape;118;p4"/>
          <p:cNvSpPr/>
          <p:nvPr/>
        </p:nvSpPr>
        <p:spPr>
          <a:xfrm>
            <a:off x="7647623" y="2919889"/>
            <a:ext cx="6262330" cy="658654"/>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EBECEF"/>
              </a:buClr>
              <a:buSzPts val="1600"/>
              <a:buFont typeface="Epilogue"/>
              <a:buNone/>
            </a:pPr>
            <a:r>
              <a:rPr b="0" i="0" lang="en-US" sz="1600" u="none" cap="none" strike="noStrike">
                <a:solidFill>
                  <a:srgbClr val="EBECEF"/>
                </a:solidFill>
                <a:latin typeface="Epilogue"/>
                <a:ea typeface="Epilogue"/>
                <a:cs typeface="Epilogue"/>
                <a:sym typeface="Epilogue"/>
              </a:rPr>
              <a:t>El primer paso es realizar un respaldo completo de la base de datos, capturando toda la información en un único archivo.</a:t>
            </a:r>
            <a:endParaRPr b="0" i="0" sz="1600" u="none" cap="none" strike="noStrike"/>
          </a:p>
        </p:txBody>
      </p:sp>
      <p:sp>
        <p:nvSpPr>
          <p:cNvPr id="119" name="Google Shape;119;p4"/>
          <p:cNvSpPr/>
          <p:nvPr/>
        </p:nvSpPr>
        <p:spPr>
          <a:xfrm>
            <a:off x="6724233" y="4441508"/>
            <a:ext cx="720447" cy="22860"/>
          </a:xfrm>
          <a:prstGeom prst="roundRect">
            <a:avLst>
              <a:gd fmla="val 378194" name="adj"/>
            </a:avLst>
          </a:prstGeom>
          <a:solidFill>
            <a:srgbClr val="414A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6284059" y="4221480"/>
            <a:ext cx="463034" cy="463034"/>
          </a:xfrm>
          <a:prstGeom prst="roundRect">
            <a:avLst>
              <a:gd fmla="val 18671"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6421934" y="4298633"/>
            <a:ext cx="187166" cy="30872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BECEF"/>
              </a:buClr>
              <a:buSzPts val="2400"/>
              <a:buFont typeface="Fraunces Medium"/>
              <a:buNone/>
            </a:pPr>
            <a:r>
              <a:rPr b="0" i="0" lang="en-US" sz="2400" u="none" cap="none" strike="noStrike">
                <a:solidFill>
                  <a:srgbClr val="EBECEF"/>
                </a:solidFill>
                <a:latin typeface="Fraunces Medium"/>
                <a:ea typeface="Fraunces Medium"/>
                <a:cs typeface="Fraunces Medium"/>
                <a:sym typeface="Fraunces Medium"/>
              </a:rPr>
              <a:t>2</a:t>
            </a:r>
            <a:endParaRPr b="0" i="0" sz="2400" u="none" cap="none" strike="noStrike"/>
          </a:p>
        </p:txBody>
      </p:sp>
      <p:sp>
        <p:nvSpPr>
          <p:cNvPr id="122" name="Google Shape;122;p4"/>
          <p:cNvSpPr/>
          <p:nvPr/>
        </p:nvSpPr>
        <p:spPr>
          <a:xfrm>
            <a:off x="7647623" y="4195763"/>
            <a:ext cx="3015972" cy="32158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2000"/>
              <a:buFont typeface="Fraunces Medium"/>
              <a:buNone/>
            </a:pPr>
            <a:r>
              <a:rPr b="0" i="0" lang="en-US" sz="2000" u="none" cap="none" strike="noStrike">
                <a:solidFill>
                  <a:srgbClr val="EBECEF"/>
                </a:solidFill>
                <a:latin typeface="Fraunces Medium"/>
                <a:ea typeface="Fraunces Medium"/>
                <a:cs typeface="Fraunces Medium"/>
                <a:sym typeface="Fraunces Medium"/>
              </a:rPr>
              <a:t>Almacenamiento Seguro</a:t>
            </a:r>
            <a:endParaRPr b="0" i="0" sz="2000" u="none" cap="none" strike="noStrike"/>
          </a:p>
        </p:txBody>
      </p:sp>
      <p:sp>
        <p:nvSpPr>
          <p:cNvPr id="123" name="Google Shape;123;p4"/>
          <p:cNvSpPr/>
          <p:nvPr/>
        </p:nvSpPr>
        <p:spPr>
          <a:xfrm>
            <a:off x="7647623" y="4640818"/>
            <a:ext cx="6262330" cy="987981"/>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EBECEF"/>
              </a:buClr>
              <a:buSzPts val="1600"/>
              <a:buFont typeface="Epilogue"/>
              <a:buNone/>
            </a:pPr>
            <a:r>
              <a:rPr b="0" i="0" lang="en-US" sz="1600" u="none" cap="none" strike="noStrike">
                <a:solidFill>
                  <a:srgbClr val="EBECEF"/>
                </a:solidFill>
                <a:latin typeface="Epilogue"/>
                <a:ea typeface="Epilogue"/>
                <a:cs typeface="Epilogue"/>
                <a:sym typeface="Epilogue"/>
              </a:rPr>
              <a:t>El respaldo completo se guarda en un medio de almacenamiento externo, asegurándose de que esté protegido y sea fácilmente accesible.</a:t>
            </a:r>
            <a:endParaRPr b="0" i="0" sz="1600" u="none" cap="none" strike="noStrike"/>
          </a:p>
        </p:txBody>
      </p:sp>
      <p:sp>
        <p:nvSpPr>
          <p:cNvPr id="124" name="Google Shape;124;p4"/>
          <p:cNvSpPr/>
          <p:nvPr/>
        </p:nvSpPr>
        <p:spPr>
          <a:xfrm>
            <a:off x="6724233" y="6491764"/>
            <a:ext cx="720447" cy="22860"/>
          </a:xfrm>
          <a:prstGeom prst="roundRect">
            <a:avLst>
              <a:gd fmla="val 378194" name="adj"/>
            </a:avLst>
          </a:prstGeom>
          <a:solidFill>
            <a:srgbClr val="414A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6284059" y="6271736"/>
            <a:ext cx="463034" cy="463034"/>
          </a:xfrm>
          <a:prstGeom prst="roundRect">
            <a:avLst>
              <a:gd fmla="val 18671"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a:off x="6430268" y="6348889"/>
            <a:ext cx="170497" cy="30872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BECEF"/>
              </a:buClr>
              <a:buSzPts val="2400"/>
              <a:buFont typeface="Fraunces Medium"/>
              <a:buNone/>
            </a:pPr>
            <a:r>
              <a:rPr b="0" i="0" lang="en-US" sz="2400" u="none" cap="none" strike="noStrike">
                <a:solidFill>
                  <a:srgbClr val="EBECEF"/>
                </a:solidFill>
                <a:latin typeface="Fraunces Medium"/>
                <a:ea typeface="Fraunces Medium"/>
                <a:cs typeface="Fraunces Medium"/>
                <a:sym typeface="Fraunces Medium"/>
              </a:rPr>
              <a:t>3</a:t>
            </a:r>
            <a:endParaRPr b="0" i="0" sz="2400" u="none" cap="none" strike="noStrike"/>
          </a:p>
        </p:txBody>
      </p:sp>
      <p:sp>
        <p:nvSpPr>
          <p:cNvPr id="127" name="Google Shape;127;p4"/>
          <p:cNvSpPr/>
          <p:nvPr/>
        </p:nvSpPr>
        <p:spPr>
          <a:xfrm>
            <a:off x="7647623" y="6246019"/>
            <a:ext cx="2573060" cy="32158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2000"/>
              <a:buFont typeface="Fraunces Medium"/>
              <a:buNone/>
            </a:pPr>
            <a:r>
              <a:rPr b="0" i="0" lang="en-US" sz="2000" u="none" cap="none" strike="noStrike">
                <a:solidFill>
                  <a:srgbClr val="EBECEF"/>
                </a:solidFill>
                <a:latin typeface="Fraunces Medium"/>
                <a:ea typeface="Fraunces Medium"/>
                <a:cs typeface="Fraunces Medium"/>
                <a:sym typeface="Fraunces Medium"/>
              </a:rPr>
              <a:t>Restauración Total</a:t>
            </a:r>
            <a:endParaRPr b="0" i="0" sz="2000" u="none" cap="none" strike="noStrike"/>
          </a:p>
        </p:txBody>
      </p:sp>
      <p:sp>
        <p:nvSpPr>
          <p:cNvPr id="128" name="Google Shape;128;p4"/>
          <p:cNvSpPr/>
          <p:nvPr/>
        </p:nvSpPr>
        <p:spPr>
          <a:xfrm>
            <a:off x="7647623" y="6691074"/>
            <a:ext cx="6262330" cy="658654"/>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EBECEF"/>
              </a:buClr>
              <a:buSzPts val="1600"/>
              <a:buFont typeface="Epilogue"/>
              <a:buNone/>
            </a:pPr>
            <a:r>
              <a:rPr b="0" i="0" lang="en-US" sz="1600" u="none" cap="none" strike="noStrike">
                <a:solidFill>
                  <a:srgbClr val="EBECEF"/>
                </a:solidFill>
                <a:latin typeface="Epilogue"/>
                <a:ea typeface="Epilogue"/>
                <a:cs typeface="Epilogue"/>
                <a:sym typeface="Epilogue"/>
              </a:rPr>
              <a:t>En caso de pérdida de datos, el respaldo completo se utiliza para restaurar la base de datos a su estado original.</a:t>
            </a:r>
            <a:endParaRPr b="0" i="0" sz="160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descr="preencoded.png" id="134" name="Google Shape;134;p5"/>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135" name="Google Shape;135;p5"/>
          <p:cNvPicPr preferRelativeResize="0"/>
          <p:nvPr/>
        </p:nvPicPr>
        <p:blipFill rotWithShape="1">
          <a:blip r:embed="rId4">
            <a:alphaModFix/>
          </a:blip>
          <a:srcRect b="0" l="0" r="0" t="0"/>
          <a:stretch/>
        </p:blipFill>
        <p:spPr>
          <a:xfrm>
            <a:off x="9406533" y="2566392"/>
            <a:ext cx="4961215" cy="3096697"/>
          </a:xfrm>
          <a:prstGeom prst="rect">
            <a:avLst/>
          </a:prstGeom>
          <a:noFill/>
          <a:ln>
            <a:noFill/>
          </a:ln>
        </p:spPr>
      </p:pic>
      <p:sp>
        <p:nvSpPr>
          <p:cNvPr id="136" name="Google Shape;136;p5"/>
          <p:cNvSpPr/>
          <p:nvPr/>
        </p:nvSpPr>
        <p:spPr>
          <a:xfrm>
            <a:off x="735330" y="678418"/>
            <a:ext cx="7673340" cy="1313259"/>
          </a:xfrm>
          <a:prstGeom prst="rect">
            <a:avLst/>
          </a:prstGeom>
          <a:noFill/>
          <a:ln>
            <a:noFill/>
          </a:ln>
        </p:spPr>
        <p:txBody>
          <a:bodyPr anchorCtr="0" anchor="t" bIns="0" lIns="0" spcFirstLastPara="1" rIns="0" wrap="square" tIns="0">
            <a:noAutofit/>
          </a:bodyPr>
          <a:lstStyle/>
          <a:p>
            <a:pPr indent="0" lvl="0" marL="0" marR="0" rtl="0" algn="l">
              <a:lnSpc>
                <a:spcPct val="125609"/>
              </a:lnSpc>
              <a:spcBef>
                <a:spcPts val="0"/>
              </a:spcBef>
              <a:spcAft>
                <a:spcPts val="0"/>
              </a:spcAft>
              <a:buClr>
                <a:srgbClr val="FFFFFF"/>
              </a:buClr>
              <a:buSzPts val="4100"/>
              <a:buFont typeface="Fraunces Medium"/>
              <a:buNone/>
            </a:pPr>
            <a:r>
              <a:rPr b="0" i="0" lang="en-US" sz="4100" u="none" cap="none" strike="noStrike">
                <a:solidFill>
                  <a:srgbClr val="FFFFFF"/>
                </a:solidFill>
                <a:latin typeface="Fraunces Medium"/>
                <a:ea typeface="Fraunces Medium"/>
                <a:cs typeface="Fraunces Medium"/>
                <a:sym typeface="Fraunces Medium"/>
              </a:rPr>
              <a:t>Recuperación con Respaldos Incrementales</a:t>
            </a:r>
            <a:endParaRPr b="0" i="0" sz="4100" u="none" cap="none" strike="noStrike"/>
          </a:p>
        </p:txBody>
      </p:sp>
      <p:pic>
        <p:nvPicPr>
          <p:cNvPr descr="preencoded.png" id="137" name="Google Shape;137;p5"/>
          <p:cNvPicPr preferRelativeResize="0"/>
          <p:nvPr/>
        </p:nvPicPr>
        <p:blipFill rotWithShape="1">
          <a:blip r:embed="rId5">
            <a:alphaModFix/>
          </a:blip>
          <a:srcRect b="0" l="0" r="0" t="0"/>
          <a:stretch/>
        </p:blipFill>
        <p:spPr>
          <a:xfrm>
            <a:off x="735330" y="2306717"/>
            <a:ext cx="1050488" cy="1680686"/>
          </a:xfrm>
          <a:prstGeom prst="rect">
            <a:avLst/>
          </a:prstGeom>
          <a:noFill/>
          <a:ln>
            <a:noFill/>
          </a:ln>
        </p:spPr>
      </p:pic>
      <p:sp>
        <p:nvSpPr>
          <p:cNvPr id="138" name="Google Shape;138;p5"/>
          <p:cNvSpPr/>
          <p:nvPr/>
        </p:nvSpPr>
        <p:spPr>
          <a:xfrm>
            <a:off x="2100858" y="2516743"/>
            <a:ext cx="2626162" cy="328255"/>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EBECEF"/>
              </a:buClr>
              <a:buSzPts val="2050"/>
              <a:buFont typeface="Fraunces Medium"/>
              <a:buNone/>
            </a:pPr>
            <a:r>
              <a:rPr b="0" i="0" lang="en-US" sz="2050" u="none" cap="none" strike="noStrike">
                <a:solidFill>
                  <a:srgbClr val="EBECEF"/>
                </a:solidFill>
                <a:latin typeface="Fraunces Medium"/>
                <a:ea typeface="Fraunces Medium"/>
                <a:cs typeface="Fraunces Medium"/>
                <a:sym typeface="Fraunces Medium"/>
              </a:rPr>
              <a:t>Respaldos Iniciales</a:t>
            </a:r>
            <a:endParaRPr b="0" i="0" sz="2050" u="none" cap="none" strike="noStrike"/>
          </a:p>
        </p:txBody>
      </p:sp>
      <p:sp>
        <p:nvSpPr>
          <p:cNvPr id="139" name="Google Shape;139;p5"/>
          <p:cNvSpPr/>
          <p:nvPr/>
        </p:nvSpPr>
        <p:spPr>
          <a:xfrm>
            <a:off x="2100858" y="2970967"/>
            <a:ext cx="6307812" cy="672465"/>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EBECEF"/>
              </a:buClr>
              <a:buSzPts val="1650"/>
              <a:buFont typeface="Epilogue"/>
              <a:buNone/>
            </a:pPr>
            <a:r>
              <a:rPr b="0" i="0" lang="en-US" sz="1650" u="none" cap="none" strike="noStrike">
                <a:solidFill>
                  <a:srgbClr val="EBECEF"/>
                </a:solidFill>
                <a:latin typeface="Epilogue"/>
                <a:ea typeface="Epilogue"/>
                <a:cs typeface="Epilogue"/>
                <a:sym typeface="Epilogue"/>
              </a:rPr>
              <a:t>Se realiza un respaldo completo inicial de la base de datos para tener un punto de partida seguro.</a:t>
            </a:r>
            <a:endParaRPr b="0" i="0" sz="1650" u="none" cap="none" strike="noStrike"/>
          </a:p>
        </p:txBody>
      </p:sp>
      <p:pic>
        <p:nvPicPr>
          <p:cNvPr descr="preencoded.png" id="140" name="Google Shape;140;p5"/>
          <p:cNvPicPr preferRelativeResize="0"/>
          <p:nvPr/>
        </p:nvPicPr>
        <p:blipFill rotWithShape="1">
          <a:blip r:embed="rId6">
            <a:alphaModFix/>
          </a:blip>
          <a:srcRect b="0" l="0" r="0" t="0"/>
          <a:stretch/>
        </p:blipFill>
        <p:spPr>
          <a:xfrm>
            <a:off x="735330" y="3987403"/>
            <a:ext cx="1050488" cy="1680686"/>
          </a:xfrm>
          <a:prstGeom prst="rect">
            <a:avLst/>
          </a:prstGeom>
          <a:noFill/>
          <a:ln>
            <a:noFill/>
          </a:ln>
        </p:spPr>
      </p:pic>
      <p:sp>
        <p:nvSpPr>
          <p:cNvPr id="141" name="Google Shape;141;p5"/>
          <p:cNvSpPr/>
          <p:nvPr/>
        </p:nvSpPr>
        <p:spPr>
          <a:xfrm>
            <a:off x="2100858" y="4197429"/>
            <a:ext cx="3049191" cy="328255"/>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EBECEF"/>
              </a:buClr>
              <a:buSzPts val="2050"/>
              <a:buFont typeface="Fraunces Medium"/>
              <a:buNone/>
            </a:pPr>
            <a:r>
              <a:rPr b="0" i="0" lang="en-US" sz="2050" u="none" cap="none" strike="noStrike">
                <a:solidFill>
                  <a:srgbClr val="EBECEF"/>
                </a:solidFill>
                <a:latin typeface="Fraunces Medium"/>
                <a:ea typeface="Fraunces Medium"/>
                <a:cs typeface="Fraunces Medium"/>
                <a:sym typeface="Fraunces Medium"/>
              </a:rPr>
              <a:t>Respaldos Programados</a:t>
            </a:r>
            <a:endParaRPr b="0" i="0" sz="2050" u="none" cap="none" strike="noStrike"/>
          </a:p>
        </p:txBody>
      </p:sp>
      <p:sp>
        <p:nvSpPr>
          <p:cNvPr id="142" name="Google Shape;142;p5"/>
          <p:cNvSpPr/>
          <p:nvPr/>
        </p:nvSpPr>
        <p:spPr>
          <a:xfrm>
            <a:off x="2100858" y="4651653"/>
            <a:ext cx="6307812" cy="672465"/>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EBECEF"/>
              </a:buClr>
              <a:buSzPts val="1650"/>
              <a:buFont typeface="Epilogue"/>
              <a:buNone/>
            </a:pPr>
            <a:r>
              <a:rPr b="0" i="0" lang="en-US" sz="1650" u="none" cap="none" strike="noStrike">
                <a:solidFill>
                  <a:srgbClr val="EBECEF"/>
                </a:solidFill>
                <a:latin typeface="Epilogue"/>
                <a:ea typeface="Epilogue"/>
                <a:cs typeface="Epilogue"/>
                <a:sym typeface="Epilogue"/>
              </a:rPr>
              <a:t>Se configuran respaldos incrementales periódicos que solo registran los cambios realizados desde el último respaldo.</a:t>
            </a:r>
            <a:endParaRPr b="0" i="0" sz="1650" u="none" cap="none" strike="noStrike"/>
          </a:p>
        </p:txBody>
      </p:sp>
      <p:pic>
        <p:nvPicPr>
          <p:cNvPr descr="preencoded.png" id="143" name="Google Shape;143;p5"/>
          <p:cNvPicPr preferRelativeResize="0"/>
          <p:nvPr/>
        </p:nvPicPr>
        <p:blipFill rotWithShape="1">
          <a:blip r:embed="rId7">
            <a:alphaModFix/>
          </a:blip>
          <a:srcRect b="0" l="0" r="0" t="0"/>
          <a:stretch/>
        </p:blipFill>
        <p:spPr>
          <a:xfrm>
            <a:off x="735330" y="5668089"/>
            <a:ext cx="1050488" cy="1882973"/>
          </a:xfrm>
          <a:prstGeom prst="rect">
            <a:avLst/>
          </a:prstGeom>
          <a:noFill/>
          <a:ln>
            <a:noFill/>
          </a:ln>
        </p:spPr>
      </p:pic>
      <p:sp>
        <p:nvSpPr>
          <p:cNvPr id="144" name="Google Shape;144;p5"/>
          <p:cNvSpPr/>
          <p:nvPr/>
        </p:nvSpPr>
        <p:spPr>
          <a:xfrm>
            <a:off x="2100858" y="5878116"/>
            <a:ext cx="2739033" cy="328255"/>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EBECEF"/>
              </a:buClr>
              <a:buSzPts val="2050"/>
              <a:buFont typeface="Fraunces Medium"/>
              <a:buNone/>
            </a:pPr>
            <a:r>
              <a:rPr b="0" i="0" lang="en-US" sz="2050" u="none" cap="none" strike="noStrike">
                <a:solidFill>
                  <a:srgbClr val="EBECEF"/>
                </a:solidFill>
                <a:latin typeface="Fraunces Medium"/>
                <a:ea typeface="Fraunces Medium"/>
                <a:cs typeface="Fraunces Medium"/>
                <a:sym typeface="Fraunces Medium"/>
              </a:rPr>
              <a:t>Restauración Gradual</a:t>
            </a:r>
            <a:endParaRPr b="0" i="0" sz="2050" u="none" cap="none" strike="noStrike"/>
          </a:p>
        </p:txBody>
      </p:sp>
      <p:sp>
        <p:nvSpPr>
          <p:cNvPr id="145" name="Google Shape;145;p5"/>
          <p:cNvSpPr/>
          <p:nvPr/>
        </p:nvSpPr>
        <p:spPr>
          <a:xfrm>
            <a:off x="2100858" y="6332339"/>
            <a:ext cx="6307812" cy="1008698"/>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EBECEF"/>
              </a:buClr>
              <a:buSzPts val="1650"/>
              <a:buFont typeface="Epilogue"/>
              <a:buNone/>
            </a:pPr>
            <a:r>
              <a:rPr b="0" i="0" lang="en-US" sz="1650" u="none" cap="none" strike="noStrike">
                <a:solidFill>
                  <a:srgbClr val="EBECEF"/>
                </a:solidFill>
                <a:latin typeface="Epilogue"/>
                <a:ea typeface="Epilogue"/>
                <a:cs typeface="Epilogue"/>
                <a:sym typeface="Epilogue"/>
              </a:rPr>
              <a:t>En caso de fallo, se restaura la base de datos a partir del último respaldo completo y luego se aplican los respaldos incrementales.</a:t>
            </a:r>
            <a:endParaRPr b="0" i="0" sz="16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p:nvPr/>
        </p:nvSpPr>
        <p:spPr>
          <a:xfrm>
            <a:off x="757357" y="595074"/>
            <a:ext cx="10931604" cy="676275"/>
          </a:xfrm>
          <a:prstGeom prst="rect">
            <a:avLst/>
          </a:prstGeom>
          <a:noFill/>
          <a:ln>
            <a:noFill/>
          </a:ln>
        </p:spPr>
        <p:txBody>
          <a:bodyPr anchorCtr="0" anchor="t" bIns="0" lIns="0" spcFirstLastPara="1" rIns="0" wrap="square" tIns="0">
            <a:noAutofit/>
          </a:bodyPr>
          <a:lstStyle/>
          <a:p>
            <a:pPr indent="0" lvl="0" marL="0" marR="0" rtl="0" algn="l">
              <a:lnSpc>
                <a:spcPct val="124705"/>
              </a:lnSpc>
              <a:spcBef>
                <a:spcPts val="0"/>
              </a:spcBef>
              <a:spcAft>
                <a:spcPts val="0"/>
              </a:spcAft>
              <a:buClr>
                <a:srgbClr val="FFFFFF"/>
              </a:buClr>
              <a:buSzPts val="4250"/>
              <a:buFont typeface="Fraunces Medium"/>
              <a:buNone/>
            </a:pPr>
            <a:r>
              <a:rPr b="0" i="0" lang="en-US" sz="4250" u="none" cap="none" strike="noStrike">
                <a:solidFill>
                  <a:srgbClr val="FFFFFF"/>
                </a:solidFill>
                <a:latin typeface="Fraunces Medium"/>
                <a:ea typeface="Fraunces Medium"/>
                <a:cs typeface="Fraunces Medium"/>
                <a:sym typeface="Fraunces Medium"/>
              </a:rPr>
              <a:t>Recuperación con Respaldos Diferenciales</a:t>
            </a:r>
            <a:endParaRPr b="0" i="0" sz="4250" u="none" cap="none" strike="noStrike"/>
          </a:p>
        </p:txBody>
      </p:sp>
      <p:sp>
        <p:nvSpPr>
          <p:cNvPr id="152" name="Google Shape;152;p6"/>
          <p:cNvSpPr/>
          <p:nvPr/>
        </p:nvSpPr>
        <p:spPr>
          <a:xfrm>
            <a:off x="757357" y="1704142"/>
            <a:ext cx="2185868" cy="1246823"/>
          </a:xfrm>
          <a:prstGeom prst="roundRect">
            <a:avLst>
              <a:gd fmla="val 7290"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
          <p:cNvSpPr/>
          <p:nvPr/>
        </p:nvSpPr>
        <p:spPr>
          <a:xfrm>
            <a:off x="981313" y="2111097"/>
            <a:ext cx="124063" cy="432792"/>
          </a:xfrm>
          <a:prstGeom prst="rect">
            <a:avLst/>
          </a:prstGeom>
          <a:noFill/>
          <a:ln>
            <a:noFill/>
          </a:ln>
        </p:spPr>
        <p:txBody>
          <a:bodyPr anchorCtr="0" anchor="t" bIns="0" lIns="0" spcFirstLastPara="1" rIns="0" wrap="square" tIns="0">
            <a:noAutofit/>
          </a:bodyPr>
          <a:lstStyle/>
          <a:p>
            <a:pPr indent="0" lvl="0" marL="0" marR="0" rtl="0" algn="ctr">
              <a:lnSpc>
                <a:spcPct val="161904"/>
              </a:lnSpc>
              <a:spcBef>
                <a:spcPts val="0"/>
              </a:spcBef>
              <a:spcAft>
                <a:spcPts val="0"/>
              </a:spcAft>
              <a:buClr>
                <a:srgbClr val="EBECEF"/>
              </a:buClr>
              <a:buSzPts val="2100"/>
              <a:buFont typeface="Fraunces Medium"/>
              <a:buNone/>
            </a:pPr>
            <a:r>
              <a:rPr b="0" i="0" lang="en-US" sz="2100" u="none" cap="none" strike="noStrike">
                <a:solidFill>
                  <a:srgbClr val="EBECEF"/>
                </a:solidFill>
                <a:latin typeface="Fraunces Medium"/>
                <a:ea typeface="Fraunces Medium"/>
                <a:cs typeface="Fraunces Medium"/>
                <a:sym typeface="Fraunces Medium"/>
              </a:rPr>
              <a:t>1</a:t>
            </a:r>
            <a:endParaRPr b="0" i="0" sz="2100" u="none" cap="none" strike="noStrike"/>
          </a:p>
        </p:txBody>
      </p:sp>
      <p:sp>
        <p:nvSpPr>
          <p:cNvPr id="154" name="Google Shape;154;p6"/>
          <p:cNvSpPr/>
          <p:nvPr/>
        </p:nvSpPr>
        <p:spPr>
          <a:xfrm>
            <a:off x="3159562" y="1920478"/>
            <a:ext cx="2844641" cy="338138"/>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EBECEF"/>
              </a:buClr>
              <a:buSzPts val="2100"/>
              <a:buFont typeface="Fraunces Medium"/>
              <a:buNone/>
            </a:pPr>
            <a:r>
              <a:rPr b="0" i="0" lang="en-US" sz="2100" u="none" cap="none" strike="noStrike">
                <a:solidFill>
                  <a:srgbClr val="EBECEF"/>
                </a:solidFill>
                <a:latin typeface="Fraunces Medium"/>
                <a:ea typeface="Fraunces Medium"/>
                <a:cs typeface="Fraunces Medium"/>
                <a:sym typeface="Fraunces Medium"/>
              </a:rPr>
              <a:t>Respaldo Incremental</a:t>
            </a:r>
            <a:endParaRPr b="0" i="0" sz="2100" u="none" cap="none" strike="noStrike"/>
          </a:p>
        </p:txBody>
      </p:sp>
      <p:sp>
        <p:nvSpPr>
          <p:cNvPr id="155" name="Google Shape;155;p6"/>
          <p:cNvSpPr/>
          <p:nvPr/>
        </p:nvSpPr>
        <p:spPr>
          <a:xfrm>
            <a:off x="3159562" y="2388394"/>
            <a:ext cx="7317343" cy="346234"/>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EBECEF"/>
              </a:buClr>
              <a:buSzPts val="1700"/>
              <a:buFont typeface="Epilogue"/>
              <a:buNone/>
            </a:pPr>
            <a:r>
              <a:rPr b="0" i="0" lang="en-US" sz="1700" u="none" cap="none" strike="noStrike">
                <a:solidFill>
                  <a:srgbClr val="EBECEF"/>
                </a:solidFill>
                <a:latin typeface="Epilogue"/>
                <a:ea typeface="Epilogue"/>
                <a:cs typeface="Epilogue"/>
                <a:sym typeface="Epilogue"/>
              </a:rPr>
              <a:t>Copia solo los datos nuevos o modificados desde el último respaldo.</a:t>
            </a:r>
            <a:endParaRPr b="0" i="0" sz="1700" u="none" cap="none" strike="noStrike"/>
          </a:p>
        </p:txBody>
      </p:sp>
      <p:sp>
        <p:nvSpPr>
          <p:cNvPr id="156" name="Google Shape;156;p6"/>
          <p:cNvSpPr/>
          <p:nvPr/>
        </p:nvSpPr>
        <p:spPr>
          <a:xfrm>
            <a:off x="3051334" y="2935724"/>
            <a:ext cx="10713601" cy="15240"/>
          </a:xfrm>
          <a:prstGeom prst="roundRect">
            <a:avLst>
              <a:gd fmla="val 596401" name="adj"/>
            </a:avLst>
          </a:prstGeom>
          <a:solidFill>
            <a:srgbClr val="414A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p:nvPr/>
        </p:nvSpPr>
        <p:spPr>
          <a:xfrm>
            <a:off x="757357" y="3059073"/>
            <a:ext cx="4371856" cy="1593056"/>
          </a:xfrm>
          <a:prstGeom prst="roundRect">
            <a:avLst>
              <a:gd fmla="val 5705"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
          <p:cNvSpPr/>
          <p:nvPr/>
        </p:nvSpPr>
        <p:spPr>
          <a:xfrm>
            <a:off x="981313" y="3639145"/>
            <a:ext cx="163949" cy="432792"/>
          </a:xfrm>
          <a:prstGeom prst="rect">
            <a:avLst/>
          </a:prstGeom>
          <a:noFill/>
          <a:ln>
            <a:noFill/>
          </a:ln>
        </p:spPr>
        <p:txBody>
          <a:bodyPr anchorCtr="0" anchor="t" bIns="0" lIns="0" spcFirstLastPara="1" rIns="0" wrap="square" tIns="0">
            <a:noAutofit/>
          </a:bodyPr>
          <a:lstStyle/>
          <a:p>
            <a:pPr indent="0" lvl="0" marL="0" marR="0" rtl="0" algn="ctr">
              <a:lnSpc>
                <a:spcPct val="161904"/>
              </a:lnSpc>
              <a:spcBef>
                <a:spcPts val="0"/>
              </a:spcBef>
              <a:spcAft>
                <a:spcPts val="0"/>
              </a:spcAft>
              <a:buClr>
                <a:srgbClr val="EBECEF"/>
              </a:buClr>
              <a:buSzPts val="2100"/>
              <a:buFont typeface="Fraunces Medium"/>
              <a:buNone/>
            </a:pPr>
            <a:r>
              <a:rPr b="0" i="0" lang="en-US" sz="2100" u="none" cap="none" strike="noStrike">
                <a:solidFill>
                  <a:srgbClr val="EBECEF"/>
                </a:solidFill>
                <a:latin typeface="Fraunces Medium"/>
                <a:ea typeface="Fraunces Medium"/>
                <a:cs typeface="Fraunces Medium"/>
                <a:sym typeface="Fraunces Medium"/>
              </a:rPr>
              <a:t>2</a:t>
            </a:r>
            <a:endParaRPr b="0" i="0" sz="2100" u="none" cap="none" strike="noStrike"/>
          </a:p>
        </p:txBody>
      </p:sp>
      <p:sp>
        <p:nvSpPr>
          <p:cNvPr id="159" name="Google Shape;159;p6"/>
          <p:cNvSpPr/>
          <p:nvPr/>
        </p:nvSpPr>
        <p:spPr>
          <a:xfrm>
            <a:off x="5345549" y="3275409"/>
            <a:ext cx="2705100" cy="338138"/>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EBECEF"/>
              </a:buClr>
              <a:buSzPts val="2100"/>
              <a:buFont typeface="Fraunces Medium"/>
              <a:buNone/>
            </a:pPr>
            <a:r>
              <a:rPr b="0" i="0" lang="en-US" sz="2100" u="none" cap="none" strike="noStrike">
                <a:solidFill>
                  <a:srgbClr val="EBECEF"/>
                </a:solidFill>
                <a:latin typeface="Fraunces Medium"/>
                <a:ea typeface="Fraunces Medium"/>
                <a:cs typeface="Fraunces Medium"/>
                <a:sym typeface="Fraunces Medium"/>
              </a:rPr>
              <a:t>Respaldo Diferencial</a:t>
            </a:r>
            <a:endParaRPr b="0" i="0" sz="2100" u="none" cap="none" strike="noStrike"/>
          </a:p>
        </p:txBody>
      </p:sp>
      <p:sp>
        <p:nvSpPr>
          <p:cNvPr id="160" name="Google Shape;160;p6"/>
          <p:cNvSpPr/>
          <p:nvPr/>
        </p:nvSpPr>
        <p:spPr>
          <a:xfrm>
            <a:off x="5345549" y="3743325"/>
            <a:ext cx="8311158" cy="692467"/>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EBECEF"/>
              </a:buClr>
              <a:buSzPts val="1700"/>
              <a:buFont typeface="Epilogue"/>
              <a:buNone/>
            </a:pPr>
            <a:r>
              <a:rPr b="0" i="0" lang="en-US" sz="1700" u="none" cap="none" strike="noStrike">
                <a:solidFill>
                  <a:srgbClr val="EBECEF"/>
                </a:solidFill>
                <a:latin typeface="Epilogue"/>
                <a:ea typeface="Epilogue"/>
                <a:cs typeface="Epilogue"/>
                <a:sym typeface="Epilogue"/>
              </a:rPr>
              <a:t>Copia los cambios desde el último respaldo completo, no solo los datos nuevos.</a:t>
            </a:r>
            <a:endParaRPr b="0" i="0" sz="1700" u="none" cap="none" strike="noStrike"/>
          </a:p>
        </p:txBody>
      </p:sp>
      <p:sp>
        <p:nvSpPr>
          <p:cNvPr id="161" name="Google Shape;161;p6"/>
          <p:cNvSpPr/>
          <p:nvPr/>
        </p:nvSpPr>
        <p:spPr>
          <a:xfrm>
            <a:off x="5237321" y="4636889"/>
            <a:ext cx="8527613" cy="15240"/>
          </a:xfrm>
          <a:prstGeom prst="roundRect">
            <a:avLst>
              <a:gd fmla="val 596401" name="adj"/>
            </a:avLst>
          </a:prstGeom>
          <a:solidFill>
            <a:srgbClr val="414A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6"/>
          <p:cNvSpPr/>
          <p:nvPr/>
        </p:nvSpPr>
        <p:spPr>
          <a:xfrm>
            <a:off x="757357" y="4760238"/>
            <a:ext cx="6557843" cy="1593056"/>
          </a:xfrm>
          <a:prstGeom prst="roundRect">
            <a:avLst>
              <a:gd fmla="val 5705"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
          <p:cNvSpPr/>
          <p:nvPr/>
        </p:nvSpPr>
        <p:spPr>
          <a:xfrm>
            <a:off x="981313" y="5340310"/>
            <a:ext cx="149423" cy="432792"/>
          </a:xfrm>
          <a:prstGeom prst="rect">
            <a:avLst/>
          </a:prstGeom>
          <a:noFill/>
          <a:ln>
            <a:noFill/>
          </a:ln>
        </p:spPr>
        <p:txBody>
          <a:bodyPr anchorCtr="0" anchor="t" bIns="0" lIns="0" spcFirstLastPara="1" rIns="0" wrap="square" tIns="0">
            <a:noAutofit/>
          </a:bodyPr>
          <a:lstStyle/>
          <a:p>
            <a:pPr indent="0" lvl="0" marL="0" marR="0" rtl="0" algn="ctr">
              <a:lnSpc>
                <a:spcPct val="161904"/>
              </a:lnSpc>
              <a:spcBef>
                <a:spcPts val="0"/>
              </a:spcBef>
              <a:spcAft>
                <a:spcPts val="0"/>
              </a:spcAft>
              <a:buClr>
                <a:srgbClr val="EBECEF"/>
              </a:buClr>
              <a:buSzPts val="2100"/>
              <a:buFont typeface="Fraunces Medium"/>
              <a:buNone/>
            </a:pPr>
            <a:r>
              <a:rPr b="0" i="0" lang="en-US" sz="2100" u="none" cap="none" strike="noStrike">
                <a:solidFill>
                  <a:srgbClr val="EBECEF"/>
                </a:solidFill>
                <a:latin typeface="Fraunces Medium"/>
                <a:ea typeface="Fraunces Medium"/>
                <a:cs typeface="Fraunces Medium"/>
                <a:sym typeface="Fraunces Medium"/>
              </a:rPr>
              <a:t>3</a:t>
            </a:r>
            <a:endParaRPr b="0" i="0" sz="2100" u="none" cap="none" strike="noStrike"/>
          </a:p>
        </p:txBody>
      </p:sp>
      <p:sp>
        <p:nvSpPr>
          <p:cNvPr id="164" name="Google Shape;164;p6"/>
          <p:cNvSpPr/>
          <p:nvPr/>
        </p:nvSpPr>
        <p:spPr>
          <a:xfrm>
            <a:off x="7531537" y="4976574"/>
            <a:ext cx="2705100" cy="338138"/>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EBECEF"/>
              </a:buClr>
              <a:buSzPts val="2100"/>
              <a:buFont typeface="Fraunces Medium"/>
              <a:buNone/>
            </a:pPr>
            <a:r>
              <a:rPr b="0" i="0" lang="en-US" sz="2100" u="none" cap="none" strike="noStrike">
                <a:solidFill>
                  <a:srgbClr val="EBECEF"/>
                </a:solidFill>
                <a:latin typeface="Fraunces Medium"/>
                <a:ea typeface="Fraunces Medium"/>
                <a:cs typeface="Fraunces Medium"/>
                <a:sym typeface="Fraunces Medium"/>
              </a:rPr>
              <a:t>Restauración Rápida</a:t>
            </a:r>
            <a:endParaRPr b="0" i="0" sz="2100" u="none" cap="none" strike="noStrike"/>
          </a:p>
        </p:txBody>
      </p:sp>
      <p:sp>
        <p:nvSpPr>
          <p:cNvPr id="165" name="Google Shape;165;p6"/>
          <p:cNvSpPr/>
          <p:nvPr/>
        </p:nvSpPr>
        <p:spPr>
          <a:xfrm>
            <a:off x="7531537" y="5444490"/>
            <a:ext cx="6125170" cy="692467"/>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EBECEF"/>
              </a:buClr>
              <a:buSzPts val="1700"/>
              <a:buFont typeface="Epilogue"/>
              <a:buNone/>
            </a:pPr>
            <a:r>
              <a:rPr b="0" i="0" lang="en-US" sz="1700" u="none" cap="none" strike="noStrike">
                <a:solidFill>
                  <a:srgbClr val="EBECEF"/>
                </a:solidFill>
                <a:latin typeface="Epilogue"/>
                <a:ea typeface="Epilogue"/>
                <a:cs typeface="Epilogue"/>
                <a:sym typeface="Epilogue"/>
              </a:rPr>
              <a:t>Combinar el último respaldo completo con el diferencial para lograr una restauración más ágil.</a:t>
            </a:r>
            <a:endParaRPr b="0" i="0" sz="1700" u="none" cap="none" strike="noStrike"/>
          </a:p>
        </p:txBody>
      </p:sp>
      <p:sp>
        <p:nvSpPr>
          <p:cNvPr id="166" name="Google Shape;166;p6"/>
          <p:cNvSpPr/>
          <p:nvPr/>
        </p:nvSpPr>
        <p:spPr>
          <a:xfrm>
            <a:off x="757357" y="6596658"/>
            <a:ext cx="13115687" cy="1038701"/>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EBECEF"/>
              </a:buClr>
              <a:buSzPts val="1700"/>
              <a:buFont typeface="Epilogue"/>
              <a:buNone/>
            </a:pPr>
            <a:r>
              <a:rPr b="0" i="0" lang="en-US" sz="1700" u="none" cap="none" strike="noStrike">
                <a:solidFill>
                  <a:srgbClr val="EBECEF"/>
                </a:solidFill>
                <a:latin typeface="Epilogue"/>
                <a:ea typeface="Epilogue"/>
                <a:cs typeface="Epilogue"/>
                <a:sym typeface="Epilogue"/>
              </a:rPr>
              <a:t>Los respaldos diferenciales permiten recuperar datos de una manera más eficiente que los incrementales, al respaldar todos los cambios desde el último respaldo completo. Esto reduce el tiempo de restauración, ya que solo se necesita combinar el último respaldo completo con el diferencial.</a:t>
            </a:r>
            <a:endParaRPr b="0" i="0" sz="170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7"/>
          <p:cNvSpPr/>
          <p:nvPr/>
        </p:nvSpPr>
        <p:spPr>
          <a:xfrm>
            <a:off x="793790" y="1133475"/>
            <a:ext cx="10007441"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FFF"/>
              </a:buClr>
              <a:buSzPts val="4450"/>
              <a:buFont typeface="Fraunces Medium"/>
              <a:buNone/>
            </a:pPr>
            <a:r>
              <a:rPr b="0" i="0" lang="en-US" sz="4450" u="none" cap="none" strike="noStrike">
                <a:solidFill>
                  <a:srgbClr val="FFFFFF"/>
                </a:solidFill>
                <a:latin typeface="Fraunces Medium"/>
                <a:ea typeface="Fraunces Medium"/>
                <a:cs typeface="Fraunces Medium"/>
                <a:sym typeface="Fraunces Medium"/>
              </a:rPr>
              <a:t>Técnicas Avanzadas de Recuperación</a:t>
            </a:r>
            <a:endParaRPr b="0" i="0" sz="4450" u="none" cap="none" strike="noStrike"/>
          </a:p>
        </p:txBody>
      </p:sp>
      <p:pic>
        <p:nvPicPr>
          <p:cNvPr descr="preencoded.png" id="173" name="Google Shape;173;p7"/>
          <p:cNvPicPr preferRelativeResize="0"/>
          <p:nvPr/>
        </p:nvPicPr>
        <p:blipFill rotWithShape="1">
          <a:blip r:embed="rId3">
            <a:alphaModFix/>
          </a:blip>
          <a:srcRect b="0" l="0" r="0" t="0"/>
          <a:stretch/>
        </p:blipFill>
        <p:spPr>
          <a:xfrm>
            <a:off x="793790" y="2295882"/>
            <a:ext cx="3005495" cy="1857494"/>
          </a:xfrm>
          <a:prstGeom prst="rect">
            <a:avLst/>
          </a:prstGeom>
          <a:noFill/>
          <a:ln>
            <a:noFill/>
          </a:ln>
        </p:spPr>
      </p:pic>
      <p:sp>
        <p:nvSpPr>
          <p:cNvPr id="174" name="Google Shape;174;p7"/>
          <p:cNvSpPr/>
          <p:nvPr/>
        </p:nvSpPr>
        <p:spPr>
          <a:xfrm>
            <a:off x="793790" y="4436864"/>
            <a:ext cx="3005495"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2200"/>
              <a:buFont typeface="Fraunces Medium"/>
              <a:buNone/>
            </a:pPr>
            <a:r>
              <a:rPr b="0" i="0" lang="en-US" sz="2200" u="none" cap="none" strike="noStrike">
                <a:solidFill>
                  <a:srgbClr val="EBECEF"/>
                </a:solidFill>
                <a:latin typeface="Fraunces Medium"/>
                <a:ea typeface="Fraunces Medium"/>
                <a:cs typeface="Fraunces Medium"/>
                <a:sym typeface="Fraunces Medium"/>
              </a:rPr>
              <a:t>Respaldos Multiservidor</a:t>
            </a:r>
            <a:endParaRPr b="0" i="0" sz="2200" u="none" cap="none" strike="noStrike"/>
          </a:p>
        </p:txBody>
      </p:sp>
      <p:sp>
        <p:nvSpPr>
          <p:cNvPr id="175" name="Google Shape;175;p7"/>
          <p:cNvSpPr/>
          <p:nvPr/>
        </p:nvSpPr>
        <p:spPr>
          <a:xfrm>
            <a:off x="793790" y="5281613"/>
            <a:ext cx="3005495"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Implementar respaldos en múltiples servidores redundantes para mayor disponibilidad y seguridad de los datos.</a:t>
            </a:r>
            <a:endParaRPr b="0" i="0" sz="1750" u="none" cap="none" strike="noStrike"/>
          </a:p>
        </p:txBody>
      </p:sp>
      <p:pic>
        <p:nvPicPr>
          <p:cNvPr descr="preencoded.png" id="176" name="Google Shape;176;p7"/>
          <p:cNvPicPr preferRelativeResize="0"/>
          <p:nvPr/>
        </p:nvPicPr>
        <p:blipFill rotWithShape="1">
          <a:blip r:embed="rId4">
            <a:alphaModFix/>
          </a:blip>
          <a:srcRect b="0" l="0" r="0" t="0"/>
          <a:stretch/>
        </p:blipFill>
        <p:spPr>
          <a:xfrm>
            <a:off x="4139446" y="2295882"/>
            <a:ext cx="3005614" cy="1857494"/>
          </a:xfrm>
          <a:prstGeom prst="rect">
            <a:avLst/>
          </a:prstGeom>
          <a:noFill/>
          <a:ln>
            <a:noFill/>
          </a:ln>
        </p:spPr>
      </p:pic>
      <p:sp>
        <p:nvSpPr>
          <p:cNvPr id="177" name="Google Shape;177;p7"/>
          <p:cNvSpPr/>
          <p:nvPr/>
        </p:nvSpPr>
        <p:spPr>
          <a:xfrm>
            <a:off x="4139446" y="4436864"/>
            <a:ext cx="300561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2200"/>
              <a:buFont typeface="Fraunces Medium"/>
              <a:buNone/>
            </a:pPr>
            <a:r>
              <a:rPr b="0" i="0" lang="en-US" sz="2200" u="none" cap="none" strike="noStrike">
                <a:solidFill>
                  <a:srgbClr val="EBECEF"/>
                </a:solidFill>
                <a:latin typeface="Fraunces Medium"/>
                <a:ea typeface="Fraunces Medium"/>
                <a:cs typeface="Fraunces Medium"/>
                <a:sym typeface="Fraunces Medium"/>
              </a:rPr>
              <a:t>Recuperación por Etapas</a:t>
            </a:r>
            <a:endParaRPr b="0" i="0" sz="2200" u="none" cap="none" strike="noStrike"/>
          </a:p>
        </p:txBody>
      </p:sp>
      <p:sp>
        <p:nvSpPr>
          <p:cNvPr id="178" name="Google Shape;178;p7"/>
          <p:cNvSpPr/>
          <p:nvPr/>
        </p:nvSpPr>
        <p:spPr>
          <a:xfrm>
            <a:off x="4139446" y="5281613"/>
            <a:ext cx="3005614"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Utilizar técnicas de recuperación por pasos que permiten reconstruir los datos de manera gradual y controlada.</a:t>
            </a:r>
            <a:endParaRPr b="0" i="0" sz="1750" u="none" cap="none" strike="noStrike"/>
          </a:p>
        </p:txBody>
      </p:sp>
      <p:pic>
        <p:nvPicPr>
          <p:cNvPr descr="preencoded.png" id="179" name="Google Shape;179;p7"/>
          <p:cNvPicPr preferRelativeResize="0"/>
          <p:nvPr/>
        </p:nvPicPr>
        <p:blipFill rotWithShape="1">
          <a:blip r:embed="rId5">
            <a:alphaModFix/>
          </a:blip>
          <a:srcRect b="0" l="0" r="0" t="0"/>
          <a:stretch/>
        </p:blipFill>
        <p:spPr>
          <a:xfrm>
            <a:off x="7485221" y="2295882"/>
            <a:ext cx="3005614" cy="1857494"/>
          </a:xfrm>
          <a:prstGeom prst="rect">
            <a:avLst/>
          </a:prstGeom>
          <a:noFill/>
          <a:ln>
            <a:noFill/>
          </a:ln>
        </p:spPr>
      </p:pic>
      <p:sp>
        <p:nvSpPr>
          <p:cNvPr id="180" name="Google Shape;180;p7"/>
          <p:cNvSpPr/>
          <p:nvPr/>
        </p:nvSpPr>
        <p:spPr>
          <a:xfrm>
            <a:off x="7485221" y="4436864"/>
            <a:ext cx="300561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2200"/>
              <a:buFont typeface="Fraunces Medium"/>
              <a:buNone/>
            </a:pPr>
            <a:r>
              <a:rPr b="0" i="0" lang="en-US" sz="2200" u="none" cap="none" strike="noStrike">
                <a:solidFill>
                  <a:srgbClr val="EBECEF"/>
                </a:solidFill>
                <a:latin typeface="Fraunces Medium"/>
                <a:ea typeface="Fraunces Medium"/>
                <a:cs typeface="Fraunces Medium"/>
                <a:sym typeface="Fraunces Medium"/>
              </a:rPr>
              <a:t>Integración de Herramientas</a:t>
            </a:r>
            <a:endParaRPr b="0" i="0" sz="2200" u="none" cap="none" strike="noStrike"/>
          </a:p>
        </p:txBody>
      </p:sp>
      <p:sp>
        <p:nvSpPr>
          <p:cNvPr id="181" name="Google Shape;181;p7"/>
          <p:cNvSpPr/>
          <p:nvPr/>
        </p:nvSpPr>
        <p:spPr>
          <a:xfrm>
            <a:off x="7485221" y="5281613"/>
            <a:ext cx="3005614"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Combinar soluciones de respaldo, cifrado y recuperación para un proceso más integral y eficiente.</a:t>
            </a:r>
            <a:endParaRPr b="0" i="0" sz="1750" u="none" cap="none" strike="noStrike"/>
          </a:p>
        </p:txBody>
      </p:sp>
      <p:pic>
        <p:nvPicPr>
          <p:cNvPr descr="preencoded.png" id="182" name="Google Shape;182;p7"/>
          <p:cNvPicPr preferRelativeResize="0"/>
          <p:nvPr/>
        </p:nvPicPr>
        <p:blipFill rotWithShape="1">
          <a:blip r:embed="rId6">
            <a:alphaModFix/>
          </a:blip>
          <a:srcRect b="0" l="0" r="0" t="0"/>
          <a:stretch/>
        </p:blipFill>
        <p:spPr>
          <a:xfrm>
            <a:off x="10830997" y="2295882"/>
            <a:ext cx="3005614" cy="1857494"/>
          </a:xfrm>
          <a:prstGeom prst="rect">
            <a:avLst/>
          </a:prstGeom>
          <a:noFill/>
          <a:ln>
            <a:noFill/>
          </a:ln>
        </p:spPr>
      </p:pic>
      <p:sp>
        <p:nvSpPr>
          <p:cNvPr id="183" name="Google Shape;183;p7"/>
          <p:cNvSpPr/>
          <p:nvPr/>
        </p:nvSpPr>
        <p:spPr>
          <a:xfrm>
            <a:off x="10830997" y="4436864"/>
            <a:ext cx="300561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2200"/>
              <a:buFont typeface="Fraunces Medium"/>
              <a:buNone/>
            </a:pPr>
            <a:r>
              <a:rPr b="0" i="0" lang="en-US" sz="2200" u="none" cap="none" strike="noStrike">
                <a:solidFill>
                  <a:srgbClr val="EBECEF"/>
                </a:solidFill>
                <a:latin typeface="Fraunces Medium"/>
                <a:ea typeface="Fraunces Medium"/>
                <a:cs typeface="Fraunces Medium"/>
                <a:sym typeface="Fraunces Medium"/>
              </a:rPr>
              <a:t>Recuperación desde la Nube</a:t>
            </a:r>
            <a:endParaRPr b="0" i="0" sz="2200" u="none" cap="none" strike="noStrike"/>
          </a:p>
        </p:txBody>
      </p:sp>
      <p:sp>
        <p:nvSpPr>
          <p:cNvPr id="184" name="Google Shape;184;p7"/>
          <p:cNvSpPr/>
          <p:nvPr/>
        </p:nvSpPr>
        <p:spPr>
          <a:xfrm>
            <a:off x="10830997" y="5281613"/>
            <a:ext cx="3005614"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Aprovechar la capacidad de almacenamiento y procesamiento en la nube para agilizar la recuperación de datos.</a:t>
            </a:r>
            <a:endParaRPr b="0" i="0" sz="17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descr="preencoded.png" id="190" name="Google Shape;190;p8"/>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191" name="Google Shape;191;p8"/>
          <p:cNvPicPr preferRelativeResize="0"/>
          <p:nvPr/>
        </p:nvPicPr>
        <p:blipFill rotWithShape="1">
          <a:blip r:embed="rId4">
            <a:alphaModFix/>
          </a:blip>
          <a:srcRect b="0" l="0" r="0" t="0"/>
          <a:stretch/>
        </p:blipFill>
        <p:spPr>
          <a:xfrm>
            <a:off x="9427607" y="2577465"/>
            <a:ext cx="4919186" cy="3074551"/>
          </a:xfrm>
          <a:prstGeom prst="rect">
            <a:avLst/>
          </a:prstGeom>
          <a:noFill/>
          <a:ln>
            <a:noFill/>
          </a:ln>
        </p:spPr>
      </p:pic>
      <p:sp>
        <p:nvSpPr>
          <p:cNvPr id="192" name="Google Shape;192;p8"/>
          <p:cNvSpPr/>
          <p:nvPr/>
        </p:nvSpPr>
        <p:spPr>
          <a:xfrm>
            <a:off x="793790" y="1656755"/>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FFF"/>
              </a:buClr>
              <a:buSzPts val="4450"/>
              <a:buFont typeface="Fraunces Medium"/>
              <a:buNone/>
            </a:pPr>
            <a:r>
              <a:rPr b="0" i="0" lang="en-US" sz="4450" u="none" cap="none" strike="noStrike">
                <a:solidFill>
                  <a:srgbClr val="FFFFFF"/>
                </a:solidFill>
                <a:latin typeface="Fraunces Medium"/>
                <a:ea typeface="Fraunces Medium"/>
                <a:cs typeface="Fraunces Medium"/>
                <a:sym typeface="Fraunces Medium"/>
              </a:rPr>
              <a:t>Simulación de Pérdida de Datos</a:t>
            </a:r>
            <a:endParaRPr b="0" i="0" sz="4450" u="none" cap="none" strike="noStrike"/>
          </a:p>
        </p:txBody>
      </p:sp>
      <p:sp>
        <p:nvSpPr>
          <p:cNvPr id="193" name="Google Shape;193;p8"/>
          <p:cNvSpPr/>
          <p:nvPr/>
        </p:nvSpPr>
        <p:spPr>
          <a:xfrm>
            <a:off x="793790" y="3414474"/>
            <a:ext cx="7556421"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La simulación de pérdida de datos es una práctica esencial para evaluar la efectividad de los planes de recuperación y respaldar los procesos críticos de una organización. Al crear escenarios de fallo controlados, se puede probar la capacidad de un sistema para restaurar datos y operaciones de manera oportuna y confiable.</a:t>
            </a:r>
            <a:endParaRPr b="0" i="0" sz="1750" u="none" cap="none" strike="noStrike"/>
          </a:p>
        </p:txBody>
      </p:sp>
      <p:sp>
        <p:nvSpPr>
          <p:cNvPr id="194" name="Google Shape;194;p8"/>
          <p:cNvSpPr/>
          <p:nvPr/>
        </p:nvSpPr>
        <p:spPr>
          <a:xfrm>
            <a:off x="793790" y="5484138"/>
            <a:ext cx="7556421"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Estas simulaciones ayudan a identificar debilidades en los planes de recuperación, permitiendo realizar mejoras y asegurar la continuidad del negocio en caso de incidentes reales.</a:t>
            </a:r>
            <a:endParaRPr b="0" i="0" sz="175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descr="preencoded.png" id="200" name="Google Shape;200;p9"/>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201" name="Google Shape;201;p9"/>
          <p:cNvPicPr preferRelativeResize="0"/>
          <p:nvPr/>
        </p:nvPicPr>
        <p:blipFill rotWithShape="1">
          <a:blip r:embed="rId4">
            <a:alphaModFix/>
          </a:blip>
          <a:srcRect b="0" l="0" r="0" t="0"/>
          <a:stretch/>
        </p:blipFill>
        <p:spPr>
          <a:xfrm>
            <a:off x="9396055" y="2636639"/>
            <a:ext cx="4982289" cy="2956203"/>
          </a:xfrm>
          <a:prstGeom prst="rect">
            <a:avLst/>
          </a:prstGeom>
          <a:noFill/>
          <a:ln>
            <a:noFill/>
          </a:ln>
        </p:spPr>
      </p:pic>
      <p:sp>
        <p:nvSpPr>
          <p:cNvPr id="202" name="Google Shape;202;p9"/>
          <p:cNvSpPr/>
          <p:nvPr/>
        </p:nvSpPr>
        <p:spPr>
          <a:xfrm>
            <a:off x="705683" y="757357"/>
            <a:ext cx="7480340" cy="630079"/>
          </a:xfrm>
          <a:prstGeom prst="rect">
            <a:avLst/>
          </a:prstGeom>
          <a:noFill/>
          <a:ln>
            <a:noFill/>
          </a:ln>
        </p:spPr>
        <p:txBody>
          <a:bodyPr anchorCtr="0" anchor="t" bIns="0" lIns="0" spcFirstLastPara="1" rIns="0" wrap="square" tIns="0">
            <a:noAutofit/>
          </a:bodyPr>
          <a:lstStyle/>
          <a:p>
            <a:pPr indent="0" lvl="0" marL="0" marR="0" rtl="0" algn="l">
              <a:lnSpc>
                <a:spcPct val="125316"/>
              </a:lnSpc>
              <a:spcBef>
                <a:spcPts val="0"/>
              </a:spcBef>
              <a:spcAft>
                <a:spcPts val="0"/>
              </a:spcAft>
              <a:buClr>
                <a:srgbClr val="FFFFFF"/>
              </a:buClr>
              <a:buSzPts val="3950"/>
              <a:buFont typeface="Fraunces Medium"/>
              <a:buNone/>
            </a:pPr>
            <a:r>
              <a:rPr b="0" i="0" lang="en-US" sz="3950" u="none" cap="none" strike="noStrike">
                <a:solidFill>
                  <a:srgbClr val="FFFFFF"/>
                </a:solidFill>
                <a:latin typeface="Fraunces Medium"/>
                <a:ea typeface="Fraunces Medium"/>
                <a:cs typeface="Fraunces Medium"/>
                <a:sym typeface="Fraunces Medium"/>
              </a:rPr>
              <a:t>Herramientas de Recuperación</a:t>
            </a:r>
            <a:endParaRPr b="0" i="0" sz="3950" u="none" cap="none" strike="noStrike"/>
          </a:p>
        </p:txBody>
      </p:sp>
      <p:pic>
        <p:nvPicPr>
          <p:cNvPr descr="preencoded.png" id="203" name="Google Shape;203;p9"/>
          <p:cNvPicPr preferRelativeResize="0"/>
          <p:nvPr/>
        </p:nvPicPr>
        <p:blipFill rotWithShape="1">
          <a:blip r:embed="rId5">
            <a:alphaModFix/>
          </a:blip>
          <a:srcRect b="0" l="0" r="0" t="0"/>
          <a:stretch/>
        </p:blipFill>
        <p:spPr>
          <a:xfrm>
            <a:off x="705683" y="1689854"/>
            <a:ext cx="503992" cy="503992"/>
          </a:xfrm>
          <a:prstGeom prst="rect">
            <a:avLst/>
          </a:prstGeom>
          <a:noFill/>
          <a:ln>
            <a:noFill/>
          </a:ln>
        </p:spPr>
      </p:pic>
      <p:sp>
        <p:nvSpPr>
          <p:cNvPr id="204" name="Google Shape;204;p9"/>
          <p:cNvSpPr/>
          <p:nvPr/>
        </p:nvSpPr>
        <p:spPr>
          <a:xfrm>
            <a:off x="705683" y="2395418"/>
            <a:ext cx="2594253" cy="315039"/>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Software de Respaldo</a:t>
            </a:r>
            <a:endParaRPr b="0" i="0" sz="1950" u="none" cap="none" strike="noStrike"/>
          </a:p>
        </p:txBody>
      </p:sp>
      <p:sp>
        <p:nvSpPr>
          <p:cNvPr id="205" name="Google Shape;205;p9"/>
          <p:cNvSpPr/>
          <p:nvPr/>
        </p:nvSpPr>
        <p:spPr>
          <a:xfrm>
            <a:off x="705683" y="2831425"/>
            <a:ext cx="3715107" cy="967264"/>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EBECEF"/>
              </a:buClr>
              <a:buSzPts val="1550"/>
              <a:buFont typeface="Epilogue"/>
              <a:buNone/>
            </a:pPr>
            <a:r>
              <a:rPr b="0" i="0" lang="en-US" sz="1550" u="none" cap="none" strike="noStrike">
                <a:solidFill>
                  <a:srgbClr val="EBECEF"/>
                </a:solidFill>
                <a:latin typeface="Epilogue"/>
                <a:ea typeface="Epilogue"/>
                <a:cs typeface="Epilogue"/>
                <a:sym typeface="Epilogue"/>
              </a:rPr>
              <a:t>Programas especializados para crear y administrar respaldos de datos, como Veeam, Acronis o Veritas.</a:t>
            </a:r>
            <a:endParaRPr b="0" i="0" sz="1550" u="none" cap="none" strike="noStrike"/>
          </a:p>
        </p:txBody>
      </p:sp>
      <p:pic>
        <p:nvPicPr>
          <p:cNvPr descr="preencoded.png" id="206" name="Google Shape;206;p9"/>
          <p:cNvPicPr preferRelativeResize="0"/>
          <p:nvPr/>
        </p:nvPicPr>
        <p:blipFill rotWithShape="1">
          <a:blip r:embed="rId6">
            <a:alphaModFix/>
          </a:blip>
          <a:srcRect b="0" l="0" r="0" t="0"/>
          <a:stretch/>
        </p:blipFill>
        <p:spPr>
          <a:xfrm>
            <a:off x="4723209" y="1689854"/>
            <a:ext cx="503992" cy="503992"/>
          </a:xfrm>
          <a:prstGeom prst="rect">
            <a:avLst/>
          </a:prstGeom>
          <a:noFill/>
          <a:ln>
            <a:noFill/>
          </a:ln>
        </p:spPr>
      </p:pic>
      <p:sp>
        <p:nvSpPr>
          <p:cNvPr id="207" name="Google Shape;207;p9"/>
          <p:cNvSpPr/>
          <p:nvPr/>
        </p:nvSpPr>
        <p:spPr>
          <a:xfrm>
            <a:off x="4723209" y="2395418"/>
            <a:ext cx="3715107" cy="630079"/>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Herramientas de Recuperación</a:t>
            </a:r>
            <a:endParaRPr b="0" i="0" sz="1950" u="none" cap="none" strike="noStrike"/>
          </a:p>
        </p:txBody>
      </p:sp>
      <p:sp>
        <p:nvSpPr>
          <p:cNvPr id="208" name="Google Shape;208;p9"/>
          <p:cNvSpPr/>
          <p:nvPr/>
        </p:nvSpPr>
        <p:spPr>
          <a:xfrm>
            <a:off x="4723209" y="3146465"/>
            <a:ext cx="3715107" cy="1289685"/>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EBECEF"/>
              </a:buClr>
              <a:buSzPts val="1550"/>
              <a:buFont typeface="Epilogue"/>
              <a:buNone/>
            </a:pPr>
            <a:r>
              <a:rPr b="0" i="0" lang="en-US" sz="1550" u="none" cap="none" strike="noStrike">
                <a:solidFill>
                  <a:srgbClr val="EBECEF"/>
                </a:solidFill>
                <a:latin typeface="Epilogue"/>
                <a:ea typeface="Epilogue"/>
                <a:cs typeface="Epilogue"/>
                <a:sym typeface="Epilogue"/>
              </a:rPr>
              <a:t>Utilidades que permiten restaurar datos perdidos o dañados a partir de respaldos, como DataRecovery o Recuva.</a:t>
            </a:r>
            <a:endParaRPr b="0" i="0" sz="1550" u="none" cap="none" strike="noStrike"/>
          </a:p>
        </p:txBody>
      </p:sp>
      <p:pic>
        <p:nvPicPr>
          <p:cNvPr descr="preencoded.png" id="209" name="Google Shape;209;p9"/>
          <p:cNvPicPr preferRelativeResize="0"/>
          <p:nvPr/>
        </p:nvPicPr>
        <p:blipFill rotWithShape="1">
          <a:blip r:embed="rId7">
            <a:alphaModFix/>
          </a:blip>
          <a:srcRect b="0" l="0" r="0" t="0"/>
          <a:stretch/>
        </p:blipFill>
        <p:spPr>
          <a:xfrm>
            <a:off x="705683" y="5040987"/>
            <a:ext cx="503992" cy="503992"/>
          </a:xfrm>
          <a:prstGeom prst="rect">
            <a:avLst/>
          </a:prstGeom>
          <a:noFill/>
          <a:ln>
            <a:noFill/>
          </a:ln>
        </p:spPr>
      </p:pic>
      <p:sp>
        <p:nvSpPr>
          <p:cNvPr id="210" name="Google Shape;210;p9"/>
          <p:cNvSpPr/>
          <p:nvPr/>
        </p:nvSpPr>
        <p:spPr>
          <a:xfrm>
            <a:off x="705683" y="5746552"/>
            <a:ext cx="2989659" cy="315039"/>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Gestión de Base de Datos</a:t>
            </a:r>
            <a:endParaRPr b="0" i="0" sz="1950" u="none" cap="none" strike="noStrike"/>
          </a:p>
        </p:txBody>
      </p:sp>
      <p:sp>
        <p:nvSpPr>
          <p:cNvPr id="211" name="Google Shape;211;p9"/>
          <p:cNvSpPr/>
          <p:nvPr/>
        </p:nvSpPr>
        <p:spPr>
          <a:xfrm>
            <a:off x="705683" y="6182558"/>
            <a:ext cx="3715107" cy="1289685"/>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EBECEF"/>
              </a:buClr>
              <a:buSzPts val="1550"/>
              <a:buFont typeface="Epilogue"/>
              <a:buNone/>
            </a:pPr>
            <a:r>
              <a:rPr b="0" i="0" lang="en-US" sz="1550" u="none" cap="none" strike="noStrike">
                <a:solidFill>
                  <a:srgbClr val="EBECEF"/>
                </a:solidFill>
                <a:latin typeface="Epilogue"/>
                <a:ea typeface="Epilogue"/>
                <a:cs typeface="Epilogue"/>
                <a:sym typeface="Epilogue"/>
              </a:rPr>
              <a:t>Herramientas como phpMyAdmin o SQL Server Management Studio para administrar y recuperar bases de datos.</a:t>
            </a:r>
            <a:endParaRPr b="0" i="0" sz="1550" u="none" cap="none" strike="noStrike"/>
          </a:p>
        </p:txBody>
      </p:sp>
      <p:pic>
        <p:nvPicPr>
          <p:cNvPr descr="preencoded.png" id="212" name="Google Shape;212;p9"/>
          <p:cNvPicPr preferRelativeResize="0"/>
          <p:nvPr/>
        </p:nvPicPr>
        <p:blipFill rotWithShape="1">
          <a:blip r:embed="rId8">
            <a:alphaModFix/>
          </a:blip>
          <a:srcRect b="0" l="0" r="0" t="0"/>
          <a:stretch/>
        </p:blipFill>
        <p:spPr>
          <a:xfrm>
            <a:off x="4723209" y="5040987"/>
            <a:ext cx="503992" cy="503992"/>
          </a:xfrm>
          <a:prstGeom prst="rect">
            <a:avLst/>
          </a:prstGeom>
          <a:noFill/>
          <a:ln>
            <a:noFill/>
          </a:ln>
        </p:spPr>
      </p:pic>
      <p:sp>
        <p:nvSpPr>
          <p:cNvPr id="213" name="Google Shape;213;p9"/>
          <p:cNvSpPr/>
          <p:nvPr/>
        </p:nvSpPr>
        <p:spPr>
          <a:xfrm>
            <a:off x="4723209" y="5746552"/>
            <a:ext cx="3362087" cy="315039"/>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Almacenamiento en la Nube</a:t>
            </a:r>
            <a:endParaRPr b="0" i="0" sz="1950" u="none" cap="none" strike="noStrike"/>
          </a:p>
        </p:txBody>
      </p:sp>
      <p:sp>
        <p:nvSpPr>
          <p:cNvPr id="214" name="Google Shape;214;p9"/>
          <p:cNvSpPr/>
          <p:nvPr/>
        </p:nvSpPr>
        <p:spPr>
          <a:xfrm>
            <a:off x="4723209" y="6182558"/>
            <a:ext cx="3715107" cy="1289685"/>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EBECEF"/>
              </a:buClr>
              <a:buSzPts val="1550"/>
              <a:buFont typeface="Epilogue"/>
              <a:buNone/>
            </a:pPr>
            <a:r>
              <a:rPr b="0" i="0" lang="en-US" sz="1550" u="none" cap="none" strike="noStrike">
                <a:solidFill>
                  <a:srgbClr val="EBECEF"/>
                </a:solidFill>
                <a:latin typeface="Epilogue"/>
                <a:ea typeface="Epilogue"/>
                <a:cs typeface="Epilogue"/>
                <a:sym typeface="Epilogue"/>
              </a:rPr>
              <a:t>Servicios en línea como Google Drive, Dropbox o OneDrive que permiten respaldar y recuperar datos remotamente.</a:t>
            </a:r>
            <a:endParaRPr b="0" i="0" sz="155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0"/>
          <p:cNvSpPr/>
          <p:nvPr/>
        </p:nvSpPr>
        <p:spPr>
          <a:xfrm>
            <a:off x="529947" y="1142881"/>
            <a:ext cx="6998256" cy="473273"/>
          </a:xfrm>
          <a:prstGeom prst="rect">
            <a:avLst/>
          </a:prstGeom>
          <a:noFill/>
          <a:ln>
            <a:noFill/>
          </a:ln>
        </p:spPr>
        <p:txBody>
          <a:bodyPr anchorCtr="0" anchor="t" bIns="0" lIns="0" spcFirstLastPara="1" rIns="0" wrap="square" tIns="0">
            <a:noAutofit/>
          </a:bodyPr>
          <a:lstStyle/>
          <a:p>
            <a:pPr indent="0" lvl="0" marL="0" marR="0" rtl="0" algn="l">
              <a:lnSpc>
                <a:spcPct val="125423"/>
              </a:lnSpc>
              <a:spcBef>
                <a:spcPts val="0"/>
              </a:spcBef>
              <a:spcAft>
                <a:spcPts val="0"/>
              </a:spcAft>
              <a:buClr>
                <a:srgbClr val="FFFFFF"/>
              </a:buClr>
              <a:buSzPts val="2950"/>
              <a:buFont typeface="Fraunces Medium"/>
              <a:buNone/>
            </a:pPr>
            <a:r>
              <a:rPr b="0" i="0" lang="en-US" sz="2950" u="none" cap="none" strike="noStrike">
                <a:solidFill>
                  <a:srgbClr val="FFFFFF"/>
                </a:solidFill>
                <a:latin typeface="Fraunces Medium"/>
                <a:ea typeface="Fraunces Medium"/>
                <a:cs typeface="Fraunces Medium"/>
                <a:sym typeface="Fraunces Medium"/>
              </a:rPr>
              <a:t>Caso Práctico: Recuperación ante Fallo</a:t>
            </a:r>
            <a:endParaRPr b="0" i="0" sz="2950" u="none" cap="none" strike="noStrike"/>
          </a:p>
        </p:txBody>
      </p:sp>
      <p:pic>
        <p:nvPicPr>
          <p:cNvPr descr="preencoded.png" id="221" name="Google Shape;221;p10"/>
          <p:cNvPicPr preferRelativeResize="0"/>
          <p:nvPr/>
        </p:nvPicPr>
        <p:blipFill rotWithShape="1">
          <a:blip r:embed="rId3">
            <a:alphaModFix/>
          </a:blip>
          <a:srcRect b="0" l="0" r="0" t="0"/>
          <a:stretch/>
        </p:blipFill>
        <p:spPr>
          <a:xfrm>
            <a:off x="3250763" y="1918930"/>
            <a:ext cx="1343382" cy="872371"/>
          </a:xfrm>
          <a:prstGeom prst="rect">
            <a:avLst/>
          </a:prstGeom>
          <a:noFill/>
          <a:ln>
            <a:noFill/>
          </a:ln>
        </p:spPr>
      </p:pic>
      <p:sp>
        <p:nvSpPr>
          <p:cNvPr id="222" name="Google Shape;222;p10"/>
          <p:cNvSpPr/>
          <p:nvPr/>
        </p:nvSpPr>
        <p:spPr>
          <a:xfrm>
            <a:off x="3879056" y="2311718"/>
            <a:ext cx="86797" cy="302895"/>
          </a:xfrm>
          <a:prstGeom prst="rect">
            <a:avLst/>
          </a:prstGeom>
          <a:noFill/>
          <a:ln>
            <a:noFill/>
          </a:ln>
        </p:spPr>
        <p:txBody>
          <a:bodyPr anchorCtr="0" anchor="t" bIns="0" lIns="0" spcFirstLastPara="1" rIns="0" wrap="square" tIns="0">
            <a:noAutofit/>
          </a:bodyPr>
          <a:lstStyle/>
          <a:p>
            <a:pPr indent="0" lvl="0" marL="0" marR="0" rtl="0" algn="ctr">
              <a:lnSpc>
                <a:spcPct val="162068"/>
              </a:lnSpc>
              <a:spcBef>
                <a:spcPts val="0"/>
              </a:spcBef>
              <a:spcAft>
                <a:spcPts val="0"/>
              </a:spcAft>
              <a:buClr>
                <a:srgbClr val="EBECEF"/>
              </a:buClr>
              <a:buSzPts val="1450"/>
              <a:buFont typeface="Fraunces Medium"/>
              <a:buNone/>
            </a:pPr>
            <a:r>
              <a:rPr b="0" i="0" lang="en-US" sz="1450" u="none" cap="none" strike="noStrike">
                <a:solidFill>
                  <a:srgbClr val="EBECEF"/>
                </a:solidFill>
                <a:latin typeface="Fraunces Medium"/>
                <a:ea typeface="Fraunces Medium"/>
                <a:cs typeface="Fraunces Medium"/>
                <a:sym typeface="Fraunces Medium"/>
              </a:rPr>
              <a:t>1</a:t>
            </a:r>
            <a:endParaRPr b="0" i="0" sz="1450" u="none" cap="none" strike="noStrike"/>
          </a:p>
        </p:txBody>
      </p:sp>
      <p:sp>
        <p:nvSpPr>
          <p:cNvPr id="223" name="Google Shape;223;p10"/>
          <p:cNvSpPr/>
          <p:nvPr/>
        </p:nvSpPr>
        <p:spPr>
          <a:xfrm>
            <a:off x="4745474" y="2070259"/>
            <a:ext cx="1892975" cy="236577"/>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EBECEF"/>
              </a:buClr>
              <a:buSzPts val="1450"/>
              <a:buFont typeface="Fraunces Medium"/>
              <a:buNone/>
            </a:pPr>
            <a:r>
              <a:rPr b="0" i="0" lang="en-US" sz="1450" u="none" cap="none" strike="noStrike">
                <a:solidFill>
                  <a:srgbClr val="EBECEF"/>
                </a:solidFill>
                <a:latin typeface="Fraunces Medium"/>
                <a:ea typeface="Fraunces Medium"/>
                <a:cs typeface="Fraunces Medium"/>
                <a:sym typeface="Fraunces Medium"/>
              </a:rPr>
              <a:t>Diagnóstico</a:t>
            </a:r>
            <a:endParaRPr b="0" i="0" sz="1450" u="none" cap="none" strike="noStrike"/>
          </a:p>
        </p:txBody>
      </p:sp>
      <p:sp>
        <p:nvSpPr>
          <p:cNvPr id="224" name="Google Shape;224;p10"/>
          <p:cNvSpPr/>
          <p:nvPr/>
        </p:nvSpPr>
        <p:spPr>
          <a:xfrm>
            <a:off x="4745474" y="2397681"/>
            <a:ext cx="4534138" cy="242292"/>
          </a:xfrm>
          <a:prstGeom prst="rect">
            <a:avLst/>
          </a:prstGeom>
          <a:noFill/>
          <a:ln>
            <a:noFill/>
          </a:ln>
        </p:spPr>
        <p:txBody>
          <a:bodyPr anchorCtr="0" anchor="t" bIns="0" lIns="0" spcFirstLastPara="1" rIns="0" wrap="square" tIns="0">
            <a:noAutofit/>
          </a:bodyPr>
          <a:lstStyle/>
          <a:p>
            <a:pPr indent="0" lvl="0" marL="0" marR="0" rtl="0" algn="l">
              <a:lnSpc>
                <a:spcPct val="165217"/>
              </a:lnSpc>
              <a:spcBef>
                <a:spcPts val="0"/>
              </a:spcBef>
              <a:spcAft>
                <a:spcPts val="0"/>
              </a:spcAft>
              <a:buClr>
                <a:srgbClr val="EBECEF"/>
              </a:buClr>
              <a:buSzPts val="1150"/>
              <a:buFont typeface="Epilogue"/>
              <a:buNone/>
            </a:pPr>
            <a:r>
              <a:rPr b="0" i="0" lang="en-US" sz="1150" u="none" cap="none" strike="noStrike">
                <a:solidFill>
                  <a:srgbClr val="EBECEF"/>
                </a:solidFill>
                <a:latin typeface="Epilogue"/>
                <a:ea typeface="Epilogue"/>
                <a:cs typeface="Epilogue"/>
                <a:sym typeface="Epilogue"/>
              </a:rPr>
              <a:t>Identificar la causa y el alcance del fallo en la base de datos.</a:t>
            </a:r>
            <a:endParaRPr b="0" i="0" sz="1150" u="none" cap="none" strike="noStrike"/>
          </a:p>
        </p:txBody>
      </p:sp>
      <p:sp>
        <p:nvSpPr>
          <p:cNvPr id="225" name="Google Shape;225;p10"/>
          <p:cNvSpPr/>
          <p:nvPr/>
        </p:nvSpPr>
        <p:spPr>
          <a:xfrm>
            <a:off x="4631888" y="2806303"/>
            <a:ext cx="9430822" cy="7620"/>
          </a:xfrm>
          <a:prstGeom prst="roundRect">
            <a:avLst>
              <a:gd fmla="val 834739" name="adj"/>
            </a:avLst>
          </a:prstGeom>
          <a:solidFill>
            <a:srgbClr val="414A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6" name="Google Shape;226;p10"/>
          <p:cNvPicPr preferRelativeResize="0"/>
          <p:nvPr/>
        </p:nvPicPr>
        <p:blipFill rotWithShape="1">
          <a:blip r:embed="rId4">
            <a:alphaModFix/>
          </a:blip>
          <a:srcRect b="0" l="0" r="0" t="0"/>
          <a:stretch/>
        </p:blipFill>
        <p:spPr>
          <a:xfrm>
            <a:off x="2579013" y="2829044"/>
            <a:ext cx="2686883" cy="872371"/>
          </a:xfrm>
          <a:prstGeom prst="rect">
            <a:avLst/>
          </a:prstGeom>
          <a:noFill/>
          <a:ln>
            <a:noFill/>
          </a:ln>
        </p:spPr>
      </p:pic>
      <p:sp>
        <p:nvSpPr>
          <p:cNvPr id="227" name="Google Shape;227;p10"/>
          <p:cNvSpPr/>
          <p:nvPr/>
        </p:nvSpPr>
        <p:spPr>
          <a:xfrm>
            <a:off x="3865007" y="3113722"/>
            <a:ext cx="114657" cy="302895"/>
          </a:xfrm>
          <a:prstGeom prst="rect">
            <a:avLst/>
          </a:prstGeom>
          <a:noFill/>
          <a:ln>
            <a:noFill/>
          </a:ln>
        </p:spPr>
        <p:txBody>
          <a:bodyPr anchorCtr="0" anchor="t" bIns="0" lIns="0" spcFirstLastPara="1" rIns="0" wrap="square" tIns="0">
            <a:noAutofit/>
          </a:bodyPr>
          <a:lstStyle/>
          <a:p>
            <a:pPr indent="0" lvl="0" marL="0" marR="0" rtl="0" algn="ctr">
              <a:lnSpc>
                <a:spcPct val="162068"/>
              </a:lnSpc>
              <a:spcBef>
                <a:spcPts val="0"/>
              </a:spcBef>
              <a:spcAft>
                <a:spcPts val="0"/>
              </a:spcAft>
              <a:buClr>
                <a:srgbClr val="EBECEF"/>
              </a:buClr>
              <a:buSzPts val="1450"/>
              <a:buFont typeface="Fraunces Medium"/>
              <a:buNone/>
            </a:pPr>
            <a:r>
              <a:rPr b="0" i="0" lang="en-US" sz="1450" u="none" cap="none" strike="noStrike">
                <a:solidFill>
                  <a:srgbClr val="EBECEF"/>
                </a:solidFill>
                <a:latin typeface="Fraunces Medium"/>
                <a:ea typeface="Fraunces Medium"/>
                <a:cs typeface="Fraunces Medium"/>
                <a:sym typeface="Fraunces Medium"/>
              </a:rPr>
              <a:t>2</a:t>
            </a:r>
            <a:endParaRPr b="0" i="0" sz="1450" u="none" cap="none" strike="noStrike"/>
          </a:p>
        </p:txBody>
      </p:sp>
      <p:sp>
        <p:nvSpPr>
          <p:cNvPr id="228" name="Google Shape;228;p10"/>
          <p:cNvSpPr/>
          <p:nvPr/>
        </p:nvSpPr>
        <p:spPr>
          <a:xfrm>
            <a:off x="5417225" y="2980373"/>
            <a:ext cx="1942862" cy="236577"/>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EBECEF"/>
              </a:buClr>
              <a:buSzPts val="1450"/>
              <a:buFont typeface="Fraunces Medium"/>
              <a:buNone/>
            </a:pPr>
            <a:r>
              <a:rPr b="0" i="0" lang="en-US" sz="1450" u="none" cap="none" strike="noStrike">
                <a:solidFill>
                  <a:srgbClr val="EBECEF"/>
                </a:solidFill>
                <a:latin typeface="Fraunces Medium"/>
                <a:ea typeface="Fraunces Medium"/>
                <a:cs typeface="Fraunces Medium"/>
                <a:sym typeface="Fraunces Medium"/>
              </a:rPr>
              <a:t>Análisis de Respaldos</a:t>
            </a:r>
            <a:endParaRPr b="0" i="0" sz="1450" u="none" cap="none" strike="noStrike"/>
          </a:p>
        </p:txBody>
      </p:sp>
      <p:sp>
        <p:nvSpPr>
          <p:cNvPr id="229" name="Google Shape;229;p10"/>
          <p:cNvSpPr/>
          <p:nvPr/>
        </p:nvSpPr>
        <p:spPr>
          <a:xfrm>
            <a:off x="5417225" y="3307794"/>
            <a:ext cx="6225183" cy="242292"/>
          </a:xfrm>
          <a:prstGeom prst="rect">
            <a:avLst/>
          </a:prstGeom>
          <a:noFill/>
          <a:ln>
            <a:noFill/>
          </a:ln>
        </p:spPr>
        <p:txBody>
          <a:bodyPr anchorCtr="0" anchor="t" bIns="0" lIns="0" spcFirstLastPara="1" rIns="0" wrap="square" tIns="0">
            <a:noAutofit/>
          </a:bodyPr>
          <a:lstStyle/>
          <a:p>
            <a:pPr indent="0" lvl="0" marL="0" marR="0" rtl="0" algn="l">
              <a:lnSpc>
                <a:spcPct val="165217"/>
              </a:lnSpc>
              <a:spcBef>
                <a:spcPts val="0"/>
              </a:spcBef>
              <a:spcAft>
                <a:spcPts val="0"/>
              </a:spcAft>
              <a:buClr>
                <a:srgbClr val="EBECEF"/>
              </a:buClr>
              <a:buSzPts val="1150"/>
              <a:buFont typeface="Epilogue"/>
              <a:buNone/>
            </a:pPr>
            <a:r>
              <a:rPr b="0" i="0" lang="en-US" sz="1150" u="none" cap="none" strike="noStrike">
                <a:solidFill>
                  <a:srgbClr val="EBECEF"/>
                </a:solidFill>
                <a:latin typeface="Epilogue"/>
                <a:ea typeface="Epilogue"/>
                <a:cs typeface="Epilogue"/>
                <a:sym typeface="Epilogue"/>
              </a:rPr>
              <a:t>Evaluar los respaldos disponibles y determinar la mejor estrategia de recuperación.</a:t>
            </a:r>
            <a:endParaRPr b="0" i="0" sz="1150" u="none" cap="none" strike="noStrike"/>
          </a:p>
        </p:txBody>
      </p:sp>
      <p:sp>
        <p:nvSpPr>
          <p:cNvPr id="230" name="Google Shape;230;p10"/>
          <p:cNvSpPr/>
          <p:nvPr/>
        </p:nvSpPr>
        <p:spPr>
          <a:xfrm>
            <a:off x="5303639" y="3716417"/>
            <a:ext cx="8759071" cy="7620"/>
          </a:xfrm>
          <a:prstGeom prst="roundRect">
            <a:avLst>
              <a:gd fmla="val 834739" name="adj"/>
            </a:avLst>
          </a:prstGeom>
          <a:solidFill>
            <a:srgbClr val="414A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1" name="Google Shape;231;p10"/>
          <p:cNvPicPr preferRelativeResize="0"/>
          <p:nvPr/>
        </p:nvPicPr>
        <p:blipFill rotWithShape="1">
          <a:blip r:embed="rId5">
            <a:alphaModFix/>
          </a:blip>
          <a:srcRect b="0" l="0" r="0" t="0"/>
          <a:stretch/>
        </p:blipFill>
        <p:spPr>
          <a:xfrm>
            <a:off x="1907262" y="3739158"/>
            <a:ext cx="4030385" cy="872371"/>
          </a:xfrm>
          <a:prstGeom prst="rect">
            <a:avLst/>
          </a:prstGeom>
          <a:noFill/>
          <a:ln>
            <a:noFill/>
          </a:ln>
        </p:spPr>
      </p:pic>
      <p:sp>
        <p:nvSpPr>
          <p:cNvPr id="232" name="Google Shape;232;p10"/>
          <p:cNvSpPr/>
          <p:nvPr/>
        </p:nvSpPr>
        <p:spPr>
          <a:xfrm>
            <a:off x="3870127" y="4023836"/>
            <a:ext cx="104537" cy="302895"/>
          </a:xfrm>
          <a:prstGeom prst="rect">
            <a:avLst/>
          </a:prstGeom>
          <a:noFill/>
          <a:ln>
            <a:noFill/>
          </a:ln>
        </p:spPr>
        <p:txBody>
          <a:bodyPr anchorCtr="0" anchor="t" bIns="0" lIns="0" spcFirstLastPara="1" rIns="0" wrap="square" tIns="0">
            <a:noAutofit/>
          </a:bodyPr>
          <a:lstStyle/>
          <a:p>
            <a:pPr indent="0" lvl="0" marL="0" marR="0" rtl="0" algn="ctr">
              <a:lnSpc>
                <a:spcPct val="162068"/>
              </a:lnSpc>
              <a:spcBef>
                <a:spcPts val="0"/>
              </a:spcBef>
              <a:spcAft>
                <a:spcPts val="0"/>
              </a:spcAft>
              <a:buClr>
                <a:srgbClr val="EBECEF"/>
              </a:buClr>
              <a:buSzPts val="1450"/>
              <a:buFont typeface="Fraunces Medium"/>
              <a:buNone/>
            </a:pPr>
            <a:r>
              <a:rPr b="0" i="0" lang="en-US" sz="1450" u="none" cap="none" strike="noStrike">
                <a:solidFill>
                  <a:srgbClr val="EBECEF"/>
                </a:solidFill>
                <a:latin typeface="Fraunces Medium"/>
                <a:ea typeface="Fraunces Medium"/>
                <a:cs typeface="Fraunces Medium"/>
                <a:sym typeface="Fraunces Medium"/>
              </a:rPr>
              <a:t>3</a:t>
            </a:r>
            <a:endParaRPr b="0" i="0" sz="1450" u="none" cap="none" strike="noStrike"/>
          </a:p>
        </p:txBody>
      </p:sp>
      <p:sp>
        <p:nvSpPr>
          <p:cNvPr id="233" name="Google Shape;233;p10"/>
          <p:cNvSpPr/>
          <p:nvPr/>
        </p:nvSpPr>
        <p:spPr>
          <a:xfrm>
            <a:off x="6088975" y="3890486"/>
            <a:ext cx="2274570" cy="236577"/>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EBECEF"/>
              </a:buClr>
              <a:buSzPts val="1450"/>
              <a:buFont typeface="Fraunces Medium"/>
              <a:buNone/>
            </a:pPr>
            <a:r>
              <a:rPr b="0" i="0" lang="en-US" sz="1450" u="none" cap="none" strike="noStrike">
                <a:solidFill>
                  <a:srgbClr val="EBECEF"/>
                </a:solidFill>
                <a:latin typeface="Fraunces Medium"/>
                <a:ea typeface="Fraunces Medium"/>
                <a:cs typeface="Fraunces Medium"/>
                <a:sym typeface="Fraunces Medium"/>
              </a:rPr>
              <a:t>Proceso de Recuperación</a:t>
            </a:r>
            <a:endParaRPr b="0" i="0" sz="1450" u="none" cap="none" strike="noStrike"/>
          </a:p>
        </p:txBody>
      </p:sp>
      <p:sp>
        <p:nvSpPr>
          <p:cNvPr id="234" name="Google Shape;234;p10"/>
          <p:cNvSpPr/>
          <p:nvPr/>
        </p:nvSpPr>
        <p:spPr>
          <a:xfrm>
            <a:off x="6088975" y="4217908"/>
            <a:ext cx="6443186" cy="242292"/>
          </a:xfrm>
          <a:prstGeom prst="rect">
            <a:avLst/>
          </a:prstGeom>
          <a:noFill/>
          <a:ln>
            <a:noFill/>
          </a:ln>
        </p:spPr>
        <p:txBody>
          <a:bodyPr anchorCtr="0" anchor="t" bIns="0" lIns="0" spcFirstLastPara="1" rIns="0" wrap="square" tIns="0">
            <a:noAutofit/>
          </a:bodyPr>
          <a:lstStyle/>
          <a:p>
            <a:pPr indent="0" lvl="0" marL="0" marR="0" rtl="0" algn="l">
              <a:lnSpc>
                <a:spcPct val="165217"/>
              </a:lnSpc>
              <a:spcBef>
                <a:spcPts val="0"/>
              </a:spcBef>
              <a:spcAft>
                <a:spcPts val="0"/>
              </a:spcAft>
              <a:buClr>
                <a:srgbClr val="EBECEF"/>
              </a:buClr>
              <a:buSzPts val="1150"/>
              <a:buFont typeface="Epilogue"/>
              <a:buNone/>
            </a:pPr>
            <a:r>
              <a:rPr b="0" i="0" lang="en-US" sz="1150" u="none" cap="none" strike="noStrike">
                <a:solidFill>
                  <a:srgbClr val="EBECEF"/>
                </a:solidFill>
                <a:latin typeface="Epilogue"/>
                <a:ea typeface="Epilogue"/>
                <a:cs typeface="Epilogue"/>
                <a:sym typeface="Epilogue"/>
              </a:rPr>
              <a:t>Aplicar los pasos necesarios para restaurar la base de datos a un estado consistente.</a:t>
            </a:r>
            <a:endParaRPr b="0" i="0" sz="1150" u="none" cap="none" strike="noStrike"/>
          </a:p>
        </p:txBody>
      </p:sp>
      <p:sp>
        <p:nvSpPr>
          <p:cNvPr id="235" name="Google Shape;235;p10"/>
          <p:cNvSpPr/>
          <p:nvPr/>
        </p:nvSpPr>
        <p:spPr>
          <a:xfrm>
            <a:off x="5975390" y="4626531"/>
            <a:ext cx="8087320" cy="7620"/>
          </a:xfrm>
          <a:prstGeom prst="roundRect">
            <a:avLst>
              <a:gd fmla="val 834739" name="adj"/>
            </a:avLst>
          </a:prstGeom>
          <a:solidFill>
            <a:srgbClr val="414A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6" name="Google Shape;236;p10"/>
          <p:cNvPicPr preferRelativeResize="0"/>
          <p:nvPr/>
        </p:nvPicPr>
        <p:blipFill rotWithShape="1">
          <a:blip r:embed="rId6">
            <a:alphaModFix/>
          </a:blip>
          <a:srcRect b="0" l="0" r="0" t="0"/>
          <a:stretch/>
        </p:blipFill>
        <p:spPr>
          <a:xfrm>
            <a:off x="1235512" y="4649272"/>
            <a:ext cx="5373886" cy="872371"/>
          </a:xfrm>
          <a:prstGeom prst="rect">
            <a:avLst/>
          </a:prstGeom>
          <a:noFill/>
          <a:ln>
            <a:noFill/>
          </a:ln>
        </p:spPr>
      </p:pic>
      <p:sp>
        <p:nvSpPr>
          <p:cNvPr id="237" name="Google Shape;237;p10"/>
          <p:cNvSpPr/>
          <p:nvPr/>
        </p:nvSpPr>
        <p:spPr>
          <a:xfrm>
            <a:off x="3864531" y="4933950"/>
            <a:ext cx="115729" cy="302895"/>
          </a:xfrm>
          <a:prstGeom prst="rect">
            <a:avLst/>
          </a:prstGeom>
          <a:noFill/>
          <a:ln>
            <a:noFill/>
          </a:ln>
        </p:spPr>
        <p:txBody>
          <a:bodyPr anchorCtr="0" anchor="t" bIns="0" lIns="0" spcFirstLastPara="1" rIns="0" wrap="square" tIns="0">
            <a:noAutofit/>
          </a:bodyPr>
          <a:lstStyle/>
          <a:p>
            <a:pPr indent="0" lvl="0" marL="0" marR="0" rtl="0" algn="ctr">
              <a:lnSpc>
                <a:spcPct val="162068"/>
              </a:lnSpc>
              <a:spcBef>
                <a:spcPts val="0"/>
              </a:spcBef>
              <a:spcAft>
                <a:spcPts val="0"/>
              </a:spcAft>
              <a:buClr>
                <a:srgbClr val="EBECEF"/>
              </a:buClr>
              <a:buSzPts val="1450"/>
              <a:buFont typeface="Fraunces Medium"/>
              <a:buNone/>
            </a:pPr>
            <a:r>
              <a:rPr b="0" i="0" lang="en-US" sz="1450" u="none" cap="none" strike="noStrike">
                <a:solidFill>
                  <a:srgbClr val="EBECEF"/>
                </a:solidFill>
                <a:latin typeface="Fraunces Medium"/>
                <a:ea typeface="Fraunces Medium"/>
                <a:cs typeface="Fraunces Medium"/>
                <a:sym typeface="Fraunces Medium"/>
              </a:rPr>
              <a:t>4</a:t>
            </a:r>
            <a:endParaRPr b="0" i="0" sz="1450" u="none" cap="none" strike="noStrike"/>
          </a:p>
        </p:txBody>
      </p:sp>
      <p:sp>
        <p:nvSpPr>
          <p:cNvPr id="238" name="Google Shape;238;p10"/>
          <p:cNvSpPr/>
          <p:nvPr/>
        </p:nvSpPr>
        <p:spPr>
          <a:xfrm>
            <a:off x="6760726" y="4800600"/>
            <a:ext cx="1892975" cy="236577"/>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EBECEF"/>
              </a:buClr>
              <a:buSzPts val="1450"/>
              <a:buFont typeface="Fraunces Medium"/>
              <a:buNone/>
            </a:pPr>
            <a:r>
              <a:rPr b="0" i="0" lang="en-US" sz="1450" u="none" cap="none" strike="noStrike">
                <a:solidFill>
                  <a:srgbClr val="EBECEF"/>
                </a:solidFill>
                <a:latin typeface="Fraunces Medium"/>
                <a:ea typeface="Fraunces Medium"/>
                <a:cs typeface="Fraunces Medium"/>
                <a:sym typeface="Fraunces Medium"/>
              </a:rPr>
              <a:t>Validación y Pruebas</a:t>
            </a:r>
            <a:endParaRPr b="0" i="0" sz="1450" u="none" cap="none" strike="noStrike"/>
          </a:p>
        </p:txBody>
      </p:sp>
      <p:sp>
        <p:nvSpPr>
          <p:cNvPr id="239" name="Google Shape;239;p10"/>
          <p:cNvSpPr/>
          <p:nvPr/>
        </p:nvSpPr>
        <p:spPr>
          <a:xfrm>
            <a:off x="6760726" y="5128022"/>
            <a:ext cx="6346984" cy="242292"/>
          </a:xfrm>
          <a:prstGeom prst="rect">
            <a:avLst/>
          </a:prstGeom>
          <a:noFill/>
          <a:ln>
            <a:noFill/>
          </a:ln>
        </p:spPr>
        <p:txBody>
          <a:bodyPr anchorCtr="0" anchor="t" bIns="0" lIns="0" spcFirstLastPara="1" rIns="0" wrap="square" tIns="0">
            <a:noAutofit/>
          </a:bodyPr>
          <a:lstStyle/>
          <a:p>
            <a:pPr indent="0" lvl="0" marL="0" marR="0" rtl="0" algn="l">
              <a:lnSpc>
                <a:spcPct val="165217"/>
              </a:lnSpc>
              <a:spcBef>
                <a:spcPts val="0"/>
              </a:spcBef>
              <a:spcAft>
                <a:spcPts val="0"/>
              </a:spcAft>
              <a:buClr>
                <a:srgbClr val="EBECEF"/>
              </a:buClr>
              <a:buSzPts val="1150"/>
              <a:buFont typeface="Epilogue"/>
              <a:buNone/>
            </a:pPr>
            <a:r>
              <a:rPr b="0" i="0" lang="en-US" sz="1150" u="none" cap="none" strike="noStrike">
                <a:solidFill>
                  <a:srgbClr val="EBECEF"/>
                </a:solidFill>
                <a:latin typeface="Epilogue"/>
                <a:ea typeface="Epilogue"/>
                <a:cs typeface="Epilogue"/>
                <a:sym typeface="Epilogue"/>
              </a:rPr>
              <a:t>Verificar la integridad de los datos recuperados y validar el correcto funcionamiento.</a:t>
            </a:r>
            <a:endParaRPr b="0" i="0" sz="1150" u="none" cap="none" strike="noStrike"/>
          </a:p>
        </p:txBody>
      </p:sp>
      <p:sp>
        <p:nvSpPr>
          <p:cNvPr id="240" name="Google Shape;240;p10"/>
          <p:cNvSpPr/>
          <p:nvPr/>
        </p:nvSpPr>
        <p:spPr>
          <a:xfrm>
            <a:off x="6647140" y="5536644"/>
            <a:ext cx="7415570" cy="7620"/>
          </a:xfrm>
          <a:prstGeom prst="roundRect">
            <a:avLst>
              <a:gd fmla="val 834739" name="adj"/>
            </a:avLst>
          </a:prstGeom>
          <a:solidFill>
            <a:srgbClr val="414A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1" name="Google Shape;241;p10"/>
          <p:cNvPicPr preferRelativeResize="0"/>
          <p:nvPr/>
        </p:nvPicPr>
        <p:blipFill rotWithShape="1">
          <a:blip r:embed="rId7">
            <a:alphaModFix/>
          </a:blip>
          <a:srcRect b="0" l="0" r="0" t="0"/>
          <a:stretch/>
        </p:blipFill>
        <p:spPr>
          <a:xfrm>
            <a:off x="563761" y="5559385"/>
            <a:ext cx="6717387" cy="872371"/>
          </a:xfrm>
          <a:prstGeom prst="rect">
            <a:avLst/>
          </a:prstGeom>
          <a:noFill/>
          <a:ln>
            <a:noFill/>
          </a:ln>
        </p:spPr>
      </p:pic>
      <p:sp>
        <p:nvSpPr>
          <p:cNvPr id="242" name="Google Shape;242;p10"/>
          <p:cNvSpPr/>
          <p:nvPr/>
        </p:nvSpPr>
        <p:spPr>
          <a:xfrm>
            <a:off x="3867864" y="5844064"/>
            <a:ext cx="109061" cy="302895"/>
          </a:xfrm>
          <a:prstGeom prst="rect">
            <a:avLst/>
          </a:prstGeom>
          <a:noFill/>
          <a:ln>
            <a:noFill/>
          </a:ln>
        </p:spPr>
        <p:txBody>
          <a:bodyPr anchorCtr="0" anchor="t" bIns="0" lIns="0" spcFirstLastPara="1" rIns="0" wrap="square" tIns="0">
            <a:noAutofit/>
          </a:bodyPr>
          <a:lstStyle/>
          <a:p>
            <a:pPr indent="0" lvl="0" marL="0" marR="0" rtl="0" algn="ctr">
              <a:lnSpc>
                <a:spcPct val="162068"/>
              </a:lnSpc>
              <a:spcBef>
                <a:spcPts val="0"/>
              </a:spcBef>
              <a:spcAft>
                <a:spcPts val="0"/>
              </a:spcAft>
              <a:buClr>
                <a:srgbClr val="EBECEF"/>
              </a:buClr>
              <a:buSzPts val="1450"/>
              <a:buFont typeface="Fraunces Medium"/>
              <a:buNone/>
            </a:pPr>
            <a:r>
              <a:rPr b="0" i="0" lang="en-US" sz="1450" u="none" cap="none" strike="noStrike">
                <a:solidFill>
                  <a:srgbClr val="EBECEF"/>
                </a:solidFill>
                <a:latin typeface="Fraunces Medium"/>
                <a:ea typeface="Fraunces Medium"/>
                <a:cs typeface="Fraunces Medium"/>
                <a:sym typeface="Fraunces Medium"/>
              </a:rPr>
              <a:t>5</a:t>
            </a:r>
            <a:endParaRPr b="0" i="0" sz="1450" u="none" cap="none" strike="noStrike"/>
          </a:p>
        </p:txBody>
      </p:sp>
      <p:sp>
        <p:nvSpPr>
          <p:cNvPr id="243" name="Google Shape;243;p10"/>
          <p:cNvSpPr/>
          <p:nvPr/>
        </p:nvSpPr>
        <p:spPr>
          <a:xfrm>
            <a:off x="7432477" y="5710714"/>
            <a:ext cx="1980009" cy="236577"/>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EBECEF"/>
              </a:buClr>
              <a:buSzPts val="1450"/>
              <a:buFont typeface="Fraunces Medium"/>
              <a:buNone/>
            </a:pPr>
            <a:r>
              <a:rPr b="0" i="0" lang="en-US" sz="1450" u="none" cap="none" strike="noStrike">
                <a:solidFill>
                  <a:srgbClr val="EBECEF"/>
                </a:solidFill>
                <a:latin typeface="Fraunces Medium"/>
                <a:ea typeface="Fraunces Medium"/>
                <a:cs typeface="Fraunces Medium"/>
                <a:sym typeface="Fraunces Medium"/>
              </a:rPr>
              <a:t>Lecciones Aprendidas</a:t>
            </a:r>
            <a:endParaRPr b="0" i="0" sz="1450" u="none" cap="none" strike="noStrike"/>
          </a:p>
        </p:txBody>
      </p:sp>
      <p:sp>
        <p:nvSpPr>
          <p:cNvPr id="244" name="Google Shape;244;p10"/>
          <p:cNvSpPr/>
          <p:nvPr/>
        </p:nvSpPr>
        <p:spPr>
          <a:xfrm>
            <a:off x="7432477" y="6038136"/>
            <a:ext cx="6321266" cy="242292"/>
          </a:xfrm>
          <a:prstGeom prst="rect">
            <a:avLst/>
          </a:prstGeom>
          <a:noFill/>
          <a:ln>
            <a:noFill/>
          </a:ln>
        </p:spPr>
        <p:txBody>
          <a:bodyPr anchorCtr="0" anchor="t" bIns="0" lIns="0" spcFirstLastPara="1" rIns="0" wrap="square" tIns="0">
            <a:noAutofit/>
          </a:bodyPr>
          <a:lstStyle/>
          <a:p>
            <a:pPr indent="0" lvl="0" marL="0" marR="0" rtl="0" algn="l">
              <a:lnSpc>
                <a:spcPct val="165217"/>
              </a:lnSpc>
              <a:spcBef>
                <a:spcPts val="0"/>
              </a:spcBef>
              <a:spcAft>
                <a:spcPts val="0"/>
              </a:spcAft>
              <a:buClr>
                <a:srgbClr val="EBECEF"/>
              </a:buClr>
              <a:buSzPts val="1150"/>
              <a:buFont typeface="Epilogue"/>
              <a:buNone/>
            </a:pPr>
            <a:r>
              <a:rPr b="0" i="0" lang="en-US" sz="1150" u="none" cap="none" strike="noStrike">
                <a:solidFill>
                  <a:srgbClr val="EBECEF"/>
                </a:solidFill>
                <a:latin typeface="Epilogue"/>
                <a:ea typeface="Epilogue"/>
                <a:cs typeface="Epilogue"/>
                <a:sym typeface="Epilogue"/>
              </a:rPr>
              <a:t>Documentar el proceso y mejorar el plan de recuperación para futuras emergencias.</a:t>
            </a:r>
            <a:endParaRPr b="0" i="0" sz="1150" u="none" cap="none" strike="noStrike"/>
          </a:p>
        </p:txBody>
      </p:sp>
      <p:sp>
        <p:nvSpPr>
          <p:cNvPr id="245" name="Google Shape;245;p10"/>
          <p:cNvSpPr/>
          <p:nvPr/>
        </p:nvSpPr>
        <p:spPr>
          <a:xfrm>
            <a:off x="529947" y="6602016"/>
            <a:ext cx="13570506" cy="484584"/>
          </a:xfrm>
          <a:prstGeom prst="rect">
            <a:avLst/>
          </a:prstGeom>
          <a:noFill/>
          <a:ln>
            <a:noFill/>
          </a:ln>
        </p:spPr>
        <p:txBody>
          <a:bodyPr anchorCtr="0" anchor="t" bIns="0" lIns="0" spcFirstLastPara="1" rIns="0" wrap="square" tIns="0">
            <a:noAutofit/>
          </a:bodyPr>
          <a:lstStyle/>
          <a:p>
            <a:pPr indent="0" lvl="0" marL="0" marR="0" rtl="0" algn="l">
              <a:lnSpc>
                <a:spcPct val="165217"/>
              </a:lnSpc>
              <a:spcBef>
                <a:spcPts val="0"/>
              </a:spcBef>
              <a:spcAft>
                <a:spcPts val="0"/>
              </a:spcAft>
              <a:buClr>
                <a:srgbClr val="EBECEF"/>
              </a:buClr>
              <a:buSzPts val="1150"/>
              <a:buFont typeface="Epilogue"/>
              <a:buNone/>
            </a:pPr>
            <a:r>
              <a:rPr b="0" i="0" lang="en-US" sz="1150" u="none" cap="none" strike="noStrike">
                <a:solidFill>
                  <a:srgbClr val="EBECEF"/>
                </a:solidFill>
                <a:latin typeface="Epilogue"/>
                <a:ea typeface="Epilogue"/>
                <a:cs typeface="Epilogue"/>
                <a:sym typeface="Epilogue"/>
              </a:rPr>
              <a:t>En este caso práctico, analizaremos un escenario de fallo en la base de datos y cómo llevar a cabo un proceso de recuperación efectivo. Desde la identificación del problema hasta la validación final de los datos, cada paso será crucial para restaurar la integridad de la información y minimizar el impacto en las operaciones.</a:t>
            </a:r>
            <a:endParaRPr b="0" i="0" sz="1150"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descr="preencoded.png" id="251" name="Google Shape;251;p1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252" name="Google Shape;252;p11"/>
          <p:cNvPicPr preferRelativeResize="0"/>
          <p:nvPr/>
        </p:nvPicPr>
        <p:blipFill rotWithShape="1">
          <a:blip r:embed="rId4">
            <a:alphaModFix/>
          </a:blip>
          <a:srcRect b="0" l="0" r="0" t="0"/>
          <a:stretch/>
        </p:blipFill>
        <p:spPr>
          <a:xfrm>
            <a:off x="9402128" y="2561630"/>
            <a:ext cx="4970145" cy="3106341"/>
          </a:xfrm>
          <a:prstGeom prst="rect">
            <a:avLst/>
          </a:prstGeom>
          <a:noFill/>
          <a:ln>
            <a:noFill/>
          </a:ln>
        </p:spPr>
      </p:pic>
      <p:sp>
        <p:nvSpPr>
          <p:cNvPr id="253" name="Google Shape;253;p11"/>
          <p:cNvSpPr/>
          <p:nvPr/>
        </p:nvSpPr>
        <p:spPr>
          <a:xfrm>
            <a:off x="722948" y="848558"/>
            <a:ext cx="5189577" cy="645557"/>
          </a:xfrm>
          <a:prstGeom prst="rect">
            <a:avLst/>
          </a:prstGeom>
          <a:noFill/>
          <a:ln>
            <a:noFill/>
          </a:ln>
        </p:spPr>
        <p:txBody>
          <a:bodyPr anchorCtr="0" anchor="t" bIns="0" lIns="0" spcFirstLastPara="1" rIns="0" wrap="square" tIns="0">
            <a:noAutofit/>
          </a:bodyPr>
          <a:lstStyle/>
          <a:p>
            <a:pPr indent="0" lvl="0" marL="0" marR="0" rtl="0" algn="l">
              <a:lnSpc>
                <a:spcPct val="124691"/>
              </a:lnSpc>
              <a:spcBef>
                <a:spcPts val="0"/>
              </a:spcBef>
              <a:spcAft>
                <a:spcPts val="0"/>
              </a:spcAft>
              <a:buClr>
                <a:srgbClr val="FFFFFF"/>
              </a:buClr>
              <a:buSzPts val="4050"/>
              <a:buFont typeface="Fraunces Medium"/>
              <a:buNone/>
            </a:pPr>
            <a:r>
              <a:rPr b="0" i="0" lang="en-US" sz="4050" u="none" cap="none" strike="noStrike">
                <a:solidFill>
                  <a:srgbClr val="FFFFFF"/>
                </a:solidFill>
                <a:latin typeface="Fraunces Medium"/>
                <a:ea typeface="Fraunces Medium"/>
                <a:cs typeface="Fraunces Medium"/>
                <a:sym typeface="Fraunces Medium"/>
              </a:rPr>
              <a:t>Objetivos del Módulo</a:t>
            </a:r>
            <a:endParaRPr b="0" i="0" sz="4050" u="none" cap="none" strike="noStrike"/>
          </a:p>
        </p:txBody>
      </p:sp>
      <p:sp>
        <p:nvSpPr>
          <p:cNvPr id="254" name="Google Shape;254;p11"/>
          <p:cNvSpPr/>
          <p:nvPr/>
        </p:nvSpPr>
        <p:spPr>
          <a:xfrm>
            <a:off x="722948" y="1803916"/>
            <a:ext cx="3745825" cy="2850475"/>
          </a:xfrm>
          <a:prstGeom prst="roundRect">
            <a:avLst>
              <a:gd fmla="val 3044"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1"/>
          <p:cNvSpPr/>
          <p:nvPr/>
        </p:nvSpPr>
        <p:spPr>
          <a:xfrm>
            <a:off x="937141" y="2018109"/>
            <a:ext cx="3317438" cy="64555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2000"/>
              <a:buFont typeface="Fraunces Medium"/>
              <a:buNone/>
            </a:pPr>
            <a:r>
              <a:rPr b="0" i="0" lang="en-US" sz="2000" u="none" cap="none" strike="noStrike">
                <a:solidFill>
                  <a:srgbClr val="EBECEF"/>
                </a:solidFill>
                <a:latin typeface="Fraunces Medium"/>
                <a:ea typeface="Fraunces Medium"/>
                <a:cs typeface="Fraunces Medium"/>
                <a:sym typeface="Fraunces Medium"/>
              </a:rPr>
              <a:t>Comprender Estrategias de Recuperación</a:t>
            </a:r>
            <a:endParaRPr b="0" i="0" sz="2000" u="none" cap="none" strike="noStrike"/>
          </a:p>
        </p:txBody>
      </p:sp>
      <p:sp>
        <p:nvSpPr>
          <p:cNvPr id="256" name="Google Shape;256;p11"/>
          <p:cNvSpPr/>
          <p:nvPr/>
        </p:nvSpPr>
        <p:spPr>
          <a:xfrm>
            <a:off x="937141" y="2787610"/>
            <a:ext cx="3317438" cy="1652588"/>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BECEF"/>
              </a:buClr>
              <a:buSzPts val="1600"/>
              <a:buFont typeface="Epilogue"/>
              <a:buNone/>
            </a:pPr>
            <a:r>
              <a:rPr b="0" i="0" lang="en-US" sz="1600" u="none" cap="none" strike="noStrike">
                <a:solidFill>
                  <a:srgbClr val="EBECEF"/>
                </a:solidFill>
                <a:latin typeface="Epilogue"/>
                <a:ea typeface="Epilogue"/>
                <a:cs typeface="Epilogue"/>
                <a:sym typeface="Epilogue"/>
              </a:rPr>
              <a:t>Aprender y dominar las diferentes estrategias y técnicas para recuperar datos en caso de pérdida o fallo del sistema.</a:t>
            </a:r>
            <a:endParaRPr b="0" i="0" sz="1600" u="none" cap="none" strike="noStrike"/>
          </a:p>
        </p:txBody>
      </p:sp>
      <p:sp>
        <p:nvSpPr>
          <p:cNvPr id="257" name="Google Shape;257;p11"/>
          <p:cNvSpPr/>
          <p:nvPr/>
        </p:nvSpPr>
        <p:spPr>
          <a:xfrm>
            <a:off x="4675346" y="1803916"/>
            <a:ext cx="3745825" cy="2850475"/>
          </a:xfrm>
          <a:prstGeom prst="roundRect">
            <a:avLst>
              <a:gd fmla="val 3044"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a:off x="4889540" y="2018109"/>
            <a:ext cx="3317438" cy="64555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2000"/>
              <a:buFont typeface="Fraunces Medium"/>
              <a:buNone/>
            </a:pPr>
            <a:r>
              <a:rPr b="0" i="0" lang="en-US" sz="2000" u="none" cap="none" strike="noStrike">
                <a:solidFill>
                  <a:srgbClr val="EBECEF"/>
                </a:solidFill>
                <a:latin typeface="Fraunces Medium"/>
                <a:ea typeface="Fraunces Medium"/>
                <a:cs typeface="Fraunces Medium"/>
                <a:sym typeface="Fraunces Medium"/>
              </a:rPr>
              <a:t>Implementar Planes con Respaldos</a:t>
            </a:r>
            <a:endParaRPr b="0" i="0" sz="2000" u="none" cap="none" strike="noStrike"/>
          </a:p>
        </p:txBody>
      </p:sp>
      <p:sp>
        <p:nvSpPr>
          <p:cNvPr id="259" name="Google Shape;259;p11"/>
          <p:cNvSpPr/>
          <p:nvPr/>
        </p:nvSpPr>
        <p:spPr>
          <a:xfrm>
            <a:off x="4889540" y="2787610"/>
            <a:ext cx="3317438" cy="1652588"/>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BECEF"/>
              </a:buClr>
              <a:buSzPts val="1600"/>
              <a:buFont typeface="Epilogue"/>
              <a:buNone/>
            </a:pPr>
            <a:r>
              <a:rPr b="0" i="0" lang="en-US" sz="1600" u="none" cap="none" strike="noStrike">
                <a:solidFill>
                  <a:srgbClr val="EBECEF"/>
                </a:solidFill>
                <a:latin typeface="Epilogue"/>
                <a:ea typeface="Epilogue"/>
                <a:cs typeface="Epilogue"/>
                <a:sym typeface="Epilogue"/>
              </a:rPr>
              <a:t>Diseñar e implementar planes de respaldo completos, incrementales y diferenciales para garantizar la seguridad de los datos.</a:t>
            </a:r>
            <a:endParaRPr b="0" i="0" sz="1600" u="none" cap="none" strike="noStrike"/>
          </a:p>
        </p:txBody>
      </p:sp>
      <p:sp>
        <p:nvSpPr>
          <p:cNvPr id="260" name="Google Shape;260;p11"/>
          <p:cNvSpPr/>
          <p:nvPr/>
        </p:nvSpPr>
        <p:spPr>
          <a:xfrm>
            <a:off x="722948" y="4860965"/>
            <a:ext cx="3745825" cy="2519958"/>
          </a:xfrm>
          <a:prstGeom prst="roundRect">
            <a:avLst>
              <a:gd fmla="val 3443"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a:off x="937141" y="5075158"/>
            <a:ext cx="3317438" cy="64555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2000"/>
              <a:buFont typeface="Fraunces Medium"/>
              <a:buNone/>
            </a:pPr>
            <a:r>
              <a:rPr b="0" i="0" lang="en-US" sz="2000" u="none" cap="none" strike="noStrike">
                <a:solidFill>
                  <a:srgbClr val="EBECEF"/>
                </a:solidFill>
                <a:latin typeface="Fraunces Medium"/>
                <a:ea typeface="Fraunces Medium"/>
                <a:cs typeface="Fraunces Medium"/>
                <a:sym typeface="Fraunces Medium"/>
              </a:rPr>
              <a:t>Utilizar Herramientas Avanzadas</a:t>
            </a:r>
            <a:endParaRPr b="0" i="0" sz="2000" u="none" cap="none" strike="noStrike"/>
          </a:p>
        </p:txBody>
      </p:sp>
      <p:sp>
        <p:nvSpPr>
          <p:cNvPr id="262" name="Google Shape;262;p11"/>
          <p:cNvSpPr/>
          <p:nvPr/>
        </p:nvSpPr>
        <p:spPr>
          <a:xfrm>
            <a:off x="937141" y="5844659"/>
            <a:ext cx="3317438" cy="132207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BECEF"/>
              </a:buClr>
              <a:buSzPts val="1600"/>
              <a:buFont typeface="Epilogue"/>
              <a:buNone/>
            </a:pPr>
            <a:r>
              <a:rPr b="0" i="0" lang="en-US" sz="1600" u="none" cap="none" strike="noStrike">
                <a:solidFill>
                  <a:srgbClr val="EBECEF"/>
                </a:solidFill>
                <a:latin typeface="Epilogue"/>
                <a:ea typeface="Epilogue"/>
                <a:cs typeface="Epilogue"/>
                <a:sym typeface="Epilogue"/>
              </a:rPr>
              <a:t>Conocer y aplicar herramientas especializadas en recuperación de datos y simulación de escenarios de fallo.</a:t>
            </a:r>
            <a:endParaRPr b="0" i="0" sz="1600" u="none" cap="none" strike="noStrike"/>
          </a:p>
        </p:txBody>
      </p:sp>
      <p:sp>
        <p:nvSpPr>
          <p:cNvPr id="263" name="Google Shape;263;p11"/>
          <p:cNvSpPr/>
          <p:nvPr/>
        </p:nvSpPr>
        <p:spPr>
          <a:xfrm>
            <a:off x="4675346" y="4860965"/>
            <a:ext cx="3745825" cy="2519958"/>
          </a:xfrm>
          <a:prstGeom prst="roundRect">
            <a:avLst>
              <a:gd fmla="val 3443"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1"/>
          <p:cNvSpPr/>
          <p:nvPr/>
        </p:nvSpPr>
        <p:spPr>
          <a:xfrm>
            <a:off x="4889540" y="5075158"/>
            <a:ext cx="3317438" cy="64555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2000"/>
              <a:buFont typeface="Fraunces Medium"/>
              <a:buNone/>
            </a:pPr>
            <a:r>
              <a:rPr b="0" i="0" lang="en-US" sz="2000" u="none" cap="none" strike="noStrike">
                <a:solidFill>
                  <a:srgbClr val="EBECEF"/>
                </a:solidFill>
                <a:latin typeface="Fraunces Medium"/>
                <a:ea typeface="Fraunces Medium"/>
                <a:cs typeface="Fraunces Medium"/>
                <a:sym typeface="Fraunces Medium"/>
              </a:rPr>
              <a:t>Aplicar Conocimientos en Escenarios Reales</a:t>
            </a:r>
            <a:endParaRPr b="0" i="0" sz="2000" u="none" cap="none" strike="noStrike"/>
          </a:p>
        </p:txBody>
      </p:sp>
      <p:sp>
        <p:nvSpPr>
          <p:cNvPr id="265" name="Google Shape;265;p11"/>
          <p:cNvSpPr/>
          <p:nvPr/>
        </p:nvSpPr>
        <p:spPr>
          <a:xfrm>
            <a:off x="4889540" y="5844659"/>
            <a:ext cx="3317438" cy="132207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BECEF"/>
              </a:buClr>
              <a:buSzPts val="1600"/>
              <a:buFont typeface="Epilogue"/>
              <a:buNone/>
            </a:pPr>
            <a:r>
              <a:rPr b="0" i="0" lang="en-US" sz="1600" u="none" cap="none" strike="noStrike">
                <a:solidFill>
                  <a:srgbClr val="EBECEF"/>
                </a:solidFill>
                <a:latin typeface="Epilogue"/>
                <a:ea typeface="Epilogue"/>
                <a:cs typeface="Epilogue"/>
                <a:sym typeface="Epilogue"/>
              </a:rPr>
              <a:t>Poner en práctica lo aprendido en un caso práctico de recuperación de datos tras un fallo del sistema.</a:t>
            </a:r>
            <a:endParaRPr b="0" i="0" sz="1600" u="none" cap="none" strike="noStrik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descr="preencoded.png" id="271" name="Google Shape;271;p12"/>
          <p:cNvPicPr preferRelativeResize="0"/>
          <p:nvPr/>
        </p:nvPicPr>
        <p:blipFill rotWithShape="1">
          <a:blip r:embed="rId3">
            <a:alphaModFix/>
          </a:blip>
          <a:srcRect b="0" l="0" r="0" t="0"/>
          <a:stretch/>
        </p:blipFill>
        <p:spPr>
          <a:xfrm>
            <a:off x="0" y="0"/>
            <a:ext cx="14630400" cy="2466142"/>
          </a:xfrm>
          <a:prstGeom prst="rect">
            <a:avLst/>
          </a:prstGeom>
          <a:noFill/>
          <a:ln>
            <a:noFill/>
          </a:ln>
        </p:spPr>
      </p:pic>
      <p:pic>
        <p:nvPicPr>
          <p:cNvPr descr="preencoded.png" id="272" name="Google Shape;272;p12"/>
          <p:cNvPicPr preferRelativeResize="0"/>
          <p:nvPr/>
        </p:nvPicPr>
        <p:blipFill rotWithShape="1">
          <a:blip r:embed="rId4">
            <a:alphaModFix/>
          </a:blip>
          <a:srcRect b="0" l="0" r="0" t="0"/>
          <a:stretch/>
        </p:blipFill>
        <p:spPr>
          <a:xfrm>
            <a:off x="5773817" y="246578"/>
            <a:ext cx="3082766" cy="1972985"/>
          </a:xfrm>
          <a:prstGeom prst="rect">
            <a:avLst/>
          </a:prstGeom>
          <a:noFill/>
          <a:ln>
            <a:noFill/>
          </a:ln>
        </p:spPr>
      </p:pic>
      <p:sp>
        <p:nvSpPr>
          <p:cNvPr id="273" name="Google Shape;273;p12"/>
          <p:cNvSpPr/>
          <p:nvPr/>
        </p:nvSpPr>
        <p:spPr>
          <a:xfrm>
            <a:off x="690443" y="3009781"/>
            <a:ext cx="9770269" cy="616506"/>
          </a:xfrm>
          <a:prstGeom prst="rect">
            <a:avLst/>
          </a:prstGeom>
          <a:noFill/>
          <a:ln>
            <a:noFill/>
          </a:ln>
        </p:spPr>
        <p:txBody>
          <a:bodyPr anchorCtr="0" anchor="t" bIns="0" lIns="0" spcFirstLastPara="1" rIns="0" wrap="square" tIns="0">
            <a:noAutofit/>
          </a:bodyPr>
          <a:lstStyle/>
          <a:p>
            <a:pPr indent="0" lvl="0" marL="0" marR="0" rtl="0" algn="l">
              <a:lnSpc>
                <a:spcPct val="125974"/>
              </a:lnSpc>
              <a:spcBef>
                <a:spcPts val="0"/>
              </a:spcBef>
              <a:spcAft>
                <a:spcPts val="0"/>
              </a:spcAft>
              <a:buClr>
                <a:srgbClr val="FFFFFF"/>
              </a:buClr>
              <a:buSzPts val="3850"/>
              <a:buFont typeface="Fraunces Medium"/>
              <a:buNone/>
            </a:pPr>
            <a:r>
              <a:rPr b="0" i="0" lang="en-US" sz="3850" u="none" cap="none" strike="noStrike">
                <a:solidFill>
                  <a:srgbClr val="FFFFFF"/>
                </a:solidFill>
                <a:latin typeface="Fraunces Medium"/>
                <a:ea typeface="Fraunces Medium"/>
                <a:cs typeface="Fraunces Medium"/>
                <a:sym typeface="Fraunces Medium"/>
              </a:rPr>
              <a:t>Comprender Estrategias de Recuperación</a:t>
            </a:r>
            <a:endParaRPr b="0" i="0" sz="3850" u="none" cap="none" strike="noStrike"/>
          </a:p>
        </p:txBody>
      </p:sp>
      <p:sp>
        <p:nvSpPr>
          <p:cNvPr id="274" name="Google Shape;274;p12"/>
          <p:cNvSpPr/>
          <p:nvPr/>
        </p:nvSpPr>
        <p:spPr>
          <a:xfrm>
            <a:off x="690443" y="3922157"/>
            <a:ext cx="6526173" cy="1783199"/>
          </a:xfrm>
          <a:prstGeom prst="roundRect">
            <a:avLst>
              <a:gd fmla="val 4647"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2"/>
          <p:cNvSpPr/>
          <p:nvPr/>
        </p:nvSpPr>
        <p:spPr>
          <a:xfrm>
            <a:off x="895350" y="4127063"/>
            <a:ext cx="2598063" cy="308134"/>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BECEF"/>
              </a:buClr>
              <a:buSzPts val="1900"/>
              <a:buFont typeface="Fraunces Medium"/>
              <a:buNone/>
            </a:pPr>
            <a:r>
              <a:rPr b="0" i="0" lang="en-US" sz="1900" u="none" cap="none" strike="noStrike">
                <a:solidFill>
                  <a:srgbClr val="EBECEF"/>
                </a:solidFill>
                <a:latin typeface="Fraunces Medium"/>
                <a:ea typeface="Fraunces Medium"/>
                <a:cs typeface="Fraunces Medium"/>
                <a:sym typeface="Fraunces Medium"/>
              </a:rPr>
              <a:t>Evaluación de Riesgos</a:t>
            </a:r>
            <a:endParaRPr b="0" i="0" sz="1900" u="none" cap="none" strike="noStrike"/>
          </a:p>
        </p:txBody>
      </p:sp>
      <p:sp>
        <p:nvSpPr>
          <p:cNvPr id="276" name="Google Shape;276;p12"/>
          <p:cNvSpPr/>
          <p:nvPr/>
        </p:nvSpPr>
        <p:spPr>
          <a:xfrm>
            <a:off x="895350" y="4553545"/>
            <a:ext cx="6116360" cy="946904"/>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EBECEF"/>
              </a:buClr>
              <a:buSzPts val="1550"/>
              <a:buFont typeface="Epilogue"/>
              <a:buNone/>
            </a:pPr>
            <a:r>
              <a:rPr b="0" i="0" lang="en-US" sz="1550" u="none" cap="none" strike="noStrike">
                <a:solidFill>
                  <a:srgbClr val="EBECEF"/>
                </a:solidFill>
                <a:latin typeface="Epilogue"/>
                <a:ea typeface="Epilogue"/>
                <a:cs typeface="Epilogue"/>
                <a:sym typeface="Epilogue"/>
              </a:rPr>
              <a:t>Identificar los tipos de fallas más comunes y sus impactos potenciales en los datos es fundamental para diseñar estrategias de recuperación efectivas.</a:t>
            </a:r>
            <a:endParaRPr b="0" i="0" sz="1550" u="none" cap="none" strike="noStrike"/>
          </a:p>
        </p:txBody>
      </p:sp>
      <p:sp>
        <p:nvSpPr>
          <p:cNvPr id="277" name="Google Shape;277;p12"/>
          <p:cNvSpPr/>
          <p:nvPr/>
        </p:nvSpPr>
        <p:spPr>
          <a:xfrm>
            <a:off x="7413903" y="3922157"/>
            <a:ext cx="6526173" cy="1783199"/>
          </a:xfrm>
          <a:prstGeom prst="roundRect">
            <a:avLst>
              <a:gd fmla="val 4647"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2"/>
          <p:cNvSpPr/>
          <p:nvPr/>
        </p:nvSpPr>
        <p:spPr>
          <a:xfrm>
            <a:off x="7618809" y="4127063"/>
            <a:ext cx="2489002" cy="308134"/>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BECEF"/>
              </a:buClr>
              <a:buSzPts val="1900"/>
              <a:buFont typeface="Fraunces Medium"/>
              <a:buNone/>
            </a:pPr>
            <a:r>
              <a:rPr b="0" i="0" lang="en-US" sz="1900" u="none" cap="none" strike="noStrike">
                <a:solidFill>
                  <a:srgbClr val="EBECEF"/>
                </a:solidFill>
                <a:latin typeface="Fraunces Medium"/>
                <a:ea typeface="Fraunces Medium"/>
                <a:cs typeface="Fraunces Medium"/>
                <a:sym typeface="Fraunces Medium"/>
              </a:rPr>
              <a:t>Políticas de Respaldo</a:t>
            </a:r>
            <a:endParaRPr b="0" i="0" sz="1900" u="none" cap="none" strike="noStrike"/>
          </a:p>
        </p:txBody>
      </p:sp>
      <p:sp>
        <p:nvSpPr>
          <p:cNvPr id="279" name="Google Shape;279;p12"/>
          <p:cNvSpPr/>
          <p:nvPr/>
        </p:nvSpPr>
        <p:spPr>
          <a:xfrm>
            <a:off x="7618809" y="4553545"/>
            <a:ext cx="6116360" cy="946904"/>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EBECEF"/>
              </a:buClr>
              <a:buSzPts val="1550"/>
              <a:buFont typeface="Epilogue"/>
              <a:buNone/>
            </a:pPr>
            <a:r>
              <a:rPr b="0" i="0" lang="en-US" sz="1550" u="none" cap="none" strike="noStrike">
                <a:solidFill>
                  <a:srgbClr val="EBECEF"/>
                </a:solidFill>
                <a:latin typeface="Epilogue"/>
                <a:ea typeface="Epilogue"/>
                <a:cs typeface="Epilogue"/>
                <a:sym typeface="Epilogue"/>
              </a:rPr>
              <a:t>Establecer pautas claras sobre la frecuencia, el alcance y los procedimientos de respaldo es crucial para asegurar la integridad de los datos.</a:t>
            </a:r>
            <a:endParaRPr b="0" i="0" sz="1550" u="none" cap="none" strike="noStrike"/>
          </a:p>
        </p:txBody>
      </p:sp>
      <p:sp>
        <p:nvSpPr>
          <p:cNvPr id="280" name="Google Shape;280;p12"/>
          <p:cNvSpPr/>
          <p:nvPr/>
        </p:nvSpPr>
        <p:spPr>
          <a:xfrm>
            <a:off x="690443" y="5902643"/>
            <a:ext cx="6526173" cy="1783199"/>
          </a:xfrm>
          <a:prstGeom prst="roundRect">
            <a:avLst>
              <a:gd fmla="val 4647"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2"/>
          <p:cNvSpPr/>
          <p:nvPr/>
        </p:nvSpPr>
        <p:spPr>
          <a:xfrm>
            <a:off x="895350" y="6107549"/>
            <a:ext cx="2982992" cy="308134"/>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BECEF"/>
              </a:buClr>
              <a:buSzPts val="1900"/>
              <a:buFont typeface="Fraunces Medium"/>
              <a:buNone/>
            </a:pPr>
            <a:r>
              <a:rPr b="0" i="0" lang="en-US" sz="1900" u="none" cap="none" strike="noStrike">
                <a:solidFill>
                  <a:srgbClr val="EBECEF"/>
                </a:solidFill>
                <a:latin typeface="Fraunces Medium"/>
                <a:ea typeface="Fraunces Medium"/>
                <a:cs typeface="Fraunces Medium"/>
                <a:sym typeface="Fraunces Medium"/>
              </a:rPr>
              <a:t>Pruebas de Recuperación</a:t>
            </a:r>
            <a:endParaRPr b="0" i="0" sz="1900" u="none" cap="none" strike="noStrike"/>
          </a:p>
        </p:txBody>
      </p:sp>
      <p:sp>
        <p:nvSpPr>
          <p:cNvPr id="282" name="Google Shape;282;p12"/>
          <p:cNvSpPr/>
          <p:nvPr/>
        </p:nvSpPr>
        <p:spPr>
          <a:xfrm>
            <a:off x="895350" y="6534031"/>
            <a:ext cx="6116360" cy="946904"/>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EBECEF"/>
              </a:buClr>
              <a:buSzPts val="1550"/>
              <a:buFont typeface="Epilogue"/>
              <a:buNone/>
            </a:pPr>
            <a:r>
              <a:rPr b="0" i="0" lang="en-US" sz="1550" u="none" cap="none" strike="noStrike">
                <a:solidFill>
                  <a:srgbClr val="EBECEF"/>
                </a:solidFill>
                <a:latin typeface="Epilogue"/>
                <a:ea typeface="Epilogue"/>
                <a:cs typeface="Epilogue"/>
                <a:sym typeface="Epilogue"/>
              </a:rPr>
              <a:t>Realizar simulaciones periódicas de escenarios de falla y probar los procesos de recuperación ayuda a identificar y solucionar problemas antes de que ocurra una crisis real.</a:t>
            </a:r>
            <a:endParaRPr b="0" i="0" sz="1550" u="none" cap="none" strike="noStrike"/>
          </a:p>
        </p:txBody>
      </p:sp>
      <p:sp>
        <p:nvSpPr>
          <p:cNvPr id="283" name="Google Shape;283;p12"/>
          <p:cNvSpPr/>
          <p:nvPr/>
        </p:nvSpPr>
        <p:spPr>
          <a:xfrm>
            <a:off x="7413903" y="5902643"/>
            <a:ext cx="6526173" cy="1783199"/>
          </a:xfrm>
          <a:prstGeom prst="roundRect">
            <a:avLst>
              <a:gd fmla="val 4647"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2"/>
          <p:cNvSpPr/>
          <p:nvPr/>
        </p:nvSpPr>
        <p:spPr>
          <a:xfrm>
            <a:off x="7618809" y="6107549"/>
            <a:ext cx="3059668" cy="308134"/>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BECEF"/>
              </a:buClr>
              <a:buSzPts val="1900"/>
              <a:buFont typeface="Fraunces Medium"/>
              <a:buNone/>
            </a:pPr>
            <a:r>
              <a:rPr b="0" i="0" lang="en-US" sz="1900" u="none" cap="none" strike="noStrike">
                <a:solidFill>
                  <a:srgbClr val="EBECEF"/>
                </a:solidFill>
                <a:latin typeface="Fraunces Medium"/>
                <a:ea typeface="Fraunces Medium"/>
                <a:cs typeface="Fraunces Medium"/>
                <a:sym typeface="Fraunces Medium"/>
              </a:rPr>
              <a:t>Documentación Detallada</a:t>
            </a:r>
            <a:endParaRPr b="0" i="0" sz="1900" u="none" cap="none" strike="noStrike"/>
          </a:p>
        </p:txBody>
      </p:sp>
      <p:sp>
        <p:nvSpPr>
          <p:cNvPr id="285" name="Google Shape;285;p12"/>
          <p:cNvSpPr/>
          <p:nvPr/>
        </p:nvSpPr>
        <p:spPr>
          <a:xfrm>
            <a:off x="7618809" y="6534031"/>
            <a:ext cx="6116360" cy="946904"/>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EBECEF"/>
              </a:buClr>
              <a:buSzPts val="1550"/>
              <a:buFont typeface="Epilogue"/>
              <a:buNone/>
            </a:pPr>
            <a:r>
              <a:rPr b="0" i="0" lang="en-US" sz="1550" u="none" cap="none" strike="noStrike">
                <a:solidFill>
                  <a:srgbClr val="EBECEF"/>
                </a:solidFill>
                <a:latin typeface="Epilogue"/>
                <a:ea typeface="Epilogue"/>
                <a:cs typeface="Epilogue"/>
                <a:sym typeface="Epilogue"/>
              </a:rPr>
              <a:t>Mantener registros precisos de los procedimientos, los cronogramas y los resultados de los respaldos y las recuperaciones facilita la resolución de problemas.</a:t>
            </a:r>
            <a:endParaRPr b="0" i="0" sz="1550" u="none" cap="none" strike="noStrike"/>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descr="preencoded.png" id="291" name="Google Shape;291;p13"/>
          <p:cNvPicPr preferRelativeResize="0"/>
          <p:nvPr/>
        </p:nvPicPr>
        <p:blipFill rotWithShape="1">
          <a:blip r:embed="rId3">
            <a:alphaModFix/>
          </a:blip>
          <a:srcRect b="0" l="0" r="0" t="0"/>
          <a:stretch/>
        </p:blipFill>
        <p:spPr>
          <a:xfrm>
            <a:off x="0" y="0"/>
            <a:ext cx="5486400" cy="8229600"/>
          </a:xfrm>
          <a:prstGeom prst="rect">
            <a:avLst/>
          </a:prstGeom>
          <a:noFill/>
          <a:ln>
            <a:noFill/>
          </a:ln>
        </p:spPr>
      </p:pic>
      <p:pic>
        <p:nvPicPr>
          <p:cNvPr descr="preencoded.png" id="292" name="Google Shape;292;p13"/>
          <p:cNvPicPr preferRelativeResize="0"/>
          <p:nvPr/>
        </p:nvPicPr>
        <p:blipFill rotWithShape="1">
          <a:blip r:embed="rId4">
            <a:alphaModFix/>
          </a:blip>
          <a:srcRect b="0" l="0" r="0" t="0"/>
          <a:stretch/>
        </p:blipFill>
        <p:spPr>
          <a:xfrm>
            <a:off x="251936" y="2501622"/>
            <a:ext cx="4982528" cy="3226237"/>
          </a:xfrm>
          <a:prstGeom prst="rect">
            <a:avLst/>
          </a:prstGeom>
          <a:noFill/>
          <a:ln>
            <a:noFill/>
          </a:ln>
        </p:spPr>
      </p:pic>
      <p:sp>
        <p:nvSpPr>
          <p:cNvPr id="293" name="Google Shape;293;p13"/>
          <p:cNvSpPr/>
          <p:nvPr/>
        </p:nvSpPr>
        <p:spPr>
          <a:xfrm>
            <a:off x="6191726" y="600908"/>
            <a:ext cx="7733348" cy="1259681"/>
          </a:xfrm>
          <a:prstGeom prst="rect">
            <a:avLst/>
          </a:prstGeom>
          <a:noFill/>
          <a:ln>
            <a:noFill/>
          </a:ln>
        </p:spPr>
        <p:txBody>
          <a:bodyPr anchorCtr="0" anchor="t" bIns="0" lIns="0" spcFirstLastPara="1" rIns="0" wrap="square" tIns="0">
            <a:noAutofit/>
          </a:bodyPr>
          <a:lstStyle/>
          <a:p>
            <a:pPr indent="0" lvl="0" marL="0" marR="0" rtl="0" algn="l">
              <a:lnSpc>
                <a:spcPct val="125316"/>
              </a:lnSpc>
              <a:spcBef>
                <a:spcPts val="0"/>
              </a:spcBef>
              <a:spcAft>
                <a:spcPts val="0"/>
              </a:spcAft>
              <a:buClr>
                <a:srgbClr val="FFFFFF"/>
              </a:buClr>
              <a:buSzPts val="3950"/>
              <a:buFont typeface="Fraunces Medium"/>
              <a:buNone/>
            </a:pPr>
            <a:r>
              <a:rPr b="0" i="0" lang="en-US" sz="3950" u="none" cap="none" strike="noStrike">
                <a:solidFill>
                  <a:srgbClr val="FFFFFF"/>
                </a:solidFill>
                <a:latin typeface="Fraunces Medium"/>
                <a:ea typeface="Fraunces Medium"/>
                <a:cs typeface="Fraunces Medium"/>
                <a:sym typeface="Fraunces Medium"/>
              </a:rPr>
              <a:t>Implementar Planes con Respaldos</a:t>
            </a:r>
            <a:endParaRPr b="0" i="0" sz="3950" u="none" cap="none" strike="noStrike"/>
          </a:p>
        </p:txBody>
      </p:sp>
      <p:pic>
        <p:nvPicPr>
          <p:cNvPr descr="preencoded.png" id="294" name="Google Shape;294;p13"/>
          <p:cNvPicPr preferRelativeResize="0"/>
          <p:nvPr/>
        </p:nvPicPr>
        <p:blipFill rotWithShape="1">
          <a:blip r:embed="rId5">
            <a:alphaModFix/>
          </a:blip>
          <a:srcRect b="0" l="0" r="0" t="0"/>
          <a:stretch/>
        </p:blipFill>
        <p:spPr>
          <a:xfrm>
            <a:off x="6191726" y="2162770"/>
            <a:ext cx="503753" cy="503753"/>
          </a:xfrm>
          <a:prstGeom prst="rect">
            <a:avLst/>
          </a:prstGeom>
          <a:noFill/>
          <a:ln>
            <a:noFill/>
          </a:ln>
        </p:spPr>
      </p:pic>
      <p:sp>
        <p:nvSpPr>
          <p:cNvPr id="295" name="Google Shape;295;p13"/>
          <p:cNvSpPr/>
          <p:nvPr/>
        </p:nvSpPr>
        <p:spPr>
          <a:xfrm>
            <a:off x="6191726" y="2867978"/>
            <a:ext cx="2581275" cy="31492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Respaldos Completos</a:t>
            </a:r>
            <a:endParaRPr b="0" i="0" sz="1950" u="none" cap="none" strike="noStrike"/>
          </a:p>
        </p:txBody>
      </p:sp>
      <p:sp>
        <p:nvSpPr>
          <p:cNvPr id="296" name="Google Shape;296;p13"/>
          <p:cNvSpPr/>
          <p:nvPr/>
        </p:nvSpPr>
        <p:spPr>
          <a:xfrm>
            <a:off x="6191726" y="3303746"/>
            <a:ext cx="3715583" cy="1289685"/>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EBECEF"/>
              </a:buClr>
              <a:buSzPts val="1550"/>
              <a:buFont typeface="Epilogue"/>
              <a:buNone/>
            </a:pPr>
            <a:r>
              <a:rPr b="0" i="0" lang="en-US" sz="1550" u="none" cap="none" strike="noStrike">
                <a:solidFill>
                  <a:srgbClr val="EBECEF"/>
                </a:solidFill>
                <a:latin typeface="Epilogue"/>
                <a:ea typeface="Epilogue"/>
                <a:cs typeface="Epilogue"/>
                <a:sym typeface="Epilogue"/>
              </a:rPr>
              <a:t>Crear una copia de seguridad completa de la base de datos para asegurar la recuperación de todos los datos en caso de falla.</a:t>
            </a:r>
            <a:endParaRPr b="0" i="0" sz="1550" u="none" cap="none" strike="noStrike"/>
          </a:p>
        </p:txBody>
      </p:sp>
      <p:pic>
        <p:nvPicPr>
          <p:cNvPr descr="preencoded.png" id="297" name="Google Shape;297;p13"/>
          <p:cNvPicPr preferRelativeResize="0"/>
          <p:nvPr/>
        </p:nvPicPr>
        <p:blipFill rotWithShape="1">
          <a:blip r:embed="rId6">
            <a:alphaModFix/>
          </a:blip>
          <a:srcRect b="0" l="0" r="0" t="0"/>
          <a:stretch/>
        </p:blipFill>
        <p:spPr>
          <a:xfrm>
            <a:off x="10209490" y="2162770"/>
            <a:ext cx="503753" cy="503753"/>
          </a:xfrm>
          <a:prstGeom prst="rect">
            <a:avLst/>
          </a:prstGeom>
          <a:noFill/>
          <a:ln>
            <a:noFill/>
          </a:ln>
        </p:spPr>
      </p:pic>
      <p:sp>
        <p:nvSpPr>
          <p:cNvPr id="298" name="Google Shape;298;p13"/>
          <p:cNvSpPr/>
          <p:nvPr/>
        </p:nvSpPr>
        <p:spPr>
          <a:xfrm>
            <a:off x="10209490" y="2867978"/>
            <a:ext cx="3021449" cy="31492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Respaldos Incrementales</a:t>
            </a:r>
            <a:endParaRPr b="0" i="0" sz="1950" u="none" cap="none" strike="noStrike"/>
          </a:p>
        </p:txBody>
      </p:sp>
      <p:sp>
        <p:nvSpPr>
          <p:cNvPr id="299" name="Google Shape;299;p13"/>
          <p:cNvSpPr/>
          <p:nvPr/>
        </p:nvSpPr>
        <p:spPr>
          <a:xfrm>
            <a:off x="10209490" y="3303746"/>
            <a:ext cx="3715583" cy="1289685"/>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EBECEF"/>
              </a:buClr>
              <a:buSzPts val="1550"/>
              <a:buFont typeface="Epilogue"/>
              <a:buNone/>
            </a:pPr>
            <a:r>
              <a:rPr b="0" i="0" lang="en-US" sz="1550" u="none" cap="none" strike="noStrike">
                <a:solidFill>
                  <a:srgbClr val="EBECEF"/>
                </a:solidFill>
                <a:latin typeface="Epilogue"/>
                <a:ea typeface="Epilogue"/>
                <a:cs typeface="Epilogue"/>
                <a:sym typeface="Epilogue"/>
              </a:rPr>
              <a:t>Realizar respaldos increméntales periódicamente para capturar solamente los cambios desde el último respaldo completo.</a:t>
            </a:r>
            <a:endParaRPr b="0" i="0" sz="1550" u="none" cap="none" strike="noStrike"/>
          </a:p>
        </p:txBody>
      </p:sp>
      <p:pic>
        <p:nvPicPr>
          <p:cNvPr descr="preencoded.png" id="300" name="Google Shape;300;p13"/>
          <p:cNvPicPr preferRelativeResize="0"/>
          <p:nvPr/>
        </p:nvPicPr>
        <p:blipFill rotWithShape="1">
          <a:blip r:embed="rId7">
            <a:alphaModFix/>
          </a:blip>
          <a:srcRect b="0" l="0" r="0" t="0"/>
          <a:stretch/>
        </p:blipFill>
        <p:spPr>
          <a:xfrm>
            <a:off x="6191726" y="5197912"/>
            <a:ext cx="503753" cy="503753"/>
          </a:xfrm>
          <a:prstGeom prst="rect">
            <a:avLst/>
          </a:prstGeom>
          <a:noFill/>
          <a:ln>
            <a:noFill/>
          </a:ln>
        </p:spPr>
      </p:pic>
      <p:sp>
        <p:nvSpPr>
          <p:cNvPr id="301" name="Google Shape;301;p13"/>
          <p:cNvSpPr/>
          <p:nvPr/>
        </p:nvSpPr>
        <p:spPr>
          <a:xfrm>
            <a:off x="6191726" y="5903119"/>
            <a:ext cx="2519005" cy="31492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Planificación</a:t>
            </a:r>
            <a:endParaRPr b="0" i="0" sz="1950" u="none" cap="none" strike="noStrike"/>
          </a:p>
        </p:txBody>
      </p:sp>
      <p:sp>
        <p:nvSpPr>
          <p:cNvPr id="302" name="Google Shape;302;p13"/>
          <p:cNvSpPr/>
          <p:nvPr/>
        </p:nvSpPr>
        <p:spPr>
          <a:xfrm>
            <a:off x="6191726" y="6338888"/>
            <a:ext cx="3715583" cy="1289685"/>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EBECEF"/>
              </a:buClr>
              <a:buSzPts val="1550"/>
              <a:buFont typeface="Epilogue"/>
              <a:buNone/>
            </a:pPr>
            <a:r>
              <a:rPr b="0" i="0" lang="en-US" sz="1550" u="none" cap="none" strike="noStrike">
                <a:solidFill>
                  <a:srgbClr val="EBECEF"/>
                </a:solidFill>
                <a:latin typeface="Epilogue"/>
                <a:ea typeface="Epilogue"/>
                <a:cs typeface="Epilogue"/>
                <a:sym typeface="Epilogue"/>
              </a:rPr>
              <a:t>Establecer un cronograma de respaldos que se ajuste a las necesidades del negocio y permita recuperación rápida ante incidentes.</a:t>
            </a:r>
            <a:endParaRPr b="0" i="0" sz="1550" u="none" cap="none" strike="noStrike"/>
          </a:p>
        </p:txBody>
      </p:sp>
      <p:pic>
        <p:nvPicPr>
          <p:cNvPr descr="preencoded.png" id="303" name="Google Shape;303;p13"/>
          <p:cNvPicPr preferRelativeResize="0"/>
          <p:nvPr/>
        </p:nvPicPr>
        <p:blipFill rotWithShape="1">
          <a:blip r:embed="rId8">
            <a:alphaModFix/>
          </a:blip>
          <a:srcRect b="0" l="0" r="0" t="0"/>
          <a:stretch/>
        </p:blipFill>
        <p:spPr>
          <a:xfrm>
            <a:off x="10209490" y="5197912"/>
            <a:ext cx="503753" cy="503753"/>
          </a:xfrm>
          <a:prstGeom prst="rect">
            <a:avLst/>
          </a:prstGeom>
          <a:noFill/>
          <a:ln>
            <a:noFill/>
          </a:ln>
        </p:spPr>
      </p:pic>
      <p:sp>
        <p:nvSpPr>
          <p:cNvPr id="304" name="Google Shape;304;p13"/>
          <p:cNvSpPr/>
          <p:nvPr/>
        </p:nvSpPr>
        <p:spPr>
          <a:xfrm>
            <a:off x="10209490" y="5903119"/>
            <a:ext cx="2953107" cy="31492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Almacenamiento Seguro</a:t>
            </a:r>
            <a:endParaRPr b="0" i="0" sz="1950" u="none" cap="none" strike="noStrike"/>
          </a:p>
        </p:txBody>
      </p:sp>
      <p:sp>
        <p:nvSpPr>
          <p:cNvPr id="305" name="Google Shape;305;p13"/>
          <p:cNvSpPr/>
          <p:nvPr/>
        </p:nvSpPr>
        <p:spPr>
          <a:xfrm>
            <a:off x="10209490" y="6338888"/>
            <a:ext cx="3715583" cy="1289685"/>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EBECEF"/>
              </a:buClr>
              <a:buSzPts val="1550"/>
              <a:buFont typeface="Epilogue"/>
              <a:buNone/>
            </a:pPr>
            <a:r>
              <a:rPr b="0" i="0" lang="en-US" sz="1550" u="none" cap="none" strike="noStrike">
                <a:solidFill>
                  <a:srgbClr val="EBECEF"/>
                </a:solidFill>
                <a:latin typeface="Epilogue"/>
                <a:ea typeface="Epilogue"/>
                <a:cs typeface="Epilogue"/>
                <a:sym typeface="Epilogue"/>
              </a:rPr>
              <a:t>Asegurar el almacenamiento de los respaldos en ubicaciones seguras y confiables, protegidos contra pérdida, robo o daños.</a:t>
            </a:r>
            <a:endParaRPr b="0" i="0" sz="1550" u="none" cap="none" strike="noStrike"/>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pic>
        <p:nvPicPr>
          <p:cNvPr descr="preencoded.png" id="311" name="Google Shape;311;p14"/>
          <p:cNvPicPr preferRelativeResize="0"/>
          <p:nvPr/>
        </p:nvPicPr>
        <p:blipFill rotWithShape="1">
          <a:blip r:embed="rId3">
            <a:alphaModFix/>
          </a:blip>
          <a:srcRect b="0" l="0" r="0" t="0"/>
          <a:stretch/>
        </p:blipFill>
        <p:spPr>
          <a:xfrm>
            <a:off x="0" y="0"/>
            <a:ext cx="5486400" cy="8229600"/>
          </a:xfrm>
          <a:prstGeom prst="rect">
            <a:avLst/>
          </a:prstGeom>
          <a:noFill/>
          <a:ln>
            <a:noFill/>
          </a:ln>
        </p:spPr>
      </p:pic>
      <p:pic>
        <p:nvPicPr>
          <p:cNvPr descr="preencoded.png" id="312" name="Google Shape;312;p14"/>
          <p:cNvPicPr preferRelativeResize="0"/>
          <p:nvPr/>
        </p:nvPicPr>
        <p:blipFill rotWithShape="1">
          <a:blip r:embed="rId4">
            <a:alphaModFix/>
          </a:blip>
          <a:srcRect b="0" l="0" r="0" t="0"/>
          <a:stretch/>
        </p:blipFill>
        <p:spPr>
          <a:xfrm>
            <a:off x="253603" y="2143006"/>
            <a:ext cx="4979075" cy="3943469"/>
          </a:xfrm>
          <a:prstGeom prst="rect">
            <a:avLst/>
          </a:prstGeom>
          <a:noFill/>
          <a:ln>
            <a:noFill/>
          </a:ln>
        </p:spPr>
      </p:pic>
      <p:sp>
        <p:nvSpPr>
          <p:cNvPr id="313" name="Google Shape;313;p14"/>
          <p:cNvSpPr/>
          <p:nvPr/>
        </p:nvSpPr>
        <p:spPr>
          <a:xfrm>
            <a:off x="6196489" y="779026"/>
            <a:ext cx="7723823" cy="1268016"/>
          </a:xfrm>
          <a:prstGeom prst="rect">
            <a:avLst/>
          </a:prstGeom>
          <a:noFill/>
          <a:ln>
            <a:noFill/>
          </a:ln>
        </p:spPr>
        <p:txBody>
          <a:bodyPr anchorCtr="0" anchor="t" bIns="0" lIns="0" spcFirstLastPara="1" rIns="0" wrap="square" tIns="0">
            <a:noAutofit/>
          </a:bodyPr>
          <a:lstStyle/>
          <a:p>
            <a:pPr indent="0" lvl="0" marL="0" marR="0" rtl="0" algn="l">
              <a:lnSpc>
                <a:spcPct val="125316"/>
              </a:lnSpc>
              <a:spcBef>
                <a:spcPts val="0"/>
              </a:spcBef>
              <a:spcAft>
                <a:spcPts val="0"/>
              </a:spcAft>
              <a:buClr>
                <a:srgbClr val="FFFFFF"/>
              </a:buClr>
              <a:buSzPts val="3950"/>
              <a:buFont typeface="Fraunces Medium"/>
              <a:buNone/>
            </a:pPr>
            <a:r>
              <a:rPr b="0" i="0" lang="en-US" sz="3950" u="none" cap="none" strike="noStrike">
                <a:solidFill>
                  <a:srgbClr val="FFFFFF"/>
                </a:solidFill>
                <a:latin typeface="Fraunces Medium"/>
                <a:ea typeface="Fraunces Medium"/>
                <a:cs typeface="Fraunces Medium"/>
                <a:sym typeface="Fraunces Medium"/>
              </a:rPr>
              <a:t>Utilizar Herramientas Avanzadas</a:t>
            </a:r>
            <a:endParaRPr b="0" i="0" sz="3950" u="none" cap="none" strike="noStrike"/>
          </a:p>
        </p:txBody>
      </p:sp>
      <p:sp>
        <p:nvSpPr>
          <p:cNvPr id="314" name="Google Shape;314;p14"/>
          <p:cNvSpPr/>
          <p:nvPr/>
        </p:nvSpPr>
        <p:spPr>
          <a:xfrm>
            <a:off x="6196489" y="2579608"/>
            <a:ext cx="355044" cy="355044"/>
          </a:xfrm>
          <a:prstGeom prst="roundRect">
            <a:avLst>
              <a:gd fmla="val 24002"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4"/>
          <p:cNvSpPr/>
          <p:nvPr/>
        </p:nvSpPr>
        <p:spPr>
          <a:xfrm>
            <a:off x="6754416" y="2579608"/>
            <a:ext cx="3202543" cy="633889"/>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Herramientas de Respaldo Automatizado</a:t>
            </a:r>
            <a:endParaRPr b="0" i="0" sz="1950" u="none" cap="none" strike="noStrike"/>
          </a:p>
        </p:txBody>
      </p:sp>
      <p:sp>
        <p:nvSpPr>
          <p:cNvPr id="316" name="Google Shape;316;p14"/>
          <p:cNvSpPr/>
          <p:nvPr/>
        </p:nvSpPr>
        <p:spPr>
          <a:xfrm>
            <a:off x="6754416" y="3335179"/>
            <a:ext cx="3202543" cy="1298258"/>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EBECEF"/>
              </a:buClr>
              <a:buSzPts val="1550"/>
              <a:buFont typeface="Epilogue"/>
              <a:buNone/>
            </a:pPr>
            <a:r>
              <a:rPr b="0" i="0" lang="en-US" sz="1550" u="none" cap="none" strike="noStrike">
                <a:solidFill>
                  <a:srgbClr val="EBECEF"/>
                </a:solidFill>
                <a:latin typeface="Epilogue"/>
                <a:ea typeface="Epilogue"/>
                <a:cs typeface="Epilogue"/>
                <a:sym typeface="Epilogue"/>
              </a:rPr>
              <a:t>Utilizar software especializado que realiza respaldos de datos de forma programada y sin intervención manual.</a:t>
            </a:r>
            <a:endParaRPr b="0" i="0" sz="1550" u="none" cap="none" strike="noStrike"/>
          </a:p>
        </p:txBody>
      </p:sp>
      <p:sp>
        <p:nvSpPr>
          <p:cNvPr id="317" name="Google Shape;317;p14"/>
          <p:cNvSpPr/>
          <p:nvPr/>
        </p:nvSpPr>
        <p:spPr>
          <a:xfrm>
            <a:off x="10159841" y="2579608"/>
            <a:ext cx="355044" cy="355044"/>
          </a:xfrm>
          <a:prstGeom prst="roundRect">
            <a:avLst>
              <a:gd fmla="val 24002"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4"/>
          <p:cNvSpPr/>
          <p:nvPr/>
        </p:nvSpPr>
        <p:spPr>
          <a:xfrm>
            <a:off x="10717768" y="2579608"/>
            <a:ext cx="3202543" cy="633889"/>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Herramientas de Recuperación Integral</a:t>
            </a:r>
            <a:endParaRPr b="0" i="0" sz="1950" u="none" cap="none" strike="noStrike"/>
          </a:p>
        </p:txBody>
      </p:sp>
      <p:sp>
        <p:nvSpPr>
          <p:cNvPr id="319" name="Google Shape;319;p14"/>
          <p:cNvSpPr/>
          <p:nvPr/>
        </p:nvSpPr>
        <p:spPr>
          <a:xfrm>
            <a:off x="10717768" y="3335179"/>
            <a:ext cx="3202543" cy="1622822"/>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EBECEF"/>
              </a:buClr>
              <a:buSzPts val="1550"/>
              <a:buFont typeface="Epilogue"/>
              <a:buNone/>
            </a:pPr>
            <a:r>
              <a:rPr b="0" i="0" lang="en-US" sz="1550" u="none" cap="none" strike="noStrike">
                <a:solidFill>
                  <a:srgbClr val="EBECEF"/>
                </a:solidFill>
                <a:latin typeface="Epilogue"/>
                <a:ea typeface="Epilogue"/>
                <a:cs typeface="Epilogue"/>
                <a:sym typeface="Epilogue"/>
              </a:rPr>
              <a:t>Contar con aplicaciones que permiten restaurar la base de datos completa o archivos individuales de manera rápida y eficiente.</a:t>
            </a:r>
            <a:endParaRPr b="0" i="0" sz="1550" u="none" cap="none" strike="noStrike"/>
          </a:p>
        </p:txBody>
      </p:sp>
      <p:sp>
        <p:nvSpPr>
          <p:cNvPr id="320" name="Google Shape;320;p14"/>
          <p:cNvSpPr/>
          <p:nvPr/>
        </p:nvSpPr>
        <p:spPr>
          <a:xfrm>
            <a:off x="6196489" y="5389126"/>
            <a:ext cx="355044" cy="355044"/>
          </a:xfrm>
          <a:prstGeom prst="roundRect">
            <a:avLst>
              <a:gd fmla="val 24002"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4"/>
          <p:cNvSpPr/>
          <p:nvPr/>
        </p:nvSpPr>
        <p:spPr>
          <a:xfrm>
            <a:off x="6754416" y="5389126"/>
            <a:ext cx="3189089" cy="316944"/>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Monitoreo en Tiempo Real</a:t>
            </a:r>
            <a:endParaRPr b="0" i="0" sz="1950" u="none" cap="none" strike="noStrike"/>
          </a:p>
        </p:txBody>
      </p:sp>
      <p:sp>
        <p:nvSpPr>
          <p:cNvPr id="322" name="Google Shape;322;p14"/>
          <p:cNvSpPr/>
          <p:nvPr/>
        </p:nvSpPr>
        <p:spPr>
          <a:xfrm>
            <a:off x="6754416" y="5827752"/>
            <a:ext cx="3202543" cy="1622822"/>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EBECEF"/>
              </a:buClr>
              <a:buSzPts val="1550"/>
              <a:buFont typeface="Epilogue"/>
              <a:buNone/>
            </a:pPr>
            <a:r>
              <a:rPr b="0" i="0" lang="en-US" sz="1550" u="none" cap="none" strike="noStrike">
                <a:solidFill>
                  <a:srgbClr val="EBECEF"/>
                </a:solidFill>
                <a:latin typeface="Epilogue"/>
                <a:ea typeface="Epilogue"/>
                <a:cs typeface="Epilogue"/>
                <a:sym typeface="Epilogue"/>
              </a:rPr>
              <a:t>Implementar soluciones que vigilen constantemente la integridad de los datos y generen alertas ante posibles incidentes.</a:t>
            </a:r>
            <a:endParaRPr b="0" i="0" sz="1550" u="none" cap="none" strike="noStrike"/>
          </a:p>
        </p:txBody>
      </p:sp>
      <p:sp>
        <p:nvSpPr>
          <p:cNvPr id="323" name="Google Shape;323;p14"/>
          <p:cNvSpPr/>
          <p:nvPr/>
        </p:nvSpPr>
        <p:spPr>
          <a:xfrm>
            <a:off x="10159841" y="5389126"/>
            <a:ext cx="355044" cy="355044"/>
          </a:xfrm>
          <a:prstGeom prst="roundRect">
            <a:avLst>
              <a:gd fmla="val 24002"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4"/>
          <p:cNvSpPr/>
          <p:nvPr/>
        </p:nvSpPr>
        <p:spPr>
          <a:xfrm>
            <a:off x="10717768" y="5389126"/>
            <a:ext cx="3082766" cy="316944"/>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Simulación de Escenarios</a:t>
            </a:r>
            <a:endParaRPr b="0" i="0" sz="1950" u="none" cap="none" strike="noStrike"/>
          </a:p>
        </p:txBody>
      </p:sp>
      <p:sp>
        <p:nvSpPr>
          <p:cNvPr id="325" name="Google Shape;325;p14"/>
          <p:cNvSpPr/>
          <p:nvPr/>
        </p:nvSpPr>
        <p:spPr>
          <a:xfrm>
            <a:off x="10717768" y="5827752"/>
            <a:ext cx="3202543" cy="1622822"/>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EBECEF"/>
              </a:buClr>
              <a:buSzPts val="1550"/>
              <a:buFont typeface="Epilogue"/>
              <a:buNone/>
            </a:pPr>
            <a:r>
              <a:rPr b="0" i="0" lang="en-US" sz="1550" u="none" cap="none" strike="noStrike">
                <a:solidFill>
                  <a:srgbClr val="EBECEF"/>
                </a:solidFill>
                <a:latin typeface="Epilogue"/>
                <a:ea typeface="Epilogue"/>
                <a:cs typeface="Epilogue"/>
                <a:sym typeface="Epilogue"/>
              </a:rPr>
              <a:t>Probar los planes de recuperación en entornos controlados para validar su efectividad antes de enfrentar una situación real.</a:t>
            </a:r>
            <a:endParaRPr b="0" i="0" sz="1550" u="none" cap="none" strike="noStrike"/>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descr="preencoded.png" id="331" name="Google Shape;331;p15"/>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332" name="Google Shape;332;p15"/>
          <p:cNvSpPr/>
          <p:nvPr/>
        </p:nvSpPr>
        <p:spPr>
          <a:xfrm>
            <a:off x="760095" y="770692"/>
            <a:ext cx="7623810" cy="1357313"/>
          </a:xfrm>
          <a:prstGeom prst="rect">
            <a:avLst/>
          </a:prstGeom>
          <a:noFill/>
          <a:ln>
            <a:noFill/>
          </a:ln>
        </p:spPr>
        <p:txBody>
          <a:bodyPr anchorCtr="0" anchor="t" bIns="0" lIns="0" spcFirstLastPara="1" rIns="0" wrap="square" tIns="0">
            <a:noAutofit/>
          </a:bodyPr>
          <a:lstStyle/>
          <a:p>
            <a:pPr indent="0" lvl="0" marL="0" marR="0" rtl="0" algn="l">
              <a:lnSpc>
                <a:spcPct val="124705"/>
              </a:lnSpc>
              <a:spcBef>
                <a:spcPts val="0"/>
              </a:spcBef>
              <a:spcAft>
                <a:spcPts val="0"/>
              </a:spcAft>
              <a:buClr>
                <a:srgbClr val="FFFFFF"/>
              </a:buClr>
              <a:buSzPts val="4250"/>
              <a:buFont typeface="Fraunces Medium"/>
              <a:buNone/>
            </a:pPr>
            <a:r>
              <a:rPr b="0" i="0" lang="en-US" sz="4250" u="none" cap="none" strike="noStrike">
                <a:solidFill>
                  <a:srgbClr val="FFFFFF"/>
                </a:solidFill>
                <a:latin typeface="Fraunces Medium"/>
                <a:ea typeface="Fraunces Medium"/>
                <a:cs typeface="Fraunces Medium"/>
                <a:sym typeface="Fraunces Medium"/>
              </a:rPr>
              <a:t>Aplicar Conocimientos en Escenarios Reales</a:t>
            </a:r>
            <a:endParaRPr b="0" i="0" sz="4250" u="none" cap="none" strike="noStrike"/>
          </a:p>
        </p:txBody>
      </p:sp>
      <p:sp>
        <p:nvSpPr>
          <p:cNvPr id="333" name="Google Shape;333;p15"/>
          <p:cNvSpPr/>
          <p:nvPr/>
        </p:nvSpPr>
        <p:spPr>
          <a:xfrm>
            <a:off x="760095" y="2453759"/>
            <a:ext cx="7623810" cy="1042273"/>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EBECEF"/>
              </a:buClr>
              <a:buSzPts val="1700"/>
              <a:buFont typeface="Epilogue"/>
              <a:buNone/>
            </a:pPr>
            <a:r>
              <a:rPr b="0" i="0" lang="en-US" sz="1700" u="none" cap="none" strike="noStrike">
                <a:solidFill>
                  <a:srgbClr val="EBECEF"/>
                </a:solidFill>
                <a:latin typeface="Epilogue"/>
                <a:ea typeface="Epilogue"/>
                <a:cs typeface="Epilogue"/>
                <a:sym typeface="Epilogue"/>
              </a:rPr>
              <a:t>Se recomienda poner en práctica los conocimientos sobre recuperación de datos en escenarios de falla simulada, trabajando de manera colaborativa para diseñar y ejecutar soluciones efectivas.</a:t>
            </a:r>
            <a:endParaRPr b="0" i="0" sz="1700" u="none" cap="none" strike="noStrike"/>
          </a:p>
        </p:txBody>
      </p:sp>
      <p:sp>
        <p:nvSpPr>
          <p:cNvPr id="334" name="Google Shape;334;p15"/>
          <p:cNvSpPr/>
          <p:nvPr/>
        </p:nvSpPr>
        <p:spPr>
          <a:xfrm>
            <a:off x="760095" y="3740348"/>
            <a:ext cx="7623810" cy="2431971"/>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EBECEF"/>
              </a:buClr>
              <a:buSzPts val="1700"/>
              <a:buFont typeface="Epilogue"/>
              <a:buNone/>
            </a:pPr>
            <a:r>
              <a:rPr b="0" i="0" lang="en-US" sz="1700" u="none" cap="none" strike="noStrike">
                <a:solidFill>
                  <a:srgbClr val="EBECEF"/>
                </a:solidFill>
                <a:latin typeface="Epilogue"/>
                <a:ea typeface="Epilogue"/>
                <a:cs typeface="Epilogue"/>
                <a:sym typeface="Epilogue"/>
              </a:rPr>
              <a:t>La aplicación de técnicas avanzadas de respaldo y recuperación es esencial para garantizar la integridad de los datos y minimizar el impacto de posibles fallos. Es crucial realizar copias de seguridad periódicas y planificar estrategias de recuperación ante desastres, evaluando métodos como los respaldos completos, incrementales y diferenciales para determinar cuál es el más adecuado según cada necesidad.</a:t>
            </a:r>
            <a:endParaRPr b="0" i="0" sz="1700" u="none" cap="none" strike="noStrike"/>
          </a:p>
        </p:txBody>
      </p:sp>
      <p:sp>
        <p:nvSpPr>
          <p:cNvPr id="335" name="Google Shape;335;p15"/>
          <p:cNvSpPr/>
          <p:nvPr/>
        </p:nvSpPr>
        <p:spPr>
          <a:xfrm>
            <a:off x="760095" y="6416635"/>
            <a:ext cx="7623810" cy="1042273"/>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EBECEF"/>
              </a:buClr>
              <a:buSzPts val="1700"/>
              <a:buFont typeface="Epilogue"/>
              <a:buNone/>
            </a:pPr>
            <a:r>
              <a:rPr b="0" i="0" lang="en-US" sz="1700" u="none" cap="none" strike="noStrike">
                <a:solidFill>
                  <a:srgbClr val="EBECEF"/>
                </a:solidFill>
                <a:latin typeface="Epilogue"/>
                <a:ea typeface="Epilogue"/>
                <a:cs typeface="Epilogue"/>
                <a:sym typeface="Epilogue"/>
              </a:rPr>
              <a:t>Este enfoque asegura que las implementaciones de bases de datos sean robustas y capaces de mantener la continuidad operativa incluso en situaciones críticas.</a:t>
            </a:r>
            <a:endParaRPr b="0" i="0" sz="170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2024-11-05T07:47:13Z</dcterms:created>
  <dc:creator>PptxGenJS</dc:creator>
</cp:coreProperties>
</file>