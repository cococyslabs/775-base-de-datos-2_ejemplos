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8229600" cx="14630400"/>
  <p:notesSz cx="8229600" cy="14630400"/>
  <p:embeddedFontLst>
    <p:embeddedFont>
      <p:font typeface="PT Serif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VXffZHxNow4PqBHxjxpCH7FE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erif-regular.fntdata"/><Relationship Id="rId22" Type="http://schemas.openxmlformats.org/officeDocument/2006/relationships/font" Target="fonts/PTSerif-italic.fntdata"/><Relationship Id="rId21" Type="http://schemas.openxmlformats.org/officeDocument/2006/relationships/font" Target="fonts/PTSerif-bold.fntdata"/><Relationship Id="rId24" Type="http://schemas.openxmlformats.org/officeDocument/2006/relationships/font" Target="fonts/DMSans-regular.fntdata"/><Relationship Id="rId23" Type="http://schemas.openxmlformats.org/officeDocument/2006/relationships/font" Target="fonts/PTSerif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customschemas.google.com/relationships/presentationmetadata" Target="metadata"/><Relationship Id="rId27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36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08672"/>
            <a:ext cx="4919305" cy="281225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/>
          <p:nvPr/>
        </p:nvSpPr>
        <p:spPr>
          <a:xfrm>
            <a:off x="793790" y="1776532"/>
            <a:ext cx="7556421" cy="2232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Implementación de Réplicas en Bases de Datos Distribuidas</a:t>
            </a:r>
            <a:endParaRPr b="0" i="0" sz="4650" u="none" cap="none" strike="noStrike"/>
          </a:p>
        </p:txBody>
      </p:sp>
      <p:sp>
        <p:nvSpPr>
          <p:cNvPr id="64" name="Google Shape;64;p1"/>
          <p:cNvSpPr/>
          <p:nvPr/>
        </p:nvSpPr>
        <p:spPr>
          <a:xfrm>
            <a:off x="793790" y="4349472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Exploraremos los conceptos clave de la replicación de bases de datos, incluyendo tipos, casos de uso, técnicas de integridad de datos y su aplicación práctica en sistemas de gestión de bases de datos como MySQL y PostgreSQL.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607" y="2796778"/>
            <a:ext cx="4919186" cy="26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6280190" y="699849"/>
            <a:ext cx="6056709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¿Qué es la replicación?</a:t>
            </a:r>
            <a:endParaRPr b="0" i="0" sz="46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6280190" y="20394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440091" y="2115860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28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7017306" y="2039422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Definición</a:t>
            </a:r>
            <a:endParaRPr b="0" i="0" sz="23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7017306" y="2547580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es el proceso de mantener múltiples copias sincronizadas de datos en diferentes ubicaciones o servidores.</a:t>
            </a:r>
            <a:endParaRPr b="0" i="0" sz="175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10171867" y="20394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0331768" y="2115860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2800" u="none" cap="none" strike="noStrike"/>
          </a:p>
        </p:txBody>
      </p:sp>
      <p:sp>
        <p:nvSpPr>
          <p:cNvPr id="79" name="Google Shape;79;p2"/>
          <p:cNvSpPr/>
          <p:nvPr/>
        </p:nvSpPr>
        <p:spPr>
          <a:xfrm>
            <a:off x="10908983" y="2039422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Objetivo</a:t>
            </a:r>
            <a:endParaRPr b="0" i="0" sz="2300" u="none" cap="none" strike="noStrike"/>
          </a:p>
        </p:txBody>
      </p:sp>
      <p:sp>
        <p:nvSpPr>
          <p:cNvPr id="80" name="Google Shape;80;p2"/>
          <p:cNvSpPr/>
          <p:nvPr/>
        </p:nvSpPr>
        <p:spPr>
          <a:xfrm>
            <a:off x="10908983" y="2547580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Su propósito principal es aumentar la disponibilidad, escalabilidad y tolerancia a fallas de los sistemas de bases de datos.</a:t>
            </a:r>
            <a:endParaRPr b="0" i="0" sz="175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6280190" y="484405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440091" y="4920496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2800" u="none" cap="none" strike="noStrike"/>
          </a:p>
        </p:txBody>
      </p:sp>
      <p:sp>
        <p:nvSpPr>
          <p:cNvPr id="83" name="Google Shape;83;p2"/>
          <p:cNvSpPr/>
          <p:nvPr/>
        </p:nvSpPr>
        <p:spPr>
          <a:xfrm>
            <a:off x="7017306" y="4844058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Componentes</a:t>
            </a:r>
            <a:endParaRPr b="0" i="0" sz="230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7017306" y="5352217"/>
            <a:ext cx="2927747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Incluye un servidor principal (maestro) y uno o más servidores secundarios (esclavos) que reciben actualizaciones del maestro.</a:t>
            </a:r>
            <a:endParaRPr b="0" i="0" sz="175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10171867" y="484405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10331768" y="4920496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b="0" i="0" sz="28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10908983" y="4844058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Ventajas</a:t>
            </a:r>
            <a:endParaRPr b="0" i="0" sz="23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10908983" y="5352217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Mejora el rendimiento, la alta disponibilidad y la redundancia de los datos, lo que es crucial para aplicaciones críticas.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793790" y="939284"/>
            <a:ext cx="12449770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Tipos de replicación: Sincrónica vs Asincrónica</a:t>
            </a:r>
            <a:endParaRPr b="0" i="0" sz="4650" u="none" cap="none" strike="noStrike"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37172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793790" y="4967407"/>
            <a:ext cx="301025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Replicación Sincrónica</a:t>
            </a:r>
            <a:endParaRPr b="0" i="0" sz="23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793790" y="5475565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sincrónica implica que las actualizaciones se aplican inmediatamente a todas las réplicas, garantizando la consistencia de los datos en todo momento.</a:t>
            </a:r>
            <a:endParaRPr b="0" i="0" sz="1750" u="none" cap="none" strike="noStrike"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37172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5254704" y="4967526"/>
            <a:ext cx="3177183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Replicación Asincrónica</a:t>
            </a:r>
            <a:endParaRPr b="0" i="0" sz="23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5254704" y="5475684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la replicación asincrónica, las actualizaciones se envían a las réplicas de manera diferida, lo que permite mayor escalabilidad pero conlleva el riesgo de inconsistencia temporal.</a:t>
            </a:r>
            <a:endParaRPr b="0" i="0" sz="1750" u="none" cap="none" strike="noStrike"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37172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9715738" y="4967407"/>
            <a:ext cx="300966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Ventajas y Desventajas</a:t>
            </a:r>
            <a:endParaRPr b="0" i="0" sz="23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9715738" y="5475565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sincrónica ofrece mayor consistencia, mientras que la asincrónica permite mejor rendimiento y tolerancia a fallos. La elección depende de los requisitos del sistema.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4150" y="2276237"/>
            <a:ext cx="4986099" cy="367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700207" y="743188"/>
            <a:ext cx="6933605" cy="656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100"/>
              <a:buFont typeface="PT Serif"/>
              <a:buNone/>
            </a:pPr>
            <a:r>
              <a:rPr b="0" i="0" lang="en-US" sz="41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Casos de uso de la replicación</a:t>
            </a:r>
            <a:endParaRPr b="0" i="0" sz="4100" u="none" cap="none" strike="noStrike"/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207" y="1699617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700207" y="2399824"/>
            <a:ext cx="3358872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Redundancia y Recuperación</a:t>
            </a:r>
            <a:endParaRPr b="0" i="0" sz="20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700207" y="2848094"/>
            <a:ext cx="3721775" cy="12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permite tener múltiples copias de los datos para asegurar la disponibilidad y facilitar la recuperación en caso de fallas o desastres.</a:t>
            </a:r>
            <a:endParaRPr b="0" i="0" sz="1550" u="none" cap="none" strike="noStrike"/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2019" y="1699617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4722019" y="2399824"/>
            <a:ext cx="3721775" cy="656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Escalabilidad y Balanceo de Carga</a:t>
            </a:r>
            <a:endParaRPr b="0" i="0" sz="205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4722019" y="3176349"/>
            <a:ext cx="3721775" cy="12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 distribuir la carga entre múltiples servidores, la replicación mejora el rendimiento y la escalabilidad de los sistemas.</a:t>
            </a:r>
            <a:endParaRPr b="0" i="0" sz="1550" u="none" cap="none" strike="noStrike"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0207" y="5057180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700207" y="5757386"/>
            <a:ext cx="2660809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Proximidad Geográfica</a:t>
            </a:r>
            <a:endParaRPr b="0" i="0" sz="205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700207" y="6205657"/>
            <a:ext cx="3721775" cy="12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Mantener réplicas en diferentes ubicaciones geográficas reduce la latencia y mejora la experiencia de los usuarios finales.</a:t>
            </a:r>
            <a:endParaRPr b="0" i="0" sz="1550" u="none" cap="none" strike="noStrike"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2019" y="5057180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4722019" y="5757386"/>
            <a:ext cx="2626043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Análisis de Datos</a:t>
            </a:r>
            <a:endParaRPr b="0" i="0" sz="2050" u="none" cap="none" strike="noStrike"/>
          </a:p>
        </p:txBody>
      </p:sp>
      <p:sp>
        <p:nvSpPr>
          <p:cNvPr id="123" name="Google Shape;123;p4"/>
          <p:cNvSpPr/>
          <p:nvPr/>
        </p:nvSpPr>
        <p:spPr>
          <a:xfrm>
            <a:off x="4722019" y="6205657"/>
            <a:ext cx="3721775" cy="960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Las réplicas dedicadas permiten realizar análisis complejos sin afectar la operación transaccional principal.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7962" y="2461974"/>
            <a:ext cx="4958477" cy="330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39140" y="919520"/>
            <a:ext cx="6732151" cy="692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350"/>
              <a:buFont typeface="PT Serif"/>
              <a:buNone/>
            </a:pPr>
            <a:r>
              <a:rPr b="0" i="0" lang="en-US" sz="43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Beneficios de la replicación</a:t>
            </a:r>
            <a:endParaRPr b="0" i="0" sz="43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739140" y="1929170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950238" y="2140267"/>
            <a:ext cx="277177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Alta Disponibilidad</a:t>
            </a:r>
            <a:endParaRPr b="0" i="0" sz="215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950238" y="2613422"/>
            <a:ext cx="3305175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permite mantener copias de datos en múltiples servidores, asegurando la continuidad del servicio ante fallas en un nodo.</a:t>
            </a:r>
            <a:endParaRPr b="0" i="0" sz="16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4677608" y="1929170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888706" y="2140267"/>
            <a:ext cx="277177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Escalabilidad</a:t>
            </a:r>
            <a:endParaRPr b="0" i="0" sz="215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4888706" y="2613422"/>
            <a:ext cx="3305175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 distribuir cargas de trabajo entre réplicas, se puede aumentar la capacidad de procesamiento y respuesta a solicitudes de usuarios.</a:t>
            </a:r>
            <a:endParaRPr b="0" i="0" sz="165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739140" y="4725114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950238" y="4936212"/>
            <a:ext cx="277177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Tolerancia a Fallos</a:t>
            </a:r>
            <a:endParaRPr b="0" i="0" sz="2150" u="none" cap="none" strike="noStrike"/>
          </a:p>
        </p:txBody>
      </p:sp>
      <p:sp>
        <p:nvSpPr>
          <p:cNvPr id="140" name="Google Shape;140;p5"/>
          <p:cNvSpPr/>
          <p:nvPr/>
        </p:nvSpPr>
        <p:spPr>
          <a:xfrm>
            <a:off x="950238" y="5409367"/>
            <a:ext cx="3305175" cy="135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Si un servidor falla, las demás réplicas pueden asumir sus tareas, minimizando el impacto en los usuarios finales.</a:t>
            </a:r>
            <a:endParaRPr b="0" i="0" sz="165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4677608" y="4725114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888706" y="4936212"/>
            <a:ext cx="288143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Mejora de Rendimiento</a:t>
            </a:r>
            <a:endParaRPr b="0" i="0" sz="215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4888706" y="5409367"/>
            <a:ext cx="3305175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Las réplicas pueden especializarse en determinadas tareas, optimizando el flujo de trabajo y mejorando los tiempos de respuesta.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793790" y="1238607"/>
            <a:ext cx="5959673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Retos de la replicación</a:t>
            </a:r>
            <a:endParaRPr b="0" i="0" sz="465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793790" y="2549843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Complejidad de Configuración</a:t>
            </a:r>
            <a:endParaRPr b="0" i="0" sz="23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793790" y="3520797"/>
            <a:ext cx="2845594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configuración de la replicación en los sistemas de bases de datos puede ser técnicamente compleja y requiere de un profundo conocimiento de la arquitectura y las herramientas de administración.</a:t>
            </a:r>
            <a:endParaRPr b="0" i="0" sz="175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4200406" y="2549843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Latencia y Sincronización</a:t>
            </a:r>
            <a:endParaRPr b="0" i="0" sz="2300" u="none" cap="none" strike="noStrike"/>
          </a:p>
        </p:txBody>
      </p:sp>
      <p:sp>
        <p:nvSpPr>
          <p:cNvPr id="153" name="Google Shape;153;p6"/>
          <p:cNvSpPr/>
          <p:nvPr/>
        </p:nvSpPr>
        <p:spPr>
          <a:xfrm>
            <a:off x="4200406" y="3520797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Mantener la sincronización de datos entre múltiples réplicas y minimizar la latencia en la propagación de cambios es fundamental para garantizar la integridad de la información.</a:t>
            </a:r>
            <a:endParaRPr b="0" i="0" sz="175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7607022" y="2549843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Resolución de Conflictos</a:t>
            </a:r>
            <a:endParaRPr b="0" i="0" sz="23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7607022" y="3520797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Cuando ocurren actualizaciones conflictivas entre réplicas, es necesario implementar mecanismos robustos para detectar y resolver estos conflictos de manera efectiva.</a:t>
            </a:r>
            <a:endParaRPr b="0" i="0" sz="175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11013638" y="2549843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Carga y Desempeño</a:t>
            </a:r>
            <a:endParaRPr b="0" i="0" sz="2300" u="none" cap="none" strike="noStrike"/>
          </a:p>
        </p:txBody>
      </p:sp>
      <p:sp>
        <p:nvSpPr>
          <p:cNvPr id="157" name="Google Shape;157;p6"/>
          <p:cNvSpPr/>
          <p:nvPr/>
        </p:nvSpPr>
        <p:spPr>
          <a:xfrm>
            <a:off x="11013638" y="3148727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puede agregar carga adicional a los sistemas de bases de datos, lo que impacta el rendimiento general y requiere de un cuidadoso diseño y monitoreo.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582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1798" y="245745"/>
            <a:ext cx="4906685" cy="19667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688300" y="2999065"/>
            <a:ext cx="10547271" cy="64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050"/>
              <a:buFont typeface="PT Serif"/>
              <a:buNone/>
            </a:pPr>
            <a:r>
              <a:rPr b="0" i="0" lang="en-US" sz="40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Técnicas para mantener la integridad de datos</a:t>
            </a:r>
            <a:endParaRPr b="0" i="0" sz="405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7303770" y="3939302"/>
            <a:ext cx="22860" cy="3752374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428542" y="4370308"/>
            <a:ext cx="688300" cy="22860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093982" y="4160520"/>
            <a:ext cx="442436" cy="442436"/>
          </a:xfrm>
          <a:prstGeom prst="roundRect">
            <a:avLst>
              <a:gd fmla="val 66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232690" y="4226838"/>
            <a:ext cx="16502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400"/>
              <a:buFont typeface="PT Serif"/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240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3652480" y="4135874"/>
            <a:ext cx="2581156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00"/>
              <a:buFont typeface="PT Serif"/>
              <a:buNone/>
            </a:pPr>
            <a:r>
              <a:rPr b="0" i="0" lang="en-US" sz="2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Replicación síncrona</a:t>
            </a:r>
            <a:endParaRPr b="0" i="0" sz="2000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688300" y="4576524"/>
            <a:ext cx="5545336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síncrona asegura que los cambios se reflejen inmediatamente en todas las réplicas, manteniendo la coherencia de los datos.</a:t>
            </a:r>
            <a:endParaRPr b="0" i="0" sz="150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7513558" y="5353526"/>
            <a:ext cx="688300" cy="22860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093982" y="5143738"/>
            <a:ext cx="442436" cy="442436"/>
          </a:xfrm>
          <a:prstGeom prst="roundRect">
            <a:avLst>
              <a:gd fmla="val 66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232690" y="5210056"/>
            <a:ext cx="16502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400"/>
              <a:buFont typeface="PT Serif"/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240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8396764" y="5119092"/>
            <a:ext cx="2905482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00"/>
              <a:buFont typeface="PT Serif"/>
              <a:buNone/>
            </a:pPr>
            <a:r>
              <a:rPr b="0" i="0" lang="en-US" sz="2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Verificación de checksum</a:t>
            </a:r>
            <a:endParaRPr b="0" i="0" sz="20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8396764" y="5559743"/>
            <a:ext cx="5545336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Realizar verificaciones de integridad de los datos a través de checksums ayuda a detectar y prevenir la corrupción de los mismos.</a:t>
            </a:r>
            <a:endParaRPr b="0" i="0" sz="15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6428542" y="6344722"/>
            <a:ext cx="688300" cy="22860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093982" y="6134933"/>
            <a:ext cx="442436" cy="442436"/>
          </a:xfrm>
          <a:prstGeom prst="roundRect">
            <a:avLst>
              <a:gd fmla="val 66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232690" y="6201251"/>
            <a:ext cx="16502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400"/>
              <a:buFont typeface="PT Serif"/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24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3446859" y="6110288"/>
            <a:ext cx="2786777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00"/>
              <a:buFont typeface="PT Serif"/>
              <a:buNone/>
            </a:pPr>
            <a:r>
              <a:rPr b="0" i="0" lang="en-US" sz="2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Resolución de conflictos</a:t>
            </a:r>
            <a:endParaRPr b="0" i="0" sz="20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688300" y="6550938"/>
            <a:ext cx="5545336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Establecer políticas claras para resolver conflictos entre réplicas, como priorizar ciertos nodos o usar reglas de resolución predefinidas.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0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743" y="2227183"/>
            <a:ext cx="5034915" cy="377618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6118622" y="496729"/>
            <a:ext cx="7879556" cy="1185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700"/>
              <a:buFont typeface="PT Serif"/>
              <a:buNone/>
            </a:pPr>
            <a:r>
              <a:rPr b="0" i="0" lang="en-US" sz="37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Configuración de replicación en MySQL</a:t>
            </a:r>
            <a:endParaRPr b="0" i="0" sz="3700" u="none" cap="none" strike="noStrike"/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8622" y="1953101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7292816" y="2133719"/>
            <a:ext cx="2992874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Configurar Servidor Maestro</a:t>
            </a:r>
            <a:endParaRPr b="0" i="0" sz="185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7292816" y="2538532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Habilitar el registro binario y definir un servidor de replicación maestro con un ID único.</a:t>
            </a:r>
            <a:endParaRPr b="0" i="0" sz="1400" u="none" cap="none" strike="noStrike"/>
          </a:p>
        </p:txBody>
      </p:sp>
      <p:pic>
        <p:nvPicPr>
          <p:cNvPr descr="preencoded.png" id="193" name="Google Shape;19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8622" y="3398282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7292816" y="3578900"/>
            <a:ext cx="3082885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Crear Cuentas de Replicación</a:t>
            </a:r>
            <a:endParaRPr b="0" i="0" sz="185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7292816" y="3983712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Crear usuarios con permisos de replicación en el maestro y establecer contraseñas seguras.</a:t>
            </a:r>
            <a:endParaRPr b="0" i="0" sz="1400" u="none" cap="none" strike="noStrike"/>
          </a:p>
        </p:txBody>
      </p:sp>
      <p:pic>
        <p:nvPicPr>
          <p:cNvPr descr="preencoded.png" id="196" name="Google Shape;19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8622" y="4843463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7292816" y="5024080"/>
            <a:ext cx="3249335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Configurar Servidores Esclavos</a:t>
            </a:r>
            <a:endParaRPr b="0" i="0" sz="185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7292816" y="5428893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Configurar los servidores esclavos para que se conecten y repliquen del maestro.</a:t>
            </a:r>
            <a:endParaRPr b="0" i="0" sz="1400" u="none" cap="none" strike="noStrike"/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8622" y="6288643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7292816" y="6469261"/>
            <a:ext cx="2473047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Monitorear Replicación</a:t>
            </a:r>
            <a:endParaRPr b="0" i="0" sz="1850" u="none" cap="none" strike="noStrike"/>
          </a:p>
        </p:txBody>
      </p:sp>
      <p:sp>
        <p:nvSpPr>
          <p:cNvPr id="201" name="Google Shape;201;p8"/>
          <p:cNvSpPr/>
          <p:nvPr/>
        </p:nvSpPr>
        <p:spPr>
          <a:xfrm>
            <a:off x="7292816" y="6874073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Verificar el estado de la replicación y resolver posibles conflictos entre maestro y esclavo.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631627" y="496253"/>
            <a:ext cx="9255204" cy="592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700"/>
              <a:buFont typeface="PT Serif"/>
              <a:buNone/>
            </a:pPr>
            <a:r>
              <a:rPr b="0" i="0" lang="en-US" sz="37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Configuración de replicación en PostgreSQL</a:t>
            </a:r>
            <a:endParaRPr b="0" i="0" sz="3700" u="none" cap="none" strike="noStrike"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6227" y="1449229"/>
            <a:ext cx="1654135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3913108" y="2114312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175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4980742" y="1773912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Establecer conexión</a:t>
            </a:r>
            <a:endParaRPr b="0" i="0" sz="185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4980742" y="2178248"/>
            <a:ext cx="6323648" cy="28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Configurar la conexión entre el servidor principal y los servidores de réplica.</a:t>
            </a:r>
            <a:endParaRPr b="0" i="0" sz="1400" u="none" cap="none" strike="noStrike"/>
          </a:p>
        </p:txBody>
      </p:sp>
      <p:sp>
        <p:nvSpPr>
          <p:cNvPr id="212" name="Google Shape;212;p9"/>
          <p:cNvSpPr/>
          <p:nvPr/>
        </p:nvSpPr>
        <p:spPr>
          <a:xfrm>
            <a:off x="4845368" y="2804755"/>
            <a:ext cx="9108400" cy="11430"/>
          </a:xfrm>
          <a:prstGeom prst="roundRect">
            <a:avLst>
              <a:gd fmla="val 236857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9218" y="2836783"/>
            <a:ext cx="3308271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3913108" y="3327559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1750" u="none" cap="none" strike="noStrike"/>
          </a:p>
        </p:txBody>
      </p:sp>
      <p:sp>
        <p:nvSpPr>
          <p:cNvPr id="215" name="Google Shape;215;p9"/>
          <p:cNvSpPr/>
          <p:nvPr/>
        </p:nvSpPr>
        <p:spPr>
          <a:xfrm>
            <a:off x="5807869" y="3161467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Definir roles</a:t>
            </a:r>
            <a:endParaRPr b="0" i="0" sz="18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5807869" y="3565803"/>
            <a:ext cx="7599045" cy="28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Establecer el servidor principal como "maestro" y los servidores de réplica como "esclavos".</a:t>
            </a:r>
            <a:endParaRPr b="0" i="0" sz="140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5672495" y="4192310"/>
            <a:ext cx="8281273" cy="11430"/>
          </a:xfrm>
          <a:prstGeom prst="roundRect">
            <a:avLst>
              <a:gd fmla="val 236857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2091" y="4224338"/>
            <a:ext cx="4962525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3913108" y="4715113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175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6634996" y="4404717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Habilitar replicación</a:t>
            </a:r>
            <a:endParaRPr b="0" i="0" sz="185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6634996" y="4809053"/>
            <a:ext cx="7183398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Activar los mecanismos de replicación en el servidor principal y los servidores esclavos.</a:t>
            </a:r>
            <a:endParaRPr b="0" i="0" sz="140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6499622" y="5579864"/>
            <a:ext cx="7454146" cy="11430"/>
          </a:xfrm>
          <a:prstGeom prst="roundRect">
            <a:avLst>
              <a:gd fmla="val 236857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64" y="5611892"/>
            <a:ext cx="6616660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3913108" y="6102668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b="0" i="0" sz="175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7462004" y="5792272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Monitorear procesos</a:t>
            </a:r>
            <a:endParaRPr b="0" i="0" sz="1850" u="none" cap="none" strike="noStrike"/>
          </a:p>
        </p:txBody>
      </p:sp>
      <p:sp>
        <p:nvSpPr>
          <p:cNvPr id="226" name="Google Shape;226;p9"/>
          <p:cNvSpPr/>
          <p:nvPr/>
        </p:nvSpPr>
        <p:spPr>
          <a:xfrm>
            <a:off x="7462004" y="6196608"/>
            <a:ext cx="6356390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Revisar que la replicación esté funcionando correctamente y resolver posibles problemas.</a:t>
            </a:r>
            <a:endParaRPr b="0" i="0" sz="140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631627" y="7157442"/>
            <a:ext cx="13367147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configuración de replicación en PostgreSQL implica establecer una conexión entre el servidor principal y los servidores de réplica, definir los roles de cada uno, habilitar los mecanismos de replicación y monitorear constantemente los procesos para garantizar la integridad de los datos.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3" name="Google Shape;2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7127" y="1240869"/>
            <a:ext cx="4980027" cy="574786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/>
          <p:nvPr/>
        </p:nvSpPr>
        <p:spPr>
          <a:xfrm>
            <a:off x="708779" y="718542"/>
            <a:ext cx="7726442" cy="132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150"/>
              <a:buFont typeface="PT Serif"/>
              <a:buNone/>
            </a:pPr>
            <a:r>
              <a:rPr b="0" i="0" lang="en-US" sz="41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Manejo de conflictos en sistemas replicados</a:t>
            </a:r>
            <a:endParaRPr b="0" i="0" sz="415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708779" y="2351246"/>
            <a:ext cx="3762018" cy="2802612"/>
          </a:xfrm>
          <a:prstGeom prst="roundRect">
            <a:avLst>
              <a:gd fmla="val 108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911304" y="2553772"/>
            <a:ext cx="275105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Detección de conflictos</a:t>
            </a:r>
            <a:endParaRPr b="0" i="0" sz="205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911304" y="3007519"/>
            <a:ext cx="3356967" cy="1943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 fundamental contar con mecanismos para identificar y notificar cuando se presentan conflictos entre las réplicas, como cambios concurrentes en la misma información.</a:t>
            </a:r>
            <a:endParaRPr b="0" i="0" sz="155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4673322" y="2351246"/>
            <a:ext cx="3762018" cy="2802612"/>
          </a:xfrm>
          <a:prstGeom prst="roundRect">
            <a:avLst>
              <a:gd fmla="val 108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4875848" y="2553772"/>
            <a:ext cx="265830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Políticas de resolución</a:t>
            </a:r>
            <a:endParaRPr b="0" i="0" sz="2050" u="none" cap="none" strike="noStrike"/>
          </a:p>
        </p:txBody>
      </p:sp>
      <p:sp>
        <p:nvSpPr>
          <p:cNvPr id="241" name="Google Shape;241;p10"/>
          <p:cNvSpPr/>
          <p:nvPr/>
        </p:nvSpPr>
        <p:spPr>
          <a:xfrm>
            <a:off x="4875848" y="3007519"/>
            <a:ext cx="3356967" cy="1619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Definir políticas claras para resolver automáticamente los conflictos detectados, como priorizar la última actualización o aplicar reglas personalizadas.</a:t>
            </a:r>
            <a:endParaRPr b="0" i="0" sz="155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708779" y="5356384"/>
            <a:ext cx="3762018" cy="2154674"/>
          </a:xfrm>
          <a:prstGeom prst="roundRect">
            <a:avLst>
              <a:gd fmla="val 141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911304" y="5558909"/>
            <a:ext cx="2658189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Intervención manual</a:t>
            </a:r>
            <a:endParaRPr b="0" i="0" sz="2050" u="none" cap="none" strike="noStrike"/>
          </a:p>
        </p:txBody>
      </p:sp>
      <p:sp>
        <p:nvSpPr>
          <p:cNvPr id="244" name="Google Shape;244;p10"/>
          <p:cNvSpPr/>
          <p:nvPr/>
        </p:nvSpPr>
        <p:spPr>
          <a:xfrm>
            <a:off x="911304" y="6012656"/>
            <a:ext cx="3356967" cy="129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casos complejos, puede ser necesaria la intervención humana para analizar el conflicto y decidir manualmente la mejor solución.</a:t>
            </a:r>
            <a:endParaRPr b="0" i="0" sz="1550" u="none" cap="none" strike="noStrike"/>
          </a:p>
        </p:txBody>
      </p:sp>
      <p:sp>
        <p:nvSpPr>
          <p:cNvPr id="245" name="Google Shape;245;p10"/>
          <p:cNvSpPr/>
          <p:nvPr/>
        </p:nvSpPr>
        <p:spPr>
          <a:xfrm>
            <a:off x="4673322" y="5356384"/>
            <a:ext cx="3762018" cy="2154674"/>
          </a:xfrm>
          <a:prstGeom prst="roundRect">
            <a:avLst>
              <a:gd fmla="val 141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875848" y="5558909"/>
            <a:ext cx="2658189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Auditoría y monitoreo</a:t>
            </a:r>
            <a:endParaRPr b="0" i="0" sz="2050" u="none" cap="none" strike="noStrike"/>
          </a:p>
        </p:txBody>
      </p:sp>
      <p:sp>
        <p:nvSpPr>
          <p:cNvPr id="247" name="Google Shape;247;p10"/>
          <p:cNvSpPr/>
          <p:nvPr/>
        </p:nvSpPr>
        <p:spPr>
          <a:xfrm>
            <a:off x="4875848" y="6012656"/>
            <a:ext cx="3356967" cy="129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Mantener registros de los conflictos detectados y las acciones tomadas facilita el análisis y la mejora continua del proceso.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" y="2716411"/>
            <a:ext cx="4972050" cy="279677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6206490" y="671751"/>
            <a:ext cx="7703820" cy="1350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250"/>
              <a:buFont typeface="PT Serif"/>
              <a:buNone/>
            </a:pPr>
            <a:r>
              <a:rPr b="0" i="0" lang="en-US" sz="42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Estrategias para resolver conflictos</a:t>
            </a:r>
            <a:endParaRPr b="0" i="0" sz="4250" u="none" cap="none" strike="noStrike"/>
          </a:p>
        </p:txBody>
      </p:sp>
      <p:sp>
        <p:nvSpPr>
          <p:cNvPr id="256" name="Google Shape;256;p11"/>
          <p:cNvSpPr/>
          <p:nvPr/>
        </p:nvSpPr>
        <p:spPr>
          <a:xfrm>
            <a:off x="6206490" y="2561987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351508" y="2631400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2550" u="none" cap="none" strike="noStrike"/>
          </a:p>
        </p:txBody>
      </p:sp>
      <p:sp>
        <p:nvSpPr>
          <p:cNvPr id="258" name="Google Shape;258;p11"/>
          <p:cNvSpPr/>
          <p:nvPr/>
        </p:nvSpPr>
        <p:spPr>
          <a:xfrm>
            <a:off x="6875145" y="2561987"/>
            <a:ext cx="3080385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Detección temprana de conflictos</a:t>
            </a:r>
            <a:endParaRPr b="0" i="0" sz="2100" u="none" cap="none" strike="noStrike"/>
          </a:p>
        </p:txBody>
      </p:sp>
      <p:sp>
        <p:nvSpPr>
          <p:cNvPr id="259" name="Google Shape;259;p11"/>
          <p:cNvSpPr/>
          <p:nvPr/>
        </p:nvSpPr>
        <p:spPr>
          <a:xfrm>
            <a:off x="6875145" y="3360420"/>
            <a:ext cx="3080385" cy="131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Monitorear constantemente los sistemas replicados para identificar y solucionar conflictos de manera proactiva.</a:t>
            </a:r>
            <a:endParaRPr b="0" i="0" sz="160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10161270" y="2561987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10306288" y="2631400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2550" u="none" cap="none" strike="noStrike"/>
          </a:p>
        </p:txBody>
      </p:sp>
      <p:sp>
        <p:nvSpPr>
          <p:cNvPr id="262" name="Google Shape;262;p11"/>
          <p:cNvSpPr/>
          <p:nvPr/>
        </p:nvSpPr>
        <p:spPr>
          <a:xfrm>
            <a:off x="10829925" y="2561987"/>
            <a:ext cx="2700338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Políticas de resolución</a:t>
            </a:r>
            <a:endParaRPr b="0" i="0" sz="2100" u="none" cap="none" strike="noStrike"/>
          </a:p>
        </p:txBody>
      </p:sp>
      <p:sp>
        <p:nvSpPr>
          <p:cNvPr id="263" name="Google Shape;263;p11"/>
          <p:cNvSpPr/>
          <p:nvPr/>
        </p:nvSpPr>
        <p:spPr>
          <a:xfrm>
            <a:off x="10829925" y="3022878"/>
            <a:ext cx="3080385" cy="131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Establecer políticas claras sobre cómo resolver conflictos, definiendo prioridades y procedimientos estandarizados.</a:t>
            </a:r>
            <a:endParaRPr b="0" i="0" sz="1600" u="none" cap="none" strike="noStrike"/>
          </a:p>
        </p:txBody>
      </p:sp>
      <p:sp>
        <p:nvSpPr>
          <p:cNvPr id="264" name="Google Shape;264;p11"/>
          <p:cNvSpPr/>
          <p:nvPr/>
        </p:nvSpPr>
        <p:spPr>
          <a:xfrm>
            <a:off x="6206490" y="5113973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6351508" y="5183386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2550" u="none" cap="none" strike="noStrike"/>
          </a:p>
        </p:txBody>
      </p:sp>
      <p:sp>
        <p:nvSpPr>
          <p:cNvPr id="266" name="Google Shape;266;p11"/>
          <p:cNvSpPr/>
          <p:nvPr/>
        </p:nvSpPr>
        <p:spPr>
          <a:xfrm>
            <a:off x="6875145" y="5113973"/>
            <a:ext cx="3080385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Automatización de la resolución</a:t>
            </a:r>
            <a:endParaRPr b="0" i="0" sz="2100" u="none" cap="none" strike="noStrike"/>
          </a:p>
        </p:txBody>
      </p:sp>
      <p:sp>
        <p:nvSpPr>
          <p:cNvPr id="267" name="Google Shape;267;p11"/>
          <p:cNvSpPr/>
          <p:nvPr/>
        </p:nvSpPr>
        <p:spPr>
          <a:xfrm>
            <a:off x="6875145" y="5912406"/>
            <a:ext cx="3080385" cy="164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Implementar procesos automatizados que puedan detectar y resolver conflictos comunes sin intervención manual.</a:t>
            </a:r>
            <a:endParaRPr b="0" i="0" sz="1600" u="none" cap="none" strike="noStrike"/>
          </a:p>
        </p:txBody>
      </p:sp>
      <p:sp>
        <p:nvSpPr>
          <p:cNvPr id="268" name="Google Shape;268;p11"/>
          <p:cNvSpPr/>
          <p:nvPr/>
        </p:nvSpPr>
        <p:spPr>
          <a:xfrm>
            <a:off x="10161270" y="5113973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0306288" y="5183386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b="0" i="0" sz="2550" u="none" cap="none" strike="noStrike"/>
          </a:p>
        </p:txBody>
      </p:sp>
      <p:sp>
        <p:nvSpPr>
          <p:cNvPr id="270" name="Google Shape;270;p11"/>
          <p:cNvSpPr/>
          <p:nvPr/>
        </p:nvSpPr>
        <p:spPr>
          <a:xfrm>
            <a:off x="10829925" y="5113973"/>
            <a:ext cx="2700338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Informes y auditoría</a:t>
            </a:r>
            <a:endParaRPr b="0" i="0" sz="2100" u="none" cap="none" strike="noStrike"/>
          </a:p>
        </p:txBody>
      </p:sp>
      <p:sp>
        <p:nvSpPr>
          <p:cNvPr id="271" name="Google Shape;271;p11"/>
          <p:cNvSpPr/>
          <p:nvPr/>
        </p:nvSpPr>
        <p:spPr>
          <a:xfrm>
            <a:off x="10829925" y="5574863"/>
            <a:ext cx="3080385" cy="164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Generar reportes detallados sobre conflictos y sus resoluciones para analizar tendencias y mejorar los procesos.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31175"/>
            <a:ext cx="4919305" cy="276713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793790" y="1621274"/>
            <a:ext cx="7556421" cy="148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Ejemplo práctico de replicación en MySQL</a:t>
            </a:r>
            <a:endParaRPr b="0" i="0" sz="4650" u="none" cap="none" strike="noStrike"/>
          </a:p>
        </p:txBody>
      </p:sp>
      <p:sp>
        <p:nvSpPr>
          <p:cNvPr id="280" name="Google Shape;280;p12"/>
          <p:cNvSpPr/>
          <p:nvPr/>
        </p:nvSpPr>
        <p:spPr>
          <a:xfrm>
            <a:off x="793790" y="344995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este ejemplo, demostraremos cómo configurar la replicación sincrónica en MySQL. Configuraremos un servidor maestro y un servidor esclavo, donde todas las operaciones realizadas en el maestro se reflejarán en tiempo real en el esclavo.</a:t>
            </a:r>
            <a:endParaRPr b="0" i="0" sz="1750" u="none" cap="none" strike="noStrike"/>
          </a:p>
        </p:txBody>
      </p:sp>
      <p:sp>
        <p:nvSpPr>
          <p:cNvPr id="281" name="Google Shape;281;p12"/>
          <p:cNvSpPr/>
          <p:nvPr/>
        </p:nvSpPr>
        <p:spPr>
          <a:xfrm>
            <a:off x="793790" y="5156716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Seguiremos los pasos clave como: habilitar el registro binario, configurar las credenciales de replicación, inicializar el esclavo y verificar el estado de la replicación. Esto permitirá entender los conceptos fundamentales de la replicación en MySQL.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793790" y="1451967"/>
            <a:ext cx="12334875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Ejemplo práctico de replicación en PostgreSQL</a:t>
            </a:r>
            <a:endParaRPr b="0" i="0" sz="4650" u="none" cap="none" strike="noStrike"/>
          </a:p>
        </p:txBody>
      </p:sp>
      <p:sp>
        <p:nvSpPr>
          <p:cNvPr id="288" name="Google Shape;288;p13"/>
          <p:cNvSpPr/>
          <p:nvPr/>
        </p:nvSpPr>
        <p:spPr>
          <a:xfrm>
            <a:off x="793790" y="2740462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este ejemplo, configuraremos una replicación asincrónica maestro-esclavo en PostgreSQL. Esto permitirá mantener una copia de seguridad en vivo de la base de datos principal, mejorando la disponibilidad y escalabilidad del sistema.</a:t>
            </a:r>
            <a:endParaRPr b="0" i="0" sz="1750" u="none" cap="none" strike="noStrike"/>
          </a:p>
        </p:txBody>
      </p:sp>
      <p:sp>
        <p:nvSpPr>
          <p:cNvPr id="289" name="Google Shape;289;p13"/>
          <p:cNvSpPr/>
          <p:nvPr/>
        </p:nvSpPr>
        <p:spPr>
          <a:xfrm>
            <a:off x="793790" y="4759047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Primero, configuraremos el servidor maestro para habilitar la replicación. Luego, crearemos un servidor esclavo que se sincronizará automáticamente con el maestro. Finalmente, demostraremos cómo realizar actualizaciones en el maestro y observar los cambios en el esclavo.</a:t>
            </a:r>
            <a:endParaRPr b="0" i="0" sz="1750" u="none" cap="none" strike="noStrike"/>
          </a:p>
        </p:txBody>
      </p:sp>
      <p:pic>
        <p:nvPicPr>
          <p:cNvPr descr="preencoded.png" id="290" name="Google Shape;2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791539"/>
            <a:ext cx="6244709" cy="351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/>
          <p:nvPr/>
        </p:nvSpPr>
        <p:spPr>
          <a:xfrm>
            <a:off x="793790" y="1424583"/>
            <a:ext cx="5954197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Lecciones aprendidas</a:t>
            </a:r>
            <a:endParaRPr b="0" i="0" sz="4650" u="none" cap="none" strike="noStrike"/>
          </a:p>
        </p:txBody>
      </p:sp>
      <p:sp>
        <p:nvSpPr>
          <p:cNvPr id="297" name="Google Shape;297;p14"/>
          <p:cNvSpPr/>
          <p:nvPr/>
        </p:nvSpPr>
        <p:spPr>
          <a:xfrm>
            <a:off x="793790" y="2735818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Planificación clave</a:t>
            </a:r>
            <a:endParaRPr b="0" i="0" sz="2300" u="none" cap="none" strike="noStrike"/>
          </a:p>
        </p:txBody>
      </p:sp>
      <p:sp>
        <p:nvSpPr>
          <p:cNvPr id="298" name="Google Shape;298;p14"/>
          <p:cNvSpPr/>
          <p:nvPr/>
        </p:nvSpPr>
        <p:spPr>
          <a:xfrm>
            <a:off x="793790" y="3334703"/>
            <a:ext cx="2845594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Una planificación exhaustiva es fundamental para implementar exitosamente un sistema de replicación. Se deben considerar todos los escenarios posibles y tener planes de contingencia.</a:t>
            </a:r>
            <a:endParaRPr b="0" i="0" sz="1750" u="none" cap="none" strike="noStrike"/>
          </a:p>
        </p:txBody>
      </p:sp>
      <p:sp>
        <p:nvSpPr>
          <p:cNvPr id="299" name="Google Shape;299;p14"/>
          <p:cNvSpPr/>
          <p:nvPr/>
        </p:nvSpPr>
        <p:spPr>
          <a:xfrm>
            <a:off x="4200406" y="2735818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Monitoreo constante</a:t>
            </a:r>
            <a:endParaRPr b="0" i="0" sz="2300" u="none" cap="none" strike="noStrike"/>
          </a:p>
        </p:txBody>
      </p:sp>
      <p:sp>
        <p:nvSpPr>
          <p:cNvPr id="300" name="Google Shape;300;p14"/>
          <p:cNvSpPr/>
          <p:nvPr/>
        </p:nvSpPr>
        <p:spPr>
          <a:xfrm>
            <a:off x="4200406" y="3334703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El monitoreo continuo del sistema replicado es crucial para detectar y resolver problemas de manera oportuna. Se deben establecer indicadores clave de rendimiento (KPIs).</a:t>
            </a:r>
            <a:endParaRPr b="0" i="0" sz="1750" u="none" cap="none" strike="noStrike"/>
          </a:p>
        </p:txBody>
      </p:sp>
      <p:sp>
        <p:nvSpPr>
          <p:cNvPr id="301" name="Google Shape;301;p14"/>
          <p:cNvSpPr/>
          <p:nvPr/>
        </p:nvSpPr>
        <p:spPr>
          <a:xfrm>
            <a:off x="7607022" y="2735818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Formación del equipo</a:t>
            </a:r>
            <a:endParaRPr b="0" i="0" sz="2300" u="none" cap="none" strike="noStrike"/>
          </a:p>
        </p:txBody>
      </p:sp>
      <p:sp>
        <p:nvSpPr>
          <p:cNvPr id="302" name="Google Shape;302;p14"/>
          <p:cNvSpPr/>
          <p:nvPr/>
        </p:nvSpPr>
        <p:spPr>
          <a:xfrm>
            <a:off x="7607022" y="3706773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Contar con un equipo capacitado en las técnicas de replicación y resolución de conflictos es esencial para mantener la integridad de los datos.</a:t>
            </a:r>
            <a:endParaRPr b="0" i="0" sz="1750" u="none" cap="none" strike="noStrike"/>
          </a:p>
        </p:txBody>
      </p:sp>
      <p:sp>
        <p:nvSpPr>
          <p:cNvPr id="303" name="Google Shape;303;p14"/>
          <p:cNvSpPr/>
          <p:nvPr/>
        </p:nvSpPr>
        <p:spPr>
          <a:xfrm>
            <a:off x="11013638" y="2735818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Pruebas exhaustivas</a:t>
            </a:r>
            <a:endParaRPr b="0" i="0" sz="2300" u="none" cap="none" strike="noStrike"/>
          </a:p>
        </p:txBody>
      </p:sp>
      <p:sp>
        <p:nvSpPr>
          <p:cNvPr id="304" name="Google Shape;304;p14"/>
          <p:cNvSpPr/>
          <p:nvPr/>
        </p:nvSpPr>
        <p:spPr>
          <a:xfrm>
            <a:off x="11013638" y="3334703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 importante realizar pruebas exhaustivas en entornos de laboratorio antes de implementar la replicación en producción, para identificar y mitigar posibles fallas.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/>
          <p:nvPr/>
        </p:nvSpPr>
        <p:spPr>
          <a:xfrm>
            <a:off x="721638" y="761167"/>
            <a:ext cx="7940754" cy="676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250"/>
              <a:buFont typeface="PT Serif"/>
              <a:buNone/>
            </a:pPr>
            <a:r>
              <a:rPr b="0" i="0" lang="en-US" sz="42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Conclusiones y recomendaciones</a:t>
            </a:r>
            <a:endParaRPr b="0" i="0" sz="4250" u="none" cap="none" strike="noStrike"/>
          </a:p>
        </p:txBody>
      </p:sp>
      <p:pic>
        <p:nvPicPr>
          <p:cNvPr descr="preencoded.png" id="311" name="Google Shape;3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38" y="1849993"/>
            <a:ext cx="4189571" cy="258925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/>
          <p:nvPr/>
        </p:nvSpPr>
        <p:spPr>
          <a:xfrm>
            <a:off x="721638" y="4696897"/>
            <a:ext cx="2706410" cy="338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Conclusiones</a:t>
            </a:r>
            <a:endParaRPr b="0" i="0" sz="2100" u="none" cap="none" strike="noStrike"/>
          </a:p>
        </p:txBody>
      </p:sp>
      <p:sp>
        <p:nvSpPr>
          <p:cNvPr id="313" name="Google Shape;313;p15"/>
          <p:cNvSpPr/>
          <p:nvPr/>
        </p:nvSpPr>
        <p:spPr>
          <a:xfrm>
            <a:off x="721638" y="5158859"/>
            <a:ext cx="4189571" cy="23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implementación exitosa de sistemas de replicación de bases de datos distribuidas ofrece importantes beneficios, como mayor disponibilidad, escalabilidad y tolerancia a fallos. Sin embargo, también conlleva retos en cuanto a la gestión de conflictos y el mantenimiento de la integridad de datos.</a:t>
            </a:r>
            <a:endParaRPr b="0" i="0" sz="1600" u="none" cap="none" strike="noStrike"/>
          </a:p>
        </p:txBody>
      </p:sp>
      <p:pic>
        <p:nvPicPr>
          <p:cNvPr descr="preencoded.png" id="314" name="Google Shape;3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0414" y="1849993"/>
            <a:ext cx="4189571" cy="258925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/>
          <p:nvPr/>
        </p:nvSpPr>
        <p:spPr>
          <a:xfrm>
            <a:off x="5220414" y="4696897"/>
            <a:ext cx="2706410" cy="338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Recomendaciones</a:t>
            </a:r>
            <a:endParaRPr b="0" i="0" sz="2100" u="none" cap="none" strike="noStrike"/>
          </a:p>
        </p:txBody>
      </p:sp>
      <p:sp>
        <p:nvSpPr>
          <p:cNvPr id="316" name="Google Shape;316;p15"/>
          <p:cNvSpPr/>
          <p:nvPr/>
        </p:nvSpPr>
        <p:spPr>
          <a:xfrm>
            <a:off x="5220414" y="5158859"/>
            <a:ext cx="4189571" cy="23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 recomienda evaluar cuidadosamente los requisitos del sistema y seleccionar el modelo de replicación más adecuado (sincrónico o asincrónico). Además, es crucial implementar estrategias robustas para la resolución de conflictos y el monitoreo constante del sistema replicado.</a:t>
            </a:r>
            <a:endParaRPr b="0" i="0" sz="1600" u="none" cap="none" strike="noStrike"/>
          </a:p>
        </p:txBody>
      </p:sp>
      <p:pic>
        <p:nvPicPr>
          <p:cNvPr descr="preencoded.png" id="317" name="Google Shape;3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9191" y="1849993"/>
            <a:ext cx="4189571" cy="258925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9719191" y="4696897"/>
            <a:ext cx="2706410" cy="338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Lecciones Aprendidas</a:t>
            </a:r>
            <a:endParaRPr b="0" i="0" sz="2100" u="none" cap="none" strike="noStrike"/>
          </a:p>
        </p:txBody>
      </p:sp>
      <p:sp>
        <p:nvSpPr>
          <p:cNvPr id="319" name="Google Shape;319;p15"/>
          <p:cNvSpPr/>
          <p:nvPr/>
        </p:nvSpPr>
        <p:spPr>
          <a:xfrm>
            <a:off x="9719191" y="5158859"/>
            <a:ext cx="4189571" cy="23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implementación de sistemas replicados requiere una planeación exhaustiva, conocimiento técnico sólido y un trabajo colaborativo entre el equipo de administración de bases de datos. Estas lecciones servirán para mejorar futuros proyectos de replicación.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2024-11-05T14:04:54Z</dcterms:created>
  <dc:creator>PptxGenJS</dc:creator>
</cp:coreProperties>
</file>