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8229600" cx="14630400"/>
  <p:notesSz cx="8229600" cy="14630400"/>
  <p:embeddedFontLst>
    <p:embeddedFont>
      <p:font typeface="Inter"/>
      <p:bold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fiPphSCUy/D+V+TjxwmkfUHKX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Inter-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17"/>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sp>
        <p:nvSpPr>
          <p:cNvPr id="14" name="Google Shape;14;p18"/>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sp>
        <p:nvSpPr>
          <p:cNvPr id="17" name="Google Shape;17;p19"/>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sp>
        <p:nvSpPr>
          <p:cNvPr id="20" name="Google Shape;20;p20"/>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sp>
        <p:nvSpPr>
          <p:cNvPr id="23" name="Google Shape;23;p21"/>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5" name="Shape 25"/>
        <p:cNvGrpSpPr/>
        <p:nvPr/>
      </p:nvGrpSpPr>
      <p:grpSpPr>
        <a:xfrm>
          <a:off x="0" y="0"/>
          <a:ext cx="0" cy="0"/>
          <a:chOff x="0" y="0"/>
          <a:chExt cx="0" cy="0"/>
        </a:xfrm>
      </p:grpSpPr>
      <p:sp>
        <p:nvSpPr>
          <p:cNvPr id="26" name="Google Shape;26;p22"/>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8" name="Shape 28"/>
        <p:cNvGrpSpPr/>
        <p:nvPr/>
      </p:nvGrpSpPr>
      <p:grpSpPr>
        <a:xfrm>
          <a:off x="0" y="0"/>
          <a:ext cx="0" cy="0"/>
          <a:chOff x="0" y="0"/>
          <a:chExt cx="0" cy="0"/>
        </a:xfrm>
      </p:grpSpPr>
      <p:sp>
        <p:nvSpPr>
          <p:cNvPr id="29" name="Google Shape;29;p23"/>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1" name="Shape 31"/>
        <p:cNvGrpSpPr/>
        <p:nvPr/>
      </p:nvGrpSpPr>
      <p:grpSpPr>
        <a:xfrm>
          <a:off x="0" y="0"/>
          <a:ext cx="0" cy="0"/>
          <a:chOff x="0" y="0"/>
          <a:chExt cx="0" cy="0"/>
        </a:xfrm>
      </p:grpSpPr>
      <p:sp>
        <p:nvSpPr>
          <p:cNvPr id="32" name="Google Shape;32;p24"/>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 name="Shape 34"/>
        <p:cNvGrpSpPr/>
        <p:nvPr/>
      </p:nvGrpSpPr>
      <p:grpSpPr>
        <a:xfrm>
          <a:off x="0" y="0"/>
          <a:ext cx="0" cy="0"/>
          <a:chOff x="0" y="0"/>
          <a:chExt cx="0" cy="0"/>
        </a:xfrm>
      </p:grpSpPr>
      <p:sp>
        <p:nvSpPr>
          <p:cNvPr id="35" name="Google Shape;35;p25"/>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7" name="Shape 37"/>
        <p:cNvGrpSpPr/>
        <p:nvPr/>
      </p:nvGrpSpPr>
      <p:grpSpPr>
        <a:xfrm>
          <a:off x="0" y="0"/>
          <a:ext cx="0" cy="0"/>
          <a:chOff x="0" y="0"/>
          <a:chExt cx="0" cy="0"/>
        </a:xfrm>
      </p:grpSpPr>
      <p:sp>
        <p:nvSpPr>
          <p:cNvPr id="38" name="Google Shape;38;p26"/>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40" name="Shape 40"/>
        <p:cNvGrpSpPr/>
        <p:nvPr/>
      </p:nvGrpSpPr>
      <p:grpSpPr>
        <a:xfrm>
          <a:off x="0" y="0"/>
          <a:ext cx="0" cy="0"/>
          <a:chOff x="0" y="0"/>
          <a:chExt cx="0" cy="0"/>
        </a:xfrm>
      </p:grpSpPr>
      <p:sp>
        <p:nvSpPr>
          <p:cNvPr id="41" name="Google Shape;41;p27"/>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43" name="Shape 43"/>
        <p:cNvGrpSpPr/>
        <p:nvPr/>
      </p:nvGrpSpPr>
      <p:grpSpPr>
        <a:xfrm>
          <a:off x="0" y="0"/>
          <a:ext cx="0" cy="0"/>
          <a:chOff x="0" y="0"/>
          <a:chExt cx="0" cy="0"/>
        </a:xfrm>
      </p:grpSpPr>
      <p:sp>
        <p:nvSpPr>
          <p:cNvPr id="44" name="Google Shape;44;p28"/>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46" name="Shape 46"/>
        <p:cNvGrpSpPr/>
        <p:nvPr/>
      </p:nvGrpSpPr>
      <p:grpSpPr>
        <a:xfrm>
          <a:off x="0" y="0"/>
          <a:ext cx="0" cy="0"/>
          <a:chOff x="0" y="0"/>
          <a:chExt cx="0" cy="0"/>
        </a:xfrm>
      </p:grpSpPr>
      <p:sp>
        <p:nvSpPr>
          <p:cNvPr id="47" name="Google Shape;47;p29"/>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49" name="Shape 49"/>
        <p:cNvGrpSpPr/>
        <p:nvPr/>
      </p:nvGrpSpPr>
      <p:grpSpPr>
        <a:xfrm>
          <a:off x="0" y="0"/>
          <a:ext cx="0" cy="0"/>
          <a:chOff x="0" y="0"/>
          <a:chExt cx="0" cy="0"/>
        </a:xfrm>
      </p:grpSpPr>
      <p:sp>
        <p:nvSpPr>
          <p:cNvPr id="50" name="Google Shape;50;p30"/>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spTree>
      <p:nvGrpSpPr>
        <p:cNvPr id="52" name="Shape 52"/>
        <p:cNvGrpSpPr/>
        <p:nvPr/>
      </p:nvGrpSpPr>
      <p:grpSpPr>
        <a:xfrm>
          <a:off x="0" y="0"/>
          <a:ext cx="0" cy="0"/>
          <a:chOff x="0" y="0"/>
          <a:chExt cx="0" cy="0"/>
        </a:xfrm>
      </p:grpSpPr>
      <p:sp>
        <p:nvSpPr>
          <p:cNvPr id="53" name="Google Shape;53;p31"/>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5" name="Shape 5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2.png"/><Relationship Id="rId5" Type="http://schemas.openxmlformats.org/officeDocument/2006/relationships/image" Target="../media/image25.png"/><Relationship Id="rId6" Type="http://schemas.openxmlformats.org/officeDocument/2006/relationships/image" Target="../media/image7.png"/><Relationship Id="rId7"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23.png"/><Relationship Id="rId5"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descr="preencoded.png" id="61" name="Google Shape;61;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62" name="Google Shape;62;p1"/>
          <p:cNvSpPr/>
          <p:nvPr/>
        </p:nvSpPr>
        <p:spPr>
          <a:xfrm>
            <a:off x="793790" y="2184083"/>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Sistemas de Bases de Datos 2 - Laboratorio</a:t>
            </a:r>
            <a:endParaRPr b="0" i="0" sz="4450" u="none" cap="none" strike="noStrike"/>
          </a:p>
        </p:txBody>
      </p:sp>
      <p:sp>
        <p:nvSpPr>
          <p:cNvPr id="63" name="Google Shape;63;p1"/>
          <p:cNvSpPr/>
          <p:nvPr/>
        </p:nvSpPr>
        <p:spPr>
          <a:xfrm>
            <a:off x="793790" y="3941802"/>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Bienvenidos al laboratorio del curso Sistemas de Bases de Datos 2. En esta sección, </a:t>
            </a:r>
            <a:r>
              <a:rPr lang="en-US" sz="1750">
                <a:solidFill>
                  <a:srgbClr val="272525"/>
                </a:solidFill>
                <a:latin typeface="Inter"/>
                <a:ea typeface="Inter"/>
                <a:cs typeface="Inter"/>
                <a:sym typeface="Inter"/>
              </a:rPr>
              <a:t>exploramos</a:t>
            </a:r>
            <a:r>
              <a:rPr b="0" i="0" lang="en-US" sz="1750" u="none" cap="none" strike="noStrike">
                <a:solidFill>
                  <a:srgbClr val="272525"/>
                </a:solidFill>
                <a:latin typeface="Inter"/>
                <a:ea typeface="Inter"/>
                <a:cs typeface="Inter"/>
                <a:sym typeface="Inter"/>
              </a:rPr>
              <a:t> los conceptos fundamentales de la gestión de la concurrencia y la optimización de transacciones en el manejo de bases de datos.</a:t>
            </a:r>
            <a:endParaRPr b="0" i="0" sz="1750" u="none" cap="none" strike="noStrike"/>
          </a:p>
        </p:txBody>
      </p:sp>
      <p:sp>
        <p:nvSpPr>
          <p:cNvPr id="64" name="Google Shape;64;p1"/>
          <p:cNvSpPr/>
          <p:nvPr/>
        </p:nvSpPr>
        <p:spPr>
          <a:xfrm>
            <a:off x="793790" y="5665470"/>
            <a:ext cx="362903" cy="362903"/>
          </a:xfrm>
          <a:prstGeom prst="roundRect">
            <a:avLst>
              <a:gd fmla="val 25194296"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2"/>
          <p:cNvSpPr/>
          <p:nvPr/>
        </p:nvSpPr>
        <p:spPr>
          <a:xfrm>
            <a:off x="793790" y="687110"/>
            <a:ext cx="130428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Gestión de la Concurrencia y Optimización de Transacciones</a:t>
            </a:r>
            <a:endParaRPr b="0" i="0" sz="4450" u="none" cap="none" strike="noStrike"/>
          </a:p>
        </p:txBody>
      </p:sp>
      <p:sp>
        <p:nvSpPr>
          <p:cNvPr id="71" name="Google Shape;71;p2"/>
          <p:cNvSpPr/>
          <p:nvPr/>
        </p:nvSpPr>
        <p:spPr>
          <a:xfrm>
            <a:off x="793790" y="2813447"/>
            <a:ext cx="510302" cy="510302"/>
          </a:xfrm>
          <a:prstGeom prst="roundRect">
            <a:avLst>
              <a:gd fmla="val 18669"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980599" y="2898457"/>
            <a:ext cx="136565"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Inter"/>
              <a:buNone/>
            </a:pPr>
            <a:r>
              <a:rPr b="1" i="0" lang="en-US" sz="2650" u="none" cap="none" strike="noStrike">
                <a:solidFill>
                  <a:srgbClr val="272525"/>
                </a:solidFill>
                <a:latin typeface="Inter"/>
                <a:ea typeface="Inter"/>
                <a:cs typeface="Inter"/>
                <a:sym typeface="Inter"/>
              </a:rPr>
              <a:t>1</a:t>
            </a:r>
            <a:endParaRPr b="0" i="0" sz="2650" u="none" cap="none" strike="noStrike"/>
          </a:p>
        </p:txBody>
      </p:sp>
      <p:sp>
        <p:nvSpPr>
          <p:cNvPr id="73" name="Google Shape;73;p2"/>
          <p:cNvSpPr/>
          <p:nvPr/>
        </p:nvSpPr>
        <p:spPr>
          <a:xfrm>
            <a:off x="1530906" y="2813447"/>
            <a:ext cx="3620810"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Desafíos de la concurrencia</a:t>
            </a:r>
            <a:endParaRPr b="0" i="0" sz="2200" u="none" cap="none" strike="noStrike"/>
          </a:p>
        </p:txBody>
      </p:sp>
      <p:sp>
        <p:nvSpPr>
          <p:cNvPr id="74" name="Google Shape;74;p2"/>
          <p:cNvSpPr/>
          <p:nvPr/>
        </p:nvSpPr>
        <p:spPr>
          <a:xfrm>
            <a:off x="1530906" y="3649765"/>
            <a:ext cx="5670900" cy="1451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La gestión de la concurrencia en sistemas de bases de datos es fundamental para garantizar la integridad y consistencia de los datos cuando múltiples usuarios acceden y modifican información simultáneamente.</a:t>
            </a:r>
            <a:endParaRPr b="0" i="0" sz="1750" u="none" cap="none" strike="noStrike"/>
          </a:p>
        </p:txBody>
      </p:sp>
      <p:sp>
        <p:nvSpPr>
          <p:cNvPr id="75" name="Google Shape;75;p2"/>
          <p:cNvSpPr/>
          <p:nvPr/>
        </p:nvSpPr>
        <p:spPr>
          <a:xfrm>
            <a:off x="7428667" y="2813447"/>
            <a:ext cx="510302" cy="510302"/>
          </a:xfrm>
          <a:prstGeom prst="roundRect">
            <a:avLst>
              <a:gd fmla="val 18669"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7581781" y="2898457"/>
            <a:ext cx="204073"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Inter"/>
              <a:buNone/>
            </a:pPr>
            <a:r>
              <a:rPr b="1" i="0" lang="en-US" sz="2650" u="none" cap="none" strike="noStrike">
                <a:solidFill>
                  <a:srgbClr val="272525"/>
                </a:solidFill>
                <a:latin typeface="Inter"/>
                <a:ea typeface="Inter"/>
                <a:cs typeface="Inter"/>
                <a:sym typeface="Inter"/>
              </a:rPr>
              <a:t>2</a:t>
            </a:r>
            <a:endParaRPr b="0" i="0" sz="2650" u="none" cap="none" strike="noStrike"/>
          </a:p>
        </p:txBody>
      </p:sp>
      <p:sp>
        <p:nvSpPr>
          <p:cNvPr id="77" name="Google Shape;77;p2"/>
          <p:cNvSpPr/>
          <p:nvPr/>
        </p:nvSpPr>
        <p:spPr>
          <a:xfrm>
            <a:off x="8165783" y="2813447"/>
            <a:ext cx="4035862"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Optimización de transacciones</a:t>
            </a:r>
            <a:endParaRPr b="0" i="0" sz="2200" u="none" cap="none" strike="noStrike"/>
          </a:p>
        </p:txBody>
      </p:sp>
      <p:sp>
        <p:nvSpPr>
          <p:cNvPr id="78" name="Google Shape;78;p2"/>
          <p:cNvSpPr/>
          <p:nvPr/>
        </p:nvSpPr>
        <p:spPr>
          <a:xfrm>
            <a:off x="8165783" y="3649765"/>
            <a:ext cx="5670900" cy="1451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La optimización de transacciones busca maximizar el rendimiento y la eficiencia de las operaciones de lectura y escritura en la base de datos, minimizando tiempos de espera y conflictos entre usuarios.</a:t>
            </a:r>
            <a:endParaRPr b="0" i="0" sz="1750" u="none" cap="none" strike="noStrike"/>
          </a:p>
        </p:txBody>
      </p:sp>
      <p:sp>
        <p:nvSpPr>
          <p:cNvPr id="79" name="Google Shape;79;p2"/>
          <p:cNvSpPr/>
          <p:nvPr/>
        </p:nvSpPr>
        <p:spPr>
          <a:xfrm>
            <a:off x="793790" y="5237440"/>
            <a:ext cx="510302" cy="510302"/>
          </a:xfrm>
          <a:prstGeom prst="roundRect">
            <a:avLst>
              <a:gd fmla="val 18669"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944166" y="5322451"/>
            <a:ext cx="209431"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Inter"/>
              <a:buNone/>
            </a:pPr>
            <a:r>
              <a:rPr b="1" i="0" lang="en-US" sz="2650" u="none" cap="none" strike="noStrike">
                <a:solidFill>
                  <a:srgbClr val="272525"/>
                </a:solidFill>
                <a:latin typeface="Inter"/>
                <a:ea typeface="Inter"/>
                <a:cs typeface="Inter"/>
                <a:sym typeface="Inter"/>
              </a:rPr>
              <a:t>3</a:t>
            </a:r>
            <a:endParaRPr b="0" i="0" sz="2650" u="none" cap="none" strike="noStrike"/>
          </a:p>
        </p:txBody>
      </p:sp>
      <p:sp>
        <p:nvSpPr>
          <p:cNvPr id="81" name="Google Shape;81;p2"/>
          <p:cNvSpPr/>
          <p:nvPr/>
        </p:nvSpPr>
        <p:spPr>
          <a:xfrm>
            <a:off x="1530906" y="5237440"/>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Técnicas de control</a:t>
            </a:r>
            <a:endParaRPr b="0" i="0" sz="2200" u="none" cap="none" strike="noStrike"/>
          </a:p>
        </p:txBody>
      </p:sp>
      <p:sp>
        <p:nvSpPr>
          <p:cNvPr id="82" name="Google Shape;82;p2"/>
          <p:cNvSpPr/>
          <p:nvPr/>
        </p:nvSpPr>
        <p:spPr>
          <a:xfrm>
            <a:off x="1530906" y="5727859"/>
            <a:ext cx="5670947"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Existen diversas técnicas de control de concurrencia, como el bloqueo (locking) y el marcado de tiempo (time-stamping), que permiten regular el acceso a los datos y resolver problemas como los bloqueos y los interbloqueos.</a:t>
            </a:r>
            <a:endParaRPr b="0" i="0" sz="1750" u="none" cap="none" strike="noStrike"/>
          </a:p>
        </p:txBody>
      </p:sp>
      <p:sp>
        <p:nvSpPr>
          <p:cNvPr id="83" name="Google Shape;83;p2"/>
          <p:cNvSpPr/>
          <p:nvPr/>
        </p:nvSpPr>
        <p:spPr>
          <a:xfrm>
            <a:off x="7428667" y="5237440"/>
            <a:ext cx="510302" cy="510302"/>
          </a:xfrm>
          <a:prstGeom prst="roundRect">
            <a:avLst>
              <a:gd fmla="val 18669"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7573804" y="5322451"/>
            <a:ext cx="219908"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Inter"/>
              <a:buNone/>
            </a:pPr>
            <a:r>
              <a:rPr b="1" i="0" lang="en-US" sz="2650" u="none" cap="none" strike="noStrike">
                <a:solidFill>
                  <a:srgbClr val="272525"/>
                </a:solidFill>
                <a:latin typeface="Inter"/>
                <a:ea typeface="Inter"/>
                <a:cs typeface="Inter"/>
                <a:sym typeface="Inter"/>
              </a:rPr>
              <a:t>4</a:t>
            </a:r>
            <a:endParaRPr b="0" i="0" sz="2650" u="none" cap="none" strike="noStrike"/>
          </a:p>
        </p:txBody>
      </p:sp>
      <p:sp>
        <p:nvSpPr>
          <p:cNvPr id="85" name="Google Shape;85;p2"/>
          <p:cNvSpPr/>
          <p:nvPr/>
        </p:nvSpPr>
        <p:spPr>
          <a:xfrm>
            <a:off x="8165783" y="5237440"/>
            <a:ext cx="497145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Recuperación y niveles de aislamiento</a:t>
            </a:r>
            <a:endParaRPr b="0" i="0" sz="2200" u="none" cap="none" strike="noStrike"/>
          </a:p>
        </p:txBody>
      </p:sp>
      <p:sp>
        <p:nvSpPr>
          <p:cNvPr id="86" name="Google Shape;86;p2"/>
          <p:cNvSpPr/>
          <p:nvPr/>
        </p:nvSpPr>
        <p:spPr>
          <a:xfrm>
            <a:off x="8165758" y="6041709"/>
            <a:ext cx="5670900" cy="1814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Los mecanismos de recuperación de transacciones, como los puntos de guardado y los rollbacks, así como los niveles de aislamiento, son esenciales para garantizar la integridad de los datos ante fallas o conflictos.</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3"/>
          <p:cNvSpPr/>
          <p:nvPr/>
        </p:nvSpPr>
        <p:spPr>
          <a:xfrm>
            <a:off x="793790" y="784503"/>
            <a:ext cx="12736473"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Introducción a la concurrencia en bases de datos</a:t>
            </a:r>
            <a:endParaRPr b="0" i="0" sz="4450" u="none" cap="none" strike="noStrike"/>
          </a:p>
        </p:txBody>
      </p:sp>
      <p:pic>
        <p:nvPicPr>
          <p:cNvPr descr="preencoded.png" id="93" name="Google Shape;93;p3"/>
          <p:cNvPicPr preferRelativeResize="0"/>
          <p:nvPr/>
        </p:nvPicPr>
        <p:blipFill rotWithShape="1">
          <a:blip r:embed="rId3">
            <a:alphaModFix/>
          </a:blip>
          <a:srcRect b="0" l="0" r="0" t="0"/>
          <a:stretch/>
        </p:blipFill>
        <p:spPr>
          <a:xfrm>
            <a:off x="793790" y="1946910"/>
            <a:ext cx="4120753" cy="2546747"/>
          </a:xfrm>
          <a:prstGeom prst="rect">
            <a:avLst/>
          </a:prstGeom>
          <a:noFill/>
          <a:ln>
            <a:noFill/>
          </a:ln>
        </p:spPr>
      </p:pic>
      <p:sp>
        <p:nvSpPr>
          <p:cNvPr id="94" name="Google Shape;94;p3"/>
          <p:cNvSpPr/>
          <p:nvPr/>
        </p:nvSpPr>
        <p:spPr>
          <a:xfrm>
            <a:off x="793790" y="4777145"/>
            <a:ext cx="392620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Carga de Trabajo Concurrente</a:t>
            </a:r>
            <a:endParaRPr b="0" i="0" sz="2200" u="none" cap="none" strike="noStrike"/>
          </a:p>
        </p:txBody>
      </p:sp>
      <p:sp>
        <p:nvSpPr>
          <p:cNvPr id="95" name="Google Shape;95;p3"/>
          <p:cNvSpPr/>
          <p:nvPr/>
        </p:nvSpPr>
        <p:spPr>
          <a:xfrm>
            <a:off x="696515" y="5598838"/>
            <a:ext cx="4120800" cy="2177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Las bases de datos modernas deben manejar múltiples transacciones simultáneas para satisfacer la demanda de los usuarios. Esto requiere una cuidadosa administración de la concurrencia.</a:t>
            </a:r>
            <a:endParaRPr b="0" i="0" sz="1750" u="none" cap="none" strike="noStrike"/>
          </a:p>
        </p:txBody>
      </p:sp>
      <p:pic>
        <p:nvPicPr>
          <p:cNvPr descr="preencoded.png" id="96" name="Google Shape;96;p3"/>
          <p:cNvPicPr preferRelativeResize="0"/>
          <p:nvPr/>
        </p:nvPicPr>
        <p:blipFill rotWithShape="1">
          <a:blip r:embed="rId4">
            <a:alphaModFix/>
          </a:blip>
          <a:srcRect b="0" l="0" r="0" t="0"/>
          <a:stretch/>
        </p:blipFill>
        <p:spPr>
          <a:xfrm>
            <a:off x="5254704" y="1946910"/>
            <a:ext cx="4120872" cy="2546866"/>
          </a:xfrm>
          <a:prstGeom prst="rect">
            <a:avLst/>
          </a:prstGeom>
          <a:noFill/>
          <a:ln>
            <a:noFill/>
          </a:ln>
        </p:spPr>
      </p:pic>
      <p:sp>
        <p:nvSpPr>
          <p:cNvPr id="97" name="Google Shape;97;p3"/>
          <p:cNvSpPr/>
          <p:nvPr/>
        </p:nvSpPr>
        <p:spPr>
          <a:xfrm>
            <a:off x="5254704" y="4777264"/>
            <a:ext cx="352365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Interacción de los Usuarios</a:t>
            </a:r>
            <a:endParaRPr b="0" i="0" sz="2200" u="none" cap="none" strike="noStrike"/>
          </a:p>
        </p:txBody>
      </p:sp>
      <p:sp>
        <p:nvSpPr>
          <p:cNvPr id="98" name="Google Shape;98;p3"/>
          <p:cNvSpPr/>
          <p:nvPr/>
        </p:nvSpPr>
        <p:spPr>
          <a:xfrm>
            <a:off x="5206104" y="5598857"/>
            <a:ext cx="4120800" cy="1814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Varios usuarios accediendo y modificando los mismos datos simultáneamente pueden causar inconsistencias si no se controla adecuadamente la concurrencia.</a:t>
            </a:r>
            <a:endParaRPr b="0" i="0" sz="1750" u="none" cap="none" strike="noStrike"/>
          </a:p>
        </p:txBody>
      </p:sp>
      <p:pic>
        <p:nvPicPr>
          <p:cNvPr descr="preencoded.png" id="99" name="Google Shape;99;p3"/>
          <p:cNvPicPr preferRelativeResize="0"/>
          <p:nvPr/>
        </p:nvPicPr>
        <p:blipFill rotWithShape="1">
          <a:blip r:embed="rId5">
            <a:alphaModFix/>
          </a:blip>
          <a:srcRect b="0" l="0" r="0" t="0"/>
          <a:stretch/>
        </p:blipFill>
        <p:spPr>
          <a:xfrm>
            <a:off x="9715738" y="1946910"/>
            <a:ext cx="4120753" cy="2546747"/>
          </a:xfrm>
          <a:prstGeom prst="rect">
            <a:avLst/>
          </a:prstGeom>
          <a:noFill/>
          <a:ln>
            <a:noFill/>
          </a:ln>
        </p:spPr>
      </p:pic>
      <p:sp>
        <p:nvSpPr>
          <p:cNvPr id="100" name="Google Shape;100;p3"/>
          <p:cNvSpPr/>
          <p:nvPr/>
        </p:nvSpPr>
        <p:spPr>
          <a:xfrm>
            <a:off x="9715738" y="4777145"/>
            <a:ext cx="3095506"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Mecanismos de Control</a:t>
            </a:r>
            <a:endParaRPr b="0" i="0" sz="2200" u="none" cap="none" strike="noStrike"/>
          </a:p>
        </p:txBody>
      </p:sp>
      <p:sp>
        <p:nvSpPr>
          <p:cNvPr id="101" name="Google Shape;101;p3"/>
          <p:cNvSpPr/>
          <p:nvPr/>
        </p:nvSpPr>
        <p:spPr>
          <a:xfrm>
            <a:off x="9715663" y="5780288"/>
            <a:ext cx="4120800" cy="1814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Los sistemas de gestión de bases de datos implementan técnicas como bloqueo y sellado de tiempo para coordinar el acceso concurrente a los datos.</a:t>
            </a:r>
            <a:endParaRPr b="0" i="0" sz="17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p:nvPr/>
        </p:nvSpPr>
        <p:spPr>
          <a:xfrm>
            <a:off x="793790" y="2004060"/>
            <a:ext cx="130428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Problemas de concurrencia: bloqueos y deadlocks</a:t>
            </a:r>
            <a:endParaRPr b="0" i="0" sz="4450" u="none" cap="none" strike="noStrike"/>
          </a:p>
        </p:txBody>
      </p:sp>
      <p:sp>
        <p:nvSpPr>
          <p:cNvPr id="108" name="Google Shape;108;p4"/>
          <p:cNvSpPr/>
          <p:nvPr/>
        </p:nvSpPr>
        <p:spPr>
          <a:xfrm>
            <a:off x="793790" y="398859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2200"/>
              <a:buFont typeface="Inter"/>
              <a:buNone/>
            </a:pPr>
            <a:r>
              <a:rPr b="1" i="0" lang="en-US" sz="2200" u="none" cap="none" strike="noStrike">
                <a:solidFill>
                  <a:srgbClr val="000000"/>
                </a:solidFill>
                <a:latin typeface="Inter"/>
                <a:ea typeface="Inter"/>
                <a:cs typeface="Inter"/>
                <a:sym typeface="Inter"/>
              </a:rPr>
              <a:t>Bloqueos (Locks)</a:t>
            </a:r>
            <a:endParaRPr b="0" i="0" sz="2200" u="none" cap="none" strike="noStrike"/>
          </a:p>
        </p:txBody>
      </p:sp>
      <p:sp>
        <p:nvSpPr>
          <p:cNvPr id="109" name="Google Shape;109;p4"/>
          <p:cNvSpPr/>
          <p:nvPr/>
        </p:nvSpPr>
        <p:spPr>
          <a:xfrm>
            <a:off x="793790" y="4569738"/>
            <a:ext cx="6244709"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Los bloqueos ocurren cuando múltiples procesos intentan acceder a los mismos recursos de manera exclusiva, lo que genera conflictos y retrasos en la ejecución de las transacciones.</a:t>
            </a:r>
            <a:endParaRPr b="0" i="0" sz="1750" u="none" cap="none" strike="noStrike"/>
          </a:p>
        </p:txBody>
      </p:sp>
      <p:sp>
        <p:nvSpPr>
          <p:cNvPr id="110" name="Google Shape;110;p4"/>
          <p:cNvSpPr/>
          <p:nvPr/>
        </p:nvSpPr>
        <p:spPr>
          <a:xfrm>
            <a:off x="7599521" y="398859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2200"/>
              <a:buFont typeface="Inter"/>
              <a:buNone/>
            </a:pPr>
            <a:r>
              <a:rPr b="1" i="0" lang="en-US" sz="2200" u="none" cap="none" strike="noStrike">
                <a:solidFill>
                  <a:srgbClr val="000000"/>
                </a:solidFill>
                <a:latin typeface="Inter"/>
                <a:ea typeface="Inter"/>
                <a:cs typeface="Inter"/>
                <a:sym typeface="Inter"/>
              </a:rPr>
              <a:t>Deadlocks</a:t>
            </a:r>
            <a:endParaRPr b="0" i="0" sz="2200" u="none" cap="none" strike="noStrike"/>
          </a:p>
        </p:txBody>
      </p:sp>
      <p:sp>
        <p:nvSpPr>
          <p:cNvPr id="111" name="Google Shape;111;p4"/>
          <p:cNvSpPr/>
          <p:nvPr/>
        </p:nvSpPr>
        <p:spPr>
          <a:xfrm>
            <a:off x="7599521" y="4569738"/>
            <a:ext cx="6244709"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Un deadlock es una situación de bloqueo circular en la que dos o más procesos se mantienen mutuamente bloqueados, esperando recursos que nunca serán liberados. Esto paraliza por completo el sistema.</a:t>
            </a:r>
            <a:endParaRPr b="0" i="0" sz="17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p:nvPr/>
        </p:nvSpPr>
        <p:spPr>
          <a:xfrm>
            <a:off x="735925" y="746998"/>
            <a:ext cx="10971252" cy="656987"/>
          </a:xfrm>
          <a:prstGeom prst="rect">
            <a:avLst/>
          </a:prstGeom>
          <a:noFill/>
          <a:ln>
            <a:noFill/>
          </a:ln>
        </p:spPr>
        <p:txBody>
          <a:bodyPr anchorCtr="0" anchor="t" bIns="0" lIns="0" spcFirstLastPara="1" rIns="0" wrap="square" tIns="0">
            <a:noAutofit/>
          </a:bodyPr>
          <a:lstStyle/>
          <a:p>
            <a:pPr indent="0" lvl="0" marL="0" marR="0" rtl="0" algn="l">
              <a:lnSpc>
                <a:spcPct val="125609"/>
              </a:lnSpc>
              <a:spcBef>
                <a:spcPts val="0"/>
              </a:spcBef>
              <a:spcAft>
                <a:spcPts val="0"/>
              </a:spcAft>
              <a:buClr>
                <a:srgbClr val="000000"/>
              </a:buClr>
              <a:buSzPts val="4100"/>
              <a:buFont typeface="Inter"/>
              <a:buNone/>
            </a:pPr>
            <a:r>
              <a:rPr b="1" i="0" lang="en-US" sz="4100" u="none" cap="none" strike="noStrike">
                <a:solidFill>
                  <a:srgbClr val="000000"/>
                </a:solidFill>
                <a:latin typeface="Inter"/>
                <a:ea typeface="Inter"/>
                <a:cs typeface="Inter"/>
                <a:sym typeface="Inter"/>
              </a:rPr>
              <a:t>Técnicas de control de concurrencia: Locking</a:t>
            </a:r>
            <a:endParaRPr b="0" i="0" sz="4100" u="none" cap="none" strike="noStrike"/>
          </a:p>
        </p:txBody>
      </p:sp>
      <p:pic>
        <p:nvPicPr>
          <p:cNvPr descr="preencoded.png" id="118" name="Google Shape;118;p5"/>
          <p:cNvPicPr preferRelativeResize="0"/>
          <p:nvPr/>
        </p:nvPicPr>
        <p:blipFill rotWithShape="1">
          <a:blip r:embed="rId3">
            <a:alphaModFix/>
          </a:blip>
          <a:srcRect b="0" l="0" r="0" t="0"/>
          <a:stretch/>
        </p:blipFill>
        <p:spPr>
          <a:xfrm>
            <a:off x="2939891" y="1824514"/>
            <a:ext cx="2171105" cy="1547932"/>
          </a:xfrm>
          <a:prstGeom prst="rect">
            <a:avLst/>
          </a:prstGeom>
          <a:noFill/>
          <a:ln>
            <a:noFill/>
          </a:ln>
        </p:spPr>
      </p:pic>
      <p:sp>
        <p:nvSpPr>
          <p:cNvPr id="119" name="Google Shape;119;p5"/>
          <p:cNvSpPr/>
          <p:nvPr/>
        </p:nvSpPr>
        <p:spPr>
          <a:xfrm>
            <a:off x="3972639" y="2588776"/>
            <a:ext cx="105489" cy="420529"/>
          </a:xfrm>
          <a:prstGeom prst="rect">
            <a:avLst/>
          </a:prstGeom>
          <a:noFill/>
          <a:ln>
            <a:noFill/>
          </a:ln>
        </p:spPr>
        <p:txBody>
          <a:bodyPr anchorCtr="0" anchor="t" bIns="0" lIns="0" spcFirstLastPara="1" rIns="0" wrap="square" tIns="0">
            <a:noAutofit/>
          </a:bodyPr>
          <a:lstStyle/>
          <a:p>
            <a:pPr indent="0" lvl="0" marL="0" marR="0" rtl="0" algn="ctr">
              <a:lnSpc>
                <a:spcPct val="160975"/>
              </a:lnSpc>
              <a:spcBef>
                <a:spcPts val="0"/>
              </a:spcBef>
              <a:spcAft>
                <a:spcPts val="0"/>
              </a:spcAft>
              <a:buClr>
                <a:srgbClr val="272525"/>
              </a:buClr>
              <a:buSzPts val="2050"/>
              <a:buFont typeface="Inter"/>
              <a:buNone/>
            </a:pPr>
            <a:r>
              <a:rPr b="1" i="0" lang="en-US" sz="2050" u="none" cap="none" strike="noStrike">
                <a:solidFill>
                  <a:srgbClr val="272525"/>
                </a:solidFill>
                <a:latin typeface="Inter"/>
                <a:ea typeface="Inter"/>
                <a:cs typeface="Inter"/>
                <a:sym typeface="Inter"/>
              </a:rPr>
              <a:t>1</a:t>
            </a:r>
            <a:endParaRPr b="0" i="0" sz="2050" u="none" cap="none" strike="noStrike"/>
          </a:p>
        </p:txBody>
      </p:sp>
      <p:sp>
        <p:nvSpPr>
          <p:cNvPr id="120" name="Google Shape;120;p5"/>
          <p:cNvSpPr/>
          <p:nvPr/>
        </p:nvSpPr>
        <p:spPr>
          <a:xfrm>
            <a:off x="5321260" y="2202894"/>
            <a:ext cx="2628424" cy="32861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272525"/>
              </a:buClr>
              <a:buSzPts val="2050"/>
              <a:buFont typeface="Inter"/>
              <a:buNone/>
            </a:pPr>
            <a:r>
              <a:rPr b="1" i="0" lang="en-US" sz="2050" u="none" cap="none" strike="noStrike">
                <a:solidFill>
                  <a:srgbClr val="272525"/>
                </a:solidFill>
                <a:latin typeface="Inter"/>
                <a:ea typeface="Inter"/>
                <a:cs typeface="Inter"/>
                <a:sym typeface="Inter"/>
              </a:rPr>
              <a:t>Bloqueo exclusivo</a:t>
            </a:r>
            <a:endParaRPr b="0" i="0" sz="2050" u="none" cap="none" strike="noStrike"/>
          </a:p>
        </p:txBody>
      </p:sp>
      <p:sp>
        <p:nvSpPr>
          <p:cNvPr id="121" name="Google Shape;121;p5"/>
          <p:cNvSpPr/>
          <p:nvPr/>
        </p:nvSpPr>
        <p:spPr>
          <a:xfrm>
            <a:off x="5321260" y="2657594"/>
            <a:ext cx="5513189" cy="336352"/>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272525"/>
              </a:buClr>
              <a:buSzPts val="1650"/>
              <a:buFont typeface="Inter"/>
              <a:buNone/>
            </a:pPr>
            <a:r>
              <a:rPr b="0" i="0" lang="en-US" sz="1650" u="none" cap="none" strike="noStrike">
                <a:solidFill>
                  <a:srgbClr val="272525"/>
                </a:solidFill>
                <a:latin typeface="Inter"/>
                <a:ea typeface="Inter"/>
                <a:cs typeface="Inter"/>
                <a:sym typeface="Inter"/>
              </a:rPr>
              <a:t>Solo un usuario puede tener acceso a un recurso a la vez.</a:t>
            </a:r>
            <a:endParaRPr b="0" i="0" sz="1650" u="none" cap="none" strike="noStrike"/>
          </a:p>
        </p:txBody>
      </p:sp>
      <p:sp>
        <p:nvSpPr>
          <p:cNvPr id="122" name="Google Shape;122;p5"/>
          <p:cNvSpPr/>
          <p:nvPr/>
        </p:nvSpPr>
        <p:spPr>
          <a:xfrm>
            <a:off x="5163503" y="3389114"/>
            <a:ext cx="8678466" cy="11430"/>
          </a:xfrm>
          <a:prstGeom prst="roundRect">
            <a:avLst>
              <a:gd fmla="val 772676"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3" name="Google Shape;123;p5"/>
          <p:cNvPicPr preferRelativeResize="0"/>
          <p:nvPr/>
        </p:nvPicPr>
        <p:blipFill rotWithShape="1">
          <a:blip r:embed="rId4">
            <a:alphaModFix/>
          </a:blip>
          <a:srcRect b="0" l="0" r="0" t="0"/>
          <a:stretch/>
        </p:blipFill>
        <p:spPr>
          <a:xfrm>
            <a:off x="1854398" y="3424952"/>
            <a:ext cx="4342209" cy="1547932"/>
          </a:xfrm>
          <a:prstGeom prst="rect">
            <a:avLst/>
          </a:prstGeom>
          <a:noFill/>
          <a:ln>
            <a:noFill/>
          </a:ln>
        </p:spPr>
      </p:pic>
      <p:sp>
        <p:nvSpPr>
          <p:cNvPr id="124" name="Google Shape;124;p5"/>
          <p:cNvSpPr/>
          <p:nvPr/>
        </p:nvSpPr>
        <p:spPr>
          <a:xfrm>
            <a:off x="3946684" y="3988594"/>
            <a:ext cx="157639" cy="420529"/>
          </a:xfrm>
          <a:prstGeom prst="rect">
            <a:avLst/>
          </a:prstGeom>
          <a:noFill/>
          <a:ln>
            <a:noFill/>
          </a:ln>
        </p:spPr>
        <p:txBody>
          <a:bodyPr anchorCtr="0" anchor="t" bIns="0" lIns="0" spcFirstLastPara="1" rIns="0" wrap="square" tIns="0">
            <a:noAutofit/>
          </a:bodyPr>
          <a:lstStyle/>
          <a:p>
            <a:pPr indent="0" lvl="0" marL="0" marR="0" rtl="0" algn="ctr">
              <a:lnSpc>
                <a:spcPct val="160975"/>
              </a:lnSpc>
              <a:spcBef>
                <a:spcPts val="0"/>
              </a:spcBef>
              <a:spcAft>
                <a:spcPts val="0"/>
              </a:spcAft>
              <a:buClr>
                <a:srgbClr val="272525"/>
              </a:buClr>
              <a:buSzPts val="2050"/>
              <a:buFont typeface="Inter"/>
              <a:buNone/>
            </a:pPr>
            <a:r>
              <a:rPr b="1" i="0" lang="en-US" sz="2050" u="none" cap="none" strike="noStrike">
                <a:solidFill>
                  <a:srgbClr val="272525"/>
                </a:solidFill>
                <a:latin typeface="Inter"/>
                <a:ea typeface="Inter"/>
                <a:cs typeface="Inter"/>
                <a:sym typeface="Inter"/>
              </a:rPr>
              <a:t>2</a:t>
            </a:r>
            <a:endParaRPr b="0" i="0" sz="2050" u="none" cap="none" strike="noStrike"/>
          </a:p>
        </p:txBody>
      </p:sp>
      <p:sp>
        <p:nvSpPr>
          <p:cNvPr id="125" name="Google Shape;125;p5"/>
          <p:cNvSpPr/>
          <p:nvPr/>
        </p:nvSpPr>
        <p:spPr>
          <a:xfrm>
            <a:off x="6406872" y="3803333"/>
            <a:ext cx="2628424" cy="32861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272525"/>
              </a:buClr>
              <a:buSzPts val="2050"/>
              <a:buFont typeface="Inter"/>
              <a:buNone/>
            </a:pPr>
            <a:r>
              <a:rPr b="1" i="0" lang="en-US" sz="2050" u="none" cap="none" strike="noStrike">
                <a:solidFill>
                  <a:srgbClr val="272525"/>
                </a:solidFill>
                <a:latin typeface="Inter"/>
                <a:ea typeface="Inter"/>
                <a:cs typeface="Inter"/>
                <a:sym typeface="Inter"/>
              </a:rPr>
              <a:t>Bloqueo compartido</a:t>
            </a:r>
            <a:endParaRPr b="0" i="0" sz="2050" u="none" cap="none" strike="noStrike"/>
          </a:p>
        </p:txBody>
      </p:sp>
      <p:sp>
        <p:nvSpPr>
          <p:cNvPr id="126" name="Google Shape;126;p5"/>
          <p:cNvSpPr/>
          <p:nvPr/>
        </p:nvSpPr>
        <p:spPr>
          <a:xfrm>
            <a:off x="6406872" y="4258032"/>
            <a:ext cx="6656427" cy="336352"/>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272525"/>
              </a:buClr>
              <a:buSzPts val="1650"/>
              <a:buFont typeface="Inter"/>
              <a:buNone/>
            </a:pPr>
            <a:r>
              <a:rPr b="0" i="0" lang="en-US" sz="1650" u="none" cap="none" strike="noStrike">
                <a:solidFill>
                  <a:srgbClr val="272525"/>
                </a:solidFill>
                <a:latin typeface="Inter"/>
                <a:ea typeface="Inter"/>
                <a:cs typeface="Inter"/>
                <a:sym typeface="Inter"/>
              </a:rPr>
              <a:t>Múltiples usuarios pueden acceder a un recurso de forma simultánea.</a:t>
            </a:r>
            <a:endParaRPr b="0" i="0" sz="1650" u="none" cap="none" strike="noStrike"/>
          </a:p>
        </p:txBody>
      </p:sp>
      <p:sp>
        <p:nvSpPr>
          <p:cNvPr id="127" name="Google Shape;127;p5"/>
          <p:cNvSpPr/>
          <p:nvPr/>
        </p:nvSpPr>
        <p:spPr>
          <a:xfrm>
            <a:off x="6249114" y="4989552"/>
            <a:ext cx="7592854" cy="11430"/>
          </a:xfrm>
          <a:prstGeom prst="roundRect">
            <a:avLst>
              <a:gd fmla="val 772676"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8" name="Google Shape;128;p5"/>
          <p:cNvPicPr preferRelativeResize="0"/>
          <p:nvPr/>
        </p:nvPicPr>
        <p:blipFill rotWithShape="1">
          <a:blip r:embed="rId5">
            <a:alphaModFix/>
          </a:blip>
          <a:srcRect b="0" l="0" r="0" t="0"/>
          <a:stretch/>
        </p:blipFill>
        <p:spPr>
          <a:xfrm>
            <a:off x="768787" y="5025390"/>
            <a:ext cx="6513433" cy="1547932"/>
          </a:xfrm>
          <a:prstGeom prst="rect">
            <a:avLst/>
          </a:prstGeom>
          <a:noFill/>
          <a:ln>
            <a:noFill/>
          </a:ln>
        </p:spPr>
      </p:pic>
      <p:sp>
        <p:nvSpPr>
          <p:cNvPr id="129" name="Google Shape;129;p5"/>
          <p:cNvSpPr/>
          <p:nvPr/>
        </p:nvSpPr>
        <p:spPr>
          <a:xfrm>
            <a:off x="3944541" y="5589032"/>
            <a:ext cx="161806" cy="420529"/>
          </a:xfrm>
          <a:prstGeom prst="rect">
            <a:avLst/>
          </a:prstGeom>
          <a:noFill/>
          <a:ln>
            <a:noFill/>
          </a:ln>
        </p:spPr>
        <p:txBody>
          <a:bodyPr anchorCtr="0" anchor="t" bIns="0" lIns="0" spcFirstLastPara="1" rIns="0" wrap="square" tIns="0">
            <a:noAutofit/>
          </a:bodyPr>
          <a:lstStyle/>
          <a:p>
            <a:pPr indent="0" lvl="0" marL="0" marR="0" rtl="0" algn="ctr">
              <a:lnSpc>
                <a:spcPct val="160975"/>
              </a:lnSpc>
              <a:spcBef>
                <a:spcPts val="0"/>
              </a:spcBef>
              <a:spcAft>
                <a:spcPts val="0"/>
              </a:spcAft>
              <a:buClr>
                <a:srgbClr val="272525"/>
              </a:buClr>
              <a:buSzPts val="2050"/>
              <a:buFont typeface="Inter"/>
              <a:buNone/>
            </a:pPr>
            <a:r>
              <a:rPr b="1" i="0" lang="en-US" sz="2050" u="none" cap="none" strike="noStrike">
                <a:solidFill>
                  <a:srgbClr val="272525"/>
                </a:solidFill>
                <a:latin typeface="Inter"/>
                <a:ea typeface="Inter"/>
                <a:cs typeface="Inter"/>
                <a:sym typeface="Inter"/>
              </a:rPr>
              <a:t>3</a:t>
            </a:r>
            <a:endParaRPr b="0" i="0" sz="2050" u="none" cap="none" strike="noStrike"/>
          </a:p>
        </p:txBody>
      </p:sp>
      <p:sp>
        <p:nvSpPr>
          <p:cNvPr id="130" name="Google Shape;130;p5"/>
          <p:cNvSpPr/>
          <p:nvPr/>
        </p:nvSpPr>
        <p:spPr>
          <a:xfrm>
            <a:off x="7492484" y="5235654"/>
            <a:ext cx="2648188" cy="32861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272525"/>
              </a:buClr>
              <a:buSzPts val="2050"/>
              <a:buFont typeface="Inter"/>
              <a:buNone/>
            </a:pPr>
            <a:r>
              <a:rPr b="1" i="0" lang="en-US" sz="2050" u="none" cap="none" strike="noStrike">
                <a:solidFill>
                  <a:srgbClr val="272525"/>
                </a:solidFill>
                <a:latin typeface="Inter"/>
                <a:ea typeface="Inter"/>
                <a:cs typeface="Inter"/>
                <a:sym typeface="Inter"/>
              </a:rPr>
              <a:t>Escalado de bloqueos</a:t>
            </a:r>
            <a:endParaRPr b="0" i="0" sz="2050" u="none" cap="none" strike="noStrike"/>
          </a:p>
        </p:txBody>
      </p:sp>
      <p:sp>
        <p:nvSpPr>
          <p:cNvPr id="131" name="Google Shape;131;p5"/>
          <p:cNvSpPr/>
          <p:nvPr/>
        </p:nvSpPr>
        <p:spPr>
          <a:xfrm>
            <a:off x="7492484" y="5690354"/>
            <a:ext cx="6191726" cy="672703"/>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272525"/>
              </a:buClr>
              <a:buSzPts val="1650"/>
              <a:buFont typeface="Inter"/>
              <a:buNone/>
            </a:pPr>
            <a:r>
              <a:rPr b="0" i="0" lang="en-US" sz="1650" u="none" cap="none" strike="noStrike">
                <a:solidFill>
                  <a:srgbClr val="272525"/>
                </a:solidFill>
                <a:latin typeface="Inter"/>
                <a:ea typeface="Inter"/>
                <a:cs typeface="Inter"/>
                <a:sym typeface="Inter"/>
              </a:rPr>
              <a:t>Los bloqueos pueden aplicarse a diferentes niveles (fila, tabla, base de datos).</a:t>
            </a:r>
            <a:endParaRPr b="0" i="0" sz="1650" u="none" cap="none" strike="noStrike"/>
          </a:p>
        </p:txBody>
      </p:sp>
      <p:sp>
        <p:nvSpPr>
          <p:cNvPr id="132" name="Google Shape;132;p5"/>
          <p:cNvSpPr/>
          <p:nvPr/>
        </p:nvSpPr>
        <p:spPr>
          <a:xfrm>
            <a:off x="735925" y="6809780"/>
            <a:ext cx="13158549" cy="672703"/>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272525"/>
              </a:buClr>
              <a:buSzPts val="1650"/>
              <a:buFont typeface="Inter"/>
              <a:buNone/>
            </a:pPr>
            <a:r>
              <a:rPr b="0" i="0" lang="en-US" sz="1650" u="none" cap="none" strike="noStrike">
                <a:solidFill>
                  <a:srgbClr val="272525"/>
                </a:solidFill>
                <a:latin typeface="Inter"/>
                <a:ea typeface="Inter"/>
                <a:cs typeface="Inter"/>
                <a:sym typeface="Inter"/>
              </a:rPr>
              <a:t>El mecanismo de bloqueo es una técnica fundamental para el control de concurrencia en sistemas de gestión de bases de datos. Permite regular el acceso de múltiples usuarios a los mismos recursos, evitando conflictos y garantizando la integridad de los datos.</a:t>
            </a:r>
            <a:endParaRPr b="0" i="0" sz="16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preencoded.png" id="138" name="Google Shape;138;p6"/>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39" name="Google Shape;139;p6"/>
          <p:cNvSpPr/>
          <p:nvPr/>
        </p:nvSpPr>
        <p:spPr>
          <a:xfrm>
            <a:off x="632460" y="523637"/>
            <a:ext cx="7879080" cy="1129189"/>
          </a:xfrm>
          <a:prstGeom prst="rect">
            <a:avLst/>
          </a:prstGeom>
          <a:noFill/>
          <a:ln>
            <a:noFill/>
          </a:ln>
        </p:spPr>
        <p:txBody>
          <a:bodyPr anchorCtr="0" anchor="t" bIns="0" lIns="0" spcFirstLastPara="1" rIns="0" wrap="square" tIns="0">
            <a:noAutofit/>
          </a:bodyPr>
          <a:lstStyle/>
          <a:p>
            <a:pPr indent="0" lvl="0" marL="0" marR="0" rtl="0" algn="l">
              <a:lnSpc>
                <a:spcPct val="123943"/>
              </a:lnSpc>
              <a:spcBef>
                <a:spcPts val="0"/>
              </a:spcBef>
              <a:spcAft>
                <a:spcPts val="0"/>
              </a:spcAft>
              <a:buClr>
                <a:srgbClr val="000000"/>
              </a:buClr>
              <a:buSzPts val="3550"/>
              <a:buFont typeface="Inter"/>
              <a:buNone/>
            </a:pPr>
            <a:r>
              <a:rPr b="1" i="0" lang="en-US" sz="3550" u="none" cap="none" strike="noStrike">
                <a:solidFill>
                  <a:srgbClr val="000000"/>
                </a:solidFill>
                <a:latin typeface="Inter"/>
                <a:ea typeface="Inter"/>
                <a:cs typeface="Inter"/>
                <a:sym typeface="Inter"/>
              </a:rPr>
              <a:t>Técnicas de control de concurrencia: Time-stamping</a:t>
            </a:r>
            <a:endParaRPr b="0" i="0" sz="3550" u="none" cap="none" strike="noStrike"/>
          </a:p>
        </p:txBody>
      </p:sp>
      <p:pic>
        <p:nvPicPr>
          <p:cNvPr descr="preencoded.png" id="140" name="Google Shape;140;p6"/>
          <p:cNvPicPr preferRelativeResize="0"/>
          <p:nvPr/>
        </p:nvPicPr>
        <p:blipFill rotWithShape="1">
          <a:blip r:embed="rId4">
            <a:alphaModFix/>
          </a:blip>
          <a:srcRect b="0" l="0" r="0" t="0"/>
          <a:stretch/>
        </p:blipFill>
        <p:spPr>
          <a:xfrm>
            <a:off x="632460" y="1923812"/>
            <a:ext cx="903446" cy="1445538"/>
          </a:xfrm>
          <a:prstGeom prst="rect">
            <a:avLst/>
          </a:prstGeom>
          <a:noFill/>
          <a:ln>
            <a:noFill/>
          </a:ln>
        </p:spPr>
      </p:pic>
      <p:sp>
        <p:nvSpPr>
          <p:cNvPr id="141" name="Google Shape;141;p6"/>
          <p:cNvSpPr/>
          <p:nvPr/>
        </p:nvSpPr>
        <p:spPr>
          <a:xfrm>
            <a:off x="1806892" y="2104430"/>
            <a:ext cx="3386018" cy="28229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272525"/>
              </a:buClr>
              <a:buSzPts val="1750"/>
              <a:buFont typeface="Inter"/>
              <a:buNone/>
            </a:pPr>
            <a:r>
              <a:rPr b="1" i="0" lang="en-US" sz="1750" u="none" cap="none" strike="noStrike">
                <a:solidFill>
                  <a:srgbClr val="272525"/>
                </a:solidFill>
                <a:latin typeface="Inter"/>
                <a:ea typeface="Inter"/>
                <a:cs typeface="Inter"/>
                <a:sym typeface="Inter"/>
              </a:rPr>
              <a:t>Asignación de marcas de tiempo</a:t>
            </a:r>
            <a:endParaRPr b="0" i="0" sz="1750" u="none" cap="none" strike="noStrike"/>
          </a:p>
        </p:txBody>
      </p:sp>
      <p:sp>
        <p:nvSpPr>
          <p:cNvPr id="142" name="Google Shape;142;p6"/>
          <p:cNvSpPr/>
          <p:nvPr/>
        </p:nvSpPr>
        <p:spPr>
          <a:xfrm>
            <a:off x="1806892" y="2838324"/>
            <a:ext cx="6704700" cy="5781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272525"/>
              </a:buClr>
              <a:buSzPts val="1400"/>
              <a:buFont typeface="Inter"/>
              <a:buNone/>
            </a:pPr>
            <a:r>
              <a:rPr b="0" i="0" lang="en-US" sz="1400" u="none" cap="none" strike="noStrike">
                <a:solidFill>
                  <a:srgbClr val="272525"/>
                </a:solidFill>
                <a:latin typeface="Inter"/>
                <a:ea typeface="Inter"/>
                <a:cs typeface="Inter"/>
                <a:sym typeface="Inter"/>
              </a:rPr>
              <a:t>Cada transacción recibe una marca de tiempo única al iniciar su ejecución, que se utiliza para ordenar y resolver conflictos.</a:t>
            </a:r>
            <a:endParaRPr b="0" i="0" sz="1400" u="none" cap="none" strike="noStrike"/>
          </a:p>
        </p:txBody>
      </p:sp>
      <p:pic>
        <p:nvPicPr>
          <p:cNvPr descr="preencoded.png" id="143" name="Google Shape;143;p6"/>
          <p:cNvPicPr preferRelativeResize="0"/>
          <p:nvPr/>
        </p:nvPicPr>
        <p:blipFill rotWithShape="1">
          <a:blip r:embed="rId5">
            <a:alphaModFix/>
          </a:blip>
          <a:srcRect b="0" l="0" r="0" t="0"/>
          <a:stretch/>
        </p:blipFill>
        <p:spPr>
          <a:xfrm>
            <a:off x="632460" y="3369350"/>
            <a:ext cx="903446" cy="1445538"/>
          </a:xfrm>
          <a:prstGeom prst="rect">
            <a:avLst/>
          </a:prstGeom>
          <a:noFill/>
          <a:ln>
            <a:noFill/>
          </a:ln>
        </p:spPr>
      </p:pic>
      <p:sp>
        <p:nvSpPr>
          <p:cNvPr id="144" name="Google Shape;144;p6"/>
          <p:cNvSpPr/>
          <p:nvPr/>
        </p:nvSpPr>
        <p:spPr>
          <a:xfrm>
            <a:off x="1806892" y="3549968"/>
            <a:ext cx="2258735" cy="28229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272525"/>
              </a:buClr>
              <a:buSzPts val="1750"/>
              <a:buFont typeface="Inter"/>
              <a:buNone/>
            </a:pPr>
            <a:r>
              <a:rPr b="1" i="0" lang="en-US" sz="1750" u="none" cap="none" strike="noStrike">
                <a:solidFill>
                  <a:srgbClr val="272525"/>
                </a:solidFill>
                <a:latin typeface="Inter"/>
                <a:ea typeface="Inter"/>
                <a:cs typeface="Inter"/>
                <a:sym typeface="Inter"/>
              </a:rPr>
              <a:t>Control de conflictos</a:t>
            </a:r>
            <a:endParaRPr b="0" i="0" sz="1750" u="none" cap="none" strike="noStrike"/>
          </a:p>
        </p:txBody>
      </p:sp>
      <p:sp>
        <p:nvSpPr>
          <p:cNvPr id="145" name="Google Shape;145;p6"/>
          <p:cNvSpPr/>
          <p:nvPr/>
        </p:nvSpPr>
        <p:spPr>
          <a:xfrm>
            <a:off x="1806892" y="4236737"/>
            <a:ext cx="6704700" cy="5781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272525"/>
              </a:buClr>
              <a:buSzPts val="1400"/>
              <a:buFont typeface="Inter"/>
              <a:buNone/>
            </a:pPr>
            <a:r>
              <a:rPr b="0" i="0" lang="en-US" sz="1400" u="none" cap="none" strike="noStrike">
                <a:solidFill>
                  <a:srgbClr val="272525"/>
                </a:solidFill>
                <a:latin typeface="Inter"/>
                <a:ea typeface="Inter"/>
                <a:cs typeface="Inter"/>
                <a:sym typeface="Inter"/>
              </a:rPr>
              <a:t>Cuando hay conflictos de concurrencia, se resuelven comparando las marcas de tiempo de las transacciones involucradas.</a:t>
            </a:r>
            <a:endParaRPr b="0" i="0" sz="1400" u="none" cap="none" strike="noStrike"/>
          </a:p>
        </p:txBody>
      </p:sp>
      <p:pic>
        <p:nvPicPr>
          <p:cNvPr descr="preencoded.png" id="146" name="Google Shape;146;p6"/>
          <p:cNvPicPr preferRelativeResize="0"/>
          <p:nvPr/>
        </p:nvPicPr>
        <p:blipFill rotWithShape="1">
          <a:blip r:embed="rId6">
            <a:alphaModFix/>
          </a:blip>
          <a:srcRect b="0" l="0" r="0" t="0"/>
          <a:stretch/>
        </p:blipFill>
        <p:spPr>
          <a:xfrm>
            <a:off x="632460" y="4814888"/>
            <a:ext cx="903446" cy="1445538"/>
          </a:xfrm>
          <a:prstGeom prst="rect">
            <a:avLst/>
          </a:prstGeom>
          <a:noFill/>
          <a:ln>
            <a:noFill/>
          </a:ln>
        </p:spPr>
      </p:pic>
      <p:sp>
        <p:nvSpPr>
          <p:cNvPr id="147" name="Google Shape;147;p6"/>
          <p:cNvSpPr/>
          <p:nvPr/>
        </p:nvSpPr>
        <p:spPr>
          <a:xfrm>
            <a:off x="1806892" y="4995505"/>
            <a:ext cx="2515791" cy="28229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272525"/>
              </a:buClr>
              <a:buSzPts val="1750"/>
              <a:buFont typeface="Inter"/>
              <a:buNone/>
            </a:pPr>
            <a:r>
              <a:rPr b="1" i="0" lang="en-US" sz="1750" u="none" cap="none" strike="noStrike">
                <a:solidFill>
                  <a:srgbClr val="272525"/>
                </a:solidFill>
                <a:latin typeface="Inter"/>
                <a:ea typeface="Inter"/>
                <a:cs typeface="Inter"/>
                <a:sym typeface="Inter"/>
              </a:rPr>
              <a:t>Detección de Deadlocks</a:t>
            </a:r>
            <a:endParaRPr b="0" i="0" sz="1750" u="none" cap="none" strike="noStrike"/>
          </a:p>
        </p:txBody>
      </p:sp>
      <p:sp>
        <p:nvSpPr>
          <p:cNvPr id="148" name="Google Shape;148;p6"/>
          <p:cNvSpPr/>
          <p:nvPr/>
        </p:nvSpPr>
        <p:spPr>
          <a:xfrm>
            <a:off x="1806892" y="5570337"/>
            <a:ext cx="6704700" cy="5781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272525"/>
              </a:buClr>
              <a:buSzPts val="1400"/>
              <a:buFont typeface="Inter"/>
              <a:buNone/>
            </a:pPr>
            <a:r>
              <a:rPr b="0" i="0" lang="en-US" sz="1400" u="none" cap="none" strike="noStrike">
                <a:solidFill>
                  <a:srgbClr val="272525"/>
                </a:solidFill>
                <a:latin typeface="Inter"/>
                <a:ea typeface="Inter"/>
                <a:cs typeface="Inter"/>
                <a:sym typeface="Inter"/>
              </a:rPr>
              <a:t>El sistema monitorea las marcas de tiempo para detectar posibles situaciones de deadlock y aplicar medidas correctivas.</a:t>
            </a:r>
            <a:endParaRPr b="0" i="0" sz="1400" u="none" cap="none" strike="noStrike"/>
          </a:p>
        </p:txBody>
      </p:sp>
      <p:pic>
        <p:nvPicPr>
          <p:cNvPr descr="preencoded.png" id="149" name="Google Shape;149;p6"/>
          <p:cNvPicPr preferRelativeResize="0"/>
          <p:nvPr/>
        </p:nvPicPr>
        <p:blipFill rotWithShape="1">
          <a:blip r:embed="rId7">
            <a:alphaModFix/>
          </a:blip>
          <a:srcRect b="0" l="0" r="0" t="0"/>
          <a:stretch/>
        </p:blipFill>
        <p:spPr>
          <a:xfrm>
            <a:off x="632460" y="6260425"/>
            <a:ext cx="903446" cy="1445538"/>
          </a:xfrm>
          <a:prstGeom prst="rect">
            <a:avLst/>
          </a:prstGeom>
          <a:noFill/>
          <a:ln>
            <a:noFill/>
          </a:ln>
        </p:spPr>
      </p:pic>
      <p:sp>
        <p:nvSpPr>
          <p:cNvPr id="150" name="Google Shape;150;p6"/>
          <p:cNvSpPr/>
          <p:nvPr/>
        </p:nvSpPr>
        <p:spPr>
          <a:xfrm>
            <a:off x="1806892" y="6441043"/>
            <a:ext cx="2258735" cy="28229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272525"/>
              </a:buClr>
              <a:buSzPts val="1750"/>
              <a:buFont typeface="Inter"/>
              <a:buNone/>
            </a:pPr>
            <a:r>
              <a:rPr b="1" i="0" lang="en-US" sz="1750" u="none" cap="none" strike="noStrike">
                <a:solidFill>
                  <a:srgbClr val="272525"/>
                </a:solidFill>
                <a:latin typeface="Inter"/>
                <a:ea typeface="Inter"/>
                <a:cs typeface="Inter"/>
                <a:sym typeface="Inter"/>
              </a:rPr>
              <a:t>Ventajas</a:t>
            </a:r>
            <a:endParaRPr b="0" i="0" sz="1750" u="none" cap="none" strike="noStrike"/>
          </a:p>
        </p:txBody>
      </p:sp>
      <p:sp>
        <p:nvSpPr>
          <p:cNvPr id="151" name="Google Shape;151;p6"/>
          <p:cNvSpPr/>
          <p:nvPr/>
        </p:nvSpPr>
        <p:spPr>
          <a:xfrm>
            <a:off x="1806892" y="6831687"/>
            <a:ext cx="6704648" cy="57816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272525"/>
              </a:buClr>
              <a:buSzPts val="1400"/>
              <a:buFont typeface="Inter"/>
              <a:buNone/>
            </a:pPr>
            <a:r>
              <a:rPr b="0" i="0" lang="en-US" sz="1400" u="none" cap="none" strike="noStrike">
                <a:solidFill>
                  <a:srgbClr val="272525"/>
                </a:solidFill>
                <a:latin typeface="Inter"/>
                <a:ea typeface="Inter"/>
                <a:cs typeface="Inter"/>
                <a:sym typeface="Inter"/>
              </a:rPr>
              <a:t>El time-stamping es sencillo de implementar y evita bloqueos, pero puede generar más abortos de transacciones.</a:t>
            </a:r>
            <a:endParaRPr b="0" i="0" sz="140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descr="preencoded.png" id="157" name="Google Shape;157;p7"/>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58" name="Google Shape;158;p7"/>
          <p:cNvPicPr preferRelativeResize="0"/>
          <p:nvPr/>
        </p:nvPicPr>
        <p:blipFill rotWithShape="1">
          <a:blip r:embed="rId4">
            <a:alphaModFix/>
          </a:blip>
          <a:srcRect b="0" l="0" r="0" t="0"/>
          <a:stretch/>
        </p:blipFill>
        <p:spPr>
          <a:xfrm>
            <a:off x="9361051" y="2794873"/>
            <a:ext cx="5052298" cy="2639854"/>
          </a:xfrm>
          <a:prstGeom prst="rect">
            <a:avLst/>
          </a:prstGeom>
          <a:noFill/>
          <a:ln>
            <a:noFill/>
          </a:ln>
        </p:spPr>
      </p:pic>
      <p:sp>
        <p:nvSpPr>
          <p:cNvPr id="159" name="Google Shape;159;p7"/>
          <p:cNvSpPr/>
          <p:nvPr/>
        </p:nvSpPr>
        <p:spPr>
          <a:xfrm>
            <a:off x="607695" y="966668"/>
            <a:ext cx="7108269" cy="5425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3400"/>
              <a:buFont typeface="Inter"/>
              <a:buNone/>
            </a:pPr>
            <a:r>
              <a:rPr b="1" i="0" lang="en-US" sz="3400" u="none" cap="none" strike="noStrike">
                <a:solidFill>
                  <a:srgbClr val="000000"/>
                </a:solidFill>
                <a:latin typeface="Inter"/>
                <a:ea typeface="Inter"/>
                <a:cs typeface="Inter"/>
                <a:sym typeface="Inter"/>
              </a:rPr>
              <a:t>Niveles de aislamiento y su impacto</a:t>
            </a:r>
            <a:endParaRPr b="0" i="0" sz="3400" u="none" cap="none" strike="noStrike"/>
          </a:p>
        </p:txBody>
      </p:sp>
      <p:sp>
        <p:nvSpPr>
          <p:cNvPr id="160" name="Google Shape;160;p7"/>
          <p:cNvSpPr/>
          <p:nvPr/>
        </p:nvSpPr>
        <p:spPr>
          <a:xfrm>
            <a:off x="607695" y="1769626"/>
            <a:ext cx="7928610" cy="4465082"/>
          </a:xfrm>
          <a:prstGeom prst="roundRect">
            <a:avLst>
              <a:gd fmla="val 1633" name="adj"/>
            </a:avLst>
          </a:prstGeom>
          <a:noFill/>
          <a:ln cap="flat" cmpd="sng" w="9525">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
          <p:cNvSpPr/>
          <p:nvPr/>
        </p:nvSpPr>
        <p:spPr>
          <a:xfrm>
            <a:off x="615315" y="1777246"/>
            <a:ext cx="7912537" cy="501253"/>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p:nvPr/>
        </p:nvSpPr>
        <p:spPr>
          <a:xfrm>
            <a:off x="789742" y="1889046"/>
            <a:ext cx="2286238" cy="277654"/>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72525"/>
              </a:buClr>
              <a:buSzPts val="1350"/>
              <a:buFont typeface="Inter"/>
              <a:buNone/>
            </a:pPr>
            <a:r>
              <a:rPr b="1" i="0" lang="en-US" sz="1350" u="none" cap="none" strike="noStrike">
                <a:solidFill>
                  <a:srgbClr val="272525"/>
                </a:solidFill>
                <a:latin typeface="Inter"/>
                <a:ea typeface="Inter"/>
                <a:cs typeface="Inter"/>
                <a:sym typeface="Inter"/>
              </a:rPr>
              <a:t>Nivel de Aislamiento</a:t>
            </a:r>
            <a:endParaRPr b="0" i="0" sz="1350" u="none" cap="none" strike="noStrike"/>
          </a:p>
        </p:txBody>
      </p:sp>
      <p:sp>
        <p:nvSpPr>
          <p:cNvPr id="163" name="Google Shape;163;p7"/>
          <p:cNvSpPr/>
          <p:nvPr/>
        </p:nvSpPr>
        <p:spPr>
          <a:xfrm>
            <a:off x="3430786" y="1889046"/>
            <a:ext cx="2282428" cy="277654"/>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72525"/>
              </a:buClr>
              <a:buSzPts val="1350"/>
              <a:buFont typeface="Inter"/>
              <a:buNone/>
            </a:pPr>
            <a:r>
              <a:rPr b="1" i="0" lang="en-US" sz="1350" u="none" cap="none" strike="noStrike">
                <a:solidFill>
                  <a:srgbClr val="272525"/>
                </a:solidFill>
                <a:latin typeface="Inter"/>
                <a:ea typeface="Inter"/>
                <a:cs typeface="Inter"/>
                <a:sym typeface="Inter"/>
              </a:rPr>
              <a:t>Descripción</a:t>
            </a:r>
            <a:endParaRPr b="0" i="0" sz="1350" u="none" cap="none" strike="noStrike"/>
          </a:p>
        </p:txBody>
      </p:sp>
      <p:sp>
        <p:nvSpPr>
          <p:cNvPr id="164" name="Google Shape;164;p7"/>
          <p:cNvSpPr/>
          <p:nvPr/>
        </p:nvSpPr>
        <p:spPr>
          <a:xfrm>
            <a:off x="6068020" y="1889046"/>
            <a:ext cx="2286238" cy="277654"/>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72525"/>
              </a:buClr>
              <a:buSzPts val="1350"/>
              <a:buFont typeface="Inter"/>
              <a:buNone/>
            </a:pPr>
            <a:r>
              <a:rPr b="1" i="0" lang="en-US" sz="1350" u="none" cap="none" strike="noStrike">
                <a:solidFill>
                  <a:srgbClr val="272525"/>
                </a:solidFill>
                <a:latin typeface="Inter"/>
                <a:ea typeface="Inter"/>
                <a:cs typeface="Inter"/>
                <a:sym typeface="Inter"/>
              </a:rPr>
              <a:t>Impacto en la concurrencia</a:t>
            </a:r>
            <a:endParaRPr b="0" i="0" sz="1350" u="none" cap="none" strike="noStrike"/>
          </a:p>
        </p:txBody>
      </p:sp>
      <p:sp>
        <p:nvSpPr>
          <p:cNvPr id="165" name="Google Shape;165;p7"/>
          <p:cNvSpPr/>
          <p:nvPr/>
        </p:nvSpPr>
        <p:spPr>
          <a:xfrm>
            <a:off x="615315" y="2278499"/>
            <a:ext cx="7912537" cy="1056561"/>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p:nvPr/>
        </p:nvSpPr>
        <p:spPr>
          <a:xfrm>
            <a:off x="789742" y="2390299"/>
            <a:ext cx="2286238" cy="277654"/>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READ UNCOMMITTED</a:t>
            </a:r>
            <a:endParaRPr b="0" i="0" sz="1350" u="none" cap="none" strike="noStrike"/>
          </a:p>
        </p:txBody>
      </p:sp>
      <p:sp>
        <p:nvSpPr>
          <p:cNvPr id="167" name="Google Shape;167;p7"/>
          <p:cNvSpPr/>
          <p:nvPr/>
        </p:nvSpPr>
        <p:spPr>
          <a:xfrm>
            <a:off x="3430786" y="2390299"/>
            <a:ext cx="2282428" cy="555308"/>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Permite leer datos que no han sido confirmados aún</a:t>
            </a:r>
            <a:endParaRPr b="0" i="0" sz="1350" u="none" cap="none" strike="noStrike"/>
          </a:p>
        </p:txBody>
      </p:sp>
      <p:sp>
        <p:nvSpPr>
          <p:cNvPr id="168" name="Google Shape;168;p7"/>
          <p:cNvSpPr/>
          <p:nvPr/>
        </p:nvSpPr>
        <p:spPr>
          <a:xfrm>
            <a:off x="6068020" y="2390299"/>
            <a:ext cx="2286238" cy="832961"/>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Mayor concurrencia, pero posibilidad de leer datos sucios</a:t>
            </a:r>
            <a:endParaRPr b="0" i="0" sz="1350" u="none" cap="none" strike="noStrike"/>
          </a:p>
        </p:txBody>
      </p:sp>
      <p:sp>
        <p:nvSpPr>
          <p:cNvPr id="169" name="Google Shape;169;p7"/>
          <p:cNvSpPr/>
          <p:nvPr/>
        </p:nvSpPr>
        <p:spPr>
          <a:xfrm>
            <a:off x="615315" y="3335060"/>
            <a:ext cx="7912537" cy="778907"/>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
          <p:cNvSpPr/>
          <p:nvPr/>
        </p:nvSpPr>
        <p:spPr>
          <a:xfrm>
            <a:off x="789742" y="3446859"/>
            <a:ext cx="2286238" cy="277654"/>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READ COMMITTED</a:t>
            </a:r>
            <a:endParaRPr b="0" i="0" sz="1350" u="none" cap="none" strike="noStrike"/>
          </a:p>
        </p:txBody>
      </p:sp>
      <p:sp>
        <p:nvSpPr>
          <p:cNvPr id="171" name="Google Shape;171;p7"/>
          <p:cNvSpPr/>
          <p:nvPr/>
        </p:nvSpPr>
        <p:spPr>
          <a:xfrm>
            <a:off x="3430786" y="3446859"/>
            <a:ext cx="2282428" cy="555308"/>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Sólo permite leer datos confirmados</a:t>
            </a:r>
            <a:endParaRPr b="0" i="0" sz="1350" u="none" cap="none" strike="noStrike"/>
          </a:p>
        </p:txBody>
      </p:sp>
      <p:sp>
        <p:nvSpPr>
          <p:cNvPr id="172" name="Google Shape;172;p7"/>
          <p:cNvSpPr/>
          <p:nvPr/>
        </p:nvSpPr>
        <p:spPr>
          <a:xfrm>
            <a:off x="6068020" y="3446859"/>
            <a:ext cx="2286238" cy="555308"/>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Equilibrio entre concurrencia y consistencia de datos</a:t>
            </a:r>
            <a:endParaRPr b="0" i="0" sz="1350" u="none" cap="none" strike="noStrike"/>
          </a:p>
        </p:txBody>
      </p:sp>
      <p:sp>
        <p:nvSpPr>
          <p:cNvPr id="173" name="Google Shape;173;p7"/>
          <p:cNvSpPr/>
          <p:nvPr/>
        </p:nvSpPr>
        <p:spPr>
          <a:xfrm>
            <a:off x="615315" y="4113967"/>
            <a:ext cx="7912537" cy="1056561"/>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789742" y="4225766"/>
            <a:ext cx="2286238" cy="277654"/>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REPEATABLE READ</a:t>
            </a:r>
            <a:endParaRPr b="0" i="0" sz="1350" u="none" cap="none" strike="noStrike"/>
          </a:p>
        </p:txBody>
      </p:sp>
      <p:sp>
        <p:nvSpPr>
          <p:cNvPr id="175" name="Google Shape;175;p7"/>
          <p:cNvSpPr/>
          <p:nvPr/>
        </p:nvSpPr>
        <p:spPr>
          <a:xfrm>
            <a:off x="3430786" y="4225766"/>
            <a:ext cx="2282428" cy="832961"/>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Garantiza que los datos leídos no cambiarán durante la transacción</a:t>
            </a:r>
            <a:endParaRPr b="0" i="0" sz="1350" u="none" cap="none" strike="noStrike"/>
          </a:p>
        </p:txBody>
      </p:sp>
      <p:sp>
        <p:nvSpPr>
          <p:cNvPr id="176" name="Google Shape;176;p7"/>
          <p:cNvSpPr/>
          <p:nvPr/>
        </p:nvSpPr>
        <p:spPr>
          <a:xfrm>
            <a:off x="6068020" y="4225766"/>
            <a:ext cx="2286238" cy="555308"/>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Mejor consistencia de datos, pero menor concurrencia</a:t>
            </a:r>
            <a:endParaRPr b="0" i="0" sz="1350" u="none" cap="none" strike="noStrike"/>
          </a:p>
        </p:txBody>
      </p:sp>
      <p:sp>
        <p:nvSpPr>
          <p:cNvPr id="177" name="Google Shape;177;p7"/>
          <p:cNvSpPr/>
          <p:nvPr/>
        </p:nvSpPr>
        <p:spPr>
          <a:xfrm>
            <a:off x="615315" y="5170527"/>
            <a:ext cx="7912537" cy="1056561"/>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p:nvPr/>
        </p:nvSpPr>
        <p:spPr>
          <a:xfrm>
            <a:off x="789742" y="5282327"/>
            <a:ext cx="2286238" cy="277654"/>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SERIALIZABLE</a:t>
            </a:r>
            <a:endParaRPr b="0" i="0" sz="1350" u="none" cap="none" strike="noStrike"/>
          </a:p>
        </p:txBody>
      </p:sp>
      <p:sp>
        <p:nvSpPr>
          <p:cNvPr id="179" name="Google Shape;179;p7"/>
          <p:cNvSpPr/>
          <p:nvPr/>
        </p:nvSpPr>
        <p:spPr>
          <a:xfrm>
            <a:off x="3430786" y="5282327"/>
            <a:ext cx="2282428" cy="832961"/>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Garantiza que la transacción se ejecutará como si fuera secuencial</a:t>
            </a:r>
            <a:endParaRPr b="0" i="0" sz="1350" u="none" cap="none" strike="noStrike"/>
          </a:p>
        </p:txBody>
      </p:sp>
      <p:sp>
        <p:nvSpPr>
          <p:cNvPr id="180" name="Google Shape;180;p7"/>
          <p:cNvSpPr/>
          <p:nvPr/>
        </p:nvSpPr>
        <p:spPr>
          <a:xfrm>
            <a:off x="6068020" y="5282327"/>
            <a:ext cx="2286238" cy="555308"/>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Mayor consistencia, pero menor concurrencia</a:t>
            </a:r>
            <a:endParaRPr b="0" i="0" sz="1350" u="none" cap="none" strike="noStrike"/>
          </a:p>
        </p:txBody>
      </p:sp>
      <p:sp>
        <p:nvSpPr>
          <p:cNvPr id="181" name="Google Shape;181;p7"/>
          <p:cNvSpPr/>
          <p:nvPr/>
        </p:nvSpPr>
        <p:spPr>
          <a:xfrm>
            <a:off x="607695" y="6429970"/>
            <a:ext cx="7928610" cy="832961"/>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La elección del nivel de aislamiento adecuado es clave para lograr el balance entre concurrencia y consistencia de datos. Cada nivel tiene ventajas y desventajas en términos de desempeño y fiabilidad que deben evaluarse cuidadosamente.</a:t>
            </a:r>
            <a:endParaRPr b="0" i="0" sz="13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descr="preencoded.png" id="187" name="Google Shape;187;p8"/>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88" name="Google Shape;188;p8"/>
          <p:cNvSpPr/>
          <p:nvPr/>
        </p:nvSpPr>
        <p:spPr>
          <a:xfrm>
            <a:off x="6134576" y="722233"/>
            <a:ext cx="7847648" cy="1157526"/>
          </a:xfrm>
          <a:prstGeom prst="rect">
            <a:avLst/>
          </a:prstGeom>
          <a:noFill/>
          <a:ln>
            <a:noFill/>
          </a:ln>
        </p:spPr>
        <p:txBody>
          <a:bodyPr anchorCtr="0" anchor="t" bIns="0" lIns="0" spcFirstLastPara="1" rIns="0" wrap="square" tIns="0">
            <a:noAutofit/>
          </a:bodyPr>
          <a:lstStyle/>
          <a:p>
            <a:pPr indent="0" lvl="0" marL="0" marR="0" rtl="0" algn="l">
              <a:lnSpc>
                <a:spcPct val="126388"/>
              </a:lnSpc>
              <a:spcBef>
                <a:spcPts val="0"/>
              </a:spcBef>
              <a:spcAft>
                <a:spcPts val="0"/>
              </a:spcAft>
              <a:buClr>
                <a:srgbClr val="000000"/>
              </a:buClr>
              <a:buSzPts val="3600"/>
              <a:buFont typeface="Inter"/>
              <a:buNone/>
            </a:pPr>
            <a:r>
              <a:rPr b="1" i="0" lang="en-US" sz="3600" u="none" cap="none" strike="noStrike">
                <a:solidFill>
                  <a:srgbClr val="000000"/>
                </a:solidFill>
                <a:latin typeface="Inter"/>
                <a:ea typeface="Inter"/>
                <a:cs typeface="Inter"/>
                <a:sym typeface="Inter"/>
              </a:rPr>
              <a:t>Recuperación de transacciones: puntos de guardado</a:t>
            </a:r>
            <a:endParaRPr b="0" i="0" sz="3600" u="none" cap="none" strike="noStrike"/>
          </a:p>
        </p:txBody>
      </p:sp>
      <p:sp>
        <p:nvSpPr>
          <p:cNvPr id="189" name="Google Shape;189;p8"/>
          <p:cNvSpPr/>
          <p:nvPr/>
        </p:nvSpPr>
        <p:spPr>
          <a:xfrm>
            <a:off x="6400919" y="2157532"/>
            <a:ext cx="22860" cy="5349835"/>
          </a:xfrm>
          <a:prstGeom prst="roundRect">
            <a:avLst>
              <a:gd fmla="val 340294"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a:off x="6597848" y="2562820"/>
            <a:ext cx="648176" cy="22860"/>
          </a:xfrm>
          <a:prstGeom prst="roundRect">
            <a:avLst>
              <a:gd fmla="val 340294"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a:off x="6203990" y="2365891"/>
            <a:ext cx="416719" cy="416719"/>
          </a:xfrm>
          <a:prstGeom prst="roundRect">
            <a:avLst>
              <a:gd fmla="val 18668"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
          <p:cNvSpPr/>
          <p:nvPr/>
        </p:nvSpPr>
        <p:spPr>
          <a:xfrm>
            <a:off x="6356628" y="2435304"/>
            <a:ext cx="111443" cy="27777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150"/>
              <a:buFont typeface="Inter"/>
              <a:buNone/>
            </a:pPr>
            <a:r>
              <a:rPr b="1" i="0" lang="en-US" sz="2150" u="none" cap="none" strike="noStrike">
                <a:solidFill>
                  <a:srgbClr val="272525"/>
                </a:solidFill>
                <a:latin typeface="Inter"/>
                <a:ea typeface="Inter"/>
                <a:cs typeface="Inter"/>
                <a:sym typeface="Inter"/>
              </a:rPr>
              <a:t>1</a:t>
            </a:r>
            <a:endParaRPr b="0" i="0" sz="2150" u="none" cap="none" strike="noStrike"/>
          </a:p>
        </p:txBody>
      </p:sp>
      <p:sp>
        <p:nvSpPr>
          <p:cNvPr id="193" name="Google Shape;193;p8"/>
          <p:cNvSpPr/>
          <p:nvPr/>
        </p:nvSpPr>
        <p:spPr>
          <a:xfrm>
            <a:off x="7430929" y="2342674"/>
            <a:ext cx="3676055" cy="2894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800"/>
              <a:buFont typeface="Inter"/>
              <a:buNone/>
            </a:pPr>
            <a:r>
              <a:rPr b="1" i="0" lang="en-US" sz="1800" u="none" cap="none" strike="noStrike">
                <a:solidFill>
                  <a:srgbClr val="272525"/>
                </a:solidFill>
                <a:latin typeface="Inter"/>
                <a:ea typeface="Inter"/>
                <a:cs typeface="Inter"/>
                <a:sym typeface="Inter"/>
              </a:rPr>
              <a:t>¿Qué son los puntos de guardado?</a:t>
            </a:r>
            <a:endParaRPr b="0" i="0" sz="1800" u="none" cap="none" strike="noStrike"/>
          </a:p>
        </p:txBody>
      </p:sp>
      <p:sp>
        <p:nvSpPr>
          <p:cNvPr id="194" name="Google Shape;194;p8"/>
          <p:cNvSpPr/>
          <p:nvPr/>
        </p:nvSpPr>
        <p:spPr>
          <a:xfrm>
            <a:off x="7338304" y="2965375"/>
            <a:ext cx="6551400" cy="8889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0" i="0" lang="en-US" sz="1450" u="none" cap="none" strike="noStrike">
                <a:solidFill>
                  <a:srgbClr val="272525"/>
                </a:solidFill>
                <a:latin typeface="Inter"/>
                <a:ea typeface="Inter"/>
                <a:cs typeface="Inter"/>
                <a:sym typeface="Inter"/>
              </a:rPr>
              <a:t>Los puntos de guardado son marcas temporales que se crean durante una transacción para permitir la restauración parcial del estado de la base de datos en caso de problemas.</a:t>
            </a:r>
            <a:endParaRPr b="0" i="0" sz="1450" u="none" cap="none" strike="noStrike"/>
          </a:p>
        </p:txBody>
      </p:sp>
      <p:sp>
        <p:nvSpPr>
          <p:cNvPr id="195" name="Google Shape;195;p8"/>
          <p:cNvSpPr/>
          <p:nvPr/>
        </p:nvSpPr>
        <p:spPr>
          <a:xfrm>
            <a:off x="6597848" y="4407813"/>
            <a:ext cx="648176" cy="22860"/>
          </a:xfrm>
          <a:prstGeom prst="roundRect">
            <a:avLst>
              <a:gd fmla="val 340294"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a:off x="6203990" y="4210883"/>
            <a:ext cx="416719" cy="416719"/>
          </a:xfrm>
          <a:prstGeom prst="roundRect">
            <a:avLst>
              <a:gd fmla="val 18668"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
          <p:cNvSpPr/>
          <p:nvPr/>
        </p:nvSpPr>
        <p:spPr>
          <a:xfrm>
            <a:off x="6329005" y="4280297"/>
            <a:ext cx="166688" cy="27777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150"/>
              <a:buFont typeface="Inter"/>
              <a:buNone/>
            </a:pPr>
            <a:r>
              <a:rPr b="1" i="0" lang="en-US" sz="2150" u="none" cap="none" strike="noStrike">
                <a:solidFill>
                  <a:srgbClr val="272525"/>
                </a:solidFill>
                <a:latin typeface="Inter"/>
                <a:ea typeface="Inter"/>
                <a:cs typeface="Inter"/>
                <a:sym typeface="Inter"/>
              </a:rPr>
              <a:t>2</a:t>
            </a:r>
            <a:endParaRPr b="0" i="0" sz="2150" u="none" cap="none" strike="noStrike"/>
          </a:p>
        </p:txBody>
      </p:sp>
      <p:sp>
        <p:nvSpPr>
          <p:cNvPr id="198" name="Google Shape;198;p8"/>
          <p:cNvSpPr/>
          <p:nvPr/>
        </p:nvSpPr>
        <p:spPr>
          <a:xfrm>
            <a:off x="7430929" y="4187666"/>
            <a:ext cx="3321725" cy="2894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800"/>
              <a:buFont typeface="Inter"/>
              <a:buNone/>
            </a:pPr>
            <a:r>
              <a:rPr b="1" i="0" lang="en-US" sz="1800" u="none" cap="none" strike="noStrike">
                <a:solidFill>
                  <a:srgbClr val="272525"/>
                </a:solidFill>
                <a:latin typeface="Inter"/>
                <a:ea typeface="Inter"/>
                <a:cs typeface="Inter"/>
                <a:sym typeface="Inter"/>
              </a:rPr>
              <a:t>Establecer puntos de guardado</a:t>
            </a:r>
            <a:endParaRPr b="0" i="0" sz="1800" u="none" cap="none" strike="noStrike"/>
          </a:p>
        </p:txBody>
      </p:sp>
      <p:sp>
        <p:nvSpPr>
          <p:cNvPr id="199" name="Google Shape;199;p8"/>
          <p:cNvSpPr/>
          <p:nvPr/>
        </p:nvSpPr>
        <p:spPr>
          <a:xfrm>
            <a:off x="7338304" y="4810356"/>
            <a:ext cx="6551400" cy="8889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0" i="0" lang="en-US" sz="1450" u="none" cap="none" strike="noStrike">
                <a:solidFill>
                  <a:srgbClr val="272525"/>
                </a:solidFill>
                <a:latin typeface="Inter"/>
                <a:ea typeface="Inter"/>
                <a:cs typeface="Inter"/>
                <a:sym typeface="Inter"/>
              </a:rPr>
              <a:t>Los puntos de guardado se establecen explícitamente en el código de la aplicación mediante sentencias SQL como SAVEPOINT. Esto crea un marcador en la secuencia de operaciones de la transacción.</a:t>
            </a:r>
            <a:endParaRPr b="0" i="0" sz="1450" u="none" cap="none" strike="noStrike"/>
          </a:p>
        </p:txBody>
      </p:sp>
      <p:sp>
        <p:nvSpPr>
          <p:cNvPr id="200" name="Google Shape;200;p8"/>
          <p:cNvSpPr/>
          <p:nvPr/>
        </p:nvSpPr>
        <p:spPr>
          <a:xfrm>
            <a:off x="6597848" y="6252805"/>
            <a:ext cx="648176" cy="22860"/>
          </a:xfrm>
          <a:prstGeom prst="roundRect">
            <a:avLst>
              <a:gd fmla="val 340294"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p:nvPr/>
        </p:nvSpPr>
        <p:spPr>
          <a:xfrm>
            <a:off x="6203990" y="6055876"/>
            <a:ext cx="416719" cy="416719"/>
          </a:xfrm>
          <a:prstGeom prst="roundRect">
            <a:avLst>
              <a:gd fmla="val 18668"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a:off x="6326862" y="6125289"/>
            <a:ext cx="170974" cy="27777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150"/>
              <a:buFont typeface="Inter"/>
              <a:buNone/>
            </a:pPr>
            <a:r>
              <a:rPr b="1" i="0" lang="en-US" sz="2150" u="none" cap="none" strike="noStrike">
                <a:solidFill>
                  <a:srgbClr val="272525"/>
                </a:solidFill>
                <a:latin typeface="Inter"/>
                <a:ea typeface="Inter"/>
                <a:cs typeface="Inter"/>
                <a:sym typeface="Inter"/>
              </a:rPr>
              <a:t>3</a:t>
            </a:r>
            <a:endParaRPr b="0" i="0" sz="2150" u="none" cap="none" strike="noStrike"/>
          </a:p>
        </p:txBody>
      </p:sp>
      <p:sp>
        <p:nvSpPr>
          <p:cNvPr id="203" name="Google Shape;203;p8"/>
          <p:cNvSpPr/>
          <p:nvPr/>
        </p:nvSpPr>
        <p:spPr>
          <a:xfrm>
            <a:off x="7430929" y="6032659"/>
            <a:ext cx="3995857" cy="2894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800"/>
              <a:buFont typeface="Inter"/>
              <a:buNone/>
            </a:pPr>
            <a:r>
              <a:rPr b="1" i="0" lang="en-US" sz="1800" u="none" cap="none" strike="noStrike">
                <a:solidFill>
                  <a:srgbClr val="272525"/>
                </a:solidFill>
                <a:latin typeface="Inter"/>
                <a:ea typeface="Inter"/>
                <a:cs typeface="Inter"/>
                <a:sym typeface="Inter"/>
              </a:rPr>
              <a:t>Beneficios de los puntos de guardado</a:t>
            </a:r>
            <a:endParaRPr b="0" i="0" sz="1800" u="none" cap="none" strike="noStrike"/>
          </a:p>
        </p:txBody>
      </p:sp>
      <p:sp>
        <p:nvSpPr>
          <p:cNvPr id="204" name="Google Shape;204;p8"/>
          <p:cNvSpPr/>
          <p:nvPr/>
        </p:nvSpPr>
        <p:spPr>
          <a:xfrm>
            <a:off x="7338304" y="6655510"/>
            <a:ext cx="6551400" cy="8889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0" i="0" lang="en-US" sz="1450" u="none" cap="none" strike="noStrike">
                <a:solidFill>
                  <a:srgbClr val="272525"/>
                </a:solidFill>
                <a:latin typeface="Inter"/>
                <a:ea typeface="Inter"/>
                <a:cs typeface="Inter"/>
                <a:sym typeface="Inter"/>
              </a:rPr>
              <a:t>Permiten revertir los cambios parcialmente, solo hasta el punto de guardado, sin tener que deshacer toda la transacción. Esto mejora la flexibilidad y la recuperación ante errores.</a:t>
            </a:r>
            <a:endParaRPr b="0" i="0" sz="14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9"/>
          <p:cNvSpPr/>
          <p:nvPr/>
        </p:nvSpPr>
        <p:spPr>
          <a:xfrm>
            <a:off x="674846" y="530304"/>
            <a:ext cx="9276398" cy="602575"/>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000000"/>
              </a:buClr>
              <a:buSzPts val="3750"/>
              <a:buFont typeface="Inter"/>
              <a:buNone/>
            </a:pPr>
            <a:r>
              <a:rPr b="1" i="0" lang="en-US" sz="3750" u="none" cap="none" strike="noStrike">
                <a:solidFill>
                  <a:srgbClr val="000000"/>
                </a:solidFill>
                <a:latin typeface="Inter"/>
                <a:ea typeface="Inter"/>
                <a:cs typeface="Inter"/>
                <a:sym typeface="Inter"/>
              </a:rPr>
              <a:t>Recuperación de transacciones: rollbacks</a:t>
            </a:r>
            <a:endParaRPr b="0" i="0" sz="3750" u="none" cap="none" strike="noStrike"/>
          </a:p>
        </p:txBody>
      </p:sp>
      <p:sp>
        <p:nvSpPr>
          <p:cNvPr id="211" name="Google Shape;211;p9"/>
          <p:cNvSpPr/>
          <p:nvPr/>
        </p:nvSpPr>
        <p:spPr>
          <a:xfrm>
            <a:off x="674846" y="1518523"/>
            <a:ext cx="1660088" cy="1111091"/>
          </a:xfrm>
          <a:prstGeom prst="roundRect">
            <a:avLst>
              <a:gd fmla="val 7290"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875228" y="1881188"/>
            <a:ext cx="96679" cy="385763"/>
          </a:xfrm>
          <a:prstGeom prst="rect">
            <a:avLst/>
          </a:prstGeom>
          <a:noFill/>
          <a:ln>
            <a:noFill/>
          </a:ln>
        </p:spPr>
        <p:txBody>
          <a:bodyPr anchorCtr="0" anchor="t" bIns="0" lIns="0" spcFirstLastPara="1" rIns="0" wrap="square" tIns="0">
            <a:noAutofit/>
          </a:bodyPr>
          <a:lstStyle/>
          <a:p>
            <a:pPr indent="0" lvl="0" marL="0" marR="0" rtl="0" algn="ctr">
              <a:lnSpc>
                <a:spcPct val="162162"/>
              </a:lnSpc>
              <a:spcBef>
                <a:spcPts val="0"/>
              </a:spcBef>
              <a:spcAft>
                <a:spcPts val="0"/>
              </a:spcAft>
              <a:buClr>
                <a:srgbClr val="272525"/>
              </a:buClr>
              <a:buSzPts val="1850"/>
              <a:buFont typeface="Inter"/>
              <a:buNone/>
            </a:pPr>
            <a:r>
              <a:rPr b="1" i="0" lang="en-US" sz="1850" u="none" cap="none" strike="noStrike">
                <a:solidFill>
                  <a:srgbClr val="272525"/>
                </a:solidFill>
                <a:latin typeface="Inter"/>
                <a:ea typeface="Inter"/>
                <a:cs typeface="Inter"/>
                <a:sym typeface="Inter"/>
              </a:rPr>
              <a:t>1</a:t>
            </a:r>
            <a:endParaRPr b="0" i="0" sz="1850" u="none" cap="none" strike="noStrike"/>
          </a:p>
        </p:txBody>
      </p:sp>
      <p:sp>
        <p:nvSpPr>
          <p:cNvPr id="213" name="Google Shape;213;p9"/>
          <p:cNvSpPr/>
          <p:nvPr/>
        </p:nvSpPr>
        <p:spPr>
          <a:xfrm>
            <a:off x="2527697" y="1711285"/>
            <a:ext cx="2410539" cy="301347"/>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272525"/>
              </a:buClr>
              <a:buSzPts val="1850"/>
              <a:buFont typeface="Inter"/>
              <a:buNone/>
            </a:pPr>
            <a:r>
              <a:rPr b="1" i="0" lang="en-US" sz="1850" u="none" cap="none" strike="noStrike">
                <a:solidFill>
                  <a:srgbClr val="272525"/>
                </a:solidFill>
                <a:latin typeface="Inter"/>
                <a:ea typeface="Inter"/>
                <a:cs typeface="Inter"/>
                <a:sym typeface="Inter"/>
              </a:rPr>
              <a:t>Revertir cambios</a:t>
            </a:r>
            <a:endParaRPr b="0" i="0" sz="1850" u="none" cap="none" strike="noStrike"/>
          </a:p>
        </p:txBody>
      </p:sp>
      <p:sp>
        <p:nvSpPr>
          <p:cNvPr id="214" name="Google Shape;214;p9"/>
          <p:cNvSpPr/>
          <p:nvPr/>
        </p:nvSpPr>
        <p:spPr>
          <a:xfrm>
            <a:off x="2527697" y="2128242"/>
            <a:ext cx="8030527" cy="30861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Inter"/>
              <a:buNone/>
            </a:pPr>
            <a:r>
              <a:rPr b="0" i="0" lang="en-US" sz="1500" u="none" cap="none" strike="noStrike">
                <a:solidFill>
                  <a:srgbClr val="272525"/>
                </a:solidFill>
                <a:latin typeface="Inter"/>
                <a:ea typeface="Inter"/>
                <a:cs typeface="Inter"/>
                <a:sym typeface="Inter"/>
              </a:rPr>
              <a:t>Cuando ocurre un error o inconsistencia, es necesario deshacer las operaciones realizadas.</a:t>
            </a:r>
            <a:endParaRPr b="0" i="0" sz="1500" u="none" cap="none" strike="noStrike"/>
          </a:p>
        </p:txBody>
      </p:sp>
      <p:sp>
        <p:nvSpPr>
          <p:cNvPr id="215" name="Google Shape;215;p9"/>
          <p:cNvSpPr/>
          <p:nvPr/>
        </p:nvSpPr>
        <p:spPr>
          <a:xfrm>
            <a:off x="2431256" y="2620089"/>
            <a:ext cx="11427976" cy="11430"/>
          </a:xfrm>
          <a:prstGeom prst="roundRect">
            <a:avLst>
              <a:gd fmla="val 708620"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674846" y="2725936"/>
            <a:ext cx="3320177" cy="1111091"/>
          </a:xfrm>
          <a:prstGeom prst="roundRect">
            <a:avLst>
              <a:gd fmla="val 7290"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p:nvPr/>
        </p:nvSpPr>
        <p:spPr>
          <a:xfrm>
            <a:off x="875228" y="3088600"/>
            <a:ext cx="144661" cy="385763"/>
          </a:xfrm>
          <a:prstGeom prst="rect">
            <a:avLst/>
          </a:prstGeom>
          <a:noFill/>
          <a:ln>
            <a:noFill/>
          </a:ln>
        </p:spPr>
        <p:txBody>
          <a:bodyPr anchorCtr="0" anchor="t" bIns="0" lIns="0" spcFirstLastPara="1" rIns="0" wrap="square" tIns="0">
            <a:noAutofit/>
          </a:bodyPr>
          <a:lstStyle/>
          <a:p>
            <a:pPr indent="0" lvl="0" marL="0" marR="0" rtl="0" algn="ctr">
              <a:lnSpc>
                <a:spcPct val="162162"/>
              </a:lnSpc>
              <a:spcBef>
                <a:spcPts val="0"/>
              </a:spcBef>
              <a:spcAft>
                <a:spcPts val="0"/>
              </a:spcAft>
              <a:buClr>
                <a:srgbClr val="272525"/>
              </a:buClr>
              <a:buSzPts val="1850"/>
              <a:buFont typeface="Inter"/>
              <a:buNone/>
            </a:pPr>
            <a:r>
              <a:rPr b="1" i="0" lang="en-US" sz="1850" u="none" cap="none" strike="noStrike">
                <a:solidFill>
                  <a:srgbClr val="272525"/>
                </a:solidFill>
                <a:latin typeface="Inter"/>
                <a:ea typeface="Inter"/>
                <a:cs typeface="Inter"/>
                <a:sym typeface="Inter"/>
              </a:rPr>
              <a:t>2</a:t>
            </a:r>
            <a:endParaRPr b="0" i="0" sz="1850" u="none" cap="none" strike="noStrike"/>
          </a:p>
        </p:txBody>
      </p:sp>
      <p:sp>
        <p:nvSpPr>
          <p:cNvPr id="218" name="Google Shape;218;p9"/>
          <p:cNvSpPr/>
          <p:nvPr/>
        </p:nvSpPr>
        <p:spPr>
          <a:xfrm>
            <a:off x="4187785" y="2918698"/>
            <a:ext cx="2410539" cy="301347"/>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272525"/>
              </a:buClr>
              <a:buSzPts val="1850"/>
              <a:buFont typeface="Inter"/>
              <a:buNone/>
            </a:pPr>
            <a:r>
              <a:rPr b="1" i="0" lang="en-US" sz="1850" u="none" cap="none" strike="noStrike">
                <a:solidFill>
                  <a:srgbClr val="272525"/>
                </a:solidFill>
                <a:latin typeface="Inter"/>
                <a:ea typeface="Inter"/>
                <a:cs typeface="Inter"/>
                <a:sym typeface="Inter"/>
              </a:rPr>
              <a:t>Estado anterior</a:t>
            </a:r>
            <a:endParaRPr b="0" i="0" sz="1850" u="none" cap="none" strike="noStrike"/>
          </a:p>
        </p:txBody>
      </p:sp>
      <p:sp>
        <p:nvSpPr>
          <p:cNvPr id="219" name="Google Shape;219;p9"/>
          <p:cNvSpPr/>
          <p:nvPr/>
        </p:nvSpPr>
        <p:spPr>
          <a:xfrm>
            <a:off x="4187785" y="3335655"/>
            <a:ext cx="8994577" cy="30861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Inter"/>
              <a:buNone/>
            </a:pPr>
            <a:r>
              <a:rPr b="0" i="0" lang="en-US" sz="1500" u="none" cap="none" strike="noStrike">
                <a:solidFill>
                  <a:srgbClr val="272525"/>
                </a:solidFill>
                <a:latin typeface="Inter"/>
                <a:ea typeface="Inter"/>
                <a:cs typeface="Inter"/>
                <a:sym typeface="Inter"/>
              </a:rPr>
              <a:t>El rollback permite volver al estado de la base de datos antes de que se ejecutara la transacción fallida.</a:t>
            </a:r>
            <a:endParaRPr b="0" i="0" sz="1500" u="none" cap="none" strike="noStrike"/>
          </a:p>
        </p:txBody>
      </p:sp>
      <p:sp>
        <p:nvSpPr>
          <p:cNvPr id="220" name="Google Shape;220;p9"/>
          <p:cNvSpPr/>
          <p:nvPr/>
        </p:nvSpPr>
        <p:spPr>
          <a:xfrm>
            <a:off x="4091345" y="3827502"/>
            <a:ext cx="9767888" cy="11430"/>
          </a:xfrm>
          <a:prstGeom prst="roundRect">
            <a:avLst>
              <a:gd fmla="val 708620"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
          <p:cNvSpPr/>
          <p:nvPr/>
        </p:nvSpPr>
        <p:spPr>
          <a:xfrm>
            <a:off x="674846" y="3933349"/>
            <a:ext cx="4980265" cy="1111091"/>
          </a:xfrm>
          <a:prstGeom prst="roundRect">
            <a:avLst>
              <a:gd fmla="val 7290"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
          <p:cNvSpPr/>
          <p:nvPr/>
        </p:nvSpPr>
        <p:spPr>
          <a:xfrm>
            <a:off x="875228" y="4296013"/>
            <a:ext cx="148352" cy="385763"/>
          </a:xfrm>
          <a:prstGeom prst="rect">
            <a:avLst/>
          </a:prstGeom>
          <a:noFill/>
          <a:ln>
            <a:noFill/>
          </a:ln>
        </p:spPr>
        <p:txBody>
          <a:bodyPr anchorCtr="0" anchor="t" bIns="0" lIns="0" spcFirstLastPara="1" rIns="0" wrap="square" tIns="0">
            <a:noAutofit/>
          </a:bodyPr>
          <a:lstStyle/>
          <a:p>
            <a:pPr indent="0" lvl="0" marL="0" marR="0" rtl="0" algn="ctr">
              <a:lnSpc>
                <a:spcPct val="162162"/>
              </a:lnSpc>
              <a:spcBef>
                <a:spcPts val="0"/>
              </a:spcBef>
              <a:spcAft>
                <a:spcPts val="0"/>
              </a:spcAft>
              <a:buClr>
                <a:srgbClr val="272525"/>
              </a:buClr>
              <a:buSzPts val="1850"/>
              <a:buFont typeface="Inter"/>
              <a:buNone/>
            </a:pPr>
            <a:r>
              <a:rPr b="1" i="0" lang="en-US" sz="1850" u="none" cap="none" strike="noStrike">
                <a:solidFill>
                  <a:srgbClr val="272525"/>
                </a:solidFill>
                <a:latin typeface="Inter"/>
                <a:ea typeface="Inter"/>
                <a:cs typeface="Inter"/>
                <a:sym typeface="Inter"/>
              </a:rPr>
              <a:t>3</a:t>
            </a:r>
            <a:endParaRPr b="0" i="0" sz="1850" u="none" cap="none" strike="noStrike"/>
          </a:p>
        </p:txBody>
      </p:sp>
      <p:sp>
        <p:nvSpPr>
          <p:cNvPr id="223" name="Google Shape;223;p9"/>
          <p:cNvSpPr/>
          <p:nvPr/>
        </p:nvSpPr>
        <p:spPr>
          <a:xfrm>
            <a:off x="5847874" y="4126111"/>
            <a:ext cx="2410539" cy="301347"/>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272525"/>
              </a:buClr>
              <a:buSzPts val="1850"/>
              <a:buFont typeface="Inter"/>
              <a:buNone/>
            </a:pPr>
            <a:r>
              <a:rPr b="1" i="0" lang="en-US" sz="1850" u="none" cap="none" strike="noStrike">
                <a:solidFill>
                  <a:srgbClr val="272525"/>
                </a:solidFill>
                <a:latin typeface="Inter"/>
                <a:ea typeface="Inter"/>
                <a:cs typeface="Inter"/>
                <a:sym typeface="Inter"/>
              </a:rPr>
              <a:t>Atomicidad</a:t>
            </a:r>
            <a:endParaRPr b="0" i="0" sz="1850" u="none" cap="none" strike="noStrike"/>
          </a:p>
        </p:txBody>
      </p:sp>
      <p:sp>
        <p:nvSpPr>
          <p:cNvPr id="224" name="Google Shape;224;p9"/>
          <p:cNvSpPr/>
          <p:nvPr/>
        </p:nvSpPr>
        <p:spPr>
          <a:xfrm>
            <a:off x="5847874" y="4543068"/>
            <a:ext cx="7735610" cy="30861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Inter"/>
              <a:buNone/>
            </a:pPr>
            <a:r>
              <a:rPr b="0" i="0" lang="en-US" sz="1500" u="none" cap="none" strike="noStrike">
                <a:solidFill>
                  <a:srgbClr val="272525"/>
                </a:solidFill>
                <a:latin typeface="Inter"/>
                <a:ea typeface="Inter"/>
                <a:cs typeface="Inter"/>
                <a:sym typeface="Inter"/>
              </a:rPr>
              <a:t>Las transacciones deben ser atómicas: o se completan todas las operaciones o ninguna.</a:t>
            </a:r>
            <a:endParaRPr b="0" i="0" sz="1500" u="none" cap="none" strike="noStrike"/>
          </a:p>
        </p:txBody>
      </p:sp>
      <p:sp>
        <p:nvSpPr>
          <p:cNvPr id="225" name="Google Shape;225;p9"/>
          <p:cNvSpPr/>
          <p:nvPr/>
        </p:nvSpPr>
        <p:spPr>
          <a:xfrm>
            <a:off x="5751433" y="5034915"/>
            <a:ext cx="8107799" cy="11430"/>
          </a:xfrm>
          <a:prstGeom prst="roundRect">
            <a:avLst>
              <a:gd fmla="val 708620"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
          <p:cNvSpPr/>
          <p:nvPr/>
        </p:nvSpPr>
        <p:spPr>
          <a:xfrm>
            <a:off x="674846" y="5140762"/>
            <a:ext cx="6640354" cy="1419701"/>
          </a:xfrm>
          <a:prstGeom prst="roundRect">
            <a:avLst>
              <a:gd fmla="val 5705"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875228" y="5657731"/>
            <a:ext cx="155853" cy="385763"/>
          </a:xfrm>
          <a:prstGeom prst="rect">
            <a:avLst/>
          </a:prstGeom>
          <a:noFill/>
          <a:ln>
            <a:noFill/>
          </a:ln>
        </p:spPr>
        <p:txBody>
          <a:bodyPr anchorCtr="0" anchor="t" bIns="0" lIns="0" spcFirstLastPara="1" rIns="0" wrap="square" tIns="0">
            <a:noAutofit/>
          </a:bodyPr>
          <a:lstStyle/>
          <a:p>
            <a:pPr indent="0" lvl="0" marL="0" marR="0" rtl="0" algn="ctr">
              <a:lnSpc>
                <a:spcPct val="162162"/>
              </a:lnSpc>
              <a:spcBef>
                <a:spcPts val="0"/>
              </a:spcBef>
              <a:spcAft>
                <a:spcPts val="0"/>
              </a:spcAft>
              <a:buClr>
                <a:srgbClr val="272525"/>
              </a:buClr>
              <a:buSzPts val="1850"/>
              <a:buFont typeface="Inter"/>
              <a:buNone/>
            </a:pPr>
            <a:r>
              <a:rPr b="1" i="0" lang="en-US" sz="1850" u="none" cap="none" strike="noStrike">
                <a:solidFill>
                  <a:srgbClr val="272525"/>
                </a:solidFill>
                <a:latin typeface="Inter"/>
                <a:ea typeface="Inter"/>
                <a:cs typeface="Inter"/>
                <a:sym typeface="Inter"/>
              </a:rPr>
              <a:t>4</a:t>
            </a:r>
            <a:endParaRPr b="0" i="0" sz="1850" u="none" cap="none" strike="noStrike"/>
          </a:p>
        </p:txBody>
      </p:sp>
      <p:sp>
        <p:nvSpPr>
          <p:cNvPr id="228" name="Google Shape;228;p9"/>
          <p:cNvSpPr/>
          <p:nvPr/>
        </p:nvSpPr>
        <p:spPr>
          <a:xfrm>
            <a:off x="7507962" y="5333524"/>
            <a:ext cx="2410539" cy="301347"/>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272525"/>
              </a:buClr>
              <a:buSzPts val="1850"/>
              <a:buFont typeface="Inter"/>
              <a:buNone/>
            </a:pPr>
            <a:r>
              <a:rPr b="1" i="0" lang="en-US" sz="1850" u="none" cap="none" strike="noStrike">
                <a:solidFill>
                  <a:srgbClr val="272525"/>
                </a:solidFill>
                <a:latin typeface="Inter"/>
                <a:ea typeface="Inter"/>
                <a:cs typeface="Inter"/>
                <a:sym typeface="Inter"/>
              </a:rPr>
              <a:t>Puntos de guardado</a:t>
            </a:r>
            <a:endParaRPr b="0" i="0" sz="1850" u="none" cap="none" strike="noStrike"/>
          </a:p>
        </p:txBody>
      </p:sp>
      <p:sp>
        <p:nvSpPr>
          <p:cNvPr id="229" name="Google Shape;229;p9"/>
          <p:cNvSpPr/>
          <p:nvPr/>
        </p:nvSpPr>
        <p:spPr>
          <a:xfrm>
            <a:off x="7507962" y="5750481"/>
            <a:ext cx="6254829" cy="61722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Inter"/>
              <a:buNone/>
            </a:pPr>
            <a:r>
              <a:rPr b="0" i="0" lang="en-US" sz="1500" u="none" cap="none" strike="noStrike">
                <a:solidFill>
                  <a:srgbClr val="272525"/>
                </a:solidFill>
                <a:latin typeface="Inter"/>
                <a:ea typeface="Inter"/>
                <a:cs typeface="Inter"/>
                <a:sym typeface="Inter"/>
              </a:rPr>
              <a:t>Los puntos de guardado permiten revertir solo una parte de la transacción.</a:t>
            </a:r>
            <a:endParaRPr b="0" i="0" sz="1500" u="none" cap="none" strike="noStrike"/>
          </a:p>
        </p:txBody>
      </p:sp>
      <p:sp>
        <p:nvSpPr>
          <p:cNvPr id="230" name="Google Shape;230;p9"/>
          <p:cNvSpPr/>
          <p:nvPr/>
        </p:nvSpPr>
        <p:spPr>
          <a:xfrm>
            <a:off x="674846" y="6777395"/>
            <a:ext cx="13280708" cy="9258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Inter"/>
              <a:buNone/>
            </a:pPr>
            <a:r>
              <a:rPr b="0" i="0" lang="en-US" sz="1500" u="none" cap="none" strike="noStrike">
                <a:solidFill>
                  <a:srgbClr val="272525"/>
                </a:solidFill>
                <a:latin typeface="Inter"/>
                <a:ea typeface="Inter"/>
                <a:cs typeface="Inter"/>
                <a:sym typeface="Inter"/>
              </a:rPr>
              <a:t>Los rollbacks son fundamentales para garantizar la integridad de la base de datos. Permiten deshacer las operaciones realizadas durante una transacción que no pudo completarse correctamente. Esto asegura que la base de datos vuelva a un estado consistente, evitando dejar datos en un estado parcial o inconsistente.</a:t>
            </a:r>
            <a:endParaRPr b="0" i="0" sz="150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preencoded.png" id="236" name="Google Shape;236;p10"/>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237" name="Google Shape;237;p10"/>
          <p:cNvSpPr/>
          <p:nvPr/>
        </p:nvSpPr>
        <p:spPr>
          <a:xfrm>
            <a:off x="723305" y="1170503"/>
            <a:ext cx="7306151" cy="645914"/>
          </a:xfrm>
          <a:prstGeom prst="rect">
            <a:avLst/>
          </a:prstGeom>
          <a:noFill/>
          <a:ln>
            <a:noFill/>
          </a:ln>
        </p:spPr>
        <p:txBody>
          <a:bodyPr anchorCtr="0" anchor="t" bIns="0" lIns="0" spcFirstLastPara="1" rIns="0" wrap="square" tIns="0">
            <a:noAutofit/>
          </a:bodyPr>
          <a:lstStyle/>
          <a:p>
            <a:pPr indent="0" lvl="0" marL="0" marR="0" rtl="0" algn="l">
              <a:lnSpc>
                <a:spcPct val="124691"/>
              </a:lnSpc>
              <a:spcBef>
                <a:spcPts val="0"/>
              </a:spcBef>
              <a:spcAft>
                <a:spcPts val="0"/>
              </a:spcAft>
              <a:buClr>
                <a:srgbClr val="000000"/>
              </a:buClr>
              <a:buSzPts val="4050"/>
              <a:buFont typeface="Inter"/>
              <a:buNone/>
            </a:pPr>
            <a:r>
              <a:rPr b="1" i="0" lang="en-US" sz="4050" u="none" cap="none" strike="noStrike">
                <a:solidFill>
                  <a:srgbClr val="000000"/>
                </a:solidFill>
                <a:latin typeface="Inter"/>
                <a:ea typeface="Inter"/>
                <a:cs typeface="Inter"/>
                <a:sym typeface="Inter"/>
              </a:rPr>
              <a:t>Optimización para rendimiento</a:t>
            </a:r>
            <a:endParaRPr b="0" i="0" sz="4050" u="none" cap="none" strike="noStrike"/>
          </a:p>
        </p:txBody>
      </p:sp>
      <p:sp>
        <p:nvSpPr>
          <p:cNvPr id="238" name="Google Shape;238;p10"/>
          <p:cNvSpPr/>
          <p:nvPr/>
        </p:nvSpPr>
        <p:spPr>
          <a:xfrm>
            <a:off x="723305" y="2126337"/>
            <a:ext cx="3745468" cy="2528411"/>
          </a:xfrm>
          <a:prstGeom prst="roundRect">
            <a:avLst>
              <a:gd fmla="val 3433"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p:nvPr/>
        </p:nvSpPr>
        <p:spPr>
          <a:xfrm>
            <a:off x="937498" y="2340531"/>
            <a:ext cx="2583418" cy="3228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000"/>
              <a:buFont typeface="Inter"/>
              <a:buNone/>
            </a:pPr>
            <a:r>
              <a:rPr b="1" i="0" lang="en-US" sz="2000" u="none" cap="none" strike="noStrike">
                <a:solidFill>
                  <a:srgbClr val="272525"/>
                </a:solidFill>
                <a:latin typeface="Inter"/>
                <a:ea typeface="Inter"/>
                <a:cs typeface="Inter"/>
                <a:sym typeface="Inter"/>
              </a:rPr>
              <a:t>Indexación Eficiente</a:t>
            </a:r>
            <a:endParaRPr b="0" i="0" sz="2000" u="none" cap="none" strike="noStrike"/>
          </a:p>
        </p:txBody>
      </p:sp>
      <p:sp>
        <p:nvSpPr>
          <p:cNvPr id="240" name="Google Shape;240;p10"/>
          <p:cNvSpPr/>
          <p:nvPr/>
        </p:nvSpPr>
        <p:spPr>
          <a:xfrm>
            <a:off x="937498" y="2787372"/>
            <a:ext cx="3317081" cy="1653183"/>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272525"/>
              </a:buClr>
              <a:buSzPts val="1600"/>
              <a:buFont typeface="Inter"/>
              <a:buNone/>
            </a:pPr>
            <a:r>
              <a:rPr b="0" i="0" lang="en-US" sz="1600" u="none" cap="none" strike="noStrike">
                <a:solidFill>
                  <a:srgbClr val="272525"/>
                </a:solidFill>
                <a:latin typeface="Inter"/>
                <a:ea typeface="Inter"/>
                <a:cs typeface="Inter"/>
                <a:sym typeface="Inter"/>
              </a:rPr>
              <a:t>Construir índices adecuados en campos clave puede acelerar significativamente las consultas y mejorar el rendimiento general del sistema.</a:t>
            </a:r>
            <a:endParaRPr b="0" i="0" sz="1600" u="none" cap="none" strike="noStrike"/>
          </a:p>
        </p:txBody>
      </p:sp>
      <p:sp>
        <p:nvSpPr>
          <p:cNvPr id="241" name="Google Shape;241;p10"/>
          <p:cNvSpPr/>
          <p:nvPr/>
        </p:nvSpPr>
        <p:spPr>
          <a:xfrm>
            <a:off x="4675346" y="2126337"/>
            <a:ext cx="3745468" cy="2528411"/>
          </a:xfrm>
          <a:prstGeom prst="roundRect">
            <a:avLst>
              <a:gd fmla="val 3433"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0"/>
          <p:cNvSpPr/>
          <p:nvPr/>
        </p:nvSpPr>
        <p:spPr>
          <a:xfrm>
            <a:off x="4889540" y="2340531"/>
            <a:ext cx="3127058" cy="3228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000"/>
              <a:buFont typeface="Inter"/>
              <a:buNone/>
            </a:pPr>
            <a:r>
              <a:rPr b="1" i="0" lang="en-US" sz="2000" u="none" cap="none" strike="noStrike">
                <a:solidFill>
                  <a:srgbClr val="272525"/>
                </a:solidFill>
                <a:latin typeface="Inter"/>
                <a:ea typeface="Inter"/>
                <a:cs typeface="Inter"/>
                <a:sym typeface="Inter"/>
              </a:rPr>
              <a:t>Particionamiento de Datos</a:t>
            </a:r>
            <a:endParaRPr b="0" i="0" sz="2000" u="none" cap="none" strike="noStrike"/>
          </a:p>
        </p:txBody>
      </p:sp>
      <p:sp>
        <p:nvSpPr>
          <p:cNvPr id="243" name="Google Shape;243;p10"/>
          <p:cNvSpPr/>
          <p:nvPr/>
        </p:nvSpPr>
        <p:spPr>
          <a:xfrm>
            <a:off x="4794528" y="3008110"/>
            <a:ext cx="3317100" cy="13224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272525"/>
              </a:buClr>
              <a:buSzPts val="1600"/>
              <a:buFont typeface="Inter"/>
              <a:buNone/>
            </a:pPr>
            <a:r>
              <a:rPr b="0" i="0" lang="en-US" sz="1600" u="none" cap="none" strike="noStrike">
                <a:solidFill>
                  <a:srgbClr val="272525"/>
                </a:solidFill>
                <a:latin typeface="Inter"/>
                <a:ea typeface="Inter"/>
                <a:cs typeface="Inter"/>
                <a:sym typeface="Inter"/>
              </a:rPr>
              <a:t>Dividir las tablas grandes en particiones más pequeñas y manejables puede optimizar el acceso y procesamiento de datos.</a:t>
            </a:r>
            <a:endParaRPr b="0" i="0" sz="1600" u="none" cap="none" strike="noStrike"/>
          </a:p>
        </p:txBody>
      </p:sp>
      <p:sp>
        <p:nvSpPr>
          <p:cNvPr id="244" name="Google Shape;244;p10"/>
          <p:cNvSpPr/>
          <p:nvPr/>
        </p:nvSpPr>
        <p:spPr>
          <a:xfrm>
            <a:off x="723305" y="4861322"/>
            <a:ext cx="3745468" cy="2197775"/>
          </a:xfrm>
          <a:prstGeom prst="roundRect">
            <a:avLst>
              <a:gd fmla="val 3950"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
          <p:cNvSpPr/>
          <p:nvPr/>
        </p:nvSpPr>
        <p:spPr>
          <a:xfrm>
            <a:off x="937498" y="5075515"/>
            <a:ext cx="2583418" cy="3228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000"/>
              <a:buFont typeface="Inter"/>
              <a:buNone/>
            </a:pPr>
            <a:r>
              <a:rPr b="1" i="0" lang="en-US" sz="2000" u="none" cap="none" strike="noStrike">
                <a:solidFill>
                  <a:srgbClr val="272525"/>
                </a:solidFill>
                <a:latin typeface="Inter"/>
                <a:ea typeface="Inter"/>
                <a:cs typeface="Inter"/>
                <a:sym typeface="Inter"/>
              </a:rPr>
              <a:t>Ajuste de Consultas</a:t>
            </a:r>
            <a:endParaRPr b="0" i="0" sz="2000" u="none" cap="none" strike="noStrike"/>
          </a:p>
        </p:txBody>
      </p:sp>
      <p:sp>
        <p:nvSpPr>
          <p:cNvPr id="246" name="Google Shape;246;p10"/>
          <p:cNvSpPr/>
          <p:nvPr/>
        </p:nvSpPr>
        <p:spPr>
          <a:xfrm>
            <a:off x="937498" y="5522357"/>
            <a:ext cx="3317081" cy="1322546"/>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272525"/>
              </a:buClr>
              <a:buSzPts val="1600"/>
              <a:buFont typeface="Inter"/>
              <a:buNone/>
            </a:pPr>
            <a:r>
              <a:rPr b="0" i="0" lang="en-US" sz="1600" u="none" cap="none" strike="noStrike">
                <a:solidFill>
                  <a:srgbClr val="272525"/>
                </a:solidFill>
                <a:latin typeface="Inter"/>
                <a:ea typeface="Inter"/>
                <a:cs typeface="Inter"/>
                <a:sym typeface="Inter"/>
              </a:rPr>
              <a:t>Analizar y optimizar las consultas SQL para reducir el uso de recursos y mejorar la velocidad de respuesta.</a:t>
            </a:r>
            <a:endParaRPr b="0" i="0" sz="1600" u="none" cap="none" strike="noStrike"/>
          </a:p>
        </p:txBody>
      </p:sp>
      <p:sp>
        <p:nvSpPr>
          <p:cNvPr id="247" name="Google Shape;247;p10"/>
          <p:cNvSpPr/>
          <p:nvPr/>
        </p:nvSpPr>
        <p:spPr>
          <a:xfrm>
            <a:off x="4675346" y="4861322"/>
            <a:ext cx="3745468" cy="2197775"/>
          </a:xfrm>
          <a:prstGeom prst="roundRect">
            <a:avLst>
              <a:gd fmla="val 3950"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
          <p:cNvSpPr/>
          <p:nvPr/>
        </p:nvSpPr>
        <p:spPr>
          <a:xfrm>
            <a:off x="4852153" y="5199440"/>
            <a:ext cx="3201900" cy="322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000"/>
              <a:buFont typeface="Inter"/>
              <a:buNone/>
            </a:pPr>
            <a:r>
              <a:rPr b="1" i="0" lang="en-US" sz="2000" u="none" cap="none" strike="noStrike">
                <a:solidFill>
                  <a:srgbClr val="272525"/>
                </a:solidFill>
                <a:latin typeface="Inter"/>
                <a:ea typeface="Inter"/>
                <a:cs typeface="Inter"/>
                <a:sym typeface="Inter"/>
              </a:rPr>
              <a:t>Almacenamiento en Caché</a:t>
            </a:r>
            <a:endParaRPr b="0" i="0" sz="2000" u="none" cap="none" strike="noStrike"/>
          </a:p>
        </p:txBody>
      </p:sp>
      <p:sp>
        <p:nvSpPr>
          <p:cNvPr id="249" name="Google Shape;249;p10"/>
          <p:cNvSpPr/>
          <p:nvPr/>
        </p:nvSpPr>
        <p:spPr>
          <a:xfrm>
            <a:off x="4889540" y="5923382"/>
            <a:ext cx="3317100" cy="13224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272525"/>
              </a:buClr>
              <a:buSzPts val="1600"/>
              <a:buFont typeface="Inter"/>
              <a:buNone/>
            </a:pPr>
            <a:r>
              <a:rPr b="0" i="0" lang="en-US" sz="1600" u="none" cap="none" strike="noStrike">
                <a:solidFill>
                  <a:srgbClr val="272525"/>
                </a:solidFill>
                <a:latin typeface="Inter"/>
                <a:ea typeface="Inter"/>
                <a:cs typeface="Inter"/>
                <a:sym typeface="Inter"/>
              </a:rPr>
              <a:t>Utilizar un sistema de caché puede reducir la carga del servidor y mejorar la experiencia del usuario al servir datos rápidamente.</a:t>
            </a:r>
            <a:endParaRPr b="0" i="0" sz="160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descr="preencoded.png" id="255" name="Google Shape;255;p1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256" name="Google Shape;256;p11"/>
          <p:cNvSpPr/>
          <p:nvPr/>
        </p:nvSpPr>
        <p:spPr>
          <a:xfrm>
            <a:off x="722233" y="682228"/>
            <a:ext cx="7699534" cy="1289685"/>
          </a:xfrm>
          <a:prstGeom prst="rect">
            <a:avLst/>
          </a:prstGeom>
          <a:noFill/>
          <a:ln>
            <a:noFill/>
          </a:ln>
        </p:spPr>
        <p:txBody>
          <a:bodyPr anchorCtr="0" anchor="t" bIns="0" lIns="0" spcFirstLastPara="1" rIns="0" wrap="square" tIns="0">
            <a:noAutofit/>
          </a:bodyPr>
          <a:lstStyle/>
          <a:p>
            <a:pPr indent="0" lvl="0" marL="0" marR="0" rtl="0" algn="l">
              <a:lnSpc>
                <a:spcPct val="124691"/>
              </a:lnSpc>
              <a:spcBef>
                <a:spcPts val="0"/>
              </a:spcBef>
              <a:spcAft>
                <a:spcPts val="0"/>
              </a:spcAft>
              <a:buClr>
                <a:srgbClr val="000000"/>
              </a:buClr>
              <a:buSzPts val="4050"/>
              <a:buFont typeface="Inter"/>
              <a:buNone/>
            </a:pPr>
            <a:r>
              <a:rPr b="1" i="0" lang="en-US" sz="4050" u="none" cap="none" strike="noStrike">
                <a:solidFill>
                  <a:srgbClr val="000000"/>
                </a:solidFill>
                <a:latin typeface="Inter"/>
                <a:ea typeface="Inter"/>
                <a:cs typeface="Inter"/>
                <a:sym typeface="Inter"/>
              </a:rPr>
              <a:t>Transacciones distribuidas: desafíos</a:t>
            </a:r>
            <a:endParaRPr b="0" i="0" sz="4050" u="none" cap="none" strike="noStrike"/>
          </a:p>
        </p:txBody>
      </p:sp>
      <p:pic>
        <p:nvPicPr>
          <p:cNvPr descr="preencoded.png" id="257" name="Google Shape;257;p11"/>
          <p:cNvPicPr preferRelativeResize="0"/>
          <p:nvPr/>
        </p:nvPicPr>
        <p:blipFill rotWithShape="1">
          <a:blip r:embed="rId4">
            <a:alphaModFix/>
          </a:blip>
          <a:srcRect b="0" l="0" r="0" t="0"/>
          <a:stretch/>
        </p:blipFill>
        <p:spPr>
          <a:xfrm>
            <a:off x="722233" y="2281357"/>
            <a:ext cx="515898" cy="515898"/>
          </a:xfrm>
          <a:prstGeom prst="rect">
            <a:avLst/>
          </a:prstGeom>
          <a:noFill/>
          <a:ln>
            <a:noFill/>
          </a:ln>
        </p:spPr>
      </p:pic>
      <p:sp>
        <p:nvSpPr>
          <p:cNvPr id="258" name="Google Shape;258;p11"/>
          <p:cNvSpPr/>
          <p:nvPr/>
        </p:nvSpPr>
        <p:spPr>
          <a:xfrm>
            <a:off x="722233" y="3003590"/>
            <a:ext cx="2579489" cy="32242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000"/>
              <a:buFont typeface="Inter"/>
              <a:buNone/>
            </a:pPr>
            <a:r>
              <a:rPr b="1" i="0" lang="en-US" sz="2000" u="none" cap="none" strike="noStrike">
                <a:solidFill>
                  <a:srgbClr val="272525"/>
                </a:solidFill>
                <a:latin typeface="Inter"/>
                <a:ea typeface="Inter"/>
                <a:cs typeface="Inter"/>
                <a:sym typeface="Inter"/>
              </a:rPr>
              <a:t>Coordinación</a:t>
            </a:r>
            <a:endParaRPr b="0" i="0" sz="2000" u="none" cap="none" strike="noStrike"/>
          </a:p>
        </p:txBody>
      </p:sp>
      <p:sp>
        <p:nvSpPr>
          <p:cNvPr id="259" name="Google Shape;259;p11"/>
          <p:cNvSpPr/>
          <p:nvPr/>
        </p:nvSpPr>
        <p:spPr>
          <a:xfrm>
            <a:off x="722233" y="3449717"/>
            <a:ext cx="3694986" cy="1320165"/>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72525"/>
              </a:buClr>
              <a:buSzPts val="1600"/>
              <a:buFont typeface="Inter"/>
              <a:buNone/>
            </a:pPr>
            <a:r>
              <a:rPr b="0" i="0" lang="en-US" sz="1600" u="none" cap="none" strike="noStrike">
                <a:solidFill>
                  <a:srgbClr val="272525"/>
                </a:solidFill>
                <a:latin typeface="Inter"/>
                <a:ea typeface="Inter"/>
                <a:cs typeface="Inter"/>
                <a:sym typeface="Inter"/>
              </a:rPr>
              <a:t>Garantizar la consistencia y atomicidad en múltiples sistemas independientes es un desafío clave en las transacciones distribuidas.</a:t>
            </a:r>
            <a:endParaRPr b="0" i="0" sz="1600" u="none" cap="none" strike="noStrike"/>
          </a:p>
        </p:txBody>
      </p:sp>
      <p:pic>
        <p:nvPicPr>
          <p:cNvPr descr="preencoded.png" id="260" name="Google Shape;260;p11"/>
          <p:cNvPicPr preferRelativeResize="0"/>
          <p:nvPr/>
        </p:nvPicPr>
        <p:blipFill rotWithShape="1">
          <a:blip r:embed="rId5">
            <a:alphaModFix/>
          </a:blip>
          <a:srcRect b="0" l="0" r="0" t="0"/>
          <a:stretch/>
        </p:blipFill>
        <p:spPr>
          <a:xfrm>
            <a:off x="4726662" y="2281357"/>
            <a:ext cx="515898" cy="515898"/>
          </a:xfrm>
          <a:prstGeom prst="rect">
            <a:avLst/>
          </a:prstGeom>
          <a:noFill/>
          <a:ln>
            <a:noFill/>
          </a:ln>
        </p:spPr>
      </p:pic>
      <p:sp>
        <p:nvSpPr>
          <p:cNvPr id="261" name="Google Shape;261;p11"/>
          <p:cNvSpPr/>
          <p:nvPr/>
        </p:nvSpPr>
        <p:spPr>
          <a:xfrm>
            <a:off x="4726662" y="3003590"/>
            <a:ext cx="2579489" cy="32242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000"/>
              <a:buFont typeface="Inter"/>
              <a:buNone/>
            </a:pPr>
            <a:r>
              <a:rPr b="1" i="0" lang="en-US" sz="2000" u="none" cap="none" strike="noStrike">
                <a:solidFill>
                  <a:srgbClr val="272525"/>
                </a:solidFill>
                <a:latin typeface="Inter"/>
                <a:ea typeface="Inter"/>
                <a:cs typeface="Inter"/>
                <a:sym typeface="Inter"/>
              </a:rPr>
              <a:t>Latencia</a:t>
            </a:r>
            <a:endParaRPr b="0" i="0" sz="2000" u="none" cap="none" strike="noStrike"/>
          </a:p>
        </p:txBody>
      </p:sp>
      <p:sp>
        <p:nvSpPr>
          <p:cNvPr id="262" name="Google Shape;262;p11"/>
          <p:cNvSpPr/>
          <p:nvPr/>
        </p:nvSpPr>
        <p:spPr>
          <a:xfrm>
            <a:off x="4726662" y="3449717"/>
            <a:ext cx="3695105" cy="1320165"/>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72525"/>
              </a:buClr>
              <a:buSzPts val="1600"/>
              <a:buFont typeface="Inter"/>
              <a:buNone/>
            </a:pPr>
            <a:r>
              <a:rPr b="0" i="0" lang="en-US" sz="1600" u="none" cap="none" strike="noStrike">
                <a:solidFill>
                  <a:srgbClr val="272525"/>
                </a:solidFill>
                <a:latin typeface="Inter"/>
                <a:ea typeface="Inter"/>
                <a:cs typeface="Inter"/>
                <a:sym typeface="Inter"/>
              </a:rPr>
              <a:t>Minimizar la latencia de las transacciones a través de múltiples sitios puede requerir optimizaciones complejas.</a:t>
            </a:r>
            <a:endParaRPr b="0" i="0" sz="1600" u="none" cap="none" strike="noStrike"/>
          </a:p>
        </p:txBody>
      </p:sp>
      <p:pic>
        <p:nvPicPr>
          <p:cNvPr descr="preencoded.png" id="263" name="Google Shape;263;p11"/>
          <p:cNvPicPr preferRelativeResize="0"/>
          <p:nvPr/>
        </p:nvPicPr>
        <p:blipFill rotWithShape="1">
          <a:blip r:embed="rId6">
            <a:alphaModFix/>
          </a:blip>
          <a:srcRect b="0" l="0" r="0" t="0"/>
          <a:stretch/>
        </p:blipFill>
        <p:spPr>
          <a:xfrm>
            <a:off x="722233" y="5388888"/>
            <a:ext cx="515898" cy="515898"/>
          </a:xfrm>
          <a:prstGeom prst="rect">
            <a:avLst/>
          </a:prstGeom>
          <a:noFill/>
          <a:ln>
            <a:noFill/>
          </a:ln>
        </p:spPr>
      </p:pic>
      <p:sp>
        <p:nvSpPr>
          <p:cNvPr id="264" name="Google Shape;264;p11"/>
          <p:cNvSpPr/>
          <p:nvPr/>
        </p:nvSpPr>
        <p:spPr>
          <a:xfrm>
            <a:off x="722233" y="6111121"/>
            <a:ext cx="2579489" cy="32242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000"/>
              <a:buFont typeface="Inter"/>
              <a:buNone/>
            </a:pPr>
            <a:r>
              <a:rPr b="1" i="0" lang="en-US" sz="2000" u="none" cap="none" strike="noStrike">
                <a:solidFill>
                  <a:srgbClr val="272525"/>
                </a:solidFill>
                <a:latin typeface="Inter"/>
                <a:ea typeface="Inter"/>
                <a:cs typeface="Inter"/>
                <a:sym typeface="Inter"/>
              </a:rPr>
              <a:t>Monitoreo</a:t>
            </a:r>
            <a:endParaRPr b="0" i="0" sz="2000" u="none" cap="none" strike="noStrike"/>
          </a:p>
        </p:txBody>
      </p:sp>
      <p:sp>
        <p:nvSpPr>
          <p:cNvPr id="265" name="Google Shape;265;p11"/>
          <p:cNvSpPr/>
          <p:nvPr/>
        </p:nvSpPr>
        <p:spPr>
          <a:xfrm>
            <a:off x="722233" y="6557248"/>
            <a:ext cx="3694986" cy="990124"/>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72525"/>
              </a:buClr>
              <a:buSzPts val="1600"/>
              <a:buFont typeface="Inter"/>
              <a:buNone/>
            </a:pPr>
            <a:r>
              <a:rPr b="0" i="0" lang="en-US" sz="1600" u="none" cap="none" strike="noStrike">
                <a:solidFill>
                  <a:srgbClr val="272525"/>
                </a:solidFill>
                <a:latin typeface="Inter"/>
                <a:ea typeface="Inter"/>
                <a:cs typeface="Inter"/>
                <a:sym typeface="Inter"/>
              </a:rPr>
              <a:t>Supervisar y depurar transacciones distribuidas es más desafiante que en entornos centralizados.</a:t>
            </a:r>
            <a:endParaRPr b="0" i="0" sz="1600" u="none" cap="none" strike="noStrike"/>
          </a:p>
        </p:txBody>
      </p:sp>
      <p:pic>
        <p:nvPicPr>
          <p:cNvPr descr="preencoded.png" id="266" name="Google Shape;266;p11"/>
          <p:cNvPicPr preferRelativeResize="0"/>
          <p:nvPr/>
        </p:nvPicPr>
        <p:blipFill rotWithShape="1">
          <a:blip r:embed="rId7">
            <a:alphaModFix/>
          </a:blip>
          <a:srcRect b="0" l="0" r="0" t="0"/>
          <a:stretch/>
        </p:blipFill>
        <p:spPr>
          <a:xfrm>
            <a:off x="4726662" y="5388888"/>
            <a:ext cx="515898" cy="515898"/>
          </a:xfrm>
          <a:prstGeom prst="rect">
            <a:avLst/>
          </a:prstGeom>
          <a:noFill/>
          <a:ln>
            <a:noFill/>
          </a:ln>
        </p:spPr>
      </p:pic>
      <p:sp>
        <p:nvSpPr>
          <p:cNvPr id="267" name="Google Shape;267;p11"/>
          <p:cNvSpPr/>
          <p:nvPr/>
        </p:nvSpPr>
        <p:spPr>
          <a:xfrm>
            <a:off x="4726662" y="6111121"/>
            <a:ext cx="2579489" cy="32242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000"/>
              <a:buFont typeface="Inter"/>
              <a:buNone/>
            </a:pPr>
            <a:r>
              <a:rPr b="1" i="0" lang="en-US" sz="2000" u="none" cap="none" strike="noStrike">
                <a:solidFill>
                  <a:srgbClr val="272525"/>
                </a:solidFill>
                <a:latin typeface="Inter"/>
                <a:ea typeface="Inter"/>
                <a:cs typeface="Inter"/>
                <a:sym typeface="Inter"/>
              </a:rPr>
              <a:t>Resiliencia</a:t>
            </a:r>
            <a:endParaRPr b="0" i="0" sz="2000" u="none" cap="none" strike="noStrike"/>
          </a:p>
        </p:txBody>
      </p:sp>
      <p:sp>
        <p:nvSpPr>
          <p:cNvPr id="268" name="Google Shape;268;p11"/>
          <p:cNvSpPr/>
          <p:nvPr/>
        </p:nvSpPr>
        <p:spPr>
          <a:xfrm>
            <a:off x="4726662" y="6557248"/>
            <a:ext cx="3695105" cy="990124"/>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72525"/>
              </a:buClr>
              <a:buSzPts val="1600"/>
              <a:buFont typeface="Inter"/>
              <a:buNone/>
            </a:pPr>
            <a:r>
              <a:rPr b="0" i="0" lang="en-US" sz="1600" u="none" cap="none" strike="noStrike">
                <a:solidFill>
                  <a:srgbClr val="272525"/>
                </a:solidFill>
                <a:latin typeface="Inter"/>
                <a:ea typeface="Inter"/>
                <a:cs typeface="Inter"/>
                <a:sym typeface="Inter"/>
              </a:rPr>
              <a:t>Garantizar la recuperación ante fallas en uno o más sistemas distribuidos es fundamental.</a:t>
            </a:r>
            <a:endParaRPr b="0" i="0" sz="160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descr="preencoded.png" id="274" name="Google Shape;274;p12"/>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275" name="Google Shape;275;p12"/>
          <p:cNvSpPr/>
          <p:nvPr/>
        </p:nvSpPr>
        <p:spPr>
          <a:xfrm>
            <a:off x="6196965" y="720685"/>
            <a:ext cx="7722870" cy="1268730"/>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000000"/>
              </a:buClr>
              <a:buSzPts val="3950"/>
              <a:buFont typeface="Inter"/>
              <a:buNone/>
            </a:pPr>
            <a:r>
              <a:rPr b="1" i="0" lang="en-US" sz="3950" u="none" cap="none" strike="noStrike">
                <a:solidFill>
                  <a:srgbClr val="000000"/>
                </a:solidFill>
                <a:latin typeface="Inter"/>
                <a:ea typeface="Inter"/>
                <a:cs typeface="Inter"/>
                <a:sym typeface="Inter"/>
              </a:rPr>
              <a:t>Transacciones distribuidas: coordinación</a:t>
            </a:r>
            <a:endParaRPr b="0" i="0" sz="3950" u="none" cap="none" strike="noStrike"/>
          </a:p>
        </p:txBody>
      </p:sp>
      <p:sp>
        <p:nvSpPr>
          <p:cNvPr id="276" name="Google Shape;276;p12"/>
          <p:cNvSpPr/>
          <p:nvPr/>
        </p:nvSpPr>
        <p:spPr>
          <a:xfrm>
            <a:off x="6489978" y="2293858"/>
            <a:ext cx="22860" cy="5214938"/>
          </a:xfrm>
          <a:prstGeom prst="roundRect">
            <a:avLst>
              <a:gd fmla="val 373013"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2"/>
          <p:cNvSpPr/>
          <p:nvPr/>
        </p:nvSpPr>
        <p:spPr>
          <a:xfrm>
            <a:off x="6706910" y="2739152"/>
            <a:ext cx="710565" cy="22860"/>
          </a:xfrm>
          <a:prstGeom prst="roundRect">
            <a:avLst>
              <a:gd fmla="val 373013"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2"/>
          <p:cNvSpPr/>
          <p:nvPr/>
        </p:nvSpPr>
        <p:spPr>
          <a:xfrm>
            <a:off x="6273046" y="2522220"/>
            <a:ext cx="456724" cy="456724"/>
          </a:xfrm>
          <a:prstGeom prst="roundRect">
            <a:avLst>
              <a:gd fmla="val 18670"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2"/>
          <p:cNvSpPr/>
          <p:nvPr/>
        </p:nvSpPr>
        <p:spPr>
          <a:xfrm>
            <a:off x="6440329" y="2598301"/>
            <a:ext cx="122158" cy="30456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350"/>
              <a:buFont typeface="Inter"/>
              <a:buNone/>
            </a:pPr>
            <a:r>
              <a:rPr b="1" i="0" lang="en-US" sz="2350" u="none" cap="none" strike="noStrike">
                <a:solidFill>
                  <a:srgbClr val="272525"/>
                </a:solidFill>
                <a:latin typeface="Inter"/>
                <a:ea typeface="Inter"/>
                <a:cs typeface="Inter"/>
                <a:sym typeface="Inter"/>
              </a:rPr>
              <a:t>1</a:t>
            </a:r>
            <a:endParaRPr b="0" i="0" sz="2350" u="none" cap="none" strike="noStrike"/>
          </a:p>
        </p:txBody>
      </p:sp>
      <p:sp>
        <p:nvSpPr>
          <p:cNvPr id="280" name="Google Shape;280;p12"/>
          <p:cNvSpPr/>
          <p:nvPr/>
        </p:nvSpPr>
        <p:spPr>
          <a:xfrm>
            <a:off x="7617976" y="2496860"/>
            <a:ext cx="3236476" cy="317302"/>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Sincronización de Procesos</a:t>
            </a:r>
            <a:endParaRPr b="0" i="0" sz="1950" u="none" cap="none" strike="noStrike"/>
          </a:p>
        </p:txBody>
      </p:sp>
      <p:sp>
        <p:nvSpPr>
          <p:cNvPr id="281" name="Google Shape;281;p12"/>
          <p:cNvSpPr/>
          <p:nvPr/>
        </p:nvSpPr>
        <p:spPr>
          <a:xfrm>
            <a:off x="7617976" y="3179562"/>
            <a:ext cx="6301800" cy="649500"/>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La coordinación entre nodos en sistemas distribuidos requiere la sincronización precisa de procesos y la resolución de conflictos.</a:t>
            </a:r>
            <a:endParaRPr b="0" i="0" sz="1550" u="none" cap="none" strike="noStrike"/>
          </a:p>
        </p:txBody>
      </p:sp>
      <p:sp>
        <p:nvSpPr>
          <p:cNvPr id="282" name="Google Shape;282;p12"/>
          <p:cNvSpPr/>
          <p:nvPr/>
        </p:nvSpPr>
        <p:spPr>
          <a:xfrm>
            <a:off x="6706910" y="4436864"/>
            <a:ext cx="710565" cy="22860"/>
          </a:xfrm>
          <a:prstGeom prst="roundRect">
            <a:avLst>
              <a:gd fmla="val 373013"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2"/>
          <p:cNvSpPr/>
          <p:nvPr/>
        </p:nvSpPr>
        <p:spPr>
          <a:xfrm>
            <a:off x="6273046" y="4219932"/>
            <a:ext cx="456724" cy="456724"/>
          </a:xfrm>
          <a:prstGeom prst="roundRect">
            <a:avLst>
              <a:gd fmla="val 18670"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2"/>
          <p:cNvSpPr/>
          <p:nvPr/>
        </p:nvSpPr>
        <p:spPr>
          <a:xfrm>
            <a:off x="6410087" y="4296013"/>
            <a:ext cx="182642" cy="30456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350"/>
              <a:buFont typeface="Inter"/>
              <a:buNone/>
            </a:pPr>
            <a:r>
              <a:rPr b="1" i="0" lang="en-US" sz="2350" u="none" cap="none" strike="noStrike">
                <a:solidFill>
                  <a:srgbClr val="272525"/>
                </a:solidFill>
                <a:latin typeface="Inter"/>
                <a:ea typeface="Inter"/>
                <a:cs typeface="Inter"/>
                <a:sym typeface="Inter"/>
              </a:rPr>
              <a:t>2</a:t>
            </a:r>
            <a:endParaRPr b="0" i="0" sz="2350" u="none" cap="none" strike="noStrike"/>
          </a:p>
        </p:txBody>
      </p:sp>
      <p:sp>
        <p:nvSpPr>
          <p:cNvPr id="285" name="Google Shape;285;p12"/>
          <p:cNvSpPr/>
          <p:nvPr/>
        </p:nvSpPr>
        <p:spPr>
          <a:xfrm>
            <a:off x="7617976" y="4194572"/>
            <a:ext cx="3168610" cy="317302"/>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Protocolos de Compromiso</a:t>
            </a:r>
            <a:endParaRPr b="0" i="0" sz="1950" u="none" cap="none" strike="noStrike"/>
          </a:p>
        </p:txBody>
      </p:sp>
      <p:sp>
        <p:nvSpPr>
          <p:cNvPr id="286" name="Google Shape;286;p12"/>
          <p:cNvSpPr/>
          <p:nvPr/>
        </p:nvSpPr>
        <p:spPr>
          <a:xfrm>
            <a:off x="7617951" y="4877274"/>
            <a:ext cx="6301800" cy="974400"/>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Protocolos como Two-Phase Commit (2PC) y Three-Phase Commit (3PC) son esenciales para garantizar la consistencia de transacciones distribuidas.</a:t>
            </a:r>
            <a:endParaRPr b="0" i="0" sz="1550" u="none" cap="none" strike="noStrike"/>
          </a:p>
        </p:txBody>
      </p:sp>
      <p:sp>
        <p:nvSpPr>
          <p:cNvPr id="287" name="Google Shape;287;p12"/>
          <p:cNvSpPr/>
          <p:nvPr/>
        </p:nvSpPr>
        <p:spPr>
          <a:xfrm>
            <a:off x="6706910" y="6459379"/>
            <a:ext cx="710565" cy="22860"/>
          </a:xfrm>
          <a:prstGeom prst="roundRect">
            <a:avLst>
              <a:gd fmla="val 373013"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2"/>
          <p:cNvSpPr/>
          <p:nvPr/>
        </p:nvSpPr>
        <p:spPr>
          <a:xfrm>
            <a:off x="6273046" y="6242447"/>
            <a:ext cx="456724" cy="456724"/>
          </a:xfrm>
          <a:prstGeom prst="roundRect">
            <a:avLst>
              <a:gd fmla="val 18670"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p:nvPr/>
        </p:nvSpPr>
        <p:spPr>
          <a:xfrm>
            <a:off x="6407706" y="6318528"/>
            <a:ext cx="187404" cy="30456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350"/>
              <a:buFont typeface="Inter"/>
              <a:buNone/>
            </a:pPr>
            <a:r>
              <a:rPr b="1" i="0" lang="en-US" sz="2350" u="none" cap="none" strike="noStrike">
                <a:solidFill>
                  <a:srgbClr val="272525"/>
                </a:solidFill>
                <a:latin typeface="Inter"/>
                <a:ea typeface="Inter"/>
                <a:cs typeface="Inter"/>
                <a:sym typeface="Inter"/>
              </a:rPr>
              <a:t>3</a:t>
            </a:r>
            <a:endParaRPr b="0" i="0" sz="2350" u="none" cap="none" strike="noStrike"/>
          </a:p>
        </p:txBody>
      </p:sp>
      <p:sp>
        <p:nvSpPr>
          <p:cNvPr id="290" name="Google Shape;290;p12"/>
          <p:cNvSpPr/>
          <p:nvPr/>
        </p:nvSpPr>
        <p:spPr>
          <a:xfrm>
            <a:off x="7617976" y="6217087"/>
            <a:ext cx="2923342" cy="317302"/>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Recuperación ante Fallos</a:t>
            </a:r>
            <a:endParaRPr b="0" i="0" sz="1950" u="none" cap="none" strike="noStrike"/>
          </a:p>
        </p:txBody>
      </p:sp>
      <p:sp>
        <p:nvSpPr>
          <p:cNvPr id="291" name="Google Shape;291;p12"/>
          <p:cNvSpPr/>
          <p:nvPr/>
        </p:nvSpPr>
        <p:spPr>
          <a:xfrm>
            <a:off x="7617951" y="7039764"/>
            <a:ext cx="6301800" cy="649500"/>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Los mecanismos de rollback y restauración de estado son cruciales para mantener la integridad de los datos en caso de fallos parciales.</a:t>
            </a:r>
            <a:endParaRPr b="0" i="0" sz="155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descr="preencoded.png" id="297" name="Google Shape;297;p13"/>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298" name="Google Shape;298;p13"/>
          <p:cNvSpPr/>
          <p:nvPr/>
        </p:nvSpPr>
        <p:spPr>
          <a:xfrm>
            <a:off x="723305" y="682228"/>
            <a:ext cx="7697391" cy="1291828"/>
          </a:xfrm>
          <a:prstGeom prst="rect">
            <a:avLst/>
          </a:prstGeom>
          <a:noFill/>
          <a:ln>
            <a:noFill/>
          </a:ln>
        </p:spPr>
        <p:txBody>
          <a:bodyPr anchorCtr="0" anchor="t" bIns="0" lIns="0" spcFirstLastPara="1" rIns="0" wrap="square" tIns="0">
            <a:noAutofit/>
          </a:bodyPr>
          <a:lstStyle/>
          <a:p>
            <a:pPr indent="0" lvl="0" marL="0" marR="0" rtl="0" algn="l">
              <a:lnSpc>
                <a:spcPct val="124691"/>
              </a:lnSpc>
              <a:spcBef>
                <a:spcPts val="0"/>
              </a:spcBef>
              <a:spcAft>
                <a:spcPts val="0"/>
              </a:spcAft>
              <a:buClr>
                <a:srgbClr val="000000"/>
              </a:buClr>
              <a:buSzPts val="4050"/>
              <a:buFont typeface="Inter"/>
              <a:buNone/>
            </a:pPr>
            <a:r>
              <a:rPr b="1" i="0" lang="en-US" sz="4050" u="none" cap="none" strike="noStrike">
                <a:solidFill>
                  <a:srgbClr val="000000"/>
                </a:solidFill>
                <a:latin typeface="Inter"/>
                <a:ea typeface="Inter"/>
                <a:cs typeface="Inter"/>
                <a:sym typeface="Inter"/>
              </a:rPr>
              <a:t>Identificación de problemas de concurrencia</a:t>
            </a:r>
            <a:endParaRPr b="0" i="0" sz="4050" u="none" cap="none" strike="noStrike"/>
          </a:p>
        </p:txBody>
      </p:sp>
      <p:sp>
        <p:nvSpPr>
          <p:cNvPr id="299" name="Google Shape;299;p13"/>
          <p:cNvSpPr/>
          <p:nvPr/>
        </p:nvSpPr>
        <p:spPr>
          <a:xfrm>
            <a:off x="723305" y="2283976"/>
            <a:ext cx="3745468" cy="2528411"/>
          </a:xfrm>
          <a:prstGeom prst="roundRect">
            <a:avLst>
              <a:gd fmla="val 3433"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3"/>
          <p:cNvSpPr/>
          <p:nvPr/>
        </p:nvSpPr>
        <p:spPr>
          <a:xfrm>
            <a:off x="937498" y="2498169"/>
            <a:ext cx="2583418" cy="3228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000"/>
              <a:buFont typeface="Inter"/>
              <a:buNone/>
            </a:pPr>
            <a:r>
              <a:rPr b="1" i="0" lang="en-US" sz="2000" u="none" cap="none" strike="noStrike">
                <a:solidFill>
                  <a:srgbClr val="272525"/>
                </a:solidFill>
                <a:latin typeface="Inter"/>
                <a:ea typeface="Inter"/>
                <a:cs typeface="Inter"/>
                <a:sym typeface="Inter"/>
              </a:rPr>
              <a:t>Bloqueos</a:t>
            </a:r>
            <a:endParaRPr b="0" i="0" sz="2000" u="none" cap="none" strike="noStrike"/>
          </a:p>
        </p:txBody>
      </p:sp>
      <p:sp>
        <p:nvSpPr>
          <p:cNvPr id="301" name="Google Shape;301;p13"/>
          <p:cNvSpPr/>
          <p:nvPr/>
        </p:nvSpPr>
        <p:spPr>
          <a:xfrm>
            <a:off x="937498" y="2945011"/>
            <a:ext cx="3317081" cy="1653183"/>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272525"/>
              </a:buClr>
              <a:buSzPts val="1600"/>
              <a:buFont typeface="Inter"/>
              <a:buNone/>
            </a:pPr>
            <a:r>
              <a:rPr b="0" i="0" lang="en-US" sz="1600" u="none" cap="none" strike="noStrike">
                <a:solidFill>
                  <a:srgbClr val="272525"/>
                </a:solidFill>
                <a:latin typeface="Inter"/>
                <a:ea typeface="Inter"/>
                <a:cs typeface="Inter"/>
                <a:sym typeface="Inter"/>
              </a:rPr>
              <a:t>Identificar situaciones donde las transacciones se bloquean mutuamente y no pueden progresar, lo que genera demoras e ineficiencias.</a:t>
            </a:r>
            <a:endParaRPr b="0" i="0" sz="1600" u="none" cap="none" strike="noStrike"/>
          </a:p>
        </p:txBody>
      </p:sp>
      <p:sp>
        <p:nvSpPr>
          <p:cNvPr id="302" name="Google Shape;302;p13"/>
          <p:cNvSpPr/>
          <p:nvPr/>
        </p:nvSpPr>
        <p:spPr>
          <a:xfrm>
            <a:off x="4675346" y="2283976"/>
            <a:ext cx="3745468" cy="2528411"/>
          </a:xfrm>
          <a:prstGeom prst="roundRect">
            <a:avLst>
              <a:gd fmla="val 3433"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3"/>
          <p:cNvSpPr/>
          <p:nvPr/>
        </p:nvSpPr>
        <p:spPr>
          <a:xfrm>
            <a:off x="4889540" y="2498169"/>
            <a:ext cx="2583418" cy="3228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000"/>
              <a:buFont typeface="Inter"/>
              <a:buNone/>
            </a:pPr>
            <a:r>
              <a:rPr b="1" i="0" lang="en-US" sz="2000" u="none" cap="none" strike="noStrike">
                <a:solidFill>
                  <a:srgbClr val="272525"/>
                </a:solidFill>
                <a:latin typeface="Inter"/>
                <a:ea typeface="Inter"/>
                <a:cs typeface="Inter"/>
                <a:sym typeface="Inter"/>
              </a:rPr>
              <a:t>Lectura sucia</a:t>
            </a:r>
            <a:endParaRPr b="0" i="0" sz="2000" u="none" cap="none" strike="noStrike"/>
          </a:p>
        </p:txBody>
      </p:sp>
      <p:sp>
        <p:nvSpPr>
          <p:cNvPr id="304" name="Google Shape;304;p13"/>
          <p:cNvSpPr/>
          <p:nvPr/>
        </p:nvSpPr>
        <p:spPr>
          <a:xfrm>
            <a:off x="4889540" y="2945011"/>
            <a:ext cx="3317081" cy="1653183"/>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272525"/>
              </a:buClr>
              <a:buSzPts val="1600"/>
              <a:buFont typeface="Inter"/>
              <a:buNone/>
            </a:pPr>
            <a:r>
              <a:rPr b="0" i="0" lang="en-US" sz="1600" u="none" cap="none" strike="noStrike">
                <a:solidFill>
                  <a:srgbClr val="272525"/>
                </a:solidFill>
                <a:latin typeface="Inter"/>
                <a:ea typeface="Inter"/>
                <a:cs typeface="Inter"/>
                <a:sym typeface="Inter"/>
              </a:rPr>
              <a:t>Detectar cuando una transacción lee datos que han sido modificados por otra transacción sin confirmar, lo que puede llevar a resultados incorrectos.</a:t>
            </a:r>
            <a:endParaRPr b="0" i="0" sz="1600" u="none" cap="none" strike="noStrike"/>
          </a:p>
        </p:txBody>
      </p:sp>
      <p:sp>
        <p:nvSpPr>
          <p:cNvPr id="305" name="Google Shape;305;p13"/>
          <p:cNvSpPr/>
          <p:nvPr/>
        </p:nvSpPr>
        <p:spPr>
          <a:xfrm>
            <a:off x="723305" y="5018961"/>
            <a:ext cx="3745468" cy="2528411"/>
          </a:xfrm>
          <a:prstGeom prst="roundRect">
            <a:avLst>
              <a:gd fmla="val 3433"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3"/>
          <p:cNvSpPr/>
          <p:nvPr/>
        </p:nvSpPr>
        <p:spPr>
          <a:xfrm>
            <a:off x="937498" y="5233154"/>
            <a:ext cx="3173135" cy="3228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000"/>
              <a:buFont typeface="Inter"/>
              <a:buNone/>
            </a:pPr>
            <a:r>
              <a:rPr b="1" i="0" lang="en-US" sz="2000" u="none" cap="none" strike="noStrike">
                <a:solidFill>
                  <a:srgbClr val="272525"/>
                </a:solidFill>
                <a:latin typeface="Inter"/>
                <a:ea typeface="Inter"/>
                <a:cs typeface="Inter"/>
                <a:sym typeface="Inter"/>
              </a:rPr>
              <a:t>Anomalías de serialización</a:t>
            </a:r>
            <a:endParaRPr b="0" i="0" sz="2000" u="none" cap="none" strike="noStrike"/>
          </a:p>
        </p:txBody>
      </p:sp>
      <p:sp>
        <p:nvSpPr>
          <p:cNvPr id="307" name="Google Shape;307;p13"/>
          <p:cNvSpPr/>
          <p:nvPr/>
        </p:nvSpPr>
        <p:spPr>
          <a:xfrm>
            <a:off x="937498" y="5679996"/>
            <a:ext cx="3317081" cy="1653183"/>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272525"/>
              </a:buClr>
              <a:buSzPts val="1600"/>
              <a:buFont typeface="Inter"/>
              <a:buNone/>
            </a:pPr>
            <a:r>
              <a:rPr b="0" i="0" lang="en-US" sz="1600" u="none" cap="none" strike="noStrike">
                <a:solidFill>
                  <a:srgbClr val="272525"/>
                </a:solidFill>
                <a:latin typeface="Inter"/>
                <a:ea typeface="Inter"/>
                <a:cs typeface="Inter"/>
                <a:sym typeface="Inter"/>
              </a:rPr>
              <a:t>Reconocer situaciones donde el orden de ejecución de las transacciones no se respeta, generando resultados inconsistentes.</a:t>
            </a:r>
            <a:endParaRPr b="0" i="0" sz="1600" u="none" cap="none" strike="noStrike"/>
          </a:p>
        </p:txBody>
      </p:sp>
      <p:sp>
        <p:nvSpPr>
          <p:cNvPr id="308" name="Google Shape;308;p13"/>
          <p:cNvSpPr/>
          <p:nvPr/>
        </p:nvSpPr>
        <p:spPr>
          <a:xfrm>
            <a:off x="4675346" y="5018961"/>
            <a:ext cx="3745468" cy="2528411"/>
          </a:xfrm>
          <a:prstGeom prst="roundRect">
            <a:avLst>
              <a:gd fmla="val 3433"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3"/>
          <p:cNvSpPr/>
          <p:nvPr/>
        </p:nvSpPr>
        <p:spPr>
          <a:xfrm>
            <a:off x="4889540" y="5233154"/>
            <a:ext cx="2583418" cy="3228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000"/>
              <a:buFont typeface="Inter"/>
              <a:buNone/>
            </a:pPr>
            <a:r>
              <a:rPr b="1" i="0" lang="en-US" sz="2000" u="none" cap="none" strike="noStrike">
                <a:solidFill>
                  <a:srgbClr val="272525"/>
                </a:solidFill>
                <a:latin typeface="Inter"/>
                <a:ea typeface="Inter"/>
                <a:cs typeface="Inter"/>
                <a:sym typeface="Inter"/>
              </a:rPr>
              <a:t>Deadlocks</a:t>
            </a:r>
            <a:endParaRPr b="0" i="0" sz="2000" u="none" cap="none" strike="noStrike"/>
          </a:p>
        </p:txBody>
      </p:sp>
      <p:sp>
        <p:nvSpPr>
          <p:cNvPr id="310" name="Google Shape;310;p13"/>
          <p:cNvSpPr/>
          <p:nvPr/>
        </p:nvSpPr>
        <p:spPr>
          <a:xfrm>
            <a:off x="4889540" y="5679996"/>
            <a:ext cx="3317081" cy="1322546"/>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272525"/>
              </a:buClr>
              <a:buSzPts val="1600"/>
              <a:buFont typeface="Inter"/>
              <a:buNone/>
            </a:pPr>
            <a:r>
              <a:rPr b="0" i="0" lang="en-US" sz="1600" u="none" cap="none" strike="noStrike">
                <a:solidFill>
                  <a:srgbClr val="272525"/>
                </a:solidFill>
                <a:latin typeface="Inter"/>
                <a:ea typeface="Inter"/>
                <a:cs typeface="Inter"/>
                <a:sym typeface="Inter"/>
              </a:rPr>
              <a:t>Identificar ciclos de bloqueo donde las transacciones se esperan mutuamente, provocando que el sistema se detenga.</a:t>
            </a:r>
            <a:endParaRPr b="0" i="0" sz="160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4"/>
          <p:cNvSpPr/>
          <p:nvPr/>
        </p:nvSpPr>
        <p:spPr>
          <a:xfrm>
            <a:off x="793790" y="1826776"/>
            <a:ext cx="12008048"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Manejo de concurrencia: soluciones prácticas</a:t>
            </a:r>
            <a:endParaRPr b="0" i="0" sz="4450" u="none" cap="none" strike="noStrike"/>
          </a:p>
        </p:txBody>
      </p:sp>
      <p:sp>
        <p:nvSpPr>
          <p:cNvPr id="317" name="Google Shape;317;p14"/>
          <p:cNvSpPr/>
          <p:nvPr/>
        </p:nvSpPr>
        <p:spPr>
          <a:xfrm>
            <a:off x="793790" y="2989183"/>
            <a:ext cx="130428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Para manejar eficazmente los problemas de concurrencia en sistemas de bases de datos, se deben implementar soluciones prácticas que aborden los desafíos clave. Esto incluye </a:t>
            </a:r>
            <a:r>
              <a:rPr b="1" i="0" lang="en-US" sz="1750" u="none" cap="none" strike="noStrike">
                <a:solidFill>
                  <a:srgbClr val="272525"/>
                </a:solidFill>
                <a:latin typeface="Inter"/>
                <a:ea typeface="Inter"/>
                <a:cs typeface="Inter"/>
                <a:sym typeface="Inter"/>
              </a:rPr>
              <a:t>técnicas de bloqueo</a:t>
            </a:r>
            <a:r>
              <a:rPr b="0" i="0" lang="en-US" sz="1750" u="none" cap="none" strike="noStrike">
                <a:solidFill>
                  <a:srgbClr val="272525"/>
                </a:solidFill>
                <a:latin typeface="Inter"/>
                <a:ea typeface="Inter"/>
                <a:cs typeface="Inter"/>
                <a:sym typeface="Inter"/>
              </a:rPr>
              <a:t> para controlar el acceso concurrente a los recursos compartidos, así como </a:t>
            </a:r>
            <a:r>
              <a:rPr b="1" i="0" lang="en-US" sz="1750" u="none" cap="none" strike="noStrike">
                <a:solidFill>
                  <a:srgbClr val="272525"/>
                </a:solidFill>
                <a:latin typeface="Inter"/>
                <a:ea typeface="Inter"/>
                <a:cs typeface="Inter"/>
                <a:sym typeface="Inter"/>
              </a:rPr>
              <a:t>mecanismos de detección y resolución de deadlocks</a:t>
            </a:r>
            <a:r>
              <a:rPr b="0" i="0" lang="en-US" sz="1750" u="none" cap="none" strike="noStrike">
                <a:solidFill>
                  <a:srgbClr val="272525"/>
                </a:solidFill>
                <a:latin typeface="Inter"/>
                <a:ea typeface="Inter"/>
                <a:cs typeface="Inter"/>
                <a:sym typeface="Inter"/>
              </a:rPr>
              <a:t> para evitar bloqueos permanentes.</a:t>
            </a:r>
            <a:endParaRPr b="0" i="0" sz="1750" u="none" cap="none" strike="noStrike"/>
          </a:p>
        </p:txBody>
      </p:sp>
      <p:sp>
        <p:nvSpPr>
          <p:cNvPr id="318" name="Google Shape;318;p14"/>
          <p:cNvSpPr/>
          <p:nvPr/>
        </p:nvSpPr>
        <p:spPr>
          <a:xfrm>
            <a:off x="793790" y="4333042"/>
            <a:ext cx="130428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Además, es crucial establecer </a:t>
            </a:r>
            <a:r>
              <a:rPr b="1" i="0" lang="en-US" sz="1750" u="none" cap="none" strike="noStrike">
                <a:solidFill>
                  <a:srgbClr val="272525"/>
                </a:solidFill>
                <a:latin typeface="Inter"/>
                <a:ea typeface="Inter"/>
                <a:cs typeface="Inter"/>
                <a:sym typeface="Inter"/>
              </a:rPr>
              <a:t>niveles de aislamiento adecuados</a:t>
            </a:r>
            <a:r>
              <a:rPr b="0" i="0" lang="en-US" sz="1750" u="none" cap="none" strike="noStrike">
                <a:solidFill>
                  <a:srgbClr val="272525"/>
                </a:solidFill>
                <a:latin typeface="Inter"/>
                <a:ea typeface="Inter"/>
                <a:cs typeface="Inter"/>
                <a:sym typeface="Inter"/>
              </a:rPr>
              <a:t> entre las transacciones para garantizar la integridad de los datos, sin comprometer el rendimiento. Herramientas como </a:t>
            </a:r>
            <a:r>
              <a:rPr b="1" i="0" lang="en-US" sz="1750" u="none" cap="none" strike="noStrike">
                <a:solidFill>
                  <a:srgbClr val="272525"/>
                </a:solidFill>
                <a:latin typeface="Inter"/>
                <a:ea typeface="Inter"/>
                <a:cs typeface="Inter"/>
                <a:sym typeface="Inter"/>
              </a:rPr>
              <a:t>puntos de guardado y rollbacks</a:t>
            </a:r>
            <a:r>
              <a:rPr b="0" i="0" lang="en-US" sz="1750" u="none" cap="none" strike="noStrike">
                <a:solidFill>
                  <a:srgbClr val="272525"/>
                </a:solidFill>
                <a:latin typeface="Inter"/>
                <a:ea typeface="Inter"/>
                <a:cs typeface="Inter"/>
                <a:sym typeface="Inter"/>
              </a:rPr>
              <a:t> permiten recuperar transacciones fallidas de manera eficiente.</a:t>
            </a:r>
            <a:endParaRPr b="0" i="0" sz="1750" u="none" cap="none" strike="noStrike"/>
          </a:p>
        </p:txBody>
      </p:sp>
      <p:sp>
        <p:nvSpPr>
          <p:cNvPr id="319" name="Google Shape;319;p14"/>
          <p:cNvSpPr/>
          <p:nvPr/>
        </p:nvSpPr>
        <p:spPr>
          <a:xfrm>
            <a:off x="793790" y="5676900"/>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Finalmente, la </a:t>
            </a:r>
            <a:r>
              <a:rPr b="1" i="0" lang="en-US" sz="1750" u="none" cap="none" strike="noStrike">
                <a:solidFill>
                  <a:srgbClr val="272525"/>
                </a:solidFill>
                <a:latin typeface="Inter"/>
                <a:ea typeface="Inter"/>
                <a:cs typeface="Inter"/>
                <a:sym typeface="Inter"/>
              </a:rPr>
              <a:t>optimización del rendimiento</a:t>
            </a:r>
            <a:r>
              <a:rPr b="0" i="0" lang="en-US" sz="1750" u="none" cap="none" strike="noStrike">
                <a:solidFill>
                  <a:srgbClr val="272525"/>
                </a:solidFill>
                <a:latin typeface="Inter"/>
                <a:ea typeface="Inter"/>
                <a:cs typeface="Inter"/>
                <a:sym typeface="Inter"/>
              </a:rPr>
              <a:t> a través de técnicas como la indexación y la planificación de consultas es fundamental para garantizar una alta disponibilidad y capacidad de respuesta en entornos con alta concurrencia.</a:t>
            </a:r>
            <a:endParaRPr b="0" i="0" sz="1750"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5"/>
          <p:cNvSpPr/>
          <p:nvPr/>
        </p:nvSpPr>
        <p:spPr>
          <a:xfrm>
            <a:off x="611862" y="521613"/>
            <a:ext cx="6830973" cy="546259"/>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000000"/>
              </a:buClr>
              <a:buSzPts val="3400"/>
              <a:buFont typeface="Inter"/>
              <a:buNone/>
            </a:pPr>
            <a:r>
              <a:rPr b="1" i="0" lang="en-US" sz="3400" u="none" cap="none" strike="noStrike">
                <a:solidFill>
                  <a:srgbClr val="000000"/>
                </a:solidFill>
                <a:latin typeface="Inter"/>
                <a:ea typeface="Inter"/>
                <a:cs typeface="Inter"/>
                <a:sym typeface="Inter"/>
              </a:rPr>
              <a:t>Conclusiones y recomendaciones</a:t>
            </a:r>
            <a:endParaRPr b="0" i="0" sz="3400" u="none" cap="none" strike="noStrike"/>
          </a:p>
        </p:txBody>
      </p:sp>
      <p:pic>
        <p:nvPicPr>
          <p:cNvPr descr="preencoded.png" id="326" name="Google Shape;326;p15"/>
          <p:cNvPicPr preferRelativeResize="0"/>
          <p:nvPr/>
        </p:nvPicPr>
        <p:blipFill rotWithShape="1">
          <a:blip r:embed="rId3">
            <a:alphaModFix/>
          </a:blip>
          <a:srcRect b="0" l="0" r="0" t="0"/>
          <a:stretch/>
        </p:blipFill>
        <p:spPr>
          <a:xfrm>
            <a:off x="611862" y="1417439"/>
            <a:ext cx="4294108" cy="2653903"/>
          </a:xfrm>
          <a:prstGeom prst="rect">
            <a:avLst/>
          </a:prstGeom>
          <a:noFill/>
          <a:ln>
            <a:noFill/>
          </a:ln>
        </p:spPr>
      </p:pic>
      <p:sp>
        <p:nvSpPr>
          <p:cNvPr id="327" name="Google Shape;327;p15"/>
          <p:cNvSpPr/>
          <p:nvPr/>
        </p:nvSpPr>
        <p:spPr>
          <a:xfrm>
            <a:off x="611862" y="4289822"/>
            <a:ext cx="2185511" cy="273248"/>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272525"/>
              </a:buClr>
              <a:buSzPts val="1700"/>
              <a:buFont typeface="Inter"/>
              <a:buNone/>
            </a:pPr>
            <a:r>
              <a:rPr b="1" i="0" lang="en-US" sz="1700" u="none" cap="none" strike="noStrike">
                <a:solidFill>
                  <a:srgbClr val="272525"/>
                </a:solidFill>
                <a:latin typeface="Inter"/>
                <a:ea typeface="Inter"/>
                <a:cs typeface="Inter"/>
                <a:sym typeface="Inter"/>
              </a:rPr>
              <a:t>Conclusiones Clave</a:t>
            </a:r>
            <a:endParaRPr b="0" i="0" sz="1700" u="none" cap="none" strike="noStrike"/>
          </a:p>
        </p:txBody>
      </p:sp>
      <p:sp>
        <p:nvSpPr>
          <p:cNvPr id="328" name="Google Shape;328;p15"/>
          <p:cNvSpPr/>
          <p:nvPr/>
        </p:nvSpPr>
        <p:spPr>
          <a:xfrm>
            <a:off x="611862" y="4667964"/>
            <a:ext cx="4294108" cy="1118235"/>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La gestión efectiva de la concurrencia y la optimización de transacciones son fundamentales para garantizar la integridad y el rendimiento de los sistemas de bases de datos.</a:t>
            </a:r>
            <a:endParaRPr b="0" i="0" sz="1350" u="none" cap="none" strike="noStrike"/>
          </a:p>
        </p:txBody>
      </p:sp>
      <p:pic>
        <p:nvPicPr>
          <p:cNvPr descr="preencoded.png" id="329" name="Google Shape;329;p15"/>
          <p:cNvPicPr preferRelativeResize="0"/>
          <p:nvPr/>
        </p:nvPicPr>
        <p:blipFill rotWithShape="1">
          <a:blip r:embed="rId4">
            <a:alphaModFix/>
          </a:blip>
          <a:srcRect b="0" l="0" r="0" t="0"/>
          <a:stretch/>
        </p:blipFill>
        <p:spPr>
          <a:xfrm>
            <a:off x="5168146" y="1417439"/>
            <a:ext cx="4294108" cy="2653903"/>
          </a:xfrm>
          <a:prstGeom prst="rect">
            <a:avLst/>
          </a:prstGeom>
          <a:noFill/>
          <a:ln>
            <a:noFill/>
          </a:ln>
        </p:spPr>
      </p:pic>
      <p:sp>
        <p:nvSpPr>
          <p:cNvPr id="330" name="Google Shape;330;p15"/>
          <p:cNvSpPr/>
          <p:nvPr/>
        </p:nvSpPr>
        <p:spPr>
          <a:xfrm>
            <a:off x="5168146" y="4289822"/>
            <a:ext cx="2863810" cy="273248"/>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272525"/>
              </a:buClr>
              <a:buSzPts val="1700"/>
              <a:buFont typeface="Inter"/>
              <a:buNone/>
            </a:pPr>
            <a:r>
              <a:rPr b="1" i="0" lang="en-US" sz="1700" u="none" cap="none" strike="noStrike">
                <a:solidFill>
                  <a:srgbClr val="272525"/>
                </a:solidFill>
                <a:latin typeface="Inter"/>
                <a:ea typeface="Inter"/>
                <a:cs typeface="Inter"/>
                <a:sym typeface="Inter"/>
              </a:rPr>
              <a:t>Recomendaciones Prácticas</a:t>
            </a:r>
            <a:endParaRPr b="0" i="0" sz="1700" u="none" cap="none" strike="noStrike"/>
          </a:p>
        </p:txBody>
      </p:sp>
      <p:sp>
        <p:nvSpPr>
          <p:cNvPr id="331" name="Google Shape;331;p15"/>
          <p:cNvSpPr/>
          <p:nvPr/>
        </p:nvSpPr>
        <p:spPr>
          <a:xfrm>
            <a:off x="5168146" y="4667964"/>
            <a:ext cx="4294108" cy="559118"/>
          </a:xfrm>
          <a:prstGeom prst="rect">
            <a:avLst/>
          </a:prstGeom>
          <a:noFill/>
          <a:ln>
            <a:noFill/>
          </a:ln>
        </p:spPr>
        <p:txBody>
          <a:bodyPr anchorCtr="0" anchor="t" bIns="0" lIns="0" spcFirstLastPara="1" rIns="0" wrap="square" tIns="0">
            <a:noAutofit/>
          </a:bodyPr>
          <a:lstStyle/>
          <a:p>
            <a:pPr indent="-342900" lvl="0" marL="342900" marR="0" rtl="0" algn="l">
              <a:lnSpc>
                <a:spcPct val="162962"/>
              </a:lnSpc>
              <a:spcBef>
                <a:spcPts val="0"/>
              </a:spcBef>
              <a:spcAft>
                <a:spcPts val="0"/>
              </a:spcAft>
              <a:buClr>
                <a:srgbClr val="272525"/>
              </a:buClr>
              <a:buSzPts val="1350"/>
              <a:buFont typeface="Inter"/>
              <a:buChar char="•"/>
            </a:pPr>
            <a:r>
              <a:rPr b="0" i="0" lang="en-US" sz="1350" u="none" cap="none" strike="noStrike">
                <a:solidFill>
                  <a:srgbClr val="272525"/>
                </a:solidFill>
                <a:latin typeface="Inter"/>
                <a:ea typeface="Inter"/>
                <a:cs typeface="Inter"/>
                <a:sym typeface="Inter"/>
              </a:rPr>
              <a:t>Implementar técnicas de control de concurrencia como bloqueos y control de tiempo de acceso</a:t>
            </a:r>
            <a:endParaRPr b="0" i="0" sz="1350" u="none" cap="none" strike="noStrike"/>
          </a:p>
        </p:txBody>
      </p:sp>
      <p:sp>
        <p:nvSpPr>
          <p:cNvPr id="332" name="Google Shape;332;p15"/>
          <p:cNvSpPr/>
          <p:nvPr/>
        </p:nvSpPr>
        <p:spPr>
          <a:xfrm>
            <a:off x="5168146" y="5288161"/>
            <a:ext cx="4294108" cy="559118"/>
          </a:xfrm>
          <a:prstGeom prst="rect">
            <a:avLst/>
          </a:prstGeom>
          <a:noFill/>
          <a:ln>
            <a:noFill/>
          </a:ln>
        </p:spPr>
        <p:txBody>
          <a:bodyPr anchorCtr="0" anchor="t" bIns="0" lIns="0" spcFirstLastPara="1" rIns="0" wrap="square" tIns="0">
            <a:noAutofit/>
          </a:bodyPr>
          <a:lstStyle/>
          <a:p>
            <a:pPr indent="-342900" lvl="0" marL="342900" marR="0" rtl="0" algn="l">
              <a:lnSpc>
                <a:spcPct val="162962"/>
              </a:lnSpc>
              <a:spcBef>
                <a:spcPts val="0"/>
              </a:spcBef>
              <a:spcAft>
                <a:spcPts val="0"/>
              </a:spcAft>
              <a:buClr>
                <a:srgbClr val="272525"/>
              </a:buClr>
              <a:buSzPts val="1350"/>
              <a:buFont typeface="Inter"/>
              <a:buChar char="•"/>
            </a:pPr>
            <a:r>
              <a:rPr b="0" i="0" lang="en-US" sz="1350" u="none" cap="none" strike="noStrike">
                <a:solidFill>
                  <a:srgbClr val="272525"/>
                </a:solidFill>
                <a:latin typeface="Inter"/>
                <a:ea typeface="Inter"/>
                <a:cs typeface="Inter"/>
                <a:sym typeface="Inter"/>
              </a:rPr>
              <a:t>Ajustar los niveles de aislamiento según los requisitos del negocio</a:t>
            </a:r>
            <a:endParaRPr b="0" i="0" sz="1350" u="none" cap="none" strike="noStrike"/>
          </a:p>
        </p:txBody>
      </p:sp>
      <p:sp>
        <p:nvSpPr>
          <p:cNvPr id="333" name="Google Shape;333;p15"/>
          <p:cNvSpPr/>
          <p:nvPr/>
        </p:nvSpPr>
        <p:spPr>
          <a:xfrm>
            <a:off x="5168146" y="5908358"/>
            <a:ext cx="4294108" cy="559118"/>
          </a:xfrm>
          <a:prstGeom prst="rect">
            <a:avLst/>
          </a:prstGeom>
          <a:noFill/>
          <a:ln>
            <a:noFill/>
          </a:ln>
        </p:spPr>
        <p:txBody>
          <a:bodyPr anchorCtr="0" anchor="t" bIns="0" lIns="0" spcFirstLastPara="1" rIns="0" wrap="square" tIns="0">
            <a:noAutofit/>
          </a:bodyPr>
          <a:lstStyle/>
          <a:p>
            <a:pPr indent="-342900" lvl="0" marL="342900" marR="0" rtl="0" algn="l">
              <a:lnSpc>
                <a:spcPct val="162962"/>
              </a:lnSpc>
              <a:spcBef>
                <a:spcPts val="0"/>
              </a:spcBef>
              <a:spcAft>
                <a:spcPts val="0"/>
              </a:spcAft>
              <a:buClr>
                <a:srgbClr val="272525"/>
              </a:buClr>
              <a:buSzPts val="1350"/>
              <a:buFont typeface="Inter"/>
              <a:buChar char="•"/>
            </a:pPr>
            <a:r>
              <a:rPr b="0" i="0" lang="en-US" sz="1350" u="none" cap="none" strike="noStrike">
                <a:solidFill>
                  <a:srgbClr val="272525"/>
                </a:solidFill>
                <a:latin typeface="Inter"/>
                <a:ea typeface="Inter"/>
                <a:cs typeface="Inter"/>
                <a:sym typeface="Inter"/>
              </a:rPr>
              <a:t>Utilizar puntos de guardado y rollbacks para la recuperación de transacciones</a:t>
            </a:r>
            <a:endParaRPr b="0" i="0" sz="1350" u="none" cap="none" strike="noStrike"/>
          </a:p>
        </p:txBody>
      </p:sp>
      <p:sp>
        <p:nvSpPr>
          <p:cNvPr id="334" name="Google Shape;334;p15"/>
          <p:cNvSpPr/>
          <p:nvPr/>
        </p:nvSpPr>
        <p:spPr>
          <a:xfrm>
            <a:off x="5168146" y="6528554"/>
            <a:ext cx="4294108" cy="559118"/>
          </a:xfrm>
          <a:prstGeom prst="rect">
            <a:avLst/>
          </a:prstGeom>
          <a:noFill/>
          <a:ln>
            <a:noFill/>
          </a:ln>
        </p:spPr>
        <p:txBody>
          <a:bodyPr anchorCtr="0" anchor="t" bIns="0" lIns="0" spcFirstLastPara="1" rIns="0" wrap="square" tIns="0">
            <a:noAutofit/>
          </a:bodyPr>
          <a:lstStyle/>
          <a:p>
            <a:pPr indent="-342900" lvl="0" marL="342900" marR="0" rtl="0" algn="l">
              <a:lnSpc>
                <a:spcPct val="162962"/>
              </a:lnSpc>
              <a:spcBef>
                <a:spcPts val="0"/>
              </a:spcBef>
              <a:spcAft>
                <a:spcPts val="0"/>
              </a:spcAft>
              <a:buClr>
                <a:srgbClr val="272525"/>
              </a:buClr>
              <a:buSzPts val="1350"/>
              <a:buFont typeface="Inter"/>
              <a:buChar char="•"/>
            </a:pPr>
            <a:r>
              <a:rPr b="0" i="0" lang="en-US" sz="1350" u="none" cap="none" strike="noStrike">
                <a:solidFill>
                  <a:srgbClr val="272525"/>
                </a:solidFill>
                <a:latin typeface="Inter"/>
                <a:ea typeface="Inter"/>
                <a:cs typeface="Inter"/>
                <a:sym typeface="Inter"/>
              </a:rPr>
              <a:t>Optimizar el diseño de las transacciones para mejorar el rendimiento</a:t>
            </a:r>
            <a:endParaRPr b="0" i="0" sz="1350" u="none" cap="none" strike="noStrike"/>
          </a:p>
        </p:txBody>
      </p:sp>
      <p:sp>
        <p:nvSpPr>
          <p:cNvPr id="335" name="Google Shape;335;p15"/>
          <p:cNvSpPr/>
          <p:nvPr/>
        </p:nvSpPr>
        <p:spPr>
          <a:xfrm>
            <a:off x="5168146" y="7148751"/>
            <a:ext cx="4294108" cy="559118"/>
          </a:xfrm>
          <a:prstGeom prst="rect">
            <a:avLst/>
          </a:prstGeom>
          <a:noFill/>
          <a:ln>
            <a:noFill/>
          </a:ln>
        </p:spPr>
        <p:txBody>
          <a:bodyPr anchorCtr="0" anchor="t" bIns="0" lIns="0" spcFirstLastPara="1" rIns="0" wrap="square" tIns="0">
            <a:noAutofit/>
          </a:bodyPr>
          <a:lstStyle/>
          <a:p>
            <a:pPr indent="-342900" lvl="0" marL="342900" marR="0" rtl="0" algn="l">
              <a:lnSpc>
                <a:spcPct val="162962"/>
              </a:lnSpc>
              <a:spcBef>
                <a:spcPts val="0"/>
              </a:spcBef>
              <a:spcAft>
                <a:spcPts val="0"/>
              </a:spcAft>
              <a:buClr>
                <a:srgbClr val="272525"/>
              </a:buClr>
              <a:buSzPts val="1350"/>
              <a:buFont typeface="Inter"/>
              <a:buChar char="•"/>
            </a:pPr>
            <a:r>
              <a:rPr b="0" i="0" lang="en-US" sz="1350" u="none" cap="none" strike="noStrike">
                <a:solidFill>
                  <a:srgbClr val="272525"/>
                </a:solidFill>
                <a:latin typeface="Inter"/>
                <a:ea typeface="Inter"/>
                <a:cs typeface="Inter"/>
                <a:sym typeface="Inter"/>
              </a:rPr>
              <a:t>Abordar los desafíos de las transacciones distribuidas de manera coordinada</a:t>
            </a:r>
            <a:endParaRPr b="0" i="0" sz="1350" u="none" cap="none" strike="noStrike"/>
          </a:p>
        </p:txBody>
      </p:sp>
      <p:pic>
        <p:nvPicPr>
          <p:cNvPr descr="preencoded.png" id="336" name="Google Shape;336;p15"/>
          <p:cNvPicPr preferRelativeResize="0"/>
          <p:nvPr/>
        </p:nvPicPr>
        <p:blipFill rotWithShape="1">
          <a:blip r:embed="rId5">
            <a:alphaModFix/>
          </a:blip>
          <a:srcRect b="0" l="0" r="0" t="0"/>
          <a:stretch/>
        </p:blipFill>
        <p:spPr>
          <a:xfrm>
            <a:off x="9724430" y="1417439"/>
            <a:ext cx="4294108" cy="2653903"/>
          </a:xfrm>
          <a:prstGeom prst="rect">
            <a:avLst/>
          </a:prstGeom>
          <a:noFill/>
          <a:ln>
            <a:noFill/>
          </a:ln>
        </p:spPr>
      </p:pic>
      <p:sp>
        <p:nvSpPr>
          <p:cNvPr id="337" name="Google Shape;337;p15"/>
          <p:cNvSpPr/>
          <p:nvPr/>
        </p:nvSpPr>
        <p:spPr>
          <a:xfrm>
            <a:off x="9724430" y="4289822"/>
            <a:ext cx="2185511" cy="273248"/>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272525"/>
              </a:buClr>
              <a:buSzPts val="1700"/>
              <a:buFont typeface="Inter"/>
              <a:buNone/>
            </a:pPr>
            <a:r>
              <a:rPr b="1" i="0" lang="en-US" sz="1700" u="none" cap="none" strike="noStrike">
                <a:solidFill>
                  <a:srgbClr val="272525"/>
                </a:solidFill>
                <a:latin typeface="Inter"/>
                <a:ea typeface="Inter"/>
                <a:cs typeface="Inter"/>
                <a:sym typeface="Inter"/>
              </a:rPr>
              <a:t>Resumen</a:t>
            </a:r>
            <a:endParaRPr b="0" i="0" sz="1700" u="none" cap="none" strike="noStrike"/>
          </a:p>
        </p:txBody>
      </p:sp>
      <p:sp>
        <p:nvSpPr>
          <p:cNvPr id="338" name="Google Shape;338;p15"/>
          <p:cNvSpPr/>
          <p:nvPr/>
        </p:nvSpPr>
        <p:spPr>
          <a:xfrm>
            <a:off x="9724430" y="4667964"/>
            <a:ext cx="4294108" cy="1118235"/>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Al aplicar estas estrategias, los sistemas de bases de datos podrán mantener la integridad de los datos y ofrecer un rendimiento óptimo, satisfaciendo las necesidades de los usuarios finales.</a:t>
            </a:r>
            <a:endParaRPr b="0" i="0" sz="13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2024-11-05T06:50:02Z</dcterms:created>
  <dc:creator>PptxGenJS</dc:creator>
</cp:coreProperties>
</file>