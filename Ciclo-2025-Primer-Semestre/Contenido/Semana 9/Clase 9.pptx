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iXrO9B1bRDPpMpY8dv5ViYLMMf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226CCB-80D2-46E3-A92A-0FA83CC9D811}">
  <a:tblStyle styleId="{82226CCB-80D2-46E3-A92A-0FA83CC9D81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3802" y="-2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{82226CCB-80D2-46E3-A92A-0FA83CC9D811}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Miercoles, 24 de Septiembre de 2025</a:t>
                      </a:r>
                      <a:endParaRPr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17:20</a:t>
                      </a:r>
                      <a:endParaRPr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5" y="4512775"/>
            <a:ext cx="134011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971775" y="5807200"/>
            <a:ext cx="1099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Emiliano Velasquez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7786" l="0" r="0" t="778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352"/>
              </a:srgbClr>
            </a:solid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5481642" y="4371352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9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800373" y="8277816"/>
            <a:ext cx="7005985" cy="363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5481642" y="4371352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MODELADO E IMPLEMENTACIÓN DE BASES CLAVE-VALOR CON REDIS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09" name="Google Shape;109;p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10" name="Google Shape;110;p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Introducción a las bases de datos clave-valor y Redis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Instalación y configuración de Redis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Estructuras de datos en Redis: Clave y String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Estructuras avanzadas: Hash, List, Set y Sorted Set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Pub/Sub y manejo de transacciones en Redis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Optimización y buenas prácticas en Redis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Ejemplos prácticos de modelado y aplicaciones con Redis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19" name="Google Shape;119;p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20" name="Google Shape;120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UNA BASE CLAVE-VALOR?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Estructura básica: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🔑 Clave (key) → 🧾 Valor (value)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 comporta como un diccionario o tabla hash.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existe un esquema predefinido.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Acceso directo a los datos por clave, sin necesidad de recorrer toda la base.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"usuario:1234" → {nombre: "Ana", puntos: 45}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29" name="Google Shape;129;p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30" name="Google Shape;130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6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DEL MODELO CLAVE-VALOR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1302806" y="3579877"/>
            <a:ext cx="6036000" cy="2384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Acceso ultra rápido a datos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almacenamiento en caché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fácil de distribuir horizontalmente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Modelo simple pero poderoso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Ideal cuando no necesitas relaciones complejas ni consultas cruzadas.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39" name="Google Shape;139;p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40" name="Google Shape;140;p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REDIS?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🟥 Redis = Remote Dictionary Server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Base de datos clave-valor en memoria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Muy rápida, escrita en C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Soporta múltiples tipos de datos: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Cadenas, listas, conjuntos, hashes, streams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 usa también como: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Caché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Cola de mensajes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Contador distribuido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Open-source, con versión comercial (Redis Enterprise)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50" name="Google Shape;150;p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 COMUNES DE REDIS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Sesiones de usuario (autenticación)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Contadores de visitas o likes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Almacenamiento temporal de resultados (caché)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Sistemas de recomendaciones con ranking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Chat o mensajería en tiempo real (streams)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Empresas como Twitter, GitHub y StackOverflow lo utilizan.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59" name="Google Shape;159;p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60" name="Google Shape;160;p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DE USO BÁSICO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Iniciar Redis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redis-server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Conectarse a Redis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redis-cli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Almacenar y recuperar un valor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usuario:1001 "Pedro"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GET usuario:1001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5481642" y="3855388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INSTALACIÓN Y CONFIGURACIÓN DE REDIS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75" name="Google Shape;175;p1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REQUISITOS PREVIOS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1302806" y="3579877"/>
            <a:ext cx="6036000" cy="2384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Tener instalado: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Terminal o consola (CMD, PowerShell, Bash)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Docker (opcional, pero recomendado)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Git (opcional, para clonar ejemplos)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Conexión a internet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Redis es muy liviano: menos de 10 MB.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84" name="Google Shape;184;p1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85" name="Google Shape;185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2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INSTALACIÓN EN LINUX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1302806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Actualizar paquetes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sudo apt update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Instalar Redis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sudo apt install redis-server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Verificar instalación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redis-cli ping  # Debe devolver: PONG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94" name="Google Shape;194;p1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95" name="Google Shape;195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3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INSTALACIÓN EN WINDOWS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 no tiene soporte nativo oficial para Windows. Dos alternativas: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Opción 1: WSL (Windows Subsystem for Linux)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Instalar Redis dentro de Ubuntu para WSL como si fuera Linux.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Opción 2: Docker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docker run --name redis -p 6379:6379 -d redis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05" name="Google Shape;205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VERIFICACIÓN DE INSTALACIÓN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1302806" y="3579877"/>
            <a:ext cx="6036000" cy="2041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Iniciar cliente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redis-cli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Comandos básicos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hola "mundo"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GET hola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14" name="Google Shape;214;p1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15" name="Google Shape;215;p1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ARCHIVO DE CONFIGURACIÓN REDIS.CONF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📂 Ubicación común: /etc/redis/redis.conf (Linux)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Parámetros clave: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bind 127.0.0.1 – define desde qué IPs se permite conexión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protected-mode yes – bloquea conexiones externas sin contraseña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requirepass – agrega autenticación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appendonly yes – activa persistencia en disco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Edita y reinicia Redis para aplicar cambios: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sudo systemctl restart redis.service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/>
        </p:nvSpPr>
        <p:spPr>
          <a:xfrm>
            <a:off x="5481642" y="3855388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REDIS: CLAVES Y STRINGS COMO ESTRUCTURA DE DATOS BASE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1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30" name="Google Shape;230;p1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UNA CLAVE EN REDIS?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🔑 En Redis, toda estructura comienza con una clave única que sirve para: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Identificar un dato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Asociarlo con un valor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Organizar información por nombres o patrones (user:1, product:42)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Las claves son cadenas de texto (máx. 512 MB) y se acceden en O(1) (tiempo constante).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40" name="Google Shape;240;p1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UN STRING EN REDIS?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1464045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🧾 El tipo más básico y común de valor en Redis.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Puede almacenar: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Texto plano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Números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JSON, XML u otros formatos serializados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Binarios (hasta 512 MB por string)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Redis trata strings como valores atómicos, pero también permite operaciones con ellos.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50" name="Google Shape;250;p1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11879458" y="48133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COMANDOS BÁSICOS CON STRINGS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464045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Crear o modificar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nombre "Carlos"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Leer valor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GET nombre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Verificar existencia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EXISTS nombre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Borrar clave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DEL nombre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59" name="Google Shape;259;p2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60" name="Google Shape;260;p2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0"/>
          <p:cNvSpPr txBox="1"/>
          <p:nvPr/>
        </p:nvSpPr>
        <p:spPr>
          <a:xfrm>
            <a:off x="11879458" y="48133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ADICIONALES CON STRINGS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464045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Concatenar o sobrescribir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APPEND nombre " Pérez"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Incrementar valor numérico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INCR visitas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Establecer expiración (TTL)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temporal "datos" EX 60  # Expira en 60 segundo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2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69" name="Google Shape;269;p2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70" name="Google Shape;270;p2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21"/>
          <p:cNvSpPr txBox="1"/>
          <p:nvPr/>
        </p:nvSpPr>
        <p:spPr>
          <a:xfrm>
            <a:off x="11879458" y="48133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BUENAS PRÁCTICAS CON CLAVES Y STRINGS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464045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Usar prefijos jerárquicos: user:1001:name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Evitar claves demasiado largas o genéricas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Cuidar el uso de INCR con valores no numéricos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Usar TTL para valores temporales o caducables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Redis es eficiente, pero no persistente por defecto, así que los TTL pueden evitar acumulación.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 txBox="1"/>
          <p:nvPr/>
        </p:nvSpPr>
        <p:spPr>
          <a:xfrm>
            <a:off x="5481642" y="3855388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ESTRUCTURAS AVANZADAS EN REDIS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84" name="Google Shape;284;p2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85" name="Google Shape;285;p2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23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 HASH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302806" y="357987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Estructura de tipo diccionario dentro de una clave.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representar objetos (como JSON):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HMSET user:1001 name "Ana" age "30"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HGETALL user:1001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HGET user:1001 name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Aplicaciones: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Perfiles de usuario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Configuraciones agrupadas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Inventarios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2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94" name="Google Shape;294;p2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95" name="Google Shape;295;p2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2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 LIST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302806" y="3579877"/>
            <a:ext cx="6036000" cy="5127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Lista enlazada de valores ordenados (puede contener duplicados).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Operaciones principales: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LPUSH tareas "limpiar"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RPUSH tareas "estudiar"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LRANGE tareas 0 -1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LPOP tareas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Aplicaciones: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Colas FIFO/LIFO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Historial de acciones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Feeds de noticias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2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04" name="Google Shape;304;p2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05" name="Google Shape;305;p2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25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 SET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Conjunto no ordenado y sin duplicados.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Operaciones comunes: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SADD amigos "Luis" "Sofi" "Ana"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SMEMBERS amigos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SISMEMBER amigos "Sofi"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Aplicaciones: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Intereses únicos de un usuario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Etiquetas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de recomendación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2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14" name="Google Shape;314;p2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15" name="Google Shape;315;p2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6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REDIS SORTED SET (ZSET)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1302806" y="357987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Conjunto ordenado por puntuación numérica (ranking).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Cada elemento tiene un score: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ZADD ranking 100 "Mario"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ZADD ranking 120 "Luis"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ZRANGE ranking 0 -1 WITHSCORES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Aplicaciones: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Clasificaciones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Reputación de usuarios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Juegos y competiciones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/>
        </p:nvSpPr>
        <p:spPr>
          <a:xfrm>
            <a:off x="5481642" y="3855388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PUB/SUB Y TRANSACCIONES EN REDIS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8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329" name="Google Shape;329;p2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30" name="Google Shape;330;p2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PUB/SUB EN REDIS?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302806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📢 Publicar/Suscribirse es un sistema de mensajería nativo en Redis: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Publisher: envía un mensaje a un canal.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Subscriber: escucha el canal y recibe el mensaje.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Comunicación asíncrona, en tiempo real, entre procesos o servicios.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2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39" name="Google Shape;339;p2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40" name="Google Shape;340;p2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2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COMANDOS PUB/SUB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1302806" y="3579877"/>
            <a:ext cx="6036000" cy="5127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Cliente 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SUBSCRIBE noticias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Cliente B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PUBLISH noticias "Redis es increíble"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Muchos clientes pueden suscribirse a un mismo canal.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No hay persistencia: si nadie escucha, el mensaje se pierde.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Usos: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Chats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Procesamiento en tiempo real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3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49" name="Google Shape;349;p3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50" name="Google Shape;350;p3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30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UNA TRANSACCIÓN EN REDIS?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🔒 Agrupación de comandos que se ejecutan de forma atómica.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Usos: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Evitar condiciones de carrera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Garantizar integridad mínima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MULTI        -- Inicia la transacción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clave1 "valor"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INCR contador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EXEC         -- Ejecuta todos juntos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3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59" name="Google Shape;359;p3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60" name="Google Shape;360;p3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31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CONDICIONALES CON WATCH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1189939" y="4624452"/>
            <a:ext cx="6036000" cy="1355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WATCH saldo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MULTI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DECR saldo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EXEC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/>
          <p:nvPr/>
        </p:nvSpPr>
        <p:spPr>
          <a:xfrm>
            <a:off x="5481642" y="3855388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OPTIMIZACIÓN Y BUENAS PRÁCTICAS EN REDIS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3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374" name="Google Shape;374;p3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75" name="Google Shape;375;p3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33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USO EFICIENTE DE TIPOS DE DATOS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1302806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 el tipo correcto para cada caso: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String: para valores simples o contadores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Hash: para representar objetos estructurados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List: para colas ordenadas (FIFO/LIFO)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y ZSet: para elementos únicos y rankings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Usar Hash en lugar de múltiples claves reduce consumo de memoria.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34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384" name="Google Shape;384;p3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85" name="Google Shape;385;p3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3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BUENAS PRÁCTICAS DE CLAVES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user:1001:name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user:1001:email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Agrupa lógicamente los datos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Facilita filtros y comandos masivos (SCAN, KEYS)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Evita claves muy largas o extremadamente genéricas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Prefiere SCAN en vez de KEYS en producción (más seguro y eficiente).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35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394" name="Google Shape;394;p3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395" name="Google Shape;395;p3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3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DE EXPIRACIÓN (TTL)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📆 Usa expiraciones para: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temporales (tokens, sesiones)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Contenido cacheado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Contadores por tiempo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token:abc123 "userID" EX 3600  # expira en 1h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Evita llenado innecesario de memoria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Usa EXPIRE, EX, TTL, PERSIST y revisa estadísticas con INFO memory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36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404" name="Google Shape;404;p3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05" name="Google Shape;405;p3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36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ESCALABILIDAD Y RENDIMIENTO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1302806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 Redis en modo clúster para alta disponibilidad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Apóyate en réplicas (replicaof) para balancear carga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 tu carga es intensa, evalúa usar pipeline para múltiples comandos: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redis-cli --pipe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37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414" name="Google Shape;414;p3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415" name="Google Shape;415;p3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 Y PERSISTENCIA</a:t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🔒 Recomendaciones: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Usa requirepass y desactiva CONFIG, FLUSHALL en producción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Limita acceso por IP (bind)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Activa solo los módulos necesarios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Elige persistencia según caso:</a:t>
            </a:r>
            <a:endParaRPr/>
          </a:p>
          <a:p>
            <a:pPr indent="-259085" lvl="2" marL="777256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⚬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RDB: snapshots programadas</a:t>
            </a:r>
            <a:endParaRPr/>
          </a:p>
          <a:p>
            <a:pPr indent="-259085" lvl="2" marL="777256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⚬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AOF: registro completo de comandos</a:t>
            </a:r>
            <a:endParaRPr/>
          </a:p>
          <a:p>
            <a:pPr indent="-259085" lvl="2" marL="777256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⚬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Ambos: para máxima seguridad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 txBox="1"/>
          <p:nvPr/>
        </p:nvSpPr>
        <p:spPr>
          <a:xfrm>
            <a:off x="5481642" y="3855388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PRACTICA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9"/>
          <p:cNvSpPr txBox="1"/>
          <p:nvPr/>
        </p:nvSpPr>
        <p:spPr>
          <a:xfrm>
            <a:off x="5481642" y="4741027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MUCHAS 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