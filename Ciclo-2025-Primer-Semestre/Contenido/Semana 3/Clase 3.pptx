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9" roundtripDataSignature="AMtx7mhYGVcLXxYFhrOrU04HE6LjQAPp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C8CA5A-B859-4F38-8122-63348678F1A7}">
  <a:tblStyle styleId="{D4C8CA5A-B859-4F38-8122-63348678F1A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3cc9fe9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63cc9fe9a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350227" y="-51277"/>
            <a:ext cx="18254198" cy="10287002"/>
          </a:xfrm>
          <a:custGeom>
            <a:rect b="b" l="l" r="r" t="t"/>
            <a:pathLst>
              <a:path extrusionOk="0"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2000"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p1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{D4C8CA5A-B859-4F38-8122-63348678F1A7}</a:tableStyleId>
              </a:tblPr>
              <a:tblGrid>
                <a:gridCol w="3030175"/>
                <a:gridCol w="4335825"/>
              </a:tblGrid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79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Miercoles, 6 de Agosto de 2025</a:t>
                      </a:r>
                      <a:endParaRPr sz="20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79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17:20</a:t>
                      </a:r>
                      <a:endParaRPr sz="20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"/>
          <p:cNvSpPr txBox="1"/>
          <p:nvPr/>
        </p:nvSpPr>
        <p:spPr>
          <a:xfrm>
            <a:off x="2971775" y="4512775"/>
            <a:ext cx="1340115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de Bases de Datos 2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2971775" y="5807200"/>
            <a:ext cx="109903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del Auxiliar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3cc9fe9a9_0_0"/>
          <p:cNvSpPr txBox="1"/>
          <p:nvPr/>
        </p:nvSpPr>
        <p:spPr>
          <a:xfrm>
            <a:off x="5481642" y="4371352"/>
            <a:ext cx="73248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67">
                <a:solidFill>
                  <a:srgbClr val="FFFFFF"/>
                </a:solidFill>
              </a:rPr>
              <a:t>DUDAS PRACTICA 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 b="7786" l="0" r="0" t="7786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" name="Google Shape;98;p2"/>
          <p:cNvGrpSpPr/>
          <p:nvPr/>
        </p:nvGrpSpPr>
        <p:grpSpPr>
          <a:xfrm>
            <a:off x="0" y="-144661"/>
            <a:ext cx="18288000" cy="10431661"/>
            <a:chOff x="0" y="-38100"/>
            <a:chExt cx="4816593" cy="2747433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82352"/>
              </a:srgbClr>
            </a:solidFill>
            <a:ln>
              <a:noFill/>
            </a:ln>
          </p:spPr>
        </p:sp>
        <p:sp>
          <p:nvSpPr>
            <p:cNvPr id="100" name="Google Shape;100;p2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5481642" y="4371352"/>
            <a:ext cx="7324716" cy="719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CLASE 3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5800373" y="8277816"/>
            <a:ext cx="7005985" cy="363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SISTEMAS DE BASES DE DATOS 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/>
        </p:nvSpPr>
        <p:spPr>
          <a:xfrm>
            <a:off x="5481642" y="4371352"/>
            <a:ext cx="7324716" cy="1458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ESTRATEGIAS DE RESPALDOS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4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4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14" name="Google Shape;114;p4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15" name="Google Shape;115;p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4"/>
          <p:cNvSpPr txBox="1"/>
          <p:nvPr/>
        </p:nvSpPr>
        <p:spPr>
          <a:xfrm>
            <a:off x="11750467" y="4470400"/>
            <a:ext cx="3931066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1141567" y="2805931"/>
            <a:ext cx="6036000" cy="5127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Introducción a los diferentes tipos de respaldo: completo, incremental y diferencial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Estrategias de respaldo según el tamaño y uso de la base de datos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Herramientas de respaldo: ventajas y desventajas de diferentes soluciones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Automatización de respaldos: creación de scripts para realizar respaldos regulares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Planificación de respaldos: cómo definir la frecuencia adecuada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Recuperación a partir de diferentes tipos de respaldos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Ejercicio práctico: implementación de un plan de respaldo en un entorno de prueba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" name="Google Shape;123;p5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24" name="Google Shape;124;p5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25" name="Google Shape;125;p5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5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¿POR QUÉ HACER RESPALDOS?</a:t>
            </a:r>
            <a:endParaRPr/>
          </a:p>
        </p:txBody>
      </p:sp>
      <p:sp>
        <p:nvSpPr>
          <p:cNvPr id="127" name="Google Shape;127;p5"/>
          <p:cNvSpPr txBox="1"/>
          <p:nvPr/>
        </p:nvSpPr>
        <p:spPr>
          <a:xfrm>
            <a:off x="1302806" y="3579877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Evitan la pérdida total o parcial de información.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Protegen contra errores humanos, fallos físicos y ataques.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Permiten recuperar la base de datos hasta un punto específico en el tiempo.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Toda base de datos en producción debe tener una política de respaldo activa.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6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" name="Google Shape;133;p6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34" name="Google Shape;134;p6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35" name="Google Shape;135;p6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6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RESPALDO DIFERENCIAL</a:t>
            </a:r>
            <a:endParaRPr/>
          </a:p>
        </p:txBody>
      </p:sp>
      <p:sp>
        <p:nvSpPr>
          <p:cNvPr id="137" name="Google Shape;137;p6"/>
          <p:cNvSpPr txBox="1"/>
          <p:nvPr/>
        </p:nvSpPr>
        <p:spPr>
          <a:xfrm>
            <a:off x="1302806" y="3579877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Copia los cambios desde el último respaldo completo.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Crece con el tiempo si no se renueva el respaldo completo.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Restaura más rápido que los incrementales.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BACKUP DATABASE NombreBD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TO DISK = 'C:\backups\NombreBD_dif.bak'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WITH DIFFERENTIAL;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7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" name="Google Shape;143;p7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44" name="Google Shape;144;p7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45" name="Google Shape;145;p7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7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RESPALDO DIFERENCIAL</a:t>
            </a:r>
            <a:endParaRPr/>
          </a:p>
        </p:txBody>
      </p:sp>
      <p:sp>
        <p:nvSpPr>
          <p:cNvPr id="147" name="Google Shape;147;p7"/>
          <p:cNvSpPr txBox="1"/>
          <p:nvPr/>
        </p:nvSpPr>
        <p:spPr>
          <a:xfrm>
            <a:off x="1302806" y="3579877"/>
            <a:ext cx="6036000" cy="4784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Diapositiva 5: Respaldo Incremental (en otros motores)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Solo guarda los cambios desde el último respaldo (completo o incremental).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En SQL Server, esta lógica se implementa con log backups.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Comando (registro de transacciones):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BACKUP LOG NombreBD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TO DISK = 'C:\backups\NombreBD_log.trn';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🧠 Se necesita el respaldo completo + todos los incrementales posteriores para restaurar.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8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8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54" name="Google Shape;154;p8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55" name="Google Shape;155;p8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56" name="Google Shape;156;p8"/>
          <p:cNvGraphicFramePr/>
          <p:nvPr/>
        </p:nvGraphicFramePr>
        <p:xfrm>
          <a:off x="254754" y="3569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{D4C8CA5A-B859-4F38-8122-63348678F1A7}</a:tableStyleId>
              </a:tblPr>
              <a:tblGrid>
                <a:gridCol w="1733925"/>
                <a:gridCol w="1733925"/>
                <a:gridCol w="1733925"/>
                <a:gridCol w="2043525"/>
                <a:gridCol w="1424325"/>
              </a:tblGrid>
              <a:tr h="150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Tamaño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Tiempo Backup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Tiempo Restauración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Uso ideal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8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Lento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Rápido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Punto de partida</a:t>
                      </a:r>
                      <a:endParaRPr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Diferencial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Rápido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Cambios diarios o semanales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1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Incremental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Muy rápido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Lento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Cambios muy frecuentes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" name="Google Shape;157;p8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COMPARACION VISUAL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 txBox="1"/>
          <p:nvPr/>
        </p:nvSpPr>
        <p:spPr>
          <a:xfrm>
            <a:off x="5481642" y="3807016"/>
            <a:ext cx="7324716" cy="3676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ESTRATEGIAS DE RESPALDO SEGÚN EL TAMAÑO Y USO DE LA BASE DE DATOS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0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" name="Google Shape;168;p10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69" name="Google Shape;169;p10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70" name="Google Shape;170;p10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" name="Google Shape;171;p10"/>
          <p:cNvSpPr txBox="1"/>
          <p:nvPr/>
        </p:nvSpPr>
        <p:spPr>
          <a:xfrm>
            <a:off x="11750467" y="4631639"/>
            <a:ext cx="3931066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¿POR QUÉ ADAPTAR LA ESTRATEGIA DE RESPALDO?</a:t>
            </a:r>
            <a:endParaRPr/>
          </a:p>
        </p:txBody>
      </p:sp>
      <p:sp>
        <p:nvSpPr>
          <p:cNvPr id="172" name="Google Shape;172;p10"/>
          <p:cNvSpPr txBox="1"/>
          <p:nvPr/>
        </p:nvSpPr>
        <p:spPr>
          <a:xfrm>
            <a:off x="1254434" y="3408427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No todas las bases de datos son iguales: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🔹 Tamaño de datos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🔹 Nivel de transacciones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🔹 Tolerancia a pérdida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🔹 Horarios de uso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La estrategia de respaldo debe ser personalizada para minimizar riesgo y maximizar eficiencia.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1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" name="Google Shape;178;p11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79" name="Google Shape;179;p11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80" name="Google Shape;180;p11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11"/>
          <p:cNvSpPr txBox="1"/>
          <p:nvPr/>
        </p:nvSpPr>
        <p:spPr>
          <a:xfrm>
            <a:off x="11750467" y="4631639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BASES PEQUEÑAS Y POCO CRÍTICAS</a:t>
            </a:r>
            <a:endParaRPr/>
          </a:p>
        </p:txBody>
      </p:sp>
      <p:sp>
        <p:nvSpPr>
          <p:cNvPr id="182" name="Google Shape;182;p11"/>
          <p:cNvSpPr txBox="1"/>
          <p:nvPr/>
        </p:nvSpPr>
        <p:spPr>
          <a:xfrm>
            <a:off x="1254434" y="3408427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Ejemplo: aplicaciones internas, BD de pruebas, catálogos estáticos.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Respaldo completo semanal o quincenal.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Copia manual o programada fuera del horario laboral.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No requiere respaldo incremental o log backups.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Estrategia: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Backup completo semanal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Validación mensual de integridad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2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" name="Google Shape;188;p12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89" name="Google Shape;189;p12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90" name="Google Shape;190;p12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12"/>
          <p:cNvSpPr txBox="1"/>
          <p:nvPr/>
        </p:nvSpPr>
        <p:spPr>
          <a:xfrm>
            <a:off x="11750467" y="4631639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BASES MEDIANAS CON USO REGULAR</a:t>
            </a:r>
            <a:endParaRPr/>
          </a:p>
        </p:txBody>
      </p:sp>
      <p:sp>
        <p:nvSpPr>
          <p:cNvPr id="192" name="Google Shape;192;p12"/>
          <p:cNvSpPr txBox="1"/>
          <p:nvPr/>
        </p:nvSpPr>
        <p:spPr>
          <a:xfrm>
            <a:off x="1560788" y="3680791"/>
            <a:ext cx="6036000" cy="4441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Ejemplo: sistema escolar, punto de venta, CRM interno.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Volumen moderado + cambios frecuentes.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Necesita una mezcla eficiente.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Estrategia recomendada: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Backup completo semanal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Diferencial diario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Log backups cada 2–4 horas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Beneficio: equilibrio entre tiempo de restauración y tamaño del respaldo.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3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8" name="Google Shape;198;p13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99" name="Google Shape;199;p13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00" name="Google Shape;200;p13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13"/>
          <p:cNvSpPr txBox="1"/>
          <p:nvPr/>
        </p:nvSpPr>
        <p:spPr>
          <a:xfrm>
            <a:off x="11750467" y="4631639"/>
            <a:ext cx="3931066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BASES GRANDES Y CRÍTICAS (ALTA TRANSACCIONALIDAD)</a:t>
            </a:r>
            <a:endParaRPr/>
          </a:p>
        </p:txBody>
      </p:sp>
      <p:sp>
        <p:nvSpPr>
          <p:cNvPr id="202" name="Google Shape;202;p13"/>
          <p:cNvSpPr txBox="1"/>
          <p:nvPr/>
        </p:nvSpPr>
        <p:spPr>
          <a:xfrm>
            <a:off x="1576912" y="3322016"/>
            <a:ext cx="6036000" cy="4784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Ejemplo: banca, e-commerce, sistemas de salud, servidores de producción.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No se pueden permitir pérdida de datos ni caídas prolongadas.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Estrategia robusta: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Backup completo semanal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Backup diferencial diario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Log backups cada 15 minutos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Replicación y respaldo en la nube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🧠 Se requiere automatización, monitoreo y pruebas de recuperación periódicas.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4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" name="Google Shape;208;p14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09" name="Google Shape;209;p14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10" name="Google Shape;210;p1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14"/>
          <p:cNvSpPr txBox="1"/>
          <p:nvPr/>
        </p:nvSpPr>
        <p:spPr>
          <a:xfrm>
            <a:off x="11750467" y="4631639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FACTORES QUE INFLUYEN EN LA ESTRATEGIA</a:t>
            </a:r>
            <a:endParaRPr/>
          </a:p>
        </p:txBody>
      </p:sp>
      <p:sp>
        <p:nvSpPr>
          <p:cNvPr id="212" name="Google Shape;212;p14"/>
          <p:cNvSpPr txBox="1"/>
          <p:nvPr/>
        </p:nvSpPr>
        <p:spPr>
          <a:xfrm>
            <a:off x="1576912" y="3322016"/>
            <a:ext cx="6036000" cy="272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📊 Tamaño de la base (espacio en disco, tiempo de copia)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🕒 Frecuencia de uso y escritura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⚠️ Nivel de criticidad de los datos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🔁 Tiempos de restauración aceptables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☁️ Recursos disponibles (almacenamiento, nube, personal)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"/>
          <p:cNvSpPr txBox="1"/>
          <p:nvPr/>
        </p:nvSpPr>
        <p:spPr>
          <a:xfrm>
            <a:off x="5481642" y="3807016"/>
            <a:ext cx="7324716" cy="219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HERRAMIENTAS DE RESPALDO EN BASES DE DATOS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6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16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24" name="Google Shape;224;p16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25" name="Google Shape;225;p16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16"/>
          <p:cNvSpPr txBox="1"/>
          <p:nvPr/>
        </p:nvSpPr>
        <p:spPr>
          <a:xfrm>
            <a:off x="11750467" y="4631639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ES UNA HERRAMIENTA DE RESPALDO?</a:t>
            </a:r>
            <a:endParaRPr/>
          </a:p>
        </p:txBody>
      </p:sp>
      <p:sp>
        <p:nvSpPr>
          <p:cNvPr id="227" name="Google Shape;227;p16"/>
          <p:cNvSpPr txBox="1"/>
          <p:nvPr/>
        </p:nvSpPr>
        <p:spPr>
          <a:xfrm>
            <a:off x="1576912" y="3322016"/>
            <a:ext cx="6036000" cy="4784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Programa o utilidad que permite crear, programar y recuperar respaldos.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Puede ser: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Nativa del motor de BD (como BACKUP DATABASE de SQL Server).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Externa (como Veeam, DBeaver, scripts personalizados).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En la nube (Amazon RDS, Azure Backup, Google Cloud SQL).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Elegir la herramienta adecuada depende de recursos, tamaño y criticidad del sistema.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17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" name="Google Shape;233;p17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34" name="Google Shape;234;p17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35" name="Google Shape;235;p17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p17"/>
          <p:cNvSpPr txBox="1"/>
          <p:nvPr/>
        </p:nvSpPr>
        <p:spPr>
          <a:xfrm>
            <a:off x="11750467" y="4631639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HERRAMIENTAS NATIVAS</a:t>
            </a:r>
            <a:endParaRPr/>
          </a:p>
        </p:txBody>
      </p:sp>
      <p:sp>
        <p:nvSpPr>
          <p:cNvPr id="237" name="Google Shape;237;p17"/>
          <p:cNvSpPr txBox="1"/>
          <p:nvPr/>
        </p:nvSpPr>
        <p:spPr>
          <a:xfrm>
            <a:off x="1576912" y="3322016"/>
            <a:ext cx="6036000" cy="5813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Ejemplos: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mysqldump (MySQL)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BACKUP DATABASE (SQL Server)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pg_dump (PostgreSQL)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🟢 Ventajas: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Gratuitas, incluidas con el motor.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Bien documentadas.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Integradas con el sistema de permisos y logs.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🔴 Desventajas: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Poca flexibilidad para automatización avanzada.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Generalmente no incluye encriptación ni compresión.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No manejan múltiples nodos o clusters por sí solas.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18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" name="Google Shape;243;p18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44" name="Google Shape;244;p18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45" name="Google Shape;245;p18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" name="Google Shape;246;p18"/>
          <p:cNvSpPr txBox="1"/>
          <p:nvPr/>
        </p:nvSpPr>
        <p:spPr>
          <a:xfrm>
            <a:off x="11750467" y="4631639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HERRAMIENTAS EXTERNAS (DE TERCEROS)</a:t>
            </a:r>
            <a:endParaRPr/>
          </a:p>
        </p:txBody>
      </p:sp>
      <p:sp>
        <p:nvSpPr>
          <p:cNvPr id="247" name="Google Shape;247;p18"/>
          <p:cNvSpPr txBox="1"/>
          <p:nvPr/>
        </p:nvSpPr>
        <p:spPr>
          <a:xfrm>
            <a:off x="1576912" y="3322016"/>
            <a:ext cx="6036000" cy="5470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Ejemplos: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Veeam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Acronis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DBeaver (exportación)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Script programados con PowerShell o Bash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🟢 Ventajas: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Interfaz gráfica o APIs amigables.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Automatización, versionado y notificaciones.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En algunos casos, respaldos en caliente.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🔴 Desventajas: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Algunas son de pago o requieren licencias.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Añaden complejidad técnica o dependencias externas.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19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19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54" name="Google Shape;254;p19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55" name="Google Shape;255;p19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19"/>
          <p:cNvSpPr txBox="1"/>
          <p:nvPr/>
        </p:nvSpPr>
        <p:spPr>
          <a:xfrm>
            <a:off x="11750467" y="4631639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SOLUCIONES EN LA NUBE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1560788" y="2899741"/>
            <a:ext cx="6036000" cy="5127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Ejemplos: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Amazon RDS automated backups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Google Cloud SQL backups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Azure Backup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🟢 Ventajas: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Totalmente automatizados.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Alta disponibilidad, replicación geográfica.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Escalabilidad y recuperación punto en el tiempo.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🔴 Desventajas: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Costos adicionales por almacenamiento.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Requiere conectividad.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Menor control sobre archivos físicos.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0"/>
          <p:cNvPicPr preferRelativeResize="0"/>
          <p:nvPr/>
        </p:nvPicPr>
        <p:blipFill rotWithShape="1">
          <a:blip r:embed="rId3">
            <a:alphaModFix/>
          </a:blip>
          <a:srcRect b="0" l="24409" r="24409" t="0"/>
          <a:stretch/>
        </p:blipFill>
        <p:spPr>
          <a:xfrm>
            <a:off x="10385538" y="0"/>
            <a:ext cx="7902462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20"/>
          <p:cNvGrpSpPr/>
          <p:nvPr/>
        </p:nvGrpSpPr>
        <p:grpSpPr>
          <a:xfrm>
            <a:off x="10385538" y="-144661"/>
            <a:ext cx="7902462" cy="10431661"/>
            <a:chOff x="0" y="-38100"/>
            <a:chExt cx="2081307" cy="2747433"/>
          </a:xfrm>
        </p:grpSpPr>
        <p:sp>
          <p:nvSpPr>
            <p:cNvPr id="264" name="Google Shape;264;p20"/>
            <p:cNvSpPr/>
            <p:nvPr/>
          </p:nvSpPr>
          <p:spPr>
            <a:xfrm>
              <a:off x="0" y="0"/>
              <a:ext cx="2081307" cy="2709333"/>
            </a:xfrm>
            <a:custGeom>
              <a:rect b="b" l="l" r="r" t="t"/>
              <a:pathLst>
                <a:path extrusionOk="0" h="2709333" w="2081307">
                  <a:moveTo>
                    <a:pt x="0" y="0"/>
                  </a:moveTo>
                  <a:lnTo>
                    <a:pt x="2081307" y="0"/>
                  </a:lnTo>
                  <a:lnTo>
                    <a:pt x="208130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65" name="Google Shape;265;p20"/>
            <p:cNvSpPr txBox="1"/>
            <p:nvPr/>
          </p:nvSpPr>
          <p:spPr>
            <a:xfrm>
              <a:off x="0" y="-38100"/>
              <a:ext cx="2081307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66" name="Google Shape;266;p20"/>
          <p:cNvGraphicFramePr/>
          <p:nvPr/>
        </p:nvGraphicFramePr>
        <p:xfrm>
          <a:off x="213893" y="3086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{D4C8CA5A-B859-4F38-8122-63348678F1A7}</a:tableStyleId>
              </a:tblPr>
              <a:tblGrid>
                <a:gridCol w="1962875"/>
                <a:gridCol w="1962875"/>
                <a:gridCol w="2270425"/>
                <a:gridCol w="1946700"/>
                <a:gridCol w="1671525"/>
              </a:tblGrid>
              <a:tr h="10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Automatizacion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Escalabilidad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Control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Nativa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Manual/limitada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Nube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Muy Alta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Muy Alta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7" name="Google Shape;267;p20"/>
          <p:cNvSpPr txBox="1"/>
          <p:nvPr/>
        </p:nvSpPr>
        <p:spPr>
          <a:xfrm>
            <a:off x="11750467" y="4631639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COMPARACIÓN GENERAL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1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3" name="Google Shape;273;p21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74" name="Google Shape;274;p21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75" name="Google Shape;275;p21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21"/>
          <p:cNvSpPr txBox="1"/>
          <p:nvPr/>
        </p:nvSpPr>
        <p:spPr>
          <a:xfrm>
            <a:off x="11750467" y="4631639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SOLUCIONES EN LA NUBE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1560788" y="2899741"/>
            <a:ext cx="6036000" cy="5127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Ejemplos: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Amazon RDS automated backups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Google Cloud SQL backups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Azure Backup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🟢 Ventajas: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Totalmente automatizados.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Alta disponibilidad, replicación geográfica.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Escalabilidad y recuperación punto en el tiempo.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🔴 Desventajas: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Costos adicionales por almacenamiento.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Requiere conectividad.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Menor control sobre archivos físicos.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2"/>
          <p:cNvSpPr txBox="1"/>
          <p:nvPr/>
        </p:nvSpPr>
        <p:spPr>
          <a:xfrm>
            <a:off x="5481642" y="3807016"/>
            <a:ext cx="7324716" cy="219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AUTOMATIZACIÓN DE RESPALDOS EN BASES DE DATOS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3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8" name="Google Shape;288;p23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89" name="Google Shape;289;p23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90" name="Google Shape;290;p23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1" name="Google Shape;291;p23"/>
          <p:cNvSpPr txBox="1"/>
          <p:nvPr/>
        </p:nvSpPr>
        <p:spPr>
          <a:xfrm>
            <a:off x="11750467" y="4631639"/>
            <a:ext cx="3931066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¿POR QUÉ AUTOMATIZAR LOS RESPALDOS?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1576912" y="3579877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Elimina la dependencia de tareas manuales.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Garantiza que se cumpla una frecuencia fija.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Reduce el riesgo de pérdida por descuido humano.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Permite implementar tareas programadas, incluso fuera del horario laboral.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Clave para entornos críticos y de producción.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4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24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99" name="Google Shape;299;p24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00" name="Google Shape;300;p2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1" name="Google Shape;301;p24"/>
          <p:cNvSpPr txBox="1"/>
          <p:nvPr/>
        </p:nvSpPr>
        <p:spPr>
          <a:xfrm>
            <a:off x="11750467" y="4631639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SCRIPT BÁSICO DE RESPALDO EN SQL SERVER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1609159" y="4094227"/>
            <a:ext cx="6036000" cy="2041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🛠 Genera una copia con la fecha del día en el nombre del archivo.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Se puede guardar como procedimiento almacenado o archivo .sql.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25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8" name="Google Shape;308;p25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09" name="Google Shape;309;p25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10" name="Google Shape;310;p25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1" name="Google Shape;311;p25"/>
          <p:cNvSpPr txBox="1"/>
          <p:nvPr/>
        </p:nvSpPr>
        <p:spPr>
          <a:xfrm>
            <a:off x="11750467" y="4422028"/>
            <a:ext cx="3931066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PROGRAMACIÓN CON SQL SERVER AGENT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1641407" y="3617291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Abrir SQL Server Management Studio.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Crear un nuevo Job en SQL Server Agent.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Agregar paso con el script SQL de respaldo.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Establecer frecuencia: diaria, semanal, cada 15 minutos, etc.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Agregar notificaciones (correo/log) opcionalmente.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Solo disponible en ediciones Standard y superiores.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6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8" name="Google Shape;318;p26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19" name="Google Shape;319;p26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20" name="Google Shape;320;p26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1" name="Google Shape;321;p26"/>
          <p:cNvSpPr txBox="1"/>
          <p:nvPr/>
        </p:nvSpPr>
        <p:spPr>
          <a:xfrm>
            <a:off x="11750467" y="4422028"/>
            <a:ext cx="3931066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ALTERNATIVA EN SQL SERVER EXPRESS (SIN AGENT)</a:t>
            </a:r>
            <a:endParaRPr/>
          </a:p>
        </p:txBody>
      </p:sp>
      <p:sp>
        <p:nvSpPr>
          <p:cNvPr id="322" name="Google Shape;322;p26"/>
          <p:cNvSpPr txBox="1"/>
          <p:nvPr/>
        </p:nvSpPr>
        <p:spPr>
          <a:xfrm>
            <a:off x="1641407" y="3617291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Uso del Programador de Tareas de Windows + script .bat o PowerShell.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Ejemplo .bat: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sqlcmd -S .\SQLEXPRESS -E -Q "BACKUP DATABASE NombreBD 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TO DISK = 'C:\Backups\NombreBD.bak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🧠 Se puede ejecutar diariamente a través del programador del sistema operativo.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7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27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29" name="Google Shape;329;p27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30" name="Google Shape;330;p27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p27"/>
          <p:cNvSpPr txBox="1"/>
          <p:nvPr/>
        </p:nvSpPr>
        <p:spPr>
          <a:xfrm>
            <a:off x="11750467" y="4422028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BUENAS PRÁCTICAS</a:t>
            </a:r>
            <a:endParaRPr/>
          </a:p>
        </p:txBody>
      </p:sp>
      <p:sp>
        <p:nvSpPr>
          <p:cNvPr id="332" name="Google Shape;332;p27"/>
          <p:cNvSpPr txBox="1"/>
          <p:nvPr/>
        </p:nvSpPr>
        <p:spPr>
          <a:xfrm>
            <a:off x="1641407" y="3617291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Usar nombres de archivo únicos con fecha/hora.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Limpiar respaldos antiguos automáticamente (usando scripts adicionales).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Validar que el respaldo se generó exitosamente.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Guardar en unidad externa o red (y/o subir a la nube).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Ejemplo extra: borrar archivos .bak de más de 7 días con PowerShell.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8"/>
          <p:cNvSpPr txBox="1"/>
          <p:nvPr/>
        </p:nvSpPr>
        <p:spPr>
          <a:xfrm>
            <a:off x="5481642" y="3807016"/>
            <a:ext cx="7324716" cy="3676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PLANIFICACIÓN DE RESPALDOS: DEFINIENDO LA FRECUENCIA ADECUADA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29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3" name="Google Shape;343;p29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44" name="Google Shape;344;p29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45" name="Google Shape;345;p29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6" name="Google Shape;346;p29"/>
          <p:cNvSpPr txBox="1"/>
          <p:nvPr/>
        </p:nvSpPr>
        <p:spPr>
          <a:xfrm>
            <a:off x="11750467" y="4422028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¿POR QUÉ PLANIFICAR LOS RESPALDOS?</a:t>
            </a:r>
            <a:endParaRPr/>
          </a:p>
        </p:txBody>
      </p:sp>
      <p:sp>
        <p:nvSpPr>
          <p:cNvPr id="347" name="Google Shape;347;p29"/>
          <p:cNvSpPr txBox="1"/>
          <p:nvPr/>
        </p:nvSpPr>
        <p:spPr>
          <a:xfrm>
            <a:off x="1641407" y="3617291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No basta con tener respaldo: hay que saber cuándo y qué respaldar.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La frecuencia afecta: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Seguridad de los datos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Tiempo de restauración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Uso de espacio de almacenamiento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Carga del sistema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Una mala planificación puede ser tan riesgosa como no respaldar.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0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3" name="Google Shape;353;p30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54" name="Google Shape;354;p30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55" name="Google Shape;355;p30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6" name="Google Shape;356;p30"/>
          <p:cNvSpPr txBox="1"/>
          <p:nvPr/>
        </p:nvSpPr>
        <p:spPr>
          <a:xfrm>
            <a:off x="11750467" y="4422028"/>
            <a:ext cx="3931066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FACTORES CLAVE PARA DEFINIR LA FRECUENCIA</a:t>
            </a:r>
            <a:endParaRPr/>
          </a:p>
        </p:txBody>
      </p:sp>
      <p:sp>
        <p:nvSpPr>
          <p:cNvPr id="357" name="Google Shape;357;p30"/>
          <p:cNvSpPr txBox="1"/>
          <p:nvPr/>
        </p:nvSpPr>
        <p:spPr>
          <a:xfrm>
            <a:off x="1641407" y="3617291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No basta con tener respaldo: hay que saber cuándo y qué respaldar.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La frecuencia afecta: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Seguridad de los datos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Tiempo de restauración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Uso de espacio de almacenamiento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Carga del sistema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Una mala planificación puede ser tan riesgosa como no respaldar.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3" name="Google Shape;363;p31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64" name="Google Shape;364;p31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65" name="Google Shape;365;p31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66" name="Google Shape;366;p31"/>
          <p:cNvGraphicFramePr/>
          <p:nvPr/>
        </p:nvGraphicFramePr>
        <p:xfrm>
          <a:off x="891096" y="29409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{D4C8CA5A-B859-4F38-8122-63348678F1A7}</a:tableStyleId>
              </a:tblPr>
              <a:tblGrid>
                <a:gridCol w="3657600"/>
                <a:gridCol w="3657600"/>
              </a:tblGrid>
              <a:tr h="1026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Escenario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Recomendación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8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BD de prueba o poco uso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Backup completo semanal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Sistema académico o administrativo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Completo semanal + diferencial diario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Sistema de ventas en línea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Completo semanal + log backups cada 15 min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Plataforma financiera o de salud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Respaldos casi continuos (log + replicación + nube)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7" name="Google Shape;367;p31"/>
          <p:cNvSpPr txBox="1"/>
          <p:nvPr/>
        </p:nvSpPr>
        <p:spPr>
          <a:xfrm>
            <a:off x="11750467" y="4422028"/>
            <a:ext cx="3931066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EJEMPLOS DE FRECUENCIA SEGÚN ESCENARIOS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2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2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74" name="Google Shape;374;p32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75" name="Google Shape;375;p32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6" name="Google Shape;376;p32"/>
          <p:cNvSpPr txBox="1"/>
          <p:nvPr/>
        </p:nvSpPr>
        <p:spPr>
          <a:xfrm>
            <a:off x="11750467" y="4422028"/>
            <a:ext cx="3931066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REGLA DEL PUNTO DE RECUPERACIÓN (RPO)</a:t>
            </a:r>
            <a:endParaRPr/>
          </a:p>
        </p:txBody>
      </p:sp>
      <p:sp>
        <p:nvSpPr>
          <p:cNvPr id="377" name="Google Shape;377;p32"/>
          <p:cNvSpPr txBox="1"/>
          <p:nvPr/>
        </p:nvSpPr>
        <p:spPr>
          <a:xfrm>
            <a:off x="1641407" y="3617291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RPO (Recovery Point Objective): ¿Cuánto tiempo de información podemos permitirnos perder?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Ejemplos: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RPO = 24 horas → respaldo diario suficiente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RPO = 1 hora → requiere incremental/log frecuente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RPO = 0 → necesita replicación activa o clustering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El RPO guía la frecuencia de respaldo.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33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3" name="Google Shape;383;p33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84" name="Google Shape;384;p33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85" name="Google Shape;385;p33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6" name="Google Shape;386;p33"/>
          <p:cNvSpPr txBox="1"/>
          <p:nvPr/>
        </p:nvSpPr>
        <p:spPr>
          <a:xfrm>
            <a:off x="11750467" y="4422028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BUENAS PRÁCTICAS DE PLANIFICACIÓN</a:t>
            </a:r>
            <a:endParaRPr/>
          </a:p>
        </p:txBody>
      </p:sp>
      <p:sp>
        <p:nvSpPr>
          <p:cNvPr id="387" name="Google Shape;387;p33"/>
          <p:cNvSpPr txBox="1"/>
          <p:nvPr/>
        </p:nvSpPr>
        <p:spPr>
          <a:xfrm>
            <a:off x="1641407" y="3617291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Documentar la política de respaldo.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Automatizar la ejecución.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Verificar periódicamente los archivos generados.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Realizar pruebas de restauración.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Considerar almacenamiento externo y recuperación ante desastres.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Más vale tener una estrategia simple pero funcional que una compleja nunca aplicada.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34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3" name="Google Shape;393;p34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94" name="Google Shape;394;p34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95" name="Google Shape;395;p3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6" name="Google Shape;396;p34"/>
          <p:cNvSpPr txBox="1"/>
          <p:nvPr/>
        </p:nvSpPr>
        <p:spPr>
          <a:xfrm>
            <a:off x="11750467" y="4422028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ES LA RECUPERACIÓN?</a:t>
            </a:r>
            <a:endParaRPr/>
          </a:p>
        </p:txBody>
      </p:sp>
      <p:sp>
        <p:nvSpPr>
          <p:cNvPr id="397" name="Google Shape;397;p34"/>
          <p:cNvSpPr txBox="1"/>
          <p:nvPr/>
        </p:nvSpPr>
        <p:spPr>
          <a:xfrm>
            <a:off x="1641407" y="3617291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Proceso de restaurar una base de datos a un estado funcional usando respaldos.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Puede realizarse tras: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Fallo del sistema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Daño lógico (borrado accidental)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Migración o mantenimiento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El tipo de respaldo determina cómo se ejecuta la recuperación.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35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3" name="Google Shape;403;p35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404" name="Google Shape;404;p35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405" name="Google Shape;405;p35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6" name="Google Shape;406;p35"/>
          <p:cNvSpPr txBox="1"/>
          <p:nvPr/>
        </p:nvSpPr>
        <p:spPr>
          <a:xfrm>
            <a:off x="11621476" y="4491938"/>
            <a:ext cx="3931066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RECUPERACIÓN DESDE RESPALDO COMPLETO</a:t>
            </a:r>
            <a:endParaRPr/>
          </a:p>
        </p:txBody>
      </p:sp>
      <p:sp>
        <p:nvSpPr>
          <p:cNvPr id="407" name="Google Shape;407;p35"/>
          <p:cNvSpPr txBox="1"/>
          <p:nvPr/>
        </p:nvSpPr>
        <p:spPr>
          <a:xfrm>
            <a:off x="1738150" y="3579877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Es el más sencillo: contiene todo lo necesario.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RESTORE DATABASE NombreBD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FROM DISK = 'C:\Backups\NombreBD_full.bak'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WITH RECOVERY;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Deja la base operativa inmediatamente.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Si no hay otros respaldos, esto es suficiente.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36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3" name="Google Shape;413;p36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414" name="Google Shape;414;p36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415" name="Google Shape;415;p36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6" name="Google Shape;416;p36"/>
          <p:cNvSpPr txBox="1"/>
          <p:nvPr/>
        </p:nvSpPr>
        <p:spPr>
          <a:xfrm>
            <a:off x="11621476" y="4491938"/>
            <a:ext cx="3931066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RECUPERACIÓN DESDE RESPALDO COMPLETO + DIFERENCIAL</a:t>
            </a:r>
            <a:endParaRPr/>
          </a:p>
        </p:txBody>
      </p:sp>
      <p:sp>
        <p:nvSpPr>
          <p:cNvPr id="417" name="Google Shape;417;p36"/>
          <p:cNvSpPr txBox="1"/>
          <p:nvPr/>
        </p:nvSpPr>
        <p:spPr>
          <a:xfrm>
            <a:off x="1318930" y="2325065"/>
            <a:ext cx="6036000" cy="6499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Requiere dos pasos: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Restaurar respaldo completo en modo NORECOVERY.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Restaurar respaldo diferencial en modo RECOVERY.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-- Paso 1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RESTORE DATABASE NombreBD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FROM DISK = '...\full.bak'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WITH NORECOVERY;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-- Paso 2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RESTORE DATABASE NombreBD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FROM DISK = '...\dif.bak'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WITH RECOVERY;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Rápido y confiable.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⚠️ El diferencial debe ser compatible con el respaldo base.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7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3" name="Google Shape;423;p37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424" name="Google Shape;424;p37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425" name="Google Shape;425;p37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6" name="Google Shape;426;p37"/>
          <p:cNvSpPr txBox="1"/>
          <p:nvPr/>
        </p:nvSpPr>
        <p:spPr>
          <a:xfrm>
            <a:off x="11621476" y="4491938"/>
            <a:ext cx="3931066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RECUPERACIÓN USANDO RESPALDO INCREMENTAL (LOGS)</a:t>
            </a:r>
            <a:endParaRPr/>
          </a:p>
        </p:txBody>
      </p:sp>
      <p:sp>
        <p:nvSpPr>
          <p:cNvPr id="427" name="Google Shape;427;p37"/>
          <p:cNvSpPr txBox="1"/>
          <p:nvPr/>
        </p:nvSpPr>
        <p:spPr>
          <a:xfrm>
            <a:off x="1609159" y="1351027"/>
            <a:ext cx="6036000" cy="7527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Requiere todos los archivos de log desde el último respaldo completo.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Pasos: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RESTORE DATABASE con NORECOVERY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RESTORE LOG uno por uno con NORECOVERY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Último log con WITH RECOVERY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RESTORE LOG NombreBD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FROM DISK = '...\log1.trn'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WITH NORECOVERY;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RESTORE LOG NombreBD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FROM DISK = '...\log2.trn'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WITH RECOVERY;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Permite restauración punto en el tiempo (PITR).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⚠️ Falla si falta uno de los archivos log.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38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3" name="Google Shape;433;p38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434" name="Google Shape;434;p38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435" name="Google Shape;435;p38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6" name="Google Shape;436;p38"/>
          <p:cNvSpPr txBox="1"/>
          <p:nvPr/>
        </p:nvSpPr>
        <p:spPr>
          <a:xfrm>
            <a:off x="11911706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CONSIDERACIONES CRÍTICAS</a:t>
            </a:r>
            <a:endParaRPr/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8"/>
          <p:cNvSpPr txBox="1"/>
          <p:nvPr/>
        </p:nvSpPr>
        <p:spPr>
          <a:xfrm>
            <a:off x="1754274" y="3236977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Verifica la secuencia de respaldos antes de restaurar.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Usa WITH FILE = n si hay múltiples respaldos en un solo archivo.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WITH REPLACE se usa para sobrescribir bases existentes (con precaución).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Siempre valida integridad tras restaurar (DBCC CHECKDB).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Es buena práctica documentar cada restauración realizada.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39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3" name="Google Shape;443;p39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444" name="Google Shape;444;p39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445" name="Google Shape;445;p39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6" name="Google Shape;446;p39"/>
          <p:cNvSpPr txBox="1"/>
          <p:nvPr/>
        </p:nvSpPr>
        <p:spPr>
          <a:xfrm>
            <a:off x="11911706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CONSIDERACIONES CRÍTICAS</a:t>
            </a:r>
            <a:endParaRPr/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9"/>
          <p:cNvSpPr txBox="1"/>
          <p:nvPr/>
        </p:nvSpPr>
        <p:spPr>
          <a:xfrm>
            <a:off x="1754274" y="3236977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Verifica la secuencia de respaldos antes de restaurar.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Usa WITH FILE = n si hay múltiples respaldos en un solo archivo.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WITH REPLACE se usa para sobrescribir bases existentes (con precaución).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Siempre valida integridad tras restaurar (DBCC CHECKDB).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Es buena práctica documentar cada restauración realizada.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0"/>
          <p:cNvSpPr txBox="1"/>
          <p:nvPr/>
        </p:nvSpPr>
        <p:spPr>
          <a:xfrm>
            <a:off x="5481642" y="4193989"/>
            <a:ext cx="7324716" cy="1458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EJERCICIO PRACTICO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1"/>
          <p:cNvSpPr txBox="1"/>
          <p:nvPr/>
        </p:nvSpPr>
        <p:spPr>
          <a:xfrm>
            <a:off x="5481642" y="4741027"/>
            <a:ext cx="7324716" cy="719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MUCHAS GRACIAS!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