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43"/>
  </p:notesMasterIdLst>
  <p:sldIdLst>
    <p:sldId id="256" r:id="rId3"/>
    <p:sldId id="257" r:id="rId4"/>
    <p:sldId id="29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XrO9B1bRDPpMpY8dv5ViYLMM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226CCB-80D2-46E3-A92A-0FA83CC9D811}">
  <a:tblStyle styleId="{82226CCB-80D2-46E3-A92A-0FA83CC9D8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657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1354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361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2343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0647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8378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224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2831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0755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609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0000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07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2249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2338755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tabLst/>
              <a:defRPr/>
            </a:pPr>
            <a:r>
              <a:rPr kumimoji="0" lang="en-US" sz="3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BASES DE DATOS 2</a:t>
            </a:r>
            <a:endParaRPr kumimoji="0" sz="3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E75CD0E-13CF-F23C-DA06-DE017A26610B}"/>
              </a:ext>
            </a:extLst>
          </p:cNvPr>
          <p:cNvGraphicFramePr>
            <a:graphicFrameLocks noGrp="1"/>
          </p:cNvGraphicFramePr>
          <p:nvPr/>
        </p:nvGraphicFramePr>
        <p:xfrm>
          <a:off x="11734800" y="2019300"/>
          <a:ext cx="609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73448246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414737795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GT" sz="2800" dirty="0">
                          <a:solidFill>
                            <a:schemeClr val="tx1"/>
                          </a:solidFill>
                        </a:rPr>
                        <a:t>Día, Fecha: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2800" b="0" dirty="0">
                          <a:solidFill>
                            <a:schemeClr val="tx1"/>
                          </a:solidFill>
                        </a:rPr>
                        <a:t>Miércoles 01/01/2026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4197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s-GT" sz="2800" b="1" dirty="0">
                          <a:solidFill>
                            <a:schemeClr val="tx1"/>
                          </a:solidFill>
                        </a:rPr>
                        <a:t>Hora Inicio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2800" b="0" dirty="0">
                          <a:solidFill>
                            <a:schemeClr val="tx1"/>
                          </a:solidFill>
                        </a:rPr>
                        <a:t>17:30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573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90249" y="7555025"/>
            <a:ext cx="85266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tabLst/>
              <a:defRPr/>
            </a:pPr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BASES DE DATOS 2</a:t>
            </a:r>
            <a:endParaRPr kumimoji="0" sz="5000" b="1" i="0" u="none" strike="noStrike" kern="0" cap="none" spc="0" normalizeH="0" baseline="0" noProof="0" dirty="0">
              <a:ln>
                <a:noFill/>
              </a:ln>
              <a:solidFill>
                <a:srgbClr val="131416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91255" y="2167474"/>
            <a:ext cx="123750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  <a:tabLst/>
              <a:defRPr/>
            </a:pPr>
            <a:r>
              <a:rPr kumimoji="0" lang="es-MX" sz="9200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Unidad No. 3: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  <a:tabLst/>
              <a:defRPr/>
            </a:pPr>
            <a:r>
              <a:rPr kumimoji="0" lang="es-MX" sz="9200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Bases de Datos Clave - Valor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  <a:tabLst/>
              <a:defRPr/>
            </a:pPr>
            <a:r>
              <a:rPr kumimoji="0" lang="en-US" sz="2499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kumimoji="0" lang="en-US" sz="2499" b="1" i="0" u="none" strike="noStrike" kern="0" cap="none" spc="0" normalizeH="0" baseline="0" noProof="0" dirty="0" err="1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kumimoji="0" lang="en-US" sz="2499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kumimoji="0" sz="2499" b="1" i="0" u="none" strike="noStrike" kern="0" cap="none" spc="0" normalizeH="0" baseline="0" noProof="0" dirty="0">
              <a:ln>
                <a:noFill/>
              </a:ln>
              <a:solidFill>
                <a:srgbClr val="131416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63303" y="9162739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  <a:tabLst/>
              <a:defRPr/>
            </a:pPr>
            <a:r>
              <a:rPr kumimoji="0" lang="en-US" sz="2499" b="1" i="0" u="none" strike="noStrike" kern="0" cap="none" spc="0" normalizeH="0" baseline="0" noProof="0" dirty="0" err="1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kumimoji="0" lang="en-US" sz="2499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kumimoji="0" sz="2499" b="1" i="0" u="none" strike="noStrike" kern="0" cap="none" spc="0" normalizeH="0" baseline="0" noProof="0" dirty="0">
              <a:ln>
                <a:noFill/>
              </a:ln>
              <a:solidFill>
                <a:srgbClr val="131416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9568828"/>
            <a:ext cx="81153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  <a:tabLst/>
              <a:defRPr/>
            </a:pPr>
            <a:r>
              <a:rPr kumimoji="0" lang="en-US" sz="2499" b="1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20484"/>
            <a:ext cx="6681381" cy="845385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lang="es-GT" sz="2799" noProof="0" dirty="0"/>
                <a:t>Introducción a Redis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kumimoji="0" lang="es-GT" sz="27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  <a:tabLst/>
              <a:defRPr/>
            </a:pPr>
            <a:r>
              <a:rPr kumimoji="0" lang="es-GT" sz="15000" b="0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  <a:tabLst/>
              <a:defRPr/>
            </a:pPr>
            <a:r>
              <a:rPr kumimoji="0" lang="es-GT" sz="15000" b="0" i="0" u="none" strike="noStrike" kern="0" cap="none" spc="0" normalizeH="0" baseline="0" noProof="0" dirty="0">
                <a:ln>
                  <a:noFill/>
                </a:ln>
                <a:solidFill>
                  <a:srgbClr val="131416"/>
                </a:solidFill>
                <a:effectLst/>
                <a:uLnTx/>
                <a:uFillTx/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  <a:tabLst/>
                <a:defRPr/>
              </a:pPr>
              <a:r>
                <a:rPr kumimoji="0" lang="es-GT" sz="44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  <a:tabLst/>
                <a:defRPr/>
              </a:pPr>
              <a:r>
                <a:rPr kumimoji="0" lang="es-GT" sz="44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kumimoji="0" lang="es-GT" sz="4499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Quizziz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76619" y="5444302"/>
            <a:ext cx="9247600" cy="845385"/>
            <a:chOff x="0" y="-76200"/>
            <a:chExt cx="1964221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kumimoji="0" lang="es-MX" sz="27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Instalación y configuración de Redis</a:t>
              </a: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76619" y="6425875"/>
            <a:ext cx="8185431" cy="845385"/>
            <a:chOff x="0" y="-76200"/>
            <a:chExt cx="1964221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kumimoji="0" lang="es-MX" sz="27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Estructuras de datos en Redis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7349457"/>
            <a:ext cx="6017704" cy="845385"/>
            <a:chOff x="0" y="-76200"/>
            <a:chExt cx="1964221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kumimoji="0" lang="es-GT" sz="27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Ejemplo practico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12915"/>
            <a:ext cx="5693239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  <a:tabLst/>
                <a:defRPr/>
              </a:pPr>
              <a:r>
                <a:rPr kumimoji="0" lang="es-GT" sz="27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Avisos/Dudas</a:t>
              </a:r>
              <a:endParaRPr kumimoji="0" lang="es-G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878654" y="660485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78654" y="760463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878654" y="860554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G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MODELADO E IMPLEMENTACIÓN DE BASES CLAVE-VALOR CON REDIS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a las bases de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clave-valor y Redis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Instalación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configuración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de Redis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Redis: Clave y String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avanzadas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: Hash, List, Set y Sorted Set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Pub/Sub y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manejo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transacciones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Redis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Optimización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buenas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prácticas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Redis</a:t>
            </a:r>
            <a:endParaRPr dirty="0"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prácticos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0" i="0" u="none" strike="noStrike" cap="none" dirty="0" err="1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r>
              <a:rPr lang="en-US" sz="1800" b="0" i="0" u="none" strike="noStrike" cap="none" dirty="0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con Redis</a:t>
            </a:r>
            <a:endParaRPr dirty="0"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BASE CLAVE-VALOR?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Estructura básica: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Clave (key) → 🧾 Valor (value)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comporta como un diccionario o tabla hash.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 existe un esquema predefinido.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Acceso directo a los datos por clave, sin necesidad de recorrer toda la base.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"usuario:1234" → {nombre: "Ana", puntos: 45}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 DEL MODELO CLAVE-VALOR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302806" y="3579877"/>
            <a:ext cx="6036000" cy="238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Acceso ultra rápido a datos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almacenamiento en caché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fácil de distribuir horizontalmente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Modelo simple pero poderoso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Ideal cuando no necesitas relaciones complejas ni consultas cruzadas.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REDIS?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🟥 Redis = Remote Dictionary Server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Base de datos clave-valor en memoria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Muy rápida, escrita en C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Soporta múltiples tipos de datos: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Cadenas, listas, conjuntos, hashes, streams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 usa también como: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Caché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Cola de mensajes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Contador distribuido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Open-source, con versión comercial (Redis Enterprise)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COMUNES DE REDIS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Sesiones de usuario (autenticación)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Contadores de visitas o likes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Almacenamiento temporal de resultados (caché)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Sistemas de recomendaciones con ranking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Chat o mensajería en tiempo real (streams)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Empresas como Twitter, GitHub y StackOverflow lo utilizan.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USO BÁSICO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Iniciar Redis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redis-server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Conectarse a Redis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Almacenar y recuperar un valor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usuario:1001 "Pedro"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usuario:1001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INSTALACIÓN Y CONFIGURACIÓN DE REDIS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REQUISITOS PREVIOS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302806" y="3579877"/>
            <a:ext cx="6036000" cy="238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Tener instalado: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Terminal o consola (CMD, PowerShell, Bash)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Docker (opcional, pero recomendado)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Git (opcional, para clonar ejemplos)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Conexión a internet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es muy liviano: menos de 10 MB.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INSTALACIÓN EN LINUX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Actualizar paquetes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apt update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Instalar Redis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apt install redis-server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Verificar instalación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 ping  # Debe devolver: PONG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INSTALACIÓN EN WINDOWS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 no tiene soporte nativo oficial para Windows. Dos alternativas: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Opción 1: WSL (Windows Subsystem for Linux)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Instalar Redis dentro de Ubuntu para WSL como si fuera Linux.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Opción 2: Docker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docker run --name redis -p 6379:6379 -d redis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VERIFICACIÓN DE INSTALACIÓN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302806" y="3579877"/>
            <a:ext cx="6036000" cy="204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Iniciar cliente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Comandos básicos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hola "mundo"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hola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5" name="Google Shape;215;p1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ARCHIVO DE CONFIGURACIÓN REDIS.CONF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📂 Ubicación común: /etc/redis/redis.conf (Linux)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Parámetros clave: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bind 127.0.0.1 – define desde qué IPs se permite conexión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protected-mode yes – bloquea conexiones externas sin contraseña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requirepass – agrega autenticación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appendonly yes – activa persistencia en disco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Edita y reinicia Redis para aplicar cambios: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sudo systemctl restart redis.service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REDIS: CLAVES Y STRINGS COMO ESTRUCTURA DE DATOS BASE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UNA CLAVE EN REDIS?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🔑 En Redis, toda estructura comienza con una clave única que sirve para: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Identificar un dato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Asociarlo con un valor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Organizar información por nombres o patrones (user:1, product:42)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Las claves son cadenas de texto (máx. 512 MB) y se acceden en O(1) (tiempo constante).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 STRING EN REDIS?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1464045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🧾 El tipo más básico y común de valor en Redis.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Puede almacenar: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Texto plano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Números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JSON, XML u otros formatos serializados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Binarios (hasta 512 MB por string)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trata strings como valores atómicos, pero también permite operaciones con ellos.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879458" y="48133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BÁSICOS CON STRINGS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464045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Crear o modificar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nombre "Carlos"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Leer valor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GET nombre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Verificar existencia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EXISTS nombre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Borrar clave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DEL nombre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1879458" y="48133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ADICIONALES CON STRINGS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464045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Concatenar o sobrescribir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APPEND nombre " Pérez"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Incrementar valor numérico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INCR visitas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Establecer expiración (TTL)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temporal "datos" EX 60  # Expira en 60 segundo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2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69" name="Google Shape;269;p21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21"/>
          <p:cNvSpPr txBox="1"/>
          <p:nvPr/>
        </p:nvSpPr>
        <p:spPr>
          <a:xfrm>
            <a:off x="11879458" y="48133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BUENAS PRÁCTICAS CON CLAVES Y STRINGS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464045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Usar prefijos jerárquicos: user:1001:name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Evitar claves demasiado largas o genéricas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Cuidar el uso de INCR con valores no numéricos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Usar TTL para valores temporales o caducables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Redis es eficiente, pero no persistente por defecto, así que los TTL pueden evitar acumulación.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ESTRUCTURAS AVANZADAS EN REDIS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84" name="Google Shape;284;p2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5" name="Google Shape;285;p2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HASH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Estructura de tipo diccionario dentro de una clave.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Ideal para representar objetos (como JSON):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HMSET user:1001 name "Ana" age "30"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HGETALL user:1001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HGET user:1001 name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Perfiles de usuario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Configuraciones agrupadas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Inventarios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2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94" name="Google Shape;294;p2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95" name="Google Shape;295;p2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LIST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302806" y="3579877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Lista enlazada de valores ordenados (puede contener duplicados).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Operaciones principales: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LPUSH tareas "limpiar"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RPUSH tareas "estudiar"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LRANGE tareas 0 -1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LPOP tareas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Colas FIFO/LIFO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Historial de acciones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Feeds de noticias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04" name="Google Shape;304;p25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5" name="Google Shape;305;p2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5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 SET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Conjunto no ordenado y sin duplicados.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Operaciones comunes: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SADD amigos "Luis" "Sofi" "Ana"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SMEMBERS amigos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SISMEMBER amigos "Sofi"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Intereses únicos de un usuario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Etiquetas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Sistemas de recomendación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6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14" name="Google Shape;314;p26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REDIS SORTED SET (ZSET)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Conjunto ordenado por puntuación numérica (ranking).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Cada elemento tiene un score: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ZADD ranking 100 "Mario"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ZADD ranking 120 "Luis"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ZRANGE ranking 0 -1 WITHSCORES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Aplicaciones: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Clasificaciones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Reputación de usuarios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Juegos y competiciones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PUB/SUB Y TRANSACCIONES EN REDIS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8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29" name="Google Shape;329;p28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30" name="Google Shape;330;p2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8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PUB/SUB EN REDIS?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📢 Publicar/Suscribirse es un sistema de mensajería nativo en Redis: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Publisher: envía un mensaje a un canal.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Subscriber: escucha el canal y recibe el mensaje.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Comunicación asíncrona, en tiempo real, entre procesos o servicios.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9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2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39" name="Google Shape;339;p29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0" name="Google Shape;340;p2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2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PUB/SUB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1302806" y="3579877"/>
            <a:ext cx="6036000" cy="5127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Cliente A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SUBSCRIBE noticias</a:t>
            </a:r>
            <a:endParaRPr/>
          </a:p>
          <a:p>
            <a:pPr marL="388628" marR="0" lvl="1" indent="-800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# Cliente B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PUBLISH noticias "Redis es increíble"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Muchos clientes pueden suscribirse a un mismo canal.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❌ No hay persistencia: si nadie escucha, el mensaje se pierde.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🔧 Usos: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Chats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Procesamiento en tiempo real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3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49" name="Google Shape;349;p30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0" name="Google Shape;350;p3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3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UNA TRANSACCIÓN EN REDIS?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🔒 Agrupación de comandos que se ejecutan de forma atómica.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Usos: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Evitar condiciones de carrera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Garantizar integridad mínima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MULTI        -- Inicia la transacción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clave1 "valor"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INCR contador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EXEC         -- Ejecuta todos juntos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3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359" name="Google Shape;359;p31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0" name="Google Shape;360;p3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1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CONDICIONALES CON WATCH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1189939" y="4624452"/>
            <a:ext cx="6036000" cy="1355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WATCH saldo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MULTI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DECR saldo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EXEC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OPTIMIZACIÓN Y BUENAS PRÁCTICAS EN REDIS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3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74" name="Google Shape;374;p3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75" name="Google Shape;375;p3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33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USO EFICIENTE DE TIPOS DE DATOS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el tipo correcto para cada caso: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String: para valores simples o contadores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Hash: para representar objetos estructurados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List: para colas ordenadas (FIFO/LIFO)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y ZSet: para elementos únicos y rankings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Usar Hash en lugar de múltiples claves reduce consumo de memoria.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4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84" name="Google Shape;384;p3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85" name="Google Shape;385;p3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BUENAS PRÁCTICAS DE CLAVES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user:1001:name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user:1001:email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Agrupa lógicamente los datos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Facilita filtros y comandos masivos (SCAN, KEYS)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⚠️ Evita claves muy largas o extremadamente genéricas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Prefiere SCAN en vez de KEYS en producción (más seguro y eficiente).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35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394" name="Google Shape;394;p35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95" name="Google Shape;395;p3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3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DE EXPIRACIÓN (TTL)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1302806" y="3579877"/>
            <a:ext cx="6036000" cy="409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📆 Usa expiraciones para: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Datos temporales (tokens, sesiones)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Contenido cacheado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Contadores por tiempo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SET token:abc123 "userID" EX 3600  # expira en 1h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Evita llenado innecesario de memoria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Usa EXPIRE, EX, TTL, PERSIST y revisa estadísticas con INFO memory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6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36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404" name="Google Shape;404;p36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05" name="Google Shape;405;p3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36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 Y RENDIMIENTO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1302806" y="3579877"/>
            <a:ext cx="6036000" cy="272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Usa Redis en modo clúster para alta disponibilidad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Apóyate en réplicas (replicaof) para balancear carga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 tu carga es intensa, evalúa usar pipeline para múltiples comandos: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redis-cli --pipe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7"/>
          <p:cNvPicPr preferRelativeResize="0"/>
          <p:nvPr/>
        </p:nvPicPr>
        <p:blipFill rotWithShape="1">
          <a:blip r:embed="rId3">
            <a:alphaModFix/>
          </a:blip>
          <a:srcRect l="20388" r="20388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7"/>
          <p:cNvGrpSpPr/>
          <p:nvPr/>
        </p:nvGrpSpPr>
        <p:grpSpPr>
          <a:xfrm>
            <a:off x="9144000" y="-289776"/>
            <a:ext cx="9144000" cy="10431661"/>
            <a:chOff x="0" y="-38100"/>
            <a:chExt cx="2408296" cy="2747433"/>
          </a:xfrm>
        </p:grpSpPr>
        <p:sp>
          <p:nvSpPr>
            <p:cNvPr id="414" name="Google Shape;414;p37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5" name="Google Shape;415;p3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 Y PERSISTENCIA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🔒 Recomendaciones: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Usa requirepass y desactiva CONFIG, FLUSHALL en producción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Limita acceso por IP (bind)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Activa solo los módulos necesarios</a:t>
            </a:r>
            <a:endParaRPr/>
          </a:p>
          <a:p>
            <a:pPr marL="388628" marR="0" lvl="1" indent="-194313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Elige persistencia según caso:</a:t>
            </a:r>
            <a:endParaRPr/>
          </a:p>
          <a:p>
            <a:pPr marL="777256" marR="0" lvl="2" indent="-259085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RDB: snapshots programadas</a:t>
            </a:r>
            <a:endParaRPr/>
          </a:p>
          <a:p>
            <a:pPr marL="777256" marR="0" lvl="2" indent="-259085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AOF: registro completo de comandos</a:t>
            </a:r>
            <a:endParaRPr/>
          </a:p>
          <a:p>
            <a:pPr marL="777256" marR="0" lvl="2" indent="-259085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⚬"/>
            </a:pPr>
            <a:r>
              <a:rPr lang="en-US" sz="1800" b="0" i="0" u="none" strike="noStrike" cap="non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Ambos: para máxima seguridad</a:t>
            </a:r>
            <a:endParaRPr/>
          </a:p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5481642" y="3855388"/>
            <a:ext cx="7324716" cy="89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PRACTIC</a:t>
            </a:r>
            <a:r>
              <a:rPr lang="en-US" sz="4167" b="1" dirty="0">
                <a:solidFill>
                  <a:srgbClr val="FFFFFF"/>
                </a:solidFill>
              </a:rPr>
              <a:t>O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2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6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Plantilla Presentación Curso" id="{CD0EBDCC-ACEA-44F7-BBEF-41F28CE12FBF}" vid="{CB9508FE-2F84-4A93-9F03-22588BA20BE4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1511</Words>
  <Application>Microsoft Office PowerPoint</Application>
  <PresentationFormat>Personalizado</PresentationFormat>
  <Paragraphs>282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40</vt:i4>
      </vt:variant>
    </vt:vector>
  </HeadingPairs>
  <TitlesOfParts>
    <vt:vector size="47" baseType="lpstr">
      <vt:lpstr>Arial</vt:lpstr>
      <vt:lpstr>Calibri</vt:lpstr>
      <vt:lpstr>Lobster</vt:lpstr>
      <vt:lpstr>Open Sans</vt:lpstr>
      <vt:lpstr>Pacifico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otto olivarez</cp:lastModifiedBy>
  <cp:revision>3</cp:revision>
  <dcterms:created xsi:type="dcterms:W3CDTF">2006-08-16T00:00:00Z</dcterms:created>
  <dcterms:modified xsi:type="dcterms:W3CDTF">2025-12-12T17:36:08Z</dcterms:modified>
</cp:coreProperties>
</file>