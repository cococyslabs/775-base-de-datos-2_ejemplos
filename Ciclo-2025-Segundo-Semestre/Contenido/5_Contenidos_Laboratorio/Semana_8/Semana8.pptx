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nton" charset="1" panose="00000500000000000000"/>
      <p:regular r:id="rId27"/>
    </p:embeddedFont>
    <p:embeddedFont>
      <p:font typeface="Montserrat Bold" charset="1" panose="00000800000000000000"/>
      <p:regular r:id="rId28"/>
    </p:embeddedFont>
    <p:embeddedFont>
      <p:font typeface="Raleway Medium" charset="1" panose="00000000000000000000"/>
      <p:regular r:id="rId29"/>
    </p:embeddedFont>
    <p:embeddedFont>
      <p:font typeface="Canva Sans Bold" charset="1" panose="020B0803030501040103"/>
      <p:regular r:id="rId30"/>
    </p:embeddedFont>
    <p:embeddedFont>
      <p:font typeface="Canva Sans" charset="1" panose="020B0503030501040103"/>
      <p:regular r:id="rId31"/>
    </p:embeddedFont>
    <p:embeddedFont>
      <p:font typeface="Raleway" charset="1" panose="00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3.pn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3.pn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3.pn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3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05207" y="682599"/>
            <a:ext cx="9404563" cy="940456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73139" y="1450531"/>
            <a:ext cx="7868699" cy="786869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385050" y="1185951"/>
            <a:ext cx="5644877" cy="7564324"/>
          </a:xfrm>
          <a:custGeom>
            <a:avLst/>
            <a:gdLst/>
            <a:ahLst/>
            <a:cxnLst/>
            <a:rect r="r" b="b" t="t" l="l"/>
            <a:pathLst>
              <a:path h="7564324" w="5644877">
                <a:moveTo>
                  <a:pt x="0" y="0"/>
                </a:moveTo>
                <a:lnTo>
                  <a:pt x="5644877" y="0"/>
                </a:lnTo>
                <a:lnTo>
                  <a:pt x="5644877" y="7564324"/>
                </a:lnTo>
                <a:lnTo>
                  <a:pt x="0" y="7564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242509" y="3503495"/>
            <a:ext cx="1030630" cy="103063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4483810" y="4968113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450958" y="6480769"/>
            <a:ext cx="478436" cy="837524"/>
          </a:xfrm>
          <a:custGeom>
            <a:avLst/>
            <a:gdLst/>
            <a:ahLst/>
            <a:cxnLst/>
            <a:rect r="r" b="b" t="t" l="l"/>
            <a:pathLst>
              <a:path h="837524" w="478436">
                <a:moveTo>
                  <a:pt x="0" y="0"/>
                </a:moveTo>
                <a:lnTo>
                  <a:pt x="478436" y="0"/>
                </a:lnTo>
                <a:lnTo>
                  <a:pt x="478436" y="837525"/>
                </a:lnTo>
                <a:lnTo>
                  <a:pt x="0" y="837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73997" y="3257776"/>
            <a:ext cx="6968511" cy="269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9"/>
              </a:lnSpc>
            </a:pPr>
            <a:r>
              <a:rPr lang="en-US" sz="99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SISTEMAS DISTRIBUIDOS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3997" y="1077786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3997" y="6149465"/>
            <a:ext cx="6968511" cy="168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59"/>
              </a:lnSpc>
            </a:pPr>
            <a:r>
              <a:rPr lang="en-US" sz="12247">
                <a:solidFill>
                  <a:srgbClr val="C4459F"/>
                </a:solidFill>
                <a:latin typeface="Anton"/>
                <a:ea typeface="Anton"/>
                <a:cs typeface="Anton"/>
                <a:sym typeface="Anton"/>
              </a:rPr>
              <a:t>SEMANA 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47727" y="-1077507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424567" y="3676282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89108" y="212384"/>
            <a:ext cx="9404563" cy="94045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557040" y="980316"/>
            <a:ext cx="7868699" cy="786869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526409" y="3033280"/>
            <a:ext cx="1030630" cy="103063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29807" y="1414026"/>
            <a:ext cx="7001279" cy="700127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4906" r="0" b="-2490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23617" y="3042079"/>
            <a:ext cx="7355471" cy="264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BASES DE DATOS NOSQL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3617" y="5904515"/>
            <a:ext cx="9207880" cy="34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Las bases de datos NoSQL (“Not Only SQL”) son sistemas de gestión de bases de datos que rompen con el modelo relacional tradicional. 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Fueron diseñadas para resolver los desafíos de escalabilidad, flexibilidad y rendimiento en aplicaciones modernas como redes sociales, e-commerce, análisis en tiempo real y big data.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3997" y="1077786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47727" y="-1077507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424567" y="3676282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89108" y="212384"/>
            <a:ext cx="9404563" cy="94045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557040" y="980316"/>
            <a:ext cx="7868699" cy="786869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526409" y="3033280"/>
            <a:ext cx="1030630" cy="103063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29807" y="1414026"/>
            <a:ext cx="7001279" cy="700127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4906" r="0" b="-2490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23617" y="3042079"/>
            <a:ext cx="7355471" cy="264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BASES DE DATOS NOSQL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3617" y="5904515"/>
            <a:ext cx="9207880" cy="262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Surgen a partir de la década del 2000 con empresas como Google, Amazon y Facebook enfrentando límites en escalabilidad y rendimiento de las bases de datos relacionales tradicionales (RDBMS). El artículo Bigtable de Google y el sistema Dynamo de Amazon son considerados pioneros.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3997" y="1077786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47727" y="-1077507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424567" y="3676282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89108" y="212384"/>
            <a:ext cx="9404563" cy="94045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557040" y="980316"/>
            <a:ext cx="7868699" cy="786869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526409" y="3033280"/>
            <a:ext cx="1030630" cy="103063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29807" y="1414026"/>
            <a:ext cx="7001279" cy="700127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4906" r="0" b="-2490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23617" y="3042079"/>
            <a:ext cx="7355471" cy="264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BASES DE DATOS NOSQL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9150" y="5904515"/>
            <a:ext cx="10002348" cy="30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Características comunes: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No utilizan SQL como lenguaje principal.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No requieren esquemas fijos.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No garantizan ACID en todos los casos; suelen preferir CAP.</a:t>
            </a:r>
          </a:p>
          <a:p>
            <a:pPr algn="just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Son más adecuadas para grandes volúmenes de datos, datos semi-estructurados o sin estructura.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73997" y="1077786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005199" y="5842629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55863" y="-3661170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5" y="0"/>
                </a:lnTo>
                <a:lnTo>
                  <a:pt x="963935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290178" y="1945227"/>
          <a:ext cx="16687220" cy="7286625"/>
        </p:xfrm>
        <a:graphic>
          <a:graphicData uri="http://schemas.openxmlformats.org/drawingml/2006/table">
            <a:tbl>
              <a:tblPr/>
              <a:tblGrid>
                <a:gridCol w="3065580"/>
                <a:gridCol w="6817568"/>
                <a:gridCol w="6804072"/>
              </a:tblGrid>
              <a:tr h="10245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Característica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SQL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NoSQL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5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Modelo de datos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Tablas con filas y columnas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Documentos, clave-valor, grafos, columnas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5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Esquema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Rígido y predefinido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Dinámico y flexible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5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Lenguaje de consulta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SQL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Varia (MongoDB usa BSON/JSON, Cassandra CQL)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5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Escalabilidad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Vertical (mejores servidores)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Horizontal (más nodos)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94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Integridad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consistencia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BASE o Eventual Consistency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5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Ejemplos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PostgreSQL, MySQL, Oracle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MongoDB, Cassandra, Redis, Neo4j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301569" y="596505"/>
            <a:ext cx="5684861" cy="134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89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DIFERENCIAS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3997" y="1077786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631083" y="4728739"/>
            <a:ext cx="20887092" cy="5336414"/>
            <a:chOff x="0" y="0"/>
            <a:chExt cx="5501127" cy="14054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01127" cy="1405475"/>
            </a:xfrm>
            <a:custGeom>
              <a:avLst/>
              <a:gdLst/>
              <a:ahLst/>
              <a:cxnLst/>
              <a:rect r="r" b="b" t="t" l="l"/>
              <a:pathLst>
                <a:path h="1405475" w="5501127">
                  <a:moveTo>
                    <a:pt x="18903" y="0"/>
                  </a:moveTo>
                  <a:lnTo>
                    <a:pt x="5482224" y="0"/>
                  </a:lnTo>
                  <a:cubicBezTo>
                    <a:pt x="5492664" y="0"/>
                    <a:pt x="5501127" y="8463"/>
                    <a:pt x="5501127" y="18903"/>
                  </a:cubicBezTo>
                  <a:lnTo>
                    <a:pt x="5501127" y="1386572"/>
                  </a:lnTo>
                  <a:cubicBezTo>
                    <a:pt x="5501127" y="1391585"/>
                    <a:pt x="5499135" y="1396394"/>
                    <a:pt x="5495590" y="1399939"/>
                  </a:cubicBezTo>
                  <a:cubicBezTo>
                    <a:pt x="5492045" y="1403484"/>
                    <a:pt x="5487237" y="1405475"/>
                    <a:pt x="5482224" y="1405475"/>
                  </a:cubicBezTo>
                  <a:lnTo>
                    <a:pt x="18903" y="1405475"/>
                  </a:lnTo>
                  <a:cubicBezTo>
                    <a:pt x="13890" y="1405475"/>
                    <a:pt x="9082" y="1403484"/>
                    <a:pt x="5537" y="1399939"/>
                  </a:cubicBezTo>
                  <a:cubicBezTo>
                    <a:pt x="1992" y="1396394"/>
                    <a:pt x="0" y="1391585"/>
                    <a:pt x="0" y="1386572"/>
                  </a:cubicBezTo>
                  <a:lnTo>
                    <a:pt x="0" y="18903"/>
                  </a:lnTo>
                  <a:cubicBezTo>
                    <a:pt x="0" y="13890"/>
                    <a:pt x="1992" y="9082"/>
                    <a:pt x="5537" y="5537"/>
                  </a:cubicBezTo>
                  <a:cubicBezTo>
                    <a:pt x="9082" y="1992"/>
                    <a:pt x="13890" y="0"/>
                    <a:pt x="18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501127" cy="144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4005199" y="5842629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53032" y="1914784"/>
            <a:ext cx="8781937" cy="26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89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TIPOS DE BASES DE DATOS NOSQL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71586" y="5785479"/>
            <a:ext cx="10358836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as bases de datos NoSQL se clasifican en cuatro tipos principales, según el modelo de almacenamiento y acceso a los datos. Cada una está optimizada para un tipo específico de caso de uso y patrones de acceso a datos.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6128515" y="6992974"/>
            <a:ext cx="4318969" cy="4114800"/>
          </a:xfrm>
          <a:custGeom>
            <a:avLst/>
            <a:gdLst/>
            <a:ahLst/>
            <a:cxnLst/>
            <a:rect r="r" b="b" t="t" l="l"/>
            <a:pathLst>
              <a:path h="4114800" w="4318969">
                <a:moveTo>
                  <a:pt x="4318970" y="0"/>
                </a:moveTo>
                <a:lnTo>
                  <a:pt x="0" y="0"/>
                </a:lnTo>
                <a:lnTo>
                  <a:pt x="0" y="4114800"/>
                </a:lnTo>
                <a:lnTo>
                  <a:pt x="4318970" y="4114800"/>
                </a:lnTo>
                <a:lnTo>
                  <a:pt x="431897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55863" y="-3661170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5" y="0"/>
                </a:lnTo>
                <a:lnTo>
                  <a:pt x="963935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73997" y="1077786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61129" y="1270794"/>
            <a:ext cx="6700867" cy="7470139"/>
            <a:chOff x="0" y="0"/>
            <a:chExt cx="960026" cy="10702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0026" cy="1070239"/>
            </a:xfrm>
            <a:custGeom>
              <a:avLst/>
              <a:gdLst/>
              <a:ahLst/>
              <a:cxnLst/>
              <a:rect r="r" b="b" t="t" l="l"/>
              <a:pathLst>
                <a:path h="1070239" w="960026">
                  <a:moveTo>
                    <a:pt x="480013" y="0"/>
                  </a:moveTo>
                  <a:cubicBezTo>
                    <a:pt x="214909" y="0"/>
                    <a:pt x="0" y="239581"/>
                    <a:pt x="0" y="535119"/>
                  </a:cubicBezTo>
                  <a:cubicBezTo>
                    <a:pt x="0" y="830658"/>
                    <a:pt x="214909" y="1070239"/>
                    <a:pt x="480013" y="1070239"/>
                  </a:cubicBezTo>
                  <a:cubicBezTo>
                    <a:pt x="745117" y="1070239"/>
                    <a:pt x="960026" y="830658"/>
                    <a:pt x="960026" y="535119"/>
                  </a:cubicBezTo>
                  <a:cubicBezTo>
                    <a:pt x="960026" y="239581"/>
                    <a:pt x="745117" y="0"/>
                    <a:pt x="4800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90002" y="62235"/>
              <a:ext cx="780021" cy="907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710360" y="-5074466"/>
            <a:ext cx="18778525" cy="9696548"/>
          </a:xfrm>
          <a:custGeom>
            <a:avLst/>
            <a:gdLst/>
            <a:ahLst/>
            <a:cxnLst/>
            <a:rect r="r" b="b" t="t" l="l"/>
            <a:pathLst>
              <a:path h="9696548" w="18778525">
                <a:moveTo>
                  <a:pt x="0" y="0"/>
                </a:moveTo>
                <a:lnTo>
                  <a:pt x="18778525" y="0"/>
                </a:lnTo>
                <a:lnTo>
                  <a:pt x="18778525" y="9696548"/>
                </a:lnTo>
                <a:lnTo>
                  <a:pt x="0" y="96965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766985" y="7261682"/>
            <a:ext cx="5814884" cy="4964457"/>
          </a:xfrm>
          <a:custGeom>
            <a:avLst/>
            <a:gdLst/>
            <a:ahLst/>
            <a:cxnLst/>
            <a:rect r="r" b="b" t="t" l="l"/>
            <a:pathLst>
              <a:path h="4964457" w="5814884">
                <a:moveTo>
                  <a:pt x="0" y="0"/>
                </a:moveTo>
                <a:lnTo>
                  <a:pt x="5814883" y="0"/>
                </a:lnTo>
                <a:lnTo>
                  <a:pt x="5814883" y="4964457"/>
                </a:lnTo>
                <a:lnTo>
                  <a:pt x="0" y="49644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6000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958329" y="6521255"/>
            <a:ext cx="957589" cy="95758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38190" y="2514937"/>
            <a:ext cx="4746745" cy="47467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3981267"/>
            <a:ext cx="621722" cy="62172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583708" y="2776570"/>
            <a:ext cx="4223480" cy="422348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6666" t="0" r="-16666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092676" y="6655602"/>
            <a:ext cx="688895" cy="68889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44000" y="3042079"/>
            <a:ext cx="7355471" cy="1343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CLAVE-VALOR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62998" y="4545838"/>
            <a:ext cx="9455455" cy="481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Modelo de datos: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Almacenan datos como pares clave-valor.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Similar a un Map, HashTable o Diccionario.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No hay estructura interna: el valor puede ser texto, JSON, binario, etc.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Características: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Lectura/escritura extremadamente rápida.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No permite búsquedas por valor (solo por clave).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Generalmente se almacena todo en memoria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4367693" y="8634669"/>
            <a:ext cx="243870" cy="24387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821735" y="990600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61129" y="1270794"/>
            <a:ext cx="6700867" cy="7470139"/>
            <a:chOff x="0" y="0"/>
            <a:chExt cx="960026" cy="10702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0026" cy="1070239"/>
            </a:xfrm>
            <a:custGeom>
              <a:avLst/>
              <a:gdLst/>
              <a:ahLst/>
              <a:cxnLst/>
              <a:rect r="r" b="b" t="t" l="l"/>
              <a:pathLst>
                <a:path h="1070239" w="960026">
                  <a:moveTo>
                    <a:pt x="480013" y="0"/>
                  </a:moveTo>
                  <a:cubicBezTo>
                    <a:pt x="214909" y="0"/>
                    <a:pt x="0" y="239581"/>
                    <a:pt x="0" y="535119"/>
                  </a:cubicBezTo>
                  <a:cubicBezTo>
                    <a:pt x="0" y="830658"/>
                    <a:pt x="214909" y="1070239"/>
                    <a:pt x="480013" y="1070239"/>
                  </a:cubicBezTo>
                  <a:cubicBezTo>
                    <a:pt x="745117" y="1070239"/>
                    <a:pt x="960026" y="830658"/>
                    <a:pt x="960026" y="535119"/>
                  </a:cubicBezTo>
                  <a:cubicBezTo>
                    <a:pt x="960026" y="239581"/>
                    <a:pt x="745117" y="0"/>
                    <a:pt x="4800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90002" y="62235"/>
              <a:ext cx="780021" cy="907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710360" y="-5074466"/>
            <a:ext cx="18778525" cy="9696548"/>
          </a:xfrm>
          <a:custGeom>
            <a:avLst/>
            <a:gdLst/>
            <a:ahLst/>
            <a:cxnLst/>
            <a:rect r="r" b="b" t="t" l="l"/>
            <a:pathLst>
              <a:path h="9696548" w="18778525">
                <a:moveTo>
                  <a:pt x="0" y="0"/>
                </a:moveTo>
                <a:lnTo>
                  <a:pt x="18778525" y="0"/>
                </a:lnTo>
                <a:lnTo>
                  <a:pt x="18778525" y="9696548"/>
                </a:lnTo>
                <a:lnTo>
                  <a:pt x="0" y="96965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766985" y="7261682"/>
            <a:ext cx="5814884" cy="4964457"/>
          </a:xfrm>
          <a:custGeom>
            <a:avLst/>
            <a:gdLst/>
            <a:ahLst/>
            <a:cxnLst/>
            <a:rect r="r" b="b" t="t" l="l"/>
            <a:pathLst>
              <a:path h="4964457" w="5814884">
                <a:moveTo>
                  <a:pt x="0" y="0"/>
                </a:moveTo>
                <a:lnTo>
                  <a:pt x="5814883" y="0"/>
                </a:lnTo>
                <a:lnTo>
                  <a:pt x="5814883" y="4964457"/>
                </a:lnTo>
                <a:lnTo>
                  <a:pt x="0" y="49644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6000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958329" y="6521255"/>
            <a:ext cx="957589" cy="95758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38190" y="2514937"/>
            <a:ext cx="4746745" cy="47467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3981267"/>
            <a:ext cx="621722" cy="62172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583708" y="2776570"/>
            <a:ext cx="4223480" cy="422348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6666" t="0" r="-16666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092676" y="6655602"/>
            <a:ext cx="688895" cy="68889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44000" y="3042079"/>
            <a:ext cx="7355471" cy="1343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CLAVE-VALOR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62998" y="4545838"/>
            <a:ext cx="9455455" cy="393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Casos de uso: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Siste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mas de caché (memorización de resultados).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Gest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ión de sesiones de usuario.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Alm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acenamiento de tokens, preferencias, resultados de consultas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Desventajas: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Búsquedas complejas no son posibles.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No ad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ecuado para relaciones entre datos.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367693" y="8634669"/>
            <a:ext cx="243870" cy="24387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821735" y="990600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61129" y="1270794"/>
            <a:ext cx="6700867" cy="7470139"/>
            <a:chOff x="0" y="0"/>
            <a:chExt cx="960026" cy="10702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0026" cy="1070239"/>
            </a:xfrm>
            <a:custGeom>
              <a:avLst/>
              <a:gdLst/>
              <a:ahLst/>
              <a:cxnLst/>
              <a:rect r="r" b="b" t="t" l="l"/>
              <a:pathLst>
                <a:path h="1070239" w="960026">
                  <a:moveTo>
                    <a:pt x="480013" y="0"/>
                  </a:moveTo>
                  <a:cubicBezTo>
                    <a:pt x="214909" y="0"/>
                    <a:pt x="0" y="239581"/>
                    <a:pt x="0" y="535119"/>
                  </a:cubicBezTo>
                  <a:cubicBezTo>
                    <a:pt x="0" y="830658"/>
                    <a:pt x="214909" y="1070239"/>
                    <a:pt x="480013" y="1070239"/>
                  </a:cubicBezTo>
                  <a:cubicBezTo>
                    <a:pt x="745117" y="1070239"/>
                    <a:pt x="960026" y="830658"/>
                    <a:pt x="960026" y="535119"/>
                  </a:cubicBezTo>
                  <a:cubicBezTo>
                    <a:pt x="960026" y="239581"/>
                    <a:pt x="745117" y="0"/>
                    <a:pt x="4800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90002" y="62235"/>
              <a:ext cx="780021" cy="907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710360" y="-5074466"/>
            <a:ext cx="18778525" cy="9696548"/>
          </a:xfrm>
          <a:custGeom>
            <a:avLst/>
            <a:gdLst/>
            <a:ahLst/>
            <a:cxnLst/>
            <a:rect r="r" b="b" t="t" l="l"/>
            <a:pathLst>
              <a:path h="9696548" w="18778525">
                <a:moveTo>
                  <a:pt x="0" y="0"/>
                </a:moveTo>
                <a:lnTo>
                  <a:pt x="18778525" y="0"/>
                </a:lnTo>
                <a:lnTo>
                  <a:pt x="18778525" y="9696548"/>
                </a:lnTo>
                <a:lnTo>
                  <a:pt x="0" y="96965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766985" y="7261682"/>
            <a:ext cx="5814884" cy="4964457"/>
          </a:xfrm>
          <a:custGeom>
            <a:avLst/>
            <a:gdLst/>
            <a:ahLst/>
            <a:cxnLst/>
            <a:rect r="r" b="b" t="t" l="l"/>
            <a:pathLst>
              <a:path h="4964457" w="5814884">
                <a:moveTo>
                  <a:pt x="0" y="0"/>
                </a:moveTo>
                <a:lnTo>
                  <a:pt x="5814883" y="0"/>
                </a:lnTo>
                <a:lnTo>
                  <a:pt x="5814883" y="4964457"/>
                </a:lnTo>
                <a:lnTo>
                  <a:pt x="0" y="49644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6000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958329" y="6521255"/>
            <a:ext cx="957589" cy="95758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38190" y="2514937"/>
            <a:ext cx="4746745" cy="47467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3981267"/>
            <a:ext cx="621722" cy="62172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583708" y="2776570"/>
            <a:ext cx="4223480" cy="422348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6666" t="0" r="-16666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092676" y="6655602"/>
            <a:ext cx="688895" cy="68889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44000" y="3042079"/>
            <a:ext cx="7355471" cy="1343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CLAVE-VALOR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62998" y="4545838"/>
            <a:ext cx="9455455" cy="30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Ejemplo de b</a:t>
            </a: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ase de datos: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Redis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(RAM), Riak KV, 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Am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azon DynamoDB (en modo clave-valor)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Ejemplo real: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Twitter usa Redis para almacenar sesiones y timelines cacheados.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367693" y="8634669"/>
            <a:ext cx="243870" cy="24387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821735" y="990600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10360" y="-5074466"/>
            <a:ext cx="18778525" cy="9696548"/>
          </a:xfrm>
          <a:custGeom>
            <a:avLst/>
            <a:gdLst/>
            <a:ahLst/>
            <a:cxnLst/>
            <a:rect r="r" b="b" t="t" l="l"/>
            <a:pathLst>
              <a:path h="9696548" w="18778525">
                <a:moveTo>
                  <a:pt x="0" y="0"/>
                </a:moveTo>
                <a:lnTo>
                  <a:pt x="18778525" y="0"/>
                </a:lnTo>
                <a:lnTo>
                  <a:pt x="18778525" y="9696548"/>
                </a:lnTo>
                <a:lnTo>
                  <a:pt x="0" y="96965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66985" y="7261682"/>
            <a:ext cx="5814884" cy="4964457"/>
          </a:xfrm>
          <a:custGeom>
            <a:avLst/>
            <a:gdLst/>
            <a:ahLst/>
            <a:cxnLst/>
            <a:rect r="r" b="b" t="t" l="l"/>
            <a:pathLst>
              <a:path h="4964457" w="5814884">
                <a:moveTo>
                  <a:pt x="0" y="0"/>
                </a:moveTo>
                <a:lnTo>
                  <a:pt x="5814883" y="0"/>
                </a:lnTo>
                <a:lnTo>
                  <a:pt x="5814883" y="4964457"/>
                </a:lnTo>
                <a:lnTo>
                  <a:pt x="0" y="49644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4841" y="3307527"/>
            <a:ext cx="14858317" cy="3671947"/>
          </a:xfrm>
          <a:custGeom>
            <a:avLst/>
            <a:gdLst/>
            <a:ahLst/>
            <a:cxnLst/>
            <a:rect r="r" b="b" t="t" l="l"/>
            <a:pathLst>
              <a:path h="3671947" w="14858317">
                <a:moveTo>
                  <a:pt x="0" y="0"/>
                </a:moveTo>
                <a:lnTo>
                  <a:pt x="14858318" y="0"/>
                </a:lnTo>
                <a:lnTo>
                  <a:pt x="14858318" y="3671946"/>
                </a:lnTo>
                <a:lnTo>
                  <a:pt x="0" y="3671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920" t="-26902" r="-12418" b="-2334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821735" y="990600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34221" y="-446483"/>
            <a:ext cx="9993248" cy="8531735"/>
          </a:xfrm>
          <a:custGeom>
            <a:avLst/>
            <a:gdLst/>
            <a:ahLst/>
            <a:cxnLst/>
            <a:rect r="r" b="b" t="t" l="l"/>
            <a:pathLst>
              <a:path h="8531735" w="9993248">
                <a:moveTo>
                  <a:pt x="0" y="0"/>
                </a:moveTo>
                <a:lnTo>
                  <a:pt x="9993248" y="0"/>
                </a:lnTo>
                <a:lnTo>
                  <a:pt x="9993248" y="8531735"/>
                </a:lnTo>
                <a:lnTo>
                  <a:pt x="0" y="85317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380599"/>
            <a:ext cx="6918063" cy="5525803"/>
          </a:xfrm>
          <a:custGeom>
            <a:avLst/>
            <a:gdLst/>
            <a:ahLst/>
            <a:cxnLst/>
            <a:rect r="r" b="b" t="t" l="l"/>
            <a:pathLst>
              <a:path h="5525803" w="6918063">
                <a:moveTo>
                  <a:pt x="0" y="0"/>
                </a:moveTo>
                <a:lnTo>
                  <a:pt x="6918063" y="0"/>
                </a:lnTo>
                <a:lnTo>
                  <a:pt x="6918063" y="5525802"/>
                </a:lnTo>
                <a:lnTo>
                  <a:pt x="0" y="5525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827914" y="0"/>
            <a:ext cx="7315200" cy="2646772"/>
          </a:xfrm>
          <a:custGeom>
            <a:avLst/>
            <a:gdLst/>
            <a:ahLst/>
            <a:cxnLst/>
            <a:rect r="r" b="b" t="t" l="l"/>
            <a:pathLst>
              <a:path h="2646772" w="7315200">
                <a:moveTo>
                  <a:pt x="0" y="0"/>
                </a:moveTo>
                <a:lnTo>
                  <a:pt x="7315200" y="0"/>
                </a:lnTo>
                <a:lnTo>
                  <a:pt x="7315200" y="2646772"/>
                </a:lnTo>
                <a:lnTo>
                  <a:pt x="0" y="26467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4000" y="3042079"/>
            <a:ext cx="7355471" cy="1343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DOCUMENTALES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04276" y="4901924"/>
            <a:ext cx="9758466" cy="34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Modelo de datos: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Almacenan documentos JSON, BSON (MongoDB), XML, etc.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Cada documento es una unidad autocontenida.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Permite estructuras anidadas y complejas.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Características: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Flexible: no requiere esquema predefinido.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Soporta índices, agregaciones y consultas avanzadas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21735" y="990600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34221" y="-446483"/>
            <a:ext cx="9993248" cy="8531735"/>
          </a:xfrm>
          <a:custGeom>
            <a:avLst/>
            <a:gdLst/>
            <a:ahLst/>
            <a:cxnLst/>
            <a:rect r="r" b="b" t="t" l="l"/>
            <a:pathLst>
              <a:path h="8531735" w="9993248">
                <a:moveTo>
                  <a:pt x="0" y="0"/>
                </a:moveTo>
                <a:lnTo>
                  <a:pt x="9993248" y="0"/>
                </a:lnTo>
                <a:lnTo>
                  <a:pt x="9993248" y="8531735"/>
                </a:lnTo>
                <a:lnTo>
                  <a:pt x="0" y="85317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380599"/>
            <a:ext cx="6918063" cy="5525803"/>
          </a:xfrm>
          <a:custGeom>
            <a:avLst/>
            <a:gdLst/>
            <a:ahLst/>
            <a:cxnLst/>
            <a:rect r="r" b="b" t="t" l="l"/>
            <a:pathLst>
              <a:path h="5525803" w="6918063">
                <a:moveTo>
                  <a:pt x="0" y="0"/>
                </a:moveTo>
                <a:lnTo>
                  <a:pt x="6918063" y="0"/>
                </a:lnTo>
                <a:lnTo>
                  <a:pt x="6918063" y="5525802"/>
                </a:lnTo>
                <a:lnTo>
                  <a:pt x="0" y="5525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827914" y="0"/>
            <a:ext cx="7315200" cy="2646772"/>
          </a:xfrm>
          <a:custGeom>
            <a:avLst/>
            <a:gdLst/>
            <a:ahLst/>
            <a:cxnLst/>
            <a:rect r="r" b="b" t="t" l="l"/>
            <a:pathLst>
              <a:path h="2646772" w="7315200">
                <a:moveTo>
                  <a:pt x="0" y="0"/>
                </a:moveTo>
                <a:lnTo>
                  <a:pt x="7315200" y="0"/>
                </a:lnTo>
                <a:lnTo>
                  <a:pt x="7315200" y="2646772"/>
                </a:lnTo>
                <a:lnTo>
                  <a:pt x="0" y="26467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4000" y="3042079"/>
            <a:ext cx="7355471" cy="1343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DOCUMENTALES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04276" y="4901924"/>
            <a:ext cx="9758466" cy="34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Casos de uso: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Aplicaciones web (backend sin esquema rígido).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CMS (sistemas de gestión de contenido).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ercio electrónico, catálogos de productos, apps móviles.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Desventajas: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Menor eficiencia en relaciones complejas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Puede haber redundancia de datos.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21735" y="990600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34221" y="-446483"/>
            <a:ext cx="9993248" cy="8531735"/>
          </a:xfrm>
          <a:custGeom>
            <a:avLst/>
            <a:gdLst/>
            <a:ahLst/>
            <a:cxnLst/>
            <a:rect r="r" b="b" t="t" l="l"/>
            <a:pathLst>
              <a:path h="8531735" w="9993248">
                <a:moveTo>
                  <a:pt x="0" y="0"/>
                </a:moveTo>
                <a:lnTo>
                  <a:pt x="9993248" y="0"/>
                </a:lnTo>
                <a:lnTo>
                  <a:pt x="9993248" y="8531735"/>
                </a:lnTo>
                <a:lnTo>
                  <a:pt x="0" y="85317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380599"/>
            <a:ext cx="6918063" cy="5525803"/>
          </a:xfrm>
          <a:custGeom>
            <a:avLst/>
            <a:gdLst/>
            <a:ahLst/>
            <a:cxnLst/>
            <a:rect r="r" b="b" t="t" l="l"/>
            <a:pathLst>
              <a:path h="5525803" w="6918063">
                <a:moveTo>
                  <a:pt x="0" y="0"/>
                </a:moveTo>
                <a:lnTo>
                  <a:pt x="6918063" y="0"/>
                </a:lnTo>
                <a:lnTo>
                  <a:pt x="6918063" y="5525802"/>
                </a:lnTo>
                <a:lnTo>
                  <a:pt x="0" y="5525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827914" y="0"/>
            <a:ext cx="7315200" cy="2646772"/>
          </a:xfrm>
          <a:custGeom>
            <a:avLst/>
            <a:gdLst/>
            <a:ahLst/>
            <a:cxnLst/>
            <a:rect r="r" b="b" t="t" l="l"/>
            <a:pathLst>
              <a:path h="2646772" w="7315200">
                <a:moveTo>
                  <a:pt x="0" y="0"/>
                </a:moveTo>
                <a:lnTo>
                  <a:pt x="7315200" y="0"/>
                </a:lnTo>
                <a:lnTo>
                  <a:pt x="7315200" y="2646772"/>
                </a:lnTo>
                <a:lnTo>
                  <a:pt x="0" y="26467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4000" y="3042079"/>
            <a:ext cx="7355471" cy="1343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DOCUMENTALES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04276" y="4901924"/>
            <a:ext cx="9758466" cy="262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Ejemplo de base de datos: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ongoDB, CouchDB, Firebase Realtime Database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Ejemplo real: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eBay y Forbes usan MongoDB para gestionar datos de usuarios y contenido editorial.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21735" y="990600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90978" y="-4114800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853509" y="0"/>
            <a:ext cx="6102833" cy="10287000"/>
            <a:chOff x="0" y="0"/>
            <a:chExt cx="945489" cy="1593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5489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5489">
                  <a:moveTo>
                    <a:pt x="0" y="0"/>
                  </a:moveTo>
                  <a:lnTo>
                    <a:pt x="945489" y="0"/>
                  </a:lnTo>
                  <a:lnTo>
                    <a:pt x="94548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-6151" t="0" r="-615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73997" y="2615050"/>
            <a:ext cx="7355471" cy="264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ORIENTADAS A COLUMNAS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2391" y="5473700"/>
            <a:ext cx="9758466" cy="437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Modelo de datos: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Almacenan datos por columnas en lugar de filas.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Muy eficiente en consultas analíticas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Datos similares se almacenan juntos → compresión efectiva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Características: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Altamente escalable y distribuida.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Optimizada para lectura masiva de datos (Big Data).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Generalmente usadas para sistemas OLAP y data warehouses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3997" y="1077786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90978" y="-4114800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853509" y="0"/>
            <a:ext cx="6102833" cy="10287000"/>
            <a:chOff x="0" y="0"/>
            <a:chExt cx="945489" cy="1593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5489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5489">
                  <a:moveTo>
                    <a:pt x="0" y="0"/>
                  </a:moveTo>
                  <a:lnTo>
                    <a:pt x="945489" y="0"/>
                  </a:lnTo>
                  <a:lnTo>
                    <a:pt x="94548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-6151" t="0" r="-615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73997" y="2615050"/>
            <a:ext cx="7355471" cy="264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ORIENTADAS A COLUMNAS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2391" y="5473700"/>
            <a:ext cx="9758466" cy="393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Casos de uso: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Análisis de logs, clickstreams, métricas.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Si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stemas de recomendaciones.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Almacenamiento de series temporales (IoT, sensores)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Desventajas: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No 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ideal para escritura intensiva de registros individuales.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Est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ructura menos flexible que documentos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3997" y="1077786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90978" y="-4114800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853509" y="0"/>
            <a:ext cx="6102833" cy="10287000"/>
            <a:chOff x="0" y="0"/>
            <a:chExt cx="945489" cy="1593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5489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5489">
                  <a:moveTo>
                    <a:pt x="0" y="0"/>
                  </a:moveTo>
                  <a:lnTo>
                    <a:pt x="945489" y="0"/>
                  </a:lnTo>
                  <a:lnTo>
                    <a:pt x="94548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-6151" t="0" r="-615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73997" y="2615050"/>
            <a:ext cx="7355471" cy="264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ORIENTADAS A COLUMNAS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3824" y="5585099"/>
            <a:ext cx="9758466" cy="30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Ejemplo de base de datos: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Apache Cassandra, Apache HBase, ScyllaDB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Ejemplo real: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Netflix usa Cassan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dra para almacenar información de visualización por usuario (billones de filas por día).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3997" y="1077786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90978" y="-4114800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81083" y="4682943"/>
            <a:ext cx="4553602" cy="4114800"/>
          </a:xfrm>
          <a:custGeom>
            <a:avLst/>
            <a:gdLst/>
            <a:ahLst/>
            <a:cxnLst/>
            <a:rect r="r" b="b" t="t" l="l"/>
            <a:pathLst>
              <a:path h="4114800" w="4553602">
                <a:moveTo>
                  <a:pt x="0" y="0"/>
                </a:moveTo>
                <a:lnTo>
                  <a:pt x="4553602" y="0"/>
                </a:lnTo>
                <a:lnTo>
                  <a:pt x="45536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23617" y="3042079"/>
            <a:ext cx="3939235" cy="134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89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GRAFOS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169" y="1559354"/>
            <a:ext cx="9944131" cy="262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Modelo de datos: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Almacenan nodos (entidades) y aristas (relaciones).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Las relaciones son de primera clase: pueden tener propiedades.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Ideal para estructuras altamente interconectadas.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504450" y="-416385"/>
            <a:ext cx="7315200" cy="2646772"/>
          </a:xfrm>
          <a:custGeom>
            <a:avLst/>
            <a:gdLst/>
            <a:ahLst/>
            <a:cxnLst/>
            <a:rect r="r" b="b" t="t" l="l"/>
            <a:pathLst>
              <a:path h="2646772" w="7315200">
                <a:moveTo>
                  <a:pt x="0" y="0"/>
                </a:moveTo>
                <a:lnTo>
                  <a:pt x="7315200" y="0"/>
                </a:lnTo>
                <a:lnTo>
                  <a:pt x="7315200" y="2646772"/>
                </a:lnTo>
                <a:lnTo>
                  <a:pt x="0" y="2646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73997" y="1077786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5169" y="4375274"/>
            <a:ext cx="9944131" cy="262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Características: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Permiten navegación profunda y rápida entre relaciones.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Modelado natur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al de relaciones reales (redes, árboles genealógicos).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Consultas 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declarativas tipo path traversal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315169" y="7188324"/>
            <a:ext cx="9944131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Casos de uso: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Redes sociales (amistades, seguidores).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Detección de fraude en bancos.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Motores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de recomendación (similar a u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su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arios/productos).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90978" y="-4114800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81083" y="4682943"/>
            <a:ext cx="4553602" cy="4114800"/>
          </a:xfrm>
          <a:custGeom>
            <a:avLst/>
            <a:gdLst/>
            <a:ahLst/>
            <a:cxnLst/>
            <a:rect r="r" b="b" t="t" l="l"/>
            <a:pathLst>
              <a:path h="4114800" w="4553602">
                <a:moveTo>
                  <a:pt x="0" y="0"/>
                </a:moveTo>
                <a:lnTo>
                  <a:pt x="4553602" y="0"/>
                </a:lnTo>
                <a:lnTo>
                  <a:pt x="45536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23617" y="3042079"/>
            <a:ext cx="3939235" cy="134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89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GRAFOS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169" y="1997504"/>
            <a:ext cx="9944131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Desventajas: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Mayor complejidad en despliegue y aprendizaje.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 siempre escalables horizontalmente (aunque algunos lo permiten).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504450" y="-416385"/>
            <a:ext cx="7315200" cy="2646772"/>
          </a:xfrm>
          <a:custGeom>
            <a:avLst/>
            <a:gdLst/>
            <a:ahLst/>
            <a:cxnLst/>
            <a:rect r="r" b="b" t="t" l="l"/>
            <a:pathLst>
              <a:path h="2646772" w="7315200">
                <a:moveTo>
                  <a:pt x="0" y="0"/>
                </a:moveTo>
                <a:lnTo>
                  <a:pt x="7315200" y="0"/>
                </a:lnTo>
                <a:lnTo>
                  <a:pt x="7315200" y="2646772"/>
                </a:lnTo>
                <a:lnTo>
                  <a:pt x="0" y="2646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73997" y="1077786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5169" y="4375274"/>
            <a:ext cx="994413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Ejemplo de bas</a:t>
            </a: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</a:t>
            </a: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de datos: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Neo4j, Arang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oDB, Am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azon Neptune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15169" y="6000069"/>
            <a:ext cx="9944131" cy="262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Ejemplo real: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LinkedIn usa un modelo de grafos para relaciones profesionales.</a:t>
            </a:r>
          </a:p>
          <a:p>
            <a:pPr algn="l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eBay usa Neo4j para d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etección de fraude y conexi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ones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entre u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su</a:t>
            </a:r>
            <a:r>
              <a:rPr lang="en-US" b="true" sz="2499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arios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005199" y="5842629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55863" y="-3661170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5" y="0"/>
                </a:lnTo>
                <a:lnTo>
                  <a:pt x="963935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183594" y="2750098"/>
          <a:ext cx="13920812" cy="5152079"/>
        </p:xfrm>
        <a:graphic>
          <a:graphicData uri="http://schemas.openxmlformats.org/drawingml/2006/table">
            <a:tbl>
              <a:tblPr/>
              <a:tblGrid>
                <a:gridCol w="2185389"/>
                <a:gridCol w="3732498"/>
                <a:gridCol w="4001462"/>
                <a:gridCol w="4001462"/>
              </a:tblGrid>
              <a:tr h="8060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Tipo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Ideal para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Ejemplo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61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Clave-Valor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K-V directo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Caches, sesiones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Redis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60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Documental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JSON/BSON/XML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Web, APIs, contenido flexible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MongoDB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19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Columnas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Columna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Big Data, analítica, series de tiempo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Cassandra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19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Grafos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Nodos y relaciones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Redes soci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ales, fraude, recomendaciones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Neo4j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F2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301569" y="596505"/>
            <a:ext cx="5684861" cy="134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89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DIFERENCIAS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3997" y="1077786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61005" y="1602668"/>
            <a:ext cx="20887092" cy="1789680"/>
            <a:chOff x="0" y="0"/>
            <a:chExt cx="5501127" cy="4713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01127" cy="471356"/>
            </a:xfrm>
            <a:custGeom>
              <a:avLst/>
              <a:gdLst/>
              <a:ahLst/>
              <a:cxnLst/>
              <a:rect r="r" b="b" t="t" l="l"/>
              <a:pathLst>
                <a:path h="471356" w="5501127">
                  <a:moveTo>
                    <a:pt x="18903" y="0"/>
                  </a:moveTo>
                  <a:lnTo>
                    <a:pt x="5482224" y="0"/>
                  </a:lnTo>
                  <a:cubicBezTo>
                    <a:pt x="5492664" y="0"/>
                    <a:pt x="5501127" y="8463"/>
                    <a:pt x="5501127" y="18903"/>
                  </a:cubicBezTo>
                  <a:lnTo>
                    <a:pt x="5501127" y="452453"/>
                  </a:lnTo>
                  <a:cubicBezTo>
                    <a:pt x="5501127" y="457466"/>
                    <a:pt x="5499135" y="462274"/>
                    <a:pt x="5495590" y="465819"/>
                  </a:cubicBezTo>
                  <a:cubicBezTo>
                    <a:pt x="5492045" y="469364"/>
                    <a:pt x="5487237" y="471356"/>
                    <a:pt x="5482224" y="471356"/>
                  </a:cubicBezTo>
                  <a:lnTo>
                    <a:pt x="18903" y="471356"/>
                  </a:lnTo>
                  <a:cubicBezTo>
                    <a:pt x="13890" y="471356"/>
                    <a:pt x="9082" y="469364"/>
                    <a:pt x="5537" y="465819"/>
                  </a:cubicBezTo>
                  <a:cubicBezTo>
                    <a:pt x="1992" y="462274"/>
                    <a:pt x="0" y="457466"/>
                    <a:pt x="0" y="452453"/>
                  </a:cubicBezTo>
                  <a:lnTo>
                    <a:pt x="0" y="18903"/>
                  </a:lnTo>
                  <a:cubicBezTo>
                    <a:pt x="0" y="13890"/>
                    <a:pt x="1992" y="9082"/>
                    <a:pt x="5537" y="5537"/>
                  </a:cubicBezTo>
                  <a:cubicBezTo>
                    <a:pt x="9082" y="1992"/>
                    <a:pt x="13890" y="0"/>
                    <a:pt x="18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501127" cy="50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276007" y="1894584"/>
            <a:ext cx="13735987" cy="134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89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VENTAJAS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1176" y="3639997"/>
            <a:ext cx="9061985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Escalabilidad horizontal sencilla.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Altamente eficiente en datos masivos y no estructurados.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Flexibilidad de esquemas.</a:t>
            </a:r>
          </a:p>
          <a:p>
            <a:pPr algn="just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Rendimiento mejorado en ciertas consultas.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776175" y="-2008268"/>
            <a:ext cx="5814884" cy="4964457"/>
          </a:xfrm>
          <a:custGeom>
            <a:avLst/>
            <a:gdLst/>
            <a:ahLst/>
            <a:cxnLst/>
            <a:rect r="r" b="b" t="t" l="l"/>
            <a:pathLst>
              <a:path h="4964457" w="5814884">
                <a:moveTo>
                  <a:pt x="0" y="0"/>
                </a:moveTo>
                <a:lnTo>
                  <a:pt x="5814883" y="0"/>
                </a:lnTo>
                <a:lnTo>
                  <a:pt x="5814883" y="4964457"/>
                </a:lnTo>
                <a:lnTo>
                  <a:pt x="0" y="49644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73997" y="1077786"/>
            <a:ext cx="44044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Sistemas de Bases de Datos 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1161005" y="5976798"/>
            <a:ext cx="20887092" cy="1789680"/>
            <a:chOff x="0" y="0"/>
            <a:chExt cx="5501127" cy="4713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01127" cy="471356"/>
            </a:xfrm>
            <a:custGeom>
              <a:avLst/>
              <a:gdLst/>
              <a:ahLst/>
              <a:cxnLst/>
              <a:rect r="r" b="b" t="t" l="l"/>
              <a:pathLst>
                <a:path h="471356" w="5501127">
                  <a:moveTo>
                    <a:pt x="18903" y="0"/>
                  </a:moveTo>
                  <a:lnTo>
                    <a:pt x="5482224" y="0"/>
                  </a:lnTo>
                  <a:cubicBezTo>
                    <a:pt x="5492664" y="0"/>
                    <a:pt x="5501127" y="8463"/>
                    <a:pt x="5501127" y="18903"/>
                  </a:cubicBezTo>
                  <a:lnTo>
                    <a:pt x="5501127" y="452453"/>
                  </a:lnTo>
                  <a:cubicBezTo>
                    <a:pt x="5501127" y="457466"/>
                    <a:pt x="5499135" y="462274"/>
                    <a:pt x="5495590" y="465819"/>
                  </a:cubicBezTo>
                  <a:cubicBezTo>
                    <a:pt x="5492045" y="469364"/>
                    <a:pt x="5487237" y="471356"/>
                    <a:pt x="5482224" y="471356"/>
                  </a:cubicBezTo>
                  <a:lnTo>
                    <a:pt x="18903" y="471356"/>
                  </a:lnTo>
                  <a:cubicBezTo>
                    <a:pt x="13890" y="471356"/>
                    <a:pt x="9082" y="469364"/>
                    <a:pt x="5537" y="465819"/>
                  </a:cubicBezTo>
                  <a:cubicBezTo>
                    <a:pt x="1992" y="462274"/>
                    <a:pt x="0" y="457466"/>
                    <a:pt x="0" y="452453"/>
                  </a:cubicBezTo>
                  <a:lnTo>
                    <a:pt x="0" y="18903"/>
                  </a:lnTo>
                  <a:cubicBezTo>
                    <a:pt x="0" y="13890"/>
                    <a:pt x="1992" y="9082"/>
                    <a:pt x="5537" y="5537"/>
                  </a:cubicBezTo>
                  <a:cubicBezTo>
                    <a:pt x="9082" y="1992"/>
                    <a:pt x="13890" y="0"/>
                    <a:pt x="18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501127" cy="509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76007" y="6272073"/>
            <a:ext cx="13735987" cy="134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89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DESVENTAJAS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46151" y="8166527"/>
            <a:ext cx="9061985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</a:t>
            </a: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alta de estandarización.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Menor consistencia transaccional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Curv</a:t>
            </a: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de aprendizaje variada.</a:t>
            </a:r>
          </a:p>
          <a:p>
            <a:pPr algn="just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</a:t>
            </a: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erramientas de análisis menos maduras que en SQL.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41719" y="441219"/>
            <a:ext cx="9404563" cy="940456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541653" y="4393744"/>
            <a:ext cx="5204694" cy="167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54"/>
              </a:lnSpc>
            </a:pPr>
            <a:r>
              <a:rPr lang="en-US" sz="12147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DAGvXrrrLCo</dc:identifier>
  <dcterms:modified xsi:type="dcterms:W3CDTF">2011-08-01T06:04:30Z</dcterms:modified>
  <cp:revision>1</cp:revision>
  <dc:title>Semana 8</dc:title>
</cp:coreProperties>
</file>