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Dumondi Condensed Bold Italics" charset="1" panose="00000000000000000000"/>
      <p:regular r:id="rId22"/>
    </p:embeddedFont>
    <p:embeddedFont>
      <p:font typeface="Canva Sans Bold" charset="1" panose="020B0803030501040103"/>
      <p:regular r:id="rId23"/>
    </p:embeddedFont>
    <p:embeddedFont>
      <p:font typeface="Dumondi Condensed Heavy" charset="1" panose="00000000000000000000"/>
      <p:regular r:id="rId24"/>
    </p:embeddedFont>
    <p:embeddedFont>
      <p:font typeface="Canva Sans" charset="1" panose="020B0503030501040103"/>
      <p:regular r:id="rId25"/>
    </p:embeddedFont>
    <p:embeddedFont>
      <p:font typeface="Dumondi Condensed Bold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43.png" Type="http://schemas.openxmlformats.org/officeDocument/2006/relationships/image"/><Relationship Id="rId5" Target="../media/image4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Relationship Id="rId8" Target="../media/image4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svg" Type="http://schemas.openxmlformats.org/officeDocument/2006/relationships/image"/><Relationship Id="rId4" Target="../media/image48.png" Type="http://schemas.openxmlformats.org/officeDocument/2006/relationships/image"/><Relationship Id="rId5" Target="../media/image49.svg" Type="http://schemas.openxmlformats.org/officeDocument/2006/relationships/image"/><Relationship Id="rId6" Target="../media/image50.png" Type="http://schemas.openxmlformats.org/officeDocument/2006/relationships/image"/><Relationship Id="rId7" Target="../media/image5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svg" Type="http://schemas.openxmlformats.org/officeDocument/2006/relationships/image"/><Relationship Id="rId4" Target="../media/image48.png" Type="http://schemas.openxmlformats.org/officeDocument/2006/relationships/image"/><Relationship Id="rId5" Target="../media/image49.svg" Type="http://schemas.openxmlformats.org/officeDocument/2006/relationships/image"/><Relationship Id="rId6" Target="../media/image50.png" Type="http://schemas.openxmlformats.org/officeDocument/2006/relationships/image"/><Relationship Id="rId7" Target="../media/image51.svg" Type="http://schemas.openxmlformats.org/officeDocument/2006/relationships/image"/><Relationship Id="rId8" Target="../media/image5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svg" Type="http://schemas.openxmlformats.org/officeDocument/2006/relationships/image"/><Relationship Id="rId4" Target="../media/image48.png" Type="http://schemas.openxmlformats.org/officeDocument/2006/relationships/image"/><Relationship Id="rId5" Target="../media/image49.svg" Type="http://schemas.openxmlformats.org/officeDocument/2006/relationships/image"/><Relationship Id="rId6" Target="../media/image50.png" Type="http://schemas.openxmlformats.org/officeDocument/2006/relationships/image"/><Relationship Id="rId7" Target="../media/image51.svg" Type="http://schemas.openxmlformats.org/officeDocument/2006/relationships/image"/><Relationship Id="rId8" Target="../media/image5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svg" Type="http://schemas.openxmlformats.org/officeDocument/2006/relationships/image"/><Relationship Id="rId4" Target="../media/image48.png" Type="http://schemas.openxmlformats.org/officeDocument/2006/relationships/image"/><Relationship Id="rId5" Target="../media/image49.svg" Type="http://schemas.openxmlformats.org/officeDocument/2006/relationships/image"/><Relationship Id="rId6" Target="../media/image50.png" Type="http://schemas.openxmlformats.org/officeDocument/2006/relationships/image"/><Relationship Id="rId7" Target="../media/image51.svg" Type="http://schemas.openxmlformats.org/officeDocument/2006/relationships/image"/><Relationship Id="rId8" Target="../media/image5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svg" Type="http://schemas.openxmlformats.org/officeDocument/2006/relationships/image"/><Relationship Id="rId4" Target="../media/image48.png" Type="http://schemas.openxmlformats.org/officeDocument/2006/relationships/image"/><Relationship Id="rId5" Target="../media/image49.svg" Type="http://schemas.openxmlformats.org/officeDocument/2006/relationships/image"/><Relationship Id="rId6" Target="../media/image50.png" Type="http://schemas.openxmlformats.org/officeDocument/2006/relationships/image"/><Relationship Id="rId7" Target="../media/image51.svg" Type="http://schemas.openxmlformats.org/officeDocument/2006/relationships/image"/><Relationship Id="rId8" Target="../media/image5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svg" Type="http://schemas.openxmlformats.org/officeDocument/2006/relationships/image"/><Relationship Id="rId4" Target="../media/image48.png" Type="http://schemas.openxmlformats.org/officeDocument/2006/relationships/image"/><Relationship Id="rId5" Target="../media/image49.svg" Type="http://schemas.openxmlformats.org/officeDocument/2006/relationships/image"/><Relationship Id="rId6" Target="../media/image50.png" Type="http://schemas.openxmlformats.org/officeDocument/2006/relationships/image"/><Relationship Id="rId7" Target="../media/image51.svg" Type="http://schemas.openxmlformats.org/officeDocument/2006/relationships/image"/><Relationship Id="rId8" Target="../media/image5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75045" y="4373718"/>
            <a:ext cx="13803692" cy="1559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021"/>
              </a:lnSpc>
              <a:spcBef>
                <a:spcPct val="0"/>
              </a:spcBef>
            </a:pPr>
            <a:r>
              <a:rPr lang="en-US" b="true" sz="10928" i="true">
                <a:solidFill>
                  <a:srgbClr val="05061C"/>
                </a:solidFill>
                <a:latin typeface="Dumondi Condensed Bold Italics"/>
                <a:ea typeface="Dumondi Condensed Bold Italics"/>
                <a:cs typeface="Dumondi Condensed Bold Italics"/>
                <a:sym typeface="Dumondi Condensed Bold Italics"/>
              </a:rPr>
              <a:t>Bases de datos de grafos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37772">
            <a:off x="7983782" y="245268"/>
            <a:ext cx="2320437" cy="1763532"/>
          </a:xfrm>
          <a:custGeom>
            <a:avLst/>
            <a:gdLst/>
            <a:ahLst/>
            <a:cxnLst/>
            <a:rect r="r" b="b" t="t" l="l"/>
            <a:pathLst>
              <a:path h="1763532" w="2320437">
                <a:moveTo>
                  <a:pt x="0" y="0"/>
                </a:moveTo>
                <a:lnTo>
                  <a:pt x="2320436" y="0"/>
                </a:lnTo>
                <a:lnTo>
                  <a:pt x="2320436" y="1763532"/>
                </a:lnTo>
                <a:lnTo>
                  <a:pt x="0" y="17635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248835">
            <a:off x="1590729" y="-877670"/>
            <a:ext cx="3244749" cy="2289023"/>
          </a:xfrm>
          <a:custGeom>
            <a:avLst/>
            <a:gdLst/>
            <a:ahLst/>
            <a:cxnLst/>
            <a:rect r="r" b="b" t="t" l="l"/>
            <a:pathLst>
              <a:path h="2289023" w="3244749">
                <a:moveTo>
                  <a:pt x="0" y="0"/>
                </a:moveTo>
                <a:lnTo>
                  <a:pt x="3244749" y="0"/>
                </a:lnTo>
                <a:lnTo>
                  <a:pt x="3244749" y="2289023"/>
                </a:lnTo>
                <a:lnTo>
                  <a:pt x="0" y="22890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882916">
            <a:off x="15260428" y="-1317761"/>
            <a:ext cx="1873617" cy="2635522"/>
          </a:xfrm>
          <a:custGeom>
            <a:avLst/>
            <a:gdLst/>
            <a:ahLst/>
            <a:cxnLst/>
            <a:rect r="r" b="b" t="t" l="l"/>
            <a:pathLst>
              <a:path h="2635522" w="1873617">
                <a:moveTo>
                  <a:pt x="0" y="0"/>
                </a:moveTo>
                <a:lnTo>
                  <a:pt x="1873617" y="0"/>
                </a:lnTo>
                <a:lnTo>
                  <a:pt x="1873617" y="2635522"/>
                </a:lnTo>
                <a:lnTo>
                  <a:pt x="0" y="26355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869538"/>
            <a:ext cx="1762476" cy="2370078"/>
          </a:xfrm>
          <a:custGeom>
            <a:avLst/>
            <a:gdLst/>
            <a:ahLst/>
            <a:cxnLst/>
            <a:rect r="r" b="b" t="t" l="l"/>
            <a:pathLst>
              <a:path h="2370078" w="1762476">
                <a:moveTo>
                  <a:pt x="0" y="0"/>
                </a:moveTo>
                <a:lnTo>
                  <a:pt x="1762476" y="0"/>
                </a:lnTo>
                <a:lnTo>
                  <a:pt x="1762476" y="2370078"/>
                </a:lnTo>
                <a:lnTo>
                  <a:pt x="0" y="23700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6599664">
            <a:off x="4625379" y="-1677477"/>
            <a:ext cx="2604665" cy="3354954"/>
          </a:xfrm>
          <a:custGeom>
            <a:avLst/>
            <a:gdLst/>
            <a:ahLst/>
            <a:cxnLst/>
            <a:rect r="r" b="b" t="t" l="l"/>
            <a:pathLst>
              <a:path h="3354954" w="2604665">
                <a:moveTo>
                  <a:pt x="0" y="0"/>
                </a:moveTo>
                <a:lnTo>
                  <a:pt x="2604665" y="0"/>
                </a:lnTo>
                <a:lnTo>
                  <a:pt x="2604665" y="3354954"/>
                </a:lnTo>
                <a:lnTo>
                  <a:pt x="0" y="33549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323462">
            <a:off x="11864509" y="-1629901"/>
            <a:ext cx="1864849" cy="3195225"/>
          </a:xfrm>
          <a:custGeom>
            <a:avLst/>
            <a:gdLst/>
            <a:ahLst/>
            <a:cxnLst/>
            <a:rect r="r" b="b" t="t" l="l"/>
            <a:pathLst>
              <a:path h="3195225" w="1864849">
                <a:moveTo>
                  <a:pt x="0" y="0"/>
                </a:moveTo>
                <a:lnTo>
                  <a:pt x="1864849" y="0"/>
                </a:lnTo>
                <a:lnTo>
                  <a:pt x="1864849" y="3195225"/>
                </a:lnTo>
                <a:lnTo>
                  <a:pt x="0" y="31952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891562">
            <a:off x="171874" y="3673643"/>
            <a:ext cx="1713652" cy="3261275"/>
          </a:xfrm>
          <a:custGeom>
            <a:avLst/>
            <a:gdLst/>
            <a:ahLst/>
            <a:cxnLst/>
            <a:rect r="r" b="b" t="t" l="l"/>
            <a:pathLst>
              <a:path h="3261275" w="1713652">
                <a:moveTo>
                  <a:pt x="0" y="0"/>
                </a:moveTo>
                <a:lnTo>
                  <a:pt x="1713652" y="0"/>
                </a:lnTo>
                <a:lnTo>
                  <a:pt x="1713652" y="3261275"/>
                </a:lnTo>
                <a:lnTo>
                  <a:pt x="0" y="32612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767621">
            <a:off x="5979882" y="8712120"/>
            <a:ext cx="1348960" cy="1443440"/>
          </a:xfrm>
          <a:custGeom>
            <a:avLst/>
            <a:gdLst/>
            <a:ahLst/>
            <a:cxnLst/>
            <a:rect r="r" b="b" t="t" l="l"/>
            <a:pathLst>
              <a:path h="1443440" w="1348960">
                <a:moveTo>
                  <a:pt x="0" y="0"/>
                </a:moveTo>
                <a:lnTo>
                  <a:pt x="1348960" y="0"/>
                </a:lnTo>
                <a:lnTo>
                  <a:pt x="1348960" y="1443440"/>
                </a:lnTo>
                <a:lnTo>
                  <a:pt x="0" y="144344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087336" y="8002683"/>
            <a:ext cx="3936411" cy="2555088"/>
          </a:xfrm>
          <a:custGeom>
            <a:avLst/>
            <a:gdLst/>
            <a:ahLst/>
            <a:cxnLst/>
            <a:rect r="r" b="b" t="t" l="l"/>
            <a:pathLst>
              <a:path h="2555088" w="3936411">
                <a:moveTo>
                  <a:pt x="0" y="0"/>
                </a:moveTo>
                <a:lnTo>
                  <a:pt x="3936410" y="0"/>
                </a:lnTo>
                <a:lnTo>
                  <a:pt x="3936410" y="2555088"/>
                </a:lnTo>
                <a:lnTo>
                  <a:pt x="0" y="255508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426402">
            <a:off x="-894040" y="7794813"/>
            <a:ext cx="2888339" cy="2594254"/>
          </a:xfrm>
          <a:custGeom>
            <a:avLst/>
            <a:gdLst/>
            <a:ahLst/>
            <a:cxnLst/>
            <a:rect r="r" b="b" t="t" l="l"/>
            <a:pathLst>
              <a:path h="2594254" w="2888339">
                <a:moveTo>
                  <a:pt x="0" y="0"/>
                </a:moveTo>
                <a:lnTo>
                  <a:pt x="2888339" y="0"/>
                </a:lnTo>
                <a:lnTo>
                  <a:pt x="2888339" y="2594254"/>
                </a:lnTo>
                <a:lnTo>
                  <a:pt x="0" y="259425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43741">
            <a:off x="8329315" y="8650200"/>
            <a:ext cx="3360285" cy="2413296"/>
          </a:xfrm>
          <a:custGeom>
            <a:avLst/>
            <a:gdLst/>
            <a:ahLst/>
            <a:cxnLst/>
            <a:rect r="r" b="b" t="t" l="l"/>
            <a:pathLst>
              <a:path h="2413296" w="3360285">
                <a:moveTo>
                  <a:pt x="0" y="0"/>
                </a:moveTo>
                <a:lnTo>
                  <a:pt x="3360285" y="0"/>
                </a:lnTo>
                <a:lnTo>
                  <a:pt x="3360285" y="2413295"/>
                </a:lnTo>
                <a:lnTo>
                  <a:pt x="0" y="241329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929103">
            <a:off x="2472369" y="8651978"/>
            <a:ext cx="2527838" cy="2068231"/>
          </a:xfrm>
          <a:custGeom>
            <a:avLst/>
            <a:gdLst/>
            <a:ahLst/>
            <a:cxnLst/>
            <a:rect r="r" b="b" t="t" l="l"/>
            <a:pathLst>
              <a:path h="2068231" w="2527838">
                <a:moveTo>
                  <a:pt x="0" y="0"/>
                </a:moveTo>
                <a:lnTo>
                  <a:pt x="2527839" y="0"/>
                </a:lnTo>
                <a:lnTo>
                  <a:pt x="2527839" y="2068231"/>
                </a:lnTo>
                <a:lnTo>
                  <a:pt x="0" y="2068231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560577" y="8352066"/>
            <a:ext cx="1762476" cy="2370078"/>
          </a:xfrm>
          <a:custGeom>
            <a:avLst/>
            <a:gdLst/>
            <a:ahLst/>
            <a:cxnLst/>
            <a:rect r="r" b="b" t="t" l="l"/>
            <a:pathLst>
              <a:path h="2370078" w="1762476">
                <a:moveTo>
                  <a:pt x="0" y="0"/>
                </a:moveTo>
                <a:lnTo>
                  <a:pt x="1762476" y="0"/>
                </a:lnTo>
                <a:lnTo>
                  <a:pt x="1762476" y="2370078"/>
                </a:lnTo>
                <a:lnTo>
                  <a:pt x="0" y="23700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-807361">
            <a:off x="16553163" y="3512862"/>
            <a:ext cx="1713652" cy="3261275"/>
          </a:xfrm>
          <a:custGeom>
            <a:avLst/>
            <a:gdLst/>
            <a:ahLst/>
            <a:cxnLst/>
            <a:rect r="r" b="b" t="t" l="l"/>
            <a:pathLst>
              <a:path h="3261275" w="1713652">
                <a:moveTo>
                  <a:pt x="1713652" y="0"/>
                </a:moveTo>
                <a:lnTo>
                  <a:pt x="0" y="0"/>
                </a:lnTo>
                <a:lnTo>
                  <a:pt x="0" y="3261276"/>
                </a:lnTo>
                <a:lnTo>
                  <a:pt x="1713652" y="3261276"/>
                </a:lnTo>
                <a:lnTo>
                  <a:pt x="1713652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370920" y="2889453"/>
            <a:ext cx="9546159" cy="388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0"/>
              </a:lnSpc>
            </a:pPr>
            <a:r>
              <a:rPr lang="en-US" b="true" sz="2406">
                <a:solidFill>
                  <a:srgbClr val="FBFEF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NoSQL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-1217368">
            <a:off x="-981827" y="973876"/>
            <a:ext cx="2689340" cy="1789633"/>
          </a:xfrm>
          <a:custGeom>
            <a:avLst/>
            <a:gdLst/>
            <a:ahLst/>
            <a:cxnLst/>
            <a:rect r="r" b="b" t="t" l="l"/>
            <a:pathLst>
              <a:path h="1789633" w="2689340">
                <a:moveTo>
                  <a:pt x="0" y="0"/>
                </a:moveTo>
                <a:lnTo>
                  <a:pt x="2689340" y="0"/>
                </a:lnTo>
                <a:lnTo>
                  <a:pt x="2689340" y="1789634"/>
                </a:lnTo>
                <a:lnTo>
                  <a:pt x="0" y="1789634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90453"/>
            <a:ext cx="11144729" cy="8521518"/>
            <a:chOff x="0" y="0"/>
            <a:chExt cx="2935237" cy="2244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35237" cy="2244350"/>
            </a:xfrm>
            <a:custGeom>
              <a:avLst/>
              <a:gdLst/>
              <a:ahLst/>
              <a:cxnLst/>
              <a:rect r="r" b="b" t="t" l="l"/>
              <a:pathLst>
                <a:path h="2244350" w="2935237">
                  <a:moveTo>
                    <a:pt x="9725" y="0"/>
                  </a:moveTo>
                  <a:lnTo>
                    <a:pt x="2925512" y="0"/>
                  </a:lnTo>
                  <a:cubicBezTo>
                    <a:pt x="2930883" y="0"/>
                    <a:pt x="2935237" y="4354"/>
                    <a:pt x="2935237" y="9725"/>
                  </a:cubicBezTo>
                  <a:lnTo>
                    <a:pt x="2935237" y="2234625"/>
                  </a:lnTo>
                  <a:cubicBezTo>
                    <a:pt x="2935237" y="2239996"/>
                    <a:pt x="2930883" y="2244350"/>
                    <a:pt x="2925512" y="2244350"/>
                  </a:cubicBezTo>
                  <a:lnTo>
                    <a:pt x="9725" y="2244350"/>
                  </a:lnTo>
                  <a:cubicBezTo>
                    <a:pt x="4354" y="2244350"/>
                    <a:pt x="0" y="2239996"/>
                    <a:pt x="0" y="2234625"/>
                  </a:cubicBezTo>
                  <a:lnTo>
                    <a:pt x="0" y="9725"/>
                  </a:lnTo>
                  <a:cubicBezTo>
                    <a:pt x="0" y="4354"/>
                    <a:pt x="4354" y="0"/>
                    <a:pt x="9725" y="0"/>
                  </a:cubicBezTo>
                  <a:close/>
                </a:path>
              </a:pathLst>
            </a:custGeom>
            <a:solidFill>
              <a:srgbClr val="05061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935237" cy="2272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274617" y="2209012"/>
            <a:ext cx="9606839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320"/>
              </a:lnSpc>
              <a:spcBef>
                <a:spcPct val="0"/>
              </a:spcBef>
            </a:pPr>
            <a:r>
              <a:rPr lang="en-US" b="true" sz="15267">
                <a:solidFill>
                  <a:srgbClr val="FFFFFF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Introducción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74617" y="4625224"/>
            <a:ext cx="8432288" cy="386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55"/>
              </a:lnSpc>
            </a:pPr>
            <a:r>
              <a:rPr lang="en-US" sz="27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Las bases de datos de grafos son sistemas de gestión de datos diseñados para representar, almacenar y consultar información en forma de grafos.</a:t>
            </a:r>
          </a:p>
          <a:p>
            <a:pPr algn="just">
              <a:lnSpc>
                <a:spcPts val="3855"/>
              </a:lnSpc>
            </a:pPr>
          </a:p>
          <a:p>
            <a:pPr algn="just">
              <a:lnSpc>
                <a:spcPts val="3855"/>
              </a:lnSpc>
            </a:pPr>
            <a:r>
              <a:rPr lang="en-US" sz="27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Un grafo se compone de nodos (entidades) y aristas (relaciones), lo cual permite modelar redes de conocimiento de manera natural y flexible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249366" y="1236387"/>
            <a:ext cx="6752993" cy="8021913"/>
          </a:xfrm>
          <a:custGeom>
            <a:avLst/>
            <a:gdLst/>
            <a:ahLst/>
            <a:cxnLst/>
            <a:rect r="r" b="b" t="t" l="l"/>
            <a:pathLst>
              <a:path h="8021913" w="6752993">
                <a:moveTo>
                  <a:pt x="0" y="0"/>
                </a:moveTo>
                <a:lnTo>
                  <a:pt x="6752992" y="0"/>
                </a:lnTo>
                <a:lnTo>
                  <a:pt x="6752992" y="8021913"/>
                </a:lnTo>
                <a:lnTo>
                  <a:pt x="0" y="8021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788096">
            <a:off x="15417288" y="3016004"/>
            <a:ext cx="1147376" cy="1227737"/>
          </a:xfrm>
          <a:custGeom>
            <a:avLst/>
            <a:gdLst/>
            <a:ahLst/>
            <a:cxnLst/>
            <a:rect r="r" b="b" t="t" l="l"/>
            <a:pathLst>
              <a:path h="1227737" w="1147376">
                <a:moveTo>
                  <a:pt x="0" y="0"/>
                </a:moveTo>
                <a:lnTo>
                  <a:pt x="1147376" y="0"/>
                </a:lnTo>
                <a:lnTo>
                  <a:pt x="1147376" y="1227737"/>
                </a:lnTo>
                <a:lnTo>
                  <a:pt x="0" y="12277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49337" y="603141"/>
            <a:ext cx="2833822" cy="1885779"/>
          </a:xfrm>
          <a:custGeom>
            <a:avLst/>
            <a:gdLst/>
            <a:ahLst/>
            <a:cxnLst/>
            <a:rect r="r" b="b" t="t" l="l"/>
            <a:pathLst>
              <a:path h="1885779" w="2833822">
                <a:moveTo>
                  <a:pt x="0" y="0"/>
                </a:moveTo>
                <a:lnTo>
                  <a:pt x="2833821" y="0"/>
                </a:lnTo>
                <a:lnTo>
                  <a:pt x="2833821" y="1885780"/>
                </a:lnTo>
                <a:lnTo>
                  <a:pt x="0" y="18857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90453"/>
            <a:ext cx="11144729" cy="8521518"/>
            <a:chOff x="0" y="0"/>
            <a:chExt cx="2935237" cy="2244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35237" cy="2244350"/>
            </a:xfrm>
            <a:custGeom>
              <a:avLst/>
              <a:gdLst/>
              <a:ahLst/>
              <a:cxnLst/>
              <a:rect r="r" b="b" t="t" l="l"/>
              <a:pathLst>
                <a:path h="2244350" w="2935237">
                  <a:moveTo>
                    <a:pt x="9725" y="0"/>
                  </a:moveTo>
                  <a:lnTo>
                    <a:pt x="2925512" y="0"/>
                  </a:lnTo>
                  <a:cubicBezTo>
                    <a:pt x="2930883" y="0"/>
                    <a:pt x="2935237" y="4354"/>
                    <a:pt x="2935237" y="9725"/>
                  </a:cubicBezTo>
                  <a:lnTo>
                    <a:pt x="2935237" y="2234625"/>
                  </a:lnTo>
                  <a:cubicBezTo>
                    <a:pt x="2935237" y="2239996"/>
                    <a:pt x="2930883" y="2244350"/>
                    <a:pt x="2925512" y="2244350"/>
                  </a:cubicBezTo>
                  <a:lnTo>
                    <a:pt x="9725" y="2244350"/>
                  </a:lnTo>
                  <a:cubicBezTo>
                    <a:pt x="4354" y="2244350"/>
                    <a:pt x="0" y="2239996"/>
                    <a:pt x="0" y="2234625"/>
                  </a:cubicBezTo>
                  <a:lnTo>
                    <a:pt x="0" y="9725"/>
                  </a:lnTo>
                  <a:cubicBezTo>
                    <a:pt x="0" y="4354"/>
                    <a:pt x="4354" y="0"/>
                    <a:pt x="9725" y="0"/>
                  </a:cubicBezTo>
                  <a:close/>
                </a:path>
              </a:pathLst>
            </a:custGeom>
            <a:solidFill>
              <a:srgbClr val="05061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935237" cy="2272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274617" y="2209012"/>
            <a:ext cx="9606839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320"/>
              </a:lnSpc>
              <a:spcBef>
                <a:spcPct val="0"/>
              </a:spcBef>
            </a:pPr>
            <a:r>
              <a:rPr lang="en-US" b="true" sz="15267">
                <a:solidFill>
                  <a:srgbClr val="FFFFFF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Diferencias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74617" y="6524364"/>
            <a:ext cx="8432288" cy="1920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55"/>
              </a:lnSpc>
            </a:pPr>
            <a:r>
              <a:rPr lang="en-US" sz="27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 bases de grafos, estas relaciones son de primer nivel, es decir, están directamente indexadas, lo que mejora la eficiencia en consultas altamente conectadas.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249366" y="1236387"/>
            <a:ext cx="6752993" cy="8021913"/>
          </a:xfrm>
          <a:custGeom>
            <a:avLst/>
            <a:gdLst/>
            <a:ahLst/>
            <a:cxnLst/>
            <a:rect r="r" b="b" t="t" l="l"/>
            <a:pathLst>
              <a:path h="8021913" w="6752993">
                <a:moveTo>
                  <a:pt x="0" y="0"/>
                </a:moveTo>
                <a:lnTo>
                  <a:pt x="6752992" y="0"/>
                </a:lnTo>
                <a:lnTo>
                  <a:pt x="6752992" y="8021913"/>
                </a:lnTo>
                <a:lnTo>
                  <a:pt x="0" y="8021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788096">
            <a:off x="15417288" y="3016004"/>
            <a:ext cx="1147376" cy="1227737"/>
          </a:xfrm>
          <a:custGeom>
            <a:avLst/>
            <a:gdLst/>
            <a:ahLst/>
            <a:cxnLst/>
            <a:rect r="r" b="b" t="t" l="l"/>
            <a:pathLst>
              <a:path h="1227737" w="1147376">
                <a:moveTo>
                  <a:pt x="0" y="0"/>
                </a:moveTo>
                <a:lnTo>
                  <a:pt x="1147376" y="0"/>
                </a:lnTo>
                <a:lnTo>
                  <a:pt x="1147376" y="1227737"/>
                </a:lnTo>
                <a:lnTo>
                  <a:pt x="0" y="12277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49337" y="603141"/>
            <a:ext cx="2833822" cy="1885779"/>
          </a:xfrm>
          <a:custGeom>
            <a:avLst/>
            <a:gdLst/>
            <a:ahLst/>
            <a:cxnLst/>
            <a:rect r="r" b="b" t="t" l="l"/>
            <a:pathLst>
              <a:path h="1885779" w="2833822">
                <a:moveTo>
                  <a:pt x="0" y="0"/>
                </a:moveTo>
                <a:lnTo>
                  <a:pt x="2833821" y="0"/>
                </a:lnTo>
                <a:lnTo>
                  <a:pt x="2833821" y="1885780"/>
                </a:lnTo>
                <a:lnTo>
                  <a:pt x="0" y="18857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274617" y="4506033"/>
            <a:ext cx="8432288" cy="143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55"/>
              </a:lnSpc>
            </a:pPr>
            <a:r>
              <a:rPr lang="en-US" sz="27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 bases de datos relacionales (SQL), las relaciones entre entidades se representan mediante claves foráneas y joins.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105522">
            <a:off x="265613" y="2776894"/>
            <a:ext cx="6802279" cy="6604394"/>
          </a:xfrm>
          <a:custGeom>
            <a:avLst/>
            <a:gdLst/>
            <a:ahLst/>
            <a:cxnLst/>
            <a:rect r="r" b="b" t="t" l="l"/>
            <a:pathLst>
              <a:path h="6604394" w="6802279">
                <a:moveTo>
                  <a:pt x="0" y="0"/>
                </a:moveTo>
                <a:lnTo>
                  <a:pt x="6802278" y="0"/>
                </a:lnTo>
                <a:lnTo>
                  <a:pt x="6802278" y="6604394"/>
                </a:lnTo>
                <a:lnTo>
                  <a:pt x="0" y="66043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00305" y="786985"/>
            <a:ext cx="4933898" cy="179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195"/>
              </a:lnSpc>
              <a:spcBef>
                <a:spcPct val="0"/>
              </a:spcBef>
            </a:pPr>
            <a:r>
              <a:rPr lang="en-US" b="true" sz="11829">
                <a:solidFill>
                  <a:srgbClr val="05061C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Ventajas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758410"/>
            <a:ext cx="7604493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49"/>
              </a:lnSpc>
            </a:pPr>
            <a:r>
              <a:rPr lang="en-US" b="true" sz="2499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Rendimiento superior en consultas de relaciones complejas </a:t>
            </a:r>
            <a:r>
              <a:rPr lang="en-US" sz="249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(ej: encontrar rutas más cortas, detectar comunidades, explorar redes sociales).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61044">
            <a:off x="475162" y="3246184"/>
            <a:ext cx="6383181" cy="6185882"/>
          </a:xfrm>
          <a:custGeom>
            <a:avLst/>
            <a:gdLst/>
            <a:ahLst/>
            <a:cxnLst/>
            <a:rect r="r" b="b" t="t" l="l"/>
            <a:pathLst>
              <a:path h="6185882" w="6383181">
                <a:moveTo>
                  <a:pt x="0" y="0"/>
                </a:moveTo>
                <a:lnTo>
                  <a:pt x="6383180" y="0"/>
                </a:lnTo>
                <a:lnTo>
                  <a:pt x="6383180" y="6185882"/>
                </a:lnTo>
                <a:lnTo>
                  <a:pt x="0" y="61858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144000" y="2452135"/>
            <a:ext cx="7604493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49"/>
              </a:lnSpc>
            </a:pPr>
            <a:r>
              <a:rPr lang="en-US" b="true" sz="2499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Flexibilidad en el modelado</a:t>
            </a:r>
            <a:r>
              <a:rPr lang="en-US" sz="249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: no es necesario un esquema rígido; se pueden añadir nodos y relaciones sin modificar la estructura global.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4147585"/>
            <a:ext cx="7604493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49"/>
              </a:lnSpc>
            </a:pPr>
            <a:r>
              <a:rPr lang="en-US" b="true" sz="2499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Intuición natural</a:t>
            </a:r>
            <a:r>
              <a:rPr lang="en-US" sz="249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: se asemeja a cómo los humanos entienden redes de información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5452510"/>
            <a:ext cx="7604493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49"/>
              </a:lnSpc>
            </a:pPr>
            <a:r>
              <a:rPr lang="en-US" b="true" sz="2499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Escalabilidad</a:t>
            </a:r>
            <a:r>
              <a:rPr lang="en-US" sz="249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: soportan miles de millones de nodos y relaciones sin degradar significativamente la velocidad.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7093984"/>
            <a:ext cx="7604493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49"/>
              </a:lnSpc>
            </a:pPr>
            <a:r>
              <a:rPr lang="en-US" b="true" sz="2499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Intuición natural</a:t>
            </a:r>
            <a:r>
              <a:rPr lang="en-US" sz="249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: se asemeja a cómo los humanos entienden redes de información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8398909"/>
            <a:ext cx="7604493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49"/>
              </a:lnSpc>
            </a:pPr>
            <a:r>
              <a:rPr lang="en-US" b="true" sz="2499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Aplicabilidad en IA y análisis avanzado</a:t>
            </a:r>
            <a:r>
              <a:rPr lang="en-US" sz="249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: ideales para machine learning, detección de fraudes, y grafos de conocimiento.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56451" y="4335238"/>
            <a:ext cx="1616524" cy="16165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05061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972368" y="4335238"/>
            <a:ext cx="1616524" cy="161652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05061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288192" y="4621487"/>
            <a:ext cx="1153041" cy="1044026"/>
          </a:xfrm>
          <a:custGeom>
            <a:avLst/>
            <a:gdLst/>
            <a:ahLst/>
            <a:cxnLst/>
            <a:rect r="r" b="b" t="t" l="l"/>
            <a:pathLst>
              <a:path h="1044026" w="1153041">
                <a:moveTo>
                  <a:pt x="0" y="0"/>
                </a:moveTo>
                <a:lnTo>
                  <a:pt x="1153041" y="0"/>
                </a:lnTo>
                <a:lnTo>
                  <a:pt x="1153041" y="1044026"/>
                </a:lnTo>
                <a:lnTo>
                  <a:pt x="0" y="1044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140841" y="4335238"/>
            <a:ext cx="1616524" cy="161652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05061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570932" y="4731653"/>
            <a:ext cx="879011" cy="879011"/>
          </a:xfrm>
          <a:custGeom>
            <a:avLst/>
            <a:gdLst/>
            <a:ahLst/>
            <a:cxnLst/>
            <a:rect r="r" b="b" t="t" l="l"/>
            <a:pathLst>
              <a:path h="879011" w="879011">
                <a:moveTo>
                  <a:pt x="0" y="0"/>
                </a:moveTo>
                <a:lnTo>
                  <a:pt x="879011" y="0"/>
                </a:lnTo>
                <a:lnTo>
                  <a:pt x="879011" y="879012"/>
                </a:lnTo>
                <a:lnTo>
                  <a:pt x="0" y="8790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388410" y="4737934"/>
            <a:ext cx="811132" cy="811132"/>
          </a:xfrm>
          <a:custGeom>
            <a:avLst/>
            <a:gdLst/>
            <a:ahLst/>
            <a:cxnLst/>
            <a:rect r="r" b="b" t="t" l="l"/>
            <a:pathLst>
              <a:path h="811132" w="811132">
                <a:moveTo>
                  <a:pt x="0" y="0"/>
                </a:moveTo>
                <a:lnTo>
                  <a:pt x="811132" y="0"/>
                </a:lnTo>
                <a:lnTo>
                  <a:pt x="811132" y="811132"/>
                </a:lnTo>
                <a:lnTo>
                  <a:pt x="0" y="8111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49245" y="783805"/>
            <a:ext cx="16789511" cy="2067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312"/>
              </a:lnSpc>
              <a:spcBef>
                <a:spcPct val="0"/>
              </a:spcBef>
            </a:pPr>
            <a:r>
              <a:rPr lang="en-US" b="true" sz="13593">
                <a:solidFill>
                  <a:srgbClr val="05061C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Estructura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86305" y="6538656"/>
            <a:ext cx="3219107" cy="51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1"/>
              </a:lnSpc>
            </a:pPr>
            <a:r>
              <a:rPr lang="en-US" b="true" sz="4199">
                <a:solidFill>
                  <a:srgbClr val="05061C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Nodos (vertices)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92714" y="6522346"/>
            <a:ext cx="3235447" cy="51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21"/>
              </a:lnSpc>
            </a:pPr>
            <a:r>
              <a:rPr lang="en-US" b="true" sz="4199">
                <a:solidFill>
                  <a:srgbClr val="05061C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Aristas (edges)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62313" y="6512466"/>
            <a:ext cx="5076442" cy="51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21"/>
              </a:lnSpc>
            </a:pPr>
            <a:r>
              <a:rPr lang="en-US" b="true" sz="4199">
                <a:solidFill>
                  <a:srgbClr val="05061C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Propiedades (attributes)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58217" y="7191025"/>
            <a:ext cx="3742566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9"/>
              </a:lnSpc>
            </a:pPr>
            <a:r>
              <a:rPr lang="en-US" sz="249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249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epresentan entidades u objetos (ej. una persona, una empresa, un producto)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58217" y="3162038"/>
            <a:ext cx="1249776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9"/>
              </a:lnSpc>
            </a:pPr>
            <a:r>
              <a:rPr lang="en-US" b="true" sz="2499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</a:t>
            </a:r>
            <a:r>
              <a:rPr lang="en-US" b="true" sz="2499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grafo se construye con tres componentes principales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-559728" y="1028700"/>
            <a:ext cx="2617945" cy="1989639"/>
          </a:xfrm>
          <a:custGeom>
            <a:avLst/>
            <a:gdLst/>
            <a:ahLst/>
            <a:cxnLst/>
            <a:rect r="r" b="b" t="t" l="l"/>
            <a:pathLst>
              <a:path h="1989639" w="2617945">
                <a:moveTo>
                  <a:pt x="0" y="0"/>
                </a:moveTo>
                <a:lnTo>
                  <a:pt x="2617945" y="0"/>
                </a:lnTo>
                <a:lnTo>
                  <a:pt x="2617945" y="1989639"/>
                </a:lnTo>
                <a:lnTo>
                  <a:pt x="0" y="19896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8817732">
            <a:off x="1736512" y="-1429805"/>
            <a:ext cx="2056723" cy="2893088"/>
          </a:xfrm>
          <a:custGeom>
            <a:avLst/>
            <a:gdLst/>
            <a:ahLst/>
            <a:cxnLst/>
            <a:rect r="r" b="b" t="t" l="l"/>
            <a:pathLst>
              <a:path h="2893088" w="2056723">
                <a:moveTo>
                  <a:pt x="0" y="0"/>
                </a:moveTo>
                <a:lnTo>
                  <a:pt x="2056723" y="0"/>
                </a:lnTo>
                <a:lnTo>
                  <a:pt x="2056723" y="2893088"/>
                </a:lnTo>
                <a:lnTo>
                  <a:pt x="0" y="28930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2080135">
            <a:off x="17023975" y="-289393"/>
            <a:ext cx="1999490" cy="3425917"/>
          </a:xfrm>
          <a:custGeom>
            <a:avLst/>
            <a:gdLst/>
            <a:ahLst/>
            <a:cxnLst/>
            <a:rect r="r" b="b" t="t" l="l"/>
            <a:pathLst>
              <a:path h="3425917" w="1999490">
                <a:moveTo>
                  <a:pt x="0" y="0"/>
                </a:moveTo>
                <a:lnTo>
                  <a:pt x="1999490" y="0"/>
                </a:lnTo>
                <a:lnTo>
                  <a:pt x="1999490" y="3425917"/>
                </a:lnTo>
                <a:lnTo>
                  <a:pt x="0" y="34259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4493191">
            <a:off x="13972633" y="-1211555"/>
            <a:ext cx="1784158" cy="3395457"/>
          </a:xfrm>
          <a:custGeom>
            <a:avLst/>
            <a:gdLst/>
            <a:ahLst/>
            <a:cxnLst/>
            <a:rect r="r" b="b" t="t" l="l"/>
            <a:pathLst>
              <a:path h="3395457" w="1784158">
                <a:moveTo>
                  <a:pt x="0" y="0"/>
                </a:moveTo>
                <a:lnTo>
                  <a:pt x="1784159" y="0"/>
                </a:lnTo>
                <a:lnTo>
                  <a:pt x="1784159" y="3395456"/>
                </a:lnTo>
                <a:lnTo>
                  <a:pt x="0" y="339545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7028371" y="7084261"/>
            <a:ext cx="3964132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9"/>
              </a:lnSpc>
            </a:pPr>
            <a:r>
              <a:rPr lang="en-US" sz="249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249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epresentan relaciones entre nodos (ej. “AMIGO_DE”, “COMPRA”, “PERTENECE_A”)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15463" y="7191025"/>
            <a:ext cx="4923293" cy="231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9"/>
              </a:lnSpc>
            </a:pPr>
            <a:r>
              <a:rPr lang="en-US" sz="249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tanto nodos como aristas pueden tener atributos descriptivos en forma de pares clave-valor (ej. nombre, edad, fecha de relación).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9245" y="1641055"/>
            <a:ext cx="16789511" cy="2067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312"/>
              </a:lnSpc>
              <a:spcBef>
                <a:spcPct val="0"/>
              </a:spcBef>
            </a:pPr>
            <a:r>
              <a:rPr lang="en-US" b="true" sz="13593">
                <a:solidFill>
                  <a:srgbClr val="05061C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Tipos de grafos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47540" y="4832774"/>
            <a:ext cx="3219107" cy="51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1"/>
              </a:lnSpc>
            </a:pPr>
            <a:r>
              <a:rPr lang="en-US" b="true" sz="4199">
                <a:solidFill>
                  <a:srgbClr val="05061C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Grafos dirigidos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567281" y="4832774"/>
            <a:ext cx="3235447" cy="51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21"/>
              </a:lnSpc>
            </a:pPr>
            <a:r>
              <a:rPr lang="en-US" b="true" sz="4199">
                <a:solidFill>
                  <a:srgbClr val="05061C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Grafos no dirigidos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52029" y="4832774"/>
            <a:ext cx="3142815" cy="51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21"/>
              </a:lnSpc>
            </a:pPr>
            <a:r>
              <a:rPr lang="en-US" b="true" sz="4199">
                <a:solidFill>
                  <a:srgbClr val="05061C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Grafos ponderados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551810" y="4594649"/>
            <a:ext cx="3142815" cy="99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21"/>
              </a:lnSpc>
            </a:pPr>
            <a:r>
              <a:rPr lang="en-US" b="true" sz="4199">
                <a:solidFill>
                  <a:srgbClr val="05061C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Grafos multirrelacionales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51810" y="5736886"/>
            <a:ext cx="3188650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b="true" sz="2000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</a:t>
            </a:r>
            <a:r>
              <a:rPr lang="en-US" b="true" sz="2000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ermiten diferentes tipos de relaciones entre los mismos nodos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559728" y="1028700"/>
            <a:ext cx="2617945" cy="1989639"/>
          </a:xfrm>
          <a:custGeom>
            <a:avLst/>
            <a:gdLst/>
            <a:ahLst/>
            <a:cxnLst/>
            <a:rect r="r" b="b" t="t" l="l"/>
            <a:pathLst>
              <a:path h="1989639" w="2617945">
                <a:moveTo>
                  <a:pt x="0" y="0"/>
                </a:moveTo>
                <a:lnTo>
                  <a:pt x="2617945" y="0"/>
                </a:lnTo>
                <a:lnTo>
                  <a:pt x="2617945" y="1989639"/>
                </a:lnTo>
                <a:lnTo>
                  <a:pt x="0" y="1989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8817732">
            <a:off x="1736512" y="-1429805"/>
            <a:ext cx="2056723" cy="2893088"/>
          </a:xfrm>
          <a:custGeom>
            <a:avLst/>
            <a:gdLst/>
            <a:ahLst/>
            <a:cxnLst/>
            <a:rect r="r" b="b" t="t" l="l"/>
            <a:pathLst>
              <a:path h="2893088" w="2056723">
                <a:moveTo>
                  <a:pt x="0" y="0"/>
                </a:moveTo>
                <a:lnTo>
                  <a:pt x="2056723" y="0"/>
                </a:lnTo>
                <a:lnTo>
                  <a:pt x="2056723" y="2893088"/>
                </a:lnTo>
                <a:lnTo>
                  <a:pt x="0" y="2893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2080135">
            <a:off x="17023975" y="-289393"/>
            <a:ext cx="1999490" cy="3425917"/>
          </a:xfrm>
          <a:custGeom>
            <a:avLst/>
            <a:gdLst/>
            <a:ahLst/>
            <a:cxnLst/>
            <a:rect r="r" b="b" t="t" l="l"/>
            <a:pathLst>
              <a:path h="3425917" w="1999490">
                <a:moveTo>
                  <a:pt x="0" y="0"/>
                </a:moveTo>
                <a:lnTo>
                  <a:pt x="1999490" y="0"/>
                </a:lnTo>
                <a:lnTo>
                  <a:pt x="1999490" y="3425917"/>
                </a:lnTo>
                <a:lnTo>
                  <a:pt x="0" y="34259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4493191">
            <a:off x="13972633" y="-1211555"/>
            <a:ext cx="1784158" cy="3395457"/>
          </a:xfrm>
          <a:custGeom>
            <a:avLst/>
            <a:gdLst/>
            <a:ahLst/>
            <a:cxnLst/>
            <a:rect r="r" b="b" t="t" l="l"/>
            <a:pathLst>
              <a:path h="3395457" w="1784158">
                <a:moveTo>
                  <a:pt x="0" y="0"/>
                </a:moveTo>
                <a:lnTo>
                  <a:pt x="1784159" y="0"/>
                </a:lnTo>
                <a:lnTo>
                  <a:pt x="1784159" y="3395456"/>
                </a:lnTo>
                <a:lnTo>
                  <a:pt x="0" y="33954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652029" y="5736886"/>
            <a:ext cx="318865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b="true" sz="2000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Las aristas tienen un peso o costo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67281" y="5736886"/>
            <a:ext cx="318865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b="true" sz="2000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Las aristas no tienen dirección (A — B)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64256" y="5736886"/>
            <a:ext cx="318865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b="true" sz="2000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Las aristas tienen dirección (A → B).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773370"/>
            <a:ext cx="6552947" cy="1246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41"/>
              </a:lnSpc>
            </a:pPr>
            <a:r>
              <a:rPr lang="en-US" b="true" sz="10045">
                <a:solidFill>
                  <a:srgbClr val="05061C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CASOS DE USO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239243"/>
            <a:ext cx="6552947" cy="118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00"/>
              </a:lnSpc>
            </a:pPr>
            <a:r>
              <a:rPr lang="en-US" b="true" sz="2406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Las bases de datos de grafos se utilizan en escenarios donde las relaciones son más importantes que los propios datos.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3484404">
            <a:off x="16113049" y="-652339"/>
            <a:ext cx="2056723" cy="2893088"/>
          </a:xfrm>
          <a:custGeom>
            <a:avLst/>
            <a:gdLst/>
            <a:ahLst/>
            <a:cxnLst/>
            <a:rect r="r" b="b" t="t" l="l"/>
            <a:pathLst>
              <a:path h="2893088" w="2056723">
                <a:moveTo>
                  <a:pt x="0" y="0"/>
                </a:moveTo>
                <a:lnTo>
                  <a:pt x="2056722" y="0"/>
                </a:lnTo>
                <a:lnTo>
                  <a:pt x="2056722" y="2893088"/>
                </a:lnTo>
                <a:lnTo>
                  <a:pt x="0" y="2893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0358" y="-635033"/>
            <a:ext cx="1762476" cy="2370078"/>
          </a:xfrm>
          <a:custGeom>
            <a:avLst/>
            <a:gdLst/>
            <a:ahLst/>
            <a:cxnLst/>
            <a:rect r="r" b="b" t="t" l="l"/>
            <a:pathLst>
              <a:path h="2370078" w="1762476">
                <a:moveTo>
                  <a:pt x="0" y="0"/>
                </a:moveTo>
                <a:lnTo>
                  <a:pt x="1762476" y="0"/>
                </a:lnTo>
                <a:lnTo>
                  <a:pt x="1762476" y="2370077"/>
                </a:lnTo>
                <a:lnTo>
                  <a:pt x="0" y="23700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416501" y="-444814"/>
            <a:ext cx="2617945" cy="1989639"/>
          </a:xfrm>
          <a:custGeom>
            <a:avLst/>
            <a:gdLst/>
            <a:ahLst/>
            <a:cxnLst/>
            <a:rect r="r" b="b" t="t" l="l"/>
            <a:pathLst>
              <a:path h="1989639" w="2617945">
                <a:moveTo>
                  <a:pt x="0" y="0"/>
                </a:moveTo>
                <a:lnTo>
                  <a:pt x="2617946" y="0"/>
                </a:lnTo>
                <a:lnTo>
                  <a:pt x="2617946" y="1989639"/>
                </a:lnTo>
                <a:lnTo>
                  <a:pt x="0" y="19896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224178" y="2038843"/>
            <a:ext cx="8533826" cy="7589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606" indent="-259803" lvl="1">
              <a:lnSpc>
                <a:spcPts val="3200"/>
              </a:lnSpc>
              <a:buFont typeface="Arial"/>
              <a:buChar char="•"/>
            </a:pPr>
            <a:r>
              <a:rPr lang="en-US" b="true" sz="2406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Redes sociales: modelar usuarios, amistades, publicaciones, “likes”.</a:t>
            </a:r>
          </a:p>
          <a:p>
            <a:pPr algn="l">
              <a:lnSpc>
                <a:spcPts val="3200"/>
              </a:lnSpc>
            </a:pPr>
          </a:p>
          <a:p>
            <a:pPr algn="l" marL="519606" indent="-259803" lvl="1">
              <a:lnSpc>
                <a:spcPts val="3200"/>
              </a:lnSpc>
              <a:buFont typeface="Arial"/>
              <a:buChar char="•"/>
            </a:pPr>
            <a:r>
              <a:rPr lang="en-US" b="true" sz="2406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Sistemas de recomendación: detectar patrones de compra y sugerir productos basados en vecinos cercanos.</a:t>
            </a:r>
          </a:p>
          <a:p>
            <a:pPr algn="l">
              <a:lnSpc>
                <a:spcPts val="3200"/>
              </a:lnSpc>
            </a:pPr>
          </a:p>
          <a:p>
            <a:pPr algn="l" marL="519606" indent="-259803" lvl="1">
              <a:lnSpc>
                <a:spcPts val="3200"/>
              </a:lnSpc>
              <a:buFont typeface="Arial"/>
              <a:buChar char="•"/>
            </a:pPr>
            <a:r>
              <a:rPr lang="en-US" b="true" sz="2406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Detección de fraudes: rastrear transacciones sospechosas en cadenas de pagos.</a:t>
            </a:r>
          </a:p>
          <a:p>
            <a:pPr algn="l">
              <a:lnSpc>
                <a:spcPts val="3200"/>
              </a:lnSpc>
            </a:pPr>
          </a:p>
          <a:p>
            <a:pPr algn="l" marL="519606" indent="-259803" lvl="1">
              <a:lnSpc>
                <a:spcPts val="3200"/>
              </a:lnSpc>
              <a:buFont typeface="Arial"/>
              <a:buChar char="•"/>
            </a:pPr>
            <a:r>
              <a:rPr lang="en-US" b="true" sz="2406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Logística y rutas: encontrar caminos óptimos en mapas de transporte.</a:t>
            </a:r>
          </a:p>
          <a:p>
            <a:pPr algn="l">
              <a:lnSpc>
                <a:spcPts val="3200"/>
              </a:lnSpc>
            </a:pPr>
          </a:p>
          <a:p>
            <a:pPr algn="l" marL="519606" indent="-259803" lvl="1">
              <a:lnSpc>
                <a:spcPts val="3200"/>
              </a:lnSpc>
              <a:buFont typeface="Arial"/>
              <a:buChar char="•"/>
            </a:pPr>
            <a:r>
              <a:rPr lang="en-US" b="true" sz="2406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Gestión de conocimiento: construir grafos semánticos y de conocimiento empresarial.</a:t>
            </a:r>
          </a:p>
          <a:p>
            <a:pPr algn="l">
              <a:lnSpc>
                <a:spcPts val="3200"/>
              </a:lnSpc>
            </a:pPr>
          </a:p>
          <a:p>
            <a:pPr algn="l" marL="519606" indent="-259803" lvl="1">
              <a:lnSpc>
                <a:spcPts val="3200"/>
              </a:lnSpc>
              <a:buFont typeface="Arial"/>
              <a:buChar char="•"/>
            </a:pPr>
            <a:r>
              <a:rPr lang="en-US" b="true" sz="2406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Biología y medicina: modelar interacciones entre proteínas o relaciones genéticas.</a:t>
            </a:r>
          </a:p>
          <a:p>
            <a:pPr algn="l" marL="0" indent="0" lvl="0">
              <a:lnSpc>
                <a:spcPts val="32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773370"/>
            <a:ext cx="6552947" cy="1246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41"/>
              </a:lnSpc>
            </a:pPr>
            <a:r>
              <a:rPr lang="en-US" b="true" sz="10045">
                <a:solidFill>
                  <a:srgbClr val="05061C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ARQUITECTURA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239243"/>
            <a:ext cx="6552947" cy="118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00"/>
              </a:lnSpc>
            </a:pPr>
            <a:r>
              <a:rPr lang="en-US" b="true" sz="2406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Neo4j es la base de datos de grafos más popular y madura en el mercado, desarrollada en Java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3484404">
            <a:off x="16113049" y="-652339"/>
            <a:ext cx="2056723" cy="2893088"/>
          </a:xfrm>
          <a:custGeom>
            <a:avLst/>
            <a:gdLst/>
            <a:ahLst/>
            <a:cxnLst/>
            <a:rect r="r" b="b" t="t" l="l"/>
            <a:pathLst>
              <a:path h="2893088" w="2056723">
                <a:moveTo>
                  <a:pt x="0" y="0"/>
                </a:moveTo>
                <a:lnTo>
                  <a:pt x="2056722" y="0"/>
                </a:lnTo>
                <a:lnTo>
                  <a:pt x="2056722" y="2893088"/>
                </a:lnTo>
                <a:lnTo>
                  <a:pt x="0" y="2893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0358" y="-635033"/>
            <a:ext cx="1762476" cy="2370078"/>
          </a:xfrm>
          <a:custGeom>
            <a:avLst/>
            <a:gdLst/>
            <a:ahLst/>
            <a:cxnLst/>
            <a:rect r="r" b="b" t="t" l="l"/>
            <a:pathLst>
              <a:path h="2370078" w="1762476">
                <a:moveTo>
                  <a:pt x="0" y="0"/>
                </a:moveTo>
                <a:lnTo>
                  <a:pt x="1762476" y="0"/>
                </a:lnTo>
                <a:lnTo>
                  <a:pt x="1762476" y="2370077"/>
                </a:lnTo>
                <a:lnTo>
                  <a:pt x="0" y="23700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416501" y="-444814"/>
            <a:ext cx="2617945" cy="1989639"/>
          </a:xfrm>
          <a:custGeom>
            <a:avLst/>
            <a:gdLst/>
            <a:ahLst/>
            <a:cxnLst/>
            <a:rect r="r" b="b" t="t" l="l"/>
            <a:pathLst>
              <a:path h="1989639" w="2617945">
                <a:moveTo>
                  <a:pt x="0" y="0"/>
                </a:moveTo>
                <a:lnTo>
                  <a:pt x="2617946" y="0"/>
                </a:lnTo>
                <a:lnTo>
                  <a:pt x="2617946" y="1989639"/>
                </a:lnTo>
                <a:lnTo>
                  <a:pt x="0" y="19896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446976" y="2614404"/>
            <a:ext cx="8533826" cy="5589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606" indent="-259803" lvl="1">
              <a:lnSpc>
                <a:spcPts val="3200"/>
              </a:lnSpc>
              <a:buFont typeface="Arial"/>
              <a:buChar char="•"/>
            </a:pPr>
            <a:r>
              <a:rPr lang="en-US" b="true" sz="2406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Motor de grafos nativo: los datos s</a:t>
            </a:r>
            <a:r>
              <a:rPr lang="en-US" b="true" sz="2406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 almacenan directamente como nodos y aristas en disco.</a:t>
            </a:r>
          </a:p>
          <a:p>
            <a:pPr algn="l">
              <a:lnSpc>
                <a:spcPts val="3200"/>
              </a:lnSpc>
            </a:pPr>
          </a:p>
          <a:p>
            <a:pPr algn="l" marL="519606" indent="-259803" lvl="1">
              <a:lnSpc>
                <a:spcPts val="3200"/>
              </a:lnSpc>
              <a:buFont typeface="Arial"/>
              <a:buChar char="•"/>
            </a:pPr>
            <a:r>
              <a:rPr lang="en-US" b="true" sz="2406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ACI</a:t>
            </a:r>
            <a:r>
              <a:rPr lang="en-US" b="true" sz="2406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compliant: garantiza consistencia transaccional.</a:t>
            </a:r>
          </a:p>
          <a:p>
            <a:pPr algn="l">
              <a:lnSpc>
                <a:spcPts val="3200"/>
              </a:lnSpc>
            </a:pPr>
          </a:p>
          <a:p>
            <a:pPr algn="l" marL="519606" indent="-259803" lvl="1">
              <a:lnSpc>
                <a:spcPts val="3200"/>
              </a:lnSpc>
              <a:buFont typeface="Arial"/>
              <a:buChar char="•"/>
            </a:pPr>
            <a:r>
              <a:rPr lang="en-US" b="true" sz="2406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Lenguaje Cypher: su lenguaje declarativo de consultas.</a:t>
            </a:r>
          </a:p>
          <a:p>
            <a:pPr algn="l">
              <a:lnSpc>
                <a:spcPts val="3200"/>
              </a:lnSpc>
            </a:pPr>
          </a:p>
          <a:p>
            <a:pPr algn="l" marL="519606" indent="-259803" lvl="1">
              <a:lnSpc>
                <a:spcPts val="3200"/>
              </a:lnSpc>
              <a:buFont typeface="Arial"/>
              <a:buChar char="•"/>
            </a:pPr>
            <a:r>
              <a:rPr lang="en-US" b="true" sz="2406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Ind</a:t>
            </a:r>
            <a:r>
              <a:rPr lang="en-US" b="true" sz="2406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exación automática: facilita búsquedas rápidas de nodos por atributos.</a:t>
            </a:r>
          </a:p>
          <a:p>
            <a:pPr algn="l">
              <a:lnSpc>
                <a:spcPts val="3200"/>
              </a:lnSpc>
            </a:pPr>
          </a:p>
          <a:p>
            <a:pPr algn="l" marL="519606" indent="-259803" lvl="1">
              <a:lnSpc>
                <a:spcPts val="3200"/>
              </a:lnSpc>
              <a:buFont typeface="Arial"/>
              <a:buChar char="•"/>
            </a:pPr>
            <a:r>
              <a:rPr lang="en-US" b="true" sz="2406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Esca</a:t>
            </a:r>
            <a:r>
              <a:rPr lang="en-US" b="true" sz="2406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labilidad: soporta despliegues distribuidos con Neo4j Aura (servicio en la nube).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50203" y="3754803"/>
            <a:ext cx="7696774" cy="1246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41"/>
              </a:lnSpc>
            </a:pPr>
            <a:r>
              <a:rPr lang="en-US" b="true" sz="10045">
                <a:solidFill>
                  <a:srgbClr val="05061C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CARACTERÍSTICAS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239243"/>
            <a:ext cx="6552947" cy="118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00"/>
              </a:lnSpc>
            </a:pPr>
            <a:r>
              <a:rPr lang="en-US" b="true" sz="2406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Neo4j es la base de datos de grafos más popular y madura en el mercado, desarrollada en Java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3484404">
            <a:off x="16113049" y="-652339"/>
            <a:ext cx="2056723" cy="2893088"/>
          </a:xfrm>
          <a:custGeom>
            <a:avLst/>
            <a:gdLst/>
            <a:ahLst/>
            <a:cxnLst/>
            <a:rect r="r" b="b" t="t" l="l"/>
            <a:pathLst>
              <a:path h="2893088" w="2056723">
                <a:moveTo>
                  <a:pt x="0" y="0"/>
                </a:moveTo>
                <a:lnTo>
                  <a:pt x="2056722" y="0"/>
                </a:lnTo>
                <a:lnTo>
                  <a:pt x="2056722" y="2893088"/>
                </a:lnTo>
                <a:lnTo>
                  <a:pt x="0" y="2893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0358" y="-635033"/>
            <a:ext cx="1762476" cy="2370078"/>
          </a:xfrm>
          <a:custGeom>
            <a:avLst/>
            <a:gdLst/>
            <a:ahLst/>
            <a:cxnLst/>
            <a:rect r="r" b="b" t="t" l="l"/>
            <a:pathLst>
              <a:path h="2370078" w="1762476">
                <a:moveTo>
                  <a:pt x="0" y="0"/>
                </a:moveTo>
                <a:lnTo>
                  <a:pt x="1762476" y="0"/>
                </a:lnTo>
                <a:lnTo>
                  <a:pt x="1762476" y="2370077"/>
                </a:lnTo>
                <a:lnTo>
                  <a:pt x="0" y="23700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416501" y="-444814"/>
            <a:ext cx="2617945" cy="1989639"/>
          </a:xfrm>
          <a:custGeom>
            <a:avLst/>
            <a:gdLst/>
            <a:ahLst/>
            <a:cxnLst/>
            <a:rect r="r" b="b" t="t" l="l"/>
            <a:pathLst>
              <a:path h="1989639" w="2617945">
                <a:moveTo>
                  <a:pt x="0" y="0"/>
                </a:moveTo>
                <a:lnTo>
                  <a:pt x="2617946" y="0"/>
                </a:lnTo>
                <a:lnTo>
                  <a:pt x="2617946" y="1989639"/>
                </a:lnTo>
                <a:lnTo>
                  <a:pt x="0" y="19896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022538" y="3258860"/>
            <a:ext cx="8533826" cy="3989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606" indent="-259803" lvl="1">
              <a:lnSpc>
                <a:spcPts val="3200"/>
              </a:lnSpc>
              <a:buFont typeface="Arial"/>
              <a:buChar char="•"/>
            </a:pPr>
            <a:r>
              <a:rPr lang="en-US" b="true" sz="2406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Representación visu</a:t>
            </a:r>
            <a:r>
              <a:rPr lang="en-US" b="true" sz="2406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 intuitiva de grafos.</a:t>
            </a:r>
          </a:p>
          <a:p>
            <a:pPr algn="l">
              <a:lnSpc>
                <a:spcPts val="3200"/>
              </a:lnSpc>
            </a:pPr>
          </a:p>
          <a:p>
            <a:pPr algn="l" marL="519606" indent="-259803" lvl="1">
              <a:lnSpc>
                <a:spcPts val="3200"/>
              </a:lnSpc>
              <a:buFont typeface="Arial"/>
              <a:buChar char="•"/>
            </a:pPr>
            <a:r>
              <a:rPr lang="en-US" b="true" sz="2406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APIs</a:t>
            </a:r>
            <a:r>
              <a:rPr lang="en-US" b="true" sz="2406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y drivers para múltiples lenguajes (Java, Python, JavaScript, Go).</a:t>
            </a:r>
          </a:p>
          <a:p>
            <a:pPr algn="l">
              <a:lnSpc>
                <a:spcPts val="3200"/>
              </a:lnSpc>
            </a:pPr>
          </a:p>
          <a:p>
            <a:pPr algn="l" marL="519606" indent="-259803" lvl="1">
              <a:lnSpc>
                <a:spcPts val="3200"/>
              </a:lnSpc>
              <a:buFont typeface="Arial"/>
              <a:buChar char="•"/>
            </a:pPr>
            <a:r>
              <a:rPr lang="en-US" b="true" sz="2406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</a:t>
            </a:r>
            <a:r>
              <a:rPr lang="en-US" b="true" sz="2406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xtensiones para análisis de grafos (algoritmos de </a:t>
            </a:r>
            <a:r>
              <a:rPr lang="en-US" b="true" sz="2406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centra</a:t>
            </a:r>
            <a:r>
              <a:rPr lang="en-US" b="true" sz="2406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lidad, PageRank, clustering).</a:t>
            </a:r>
          </a:p>
          <a:p>
            <a:pPr algn="l">
              <a:lnSpc>
                <a:spcPts val="3200"/>
              </a:lnSpc>
            </a:pPr>
          </a:p>
          <a:p>
            <a:pPr algn="l" marL="519606" indent="-259803" lvl="1">
              <a:lnSpc>
                <a:spcPts val="3200"/>
              </a:lnSpc>
              <a:buFont typeface="Arial"/>
              <a:buChar char="•"/>
            </a:pPr>
            <a:r>
              <a:rPr lang="en-US" b="true" sz="2406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Integración con Big Data (Spark, Hadoop).</a:t>
            </a:r>
          </a:p>
          <a:p>
            <a:pPr algn="l">
              <a:lnSpc>
                <a:spcPts val="320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484404">
            <a:off x="16113049" y="-652339"/>
            <a:ext cx="2056723" cy="2893088"/>
          </a:xfrm>
          <a:custGeom>
            <a:avLst/>
            <a:gdLst/>
            <a:ahLst/>
            <a:cxnLst/>
            <a:rect r="r" b="b" t="t" l="l"/>
            <a:pathLst>
              <a:path h="2893088" w="2056723">
                <a:moveTo>
                  <a:pt x="0" y="0"/>
                </a:moveTo>
                <a:lnTo>
                  <a:pt x="2056722" y="0"/>
                </a:lnTo>
                <a:lnTo>
                  <a:pt x="2056722" y="2893088"/>
                </a:lnTo>
                <a:lnTo>
                  <a:pt x="0" y="2893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50358" y="-635033"/>
            <a:ext cx="1762476" cy="2370078"/>
          </a:xfrm>
          <a:custGeom>
            <a:avLst/>
            <a:gdLst/>
            <a:ahLst/>
            <a:cxnLst/>
            <a:rect r="r" b="b" t="t" l="l"/>
            <a:pathLst>
              <a:path h="2370078" w="1762476">
                <a:moveTo>
                  <a:pt x="0" y="0"/>
                </a:moveTo>
                <a:lnTo>
                  <a:pt x="1762476" y="0"/>
                </a:lnTo>
                <a:lnTo>
                  <a:pt x="1762476" y="2370077"/>
                </a:lnTo>
                <a:lnTo>
                  <a:pt x="0" y="23700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16501" y="-444814"/>
            <a:ext cx="2617945" cy="1989639"/>
          </a:xfrm>
          <a:custGeom>
            <a:avLst/>
            <a:gdLst/>
            <a:ahLst/>
            <a:cxnLst/>
            <a:rect r="r" b="b" t="t" l="l"/>
            <a:pathLst>
              <a:path h="1989639" w="2617945">
                <a:moveTo>
                  <a:pt x="0" y="0"/>
                </a:moveTo>
                <a:lnTo>
                  <a:pt x="2617946" y="0"/>
                </a:lnTo>
                <a:lnTo>
                  <a:pt x="2617946" y="1989639"/>
                </a:lnTo>
                <a:lnTo>
                  <a:pt x="0" y="19896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367534" y="2607598"/>
            <a:ext cx="9564834" cy="5320439"/>
          </a:xfrm>
          <a:custGeom>
            <a:avLst/>
            <a:gdLst/>
            <a:ahLst/>
            <a:cxnLst/>
            <a:rect r="r" b="b" t="t" l="l"/>
            <a:pathLst>
              <a:path h="5320439" w="9564834">
                <a:moveTo>
                  <a:pt x="0" y="0"/>
                </a:moveTo>
                <a:lnTo>
                  <a:pt x="9564834" y="0"/>
                </a:lnTo>
                <a:lnTo>
                  <a:pt x="9564834" y="5320439"/>
                </a:lnTo>
                <a:lnTo>
                  <a:pt x="0" y="5320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897233"/>
            <a:ext cx="6369530" cy="1246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41"/>
              </a:lnSpc>
            </a:pPr>
            <a:r>
              <a:rPr lang="en-US" b="true" sz="10045">
                <a:solidFill>
                  <a:srgbClr val="05061C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INSTALACIÓN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239243"/>
            <a:ext cx="6552947" cy="198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9606" indent="-259803" lvl="1">
              <a:lnSpc>
                <a:spcPts val="3200"/>
              </a:lnSpc>
              <a:buFont typeface="Arial"/>
              <a:buChar char="•"/>
            </a:pPr>
            <a:r>
              <a:rPr lang="en-US" b="true" sz="2406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Linux/macOS/Windows: se descarga desde: neo4j.com/download.</a:t>
            </a:r>
          </a:p>
          <a:p>
            <a:pPr algn="just" marL="519606" indent="-259803" lvl="1">
              <a:lnSpc>
                <a:spcPts val="3200"/>
              </a:lnSpc>
              <a:buFont typeface="Arial"/>
              <a:buChar char="•"/>
            </a:pPr>
            <a:r>
              <a:rPr lang="en-US" b="true" sz="2406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Requiere Java 11 o superior.</a:t>
            </a:r>
          </a:p>
          <a:p>
            <a:pPr algn="just" marL="519606" indent="-259803" lvl="1">
              <a:lnSpc>
                <a:spcPts val="3200"/>
              </a:lnSpc>
              <a:buFont typeface="Arial"/>
              <a:buChar char="•"/>
            </a:pPr>
            <a:r>
              <a:rPr lang="en-US" b="true" sz="2406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 ejecuta con neo4j start.</a:t>
            </a:r>
          </a:p>
          <a:p>
            <a:pPr algn="just" marL="519606" indent="-259803" lvl="1">
              <a:lnSpc>
                <a:spcPts val="3200"/>
              </a:lnSpc>
              <a:buFont typeface="Arial"/>
              <a:buChar char="•"/>
            </a:pPr>
            <a:r>
              <a:rPr lang="en-US" b="true" sz="2406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Neo4j Desktop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67534" y="8288016"/>
            <a:ext cx="9564834" cy="118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9606" indent="-259803" lvl="1">
              <a:lnSpc>
                <a:spcPts val="3200"/>
              </a:lnSpc>
              <a:buFont typeface="Arial"/>
              <a:buChar char="•"/>
            </a:pPr>
            <a:r>
              <a:rPr lang="en-US" b="true" sz="2406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7474: interfaz web (Neo4j Browser).</a:t>
            </a:r>
          </a:p>
          <a:p>
            <a:pPr algn="just" marL="519606" indent="-259803" lvl="1">
              <a:lnSpc>
                <a:spcPts val="3200"/>
              </a:lnSpc>
              <a:buFont typeface="Arial"/>
              <a:buChar char="•"/>
            </a:pPr>
            <a:r>
              <a:rPr lang="en-US" b="true" sz="2406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7687: p</a:t>
            </a:r>
            <a:r>
              <a:rPr lang="en-US" b="true" sz="2406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uerto del protocolo Bolt para conectarse desde aplicaciones.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64764" y="1112855"/>
            <a:ext cx="14242299" cy="1683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75"/>
              </a:lnSpc>
            </a:pPr>
            <a:r>
              <a:rPr lang="en-US" sz="13490" b="true">
                <a:solidFill>
                  <a:srgbClr val="05061C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Modelado Básico de Datos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255111" y="2617958"/>
            <a:ext cx="11684785" cy="87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39"/>
              </a:lnSpc>
            </a:pPr>
            <a:r>
              <a:rPr lang="en-US" sz="235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35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l modelado en Neo4j se centra en identificar entidades principales y relaciones clave.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016108" y="4031986"/>
            <a:ext cx="11618842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b="true" sz="2799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</a:t>
            </a:r>
            <a:r>
              <a:rPr lang="en-US" b="true" sz="2799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odos</a:t>
            </a:r>
            <a:r>
              <a:rPr lang="en-US" sz="279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: (:Persona {nombre:"Nolan"}), (:Pelicula {titulo:"Inception"})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1958499">
            <a:off x="-708072" y="3365545"/>
            <a:ext cx="3956755" cy="4890371"/>
          </a:xfrm>
          <a:custGeom>
            <a:avLst/>
            <a:gdLst/>
            <a:ahLst/>
            <a:cxnLst/>
            <a:rect r="r" b="b" t="t" l="l"/>
            <a:pathLst>
              <a:path h="4890371" w="3956755">
                <a:moveTo>
                  <a:pt x="0" y="0"/>
                </a:moveTo>
                <a:lnTo>
                  <a:pt x="3956755" y="0"/>
                </a:lnTo>
                <a:lnTo>
                  <a:pt x="3956755" y="4890371"/>
                </a:lnTo>
                <a:lnTo>
                  <a:pt x="0" y="48903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488341">
            <a:off x="-1234965" y="-119903"/>
            <a:ext cx="3492799" cy="2730734"/>
          </a:xfrm>
          <a:custGeom>
            <a:avLst/>
            <a:gdLst/>
            <a:ahLst/>
            <a:cxnLst/>
            <a:rect r="r" b="b" t="t" l="l"/>
            <a:pathLst>
              <a:path h="2730734" w="3492799">
                <a:moveTo>
                  <a:pt x="0" y="0"/>
                </a:moveTo>
                <a:lnTo>
                  <a:pt x="3492798" y="0"/>
                </a:lnTo>
                <a:lnTo>
                  <a:pt x="3492798" y="2730734"/>
                </a:lnTo>
                <a:lnTo>
                  <a:pt x="0" y="27307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574989" y="8731518"/>
            <a:ext cx="2172846" cy="2280659"/>
          </a:xfrm>
          <a:custGeom>
            <a:avLst/>
            <a:gdLst/>
            <a:ahLst/>
            <a:cxnLst/>
            <a:rect r="r" b="b" t="t" l="l"/>
            <a:pathLst>
              <a:path h="2280659" w="2172846">
                <a:moveTo>
                  <a:pt x="0" y="0"/>
                </a:moveTo>
                <a:lnTo>
                  <a:pt x="2172846" y="0"/>
                </a:lnTo>
                <a:lnTo>
                  <a:pt x="2172846" y="2280659"/>
                </a:lnTo>
                <a:lnTo>
                  <a:pt x="0" y="2280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016108" y="4650105"/>
            <a:ext cx="11618842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b="true" sz="2799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Relación</a:t>
            </a:r>
            <a:r>
              <a:rPr lang="en-US" sz="279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  <a:r>
              <a:rPr lang="en-US" b="true" sz="2799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79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(:Persona)-[:DIRIGIO]-&gt;(:Pelicula)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55111" y="5695950"/>
            <a:ext cx="11684785" cy="4453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39"/>
              </a:lnSpc>
            </a:pPr>
            <a:r>
              <a:rPr lang="en-US" sz="2359" b="true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Buenas prácticas</a:t>
            </a:r>
            <a:r>
              <a:rPr lang="en-US" sz="235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  <a:p>
            <a:pPr algn="just">
              <a:lnSpc>
                <a:spcPts val="3539"/>
              </a:lnSpc>
            </a:pPr>
          </a:p>
          <a:p>
            <a:pPr algn="just" marL="509521" indent="-254761" lvl="1">
              <a:lnSpc>
                <a:spcPts val="3539"/>
              </a:lnSpc>
              <a:buFont typeface="Arial"/>
              <a:buChar char="•"/>
            </a:pPr>
            <a:r>
              <a:rPr lang="en-US" sz="235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Usar etiquetas (labels) en nodos para clasificar (ej. :Usuario, :Producto).</a:t>
            </a:r>
          </a:p>
          <a:p>
            <a:pPr algn="just">
              <a:lnSpc>
                <a:spcPts val="3539"/>
              </a:lnSpc>
            </a:pPr>
          </a:p>
          <a:p>
            <a:pPr algn="just" marL="509521" indent="-254761" lvl="1">
              <a:lnSpc>
                <a:spcPts val="3539"/>
              </a:lnSpc>
              <a:buFont typeface="Arial"/>
              <a:buChar char="•"/>
            </a:pPr>
            <a:r>
              <a:rPr lang="en-US" sz="235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Definir relaciones con verbos que indiquen acción o conexión ([:COMPRA], [:SIGUE]).</a:t>
            </a:r>
          </a:p>
          <a:p>
            <a:pPr algn="just">
              <a:lnSpc>
                <a:spcPts val="3539"/>
              </a:lnSpc>
            </a:pPr>
          </a:p>
          <a:p>
            <a:pPr algn="just" marL="509521" indent="-254761" lvl="1">
              <a:lnSpc>
                <a:spcPts val="3539"/>
              </a:lnSpc>
              <a:buFont typeface="Arial"/>
              <a:buChar char="•"/>
            </a:pPr>
            <a:r>
              <a:rPr lang="en-US" sz="235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Usar propiedades solo para atributos relevantes; evitar sobrecargar nodos con demasiados datos.</a:t>
            </a:r>
          </a:p>
          <a:p>
            <a:pPr algn="just">
              <a:lnSpc>
                <a:spcPts val="353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958499">
            <a:off x="-708072" y="3365545"/>
            <a:ext cx="3956755" cy="4890371"/>
          </a:xfrm>
          <a:custGeom>
            <a:avLst/>
            <a:gdLst/>
            <a:ahLst/>
            <a:cxnLst/>
            <a:rect r="r" b="b" t="t" l="l"/>
            <a:pathLst>
              <a:path h="4890371" w="3956755">
                <a:moveTo>
                  <a:pt x="0" y="0"/>
                </a:moveTo>
                <a:lnTo>
                  <a:pt x="3956755" y="0"/>
                </a:lnTo>
                <a:lnTo>
                  <a:pt x="3956755" y="4890371"/>
                </a:lnTo>
                <a:lnTo>
                  <a:pt x="0" y="48903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88341">
            <a:off x="-1234965" y="-119903"/>
            <a:ext cx="3492799" cy="2730734"/>
          </a:xfrm>
          <a:custGeom>
            <a:avLst/>
            <a:gdLst/>
            <a:ahLst/>
            <a:cxnLst/>
            <a:rect r="r" b="b" t="t" l="l"/>
            <a:pathLst>
              <a:path h="2730734" w="3492799">
                <a:moveTo>
                  <a:pt x="0" y="0"/>
                </a:moveTo>
                <a:lnTo>
                  <a:pt x="3492798" y="0"/>
                </a:lnTo>
                <a:lnTo>
                  <a:pt x="3492798" y="2730734"/>
                </a:lnTo>
                <a:lnTo>
                  <a:pt x="0" y="27307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74989" y="8731518"/>
            <a:ext cx="2172846" cy="2280659"/>
          </a:xfrm>
          <a:custGeom>
            <a:avLst/>
            <a:gdLst/>
            <a:ahLst/>
            <a:cxnLst/>
            <a:rect r="r" b="b" t="t" l="l"/>
            <a:pathLst>
              <a:path h="2280659" w="2172846">
                <a:moveTo>
                  <a:pt x="0" y="0"/>
                </a:moveTo>
                <a:lnTo>
                  <a:pt x="2172846" y="0"/>
                </a:lnTo>
                <a:lnTo>
                  <a:pt x="2172846" y="2280659"/>
                </a:lnTo>
                <a:lnTo>
                  <a:pt x="0" y="2280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297354" y="4834253"/>
            <a:ext cx="9056350" cy="5037595"/>
          </a:xfrm>
          <a:custGeom>
            <a:avLst/>
            <a:gdLst/>
            <a:ahLst/>
            <a:cxnLst/>
            <a:rect r="r" b="b" t="t" l="l"/>
            <a:pathLst>
              <a:path h="5037595" w="9056350">
                <a:moveTo>
                  <a:pt x="0" y="0"/>
                </a:moveTo>
                <a:lnTo>
                  <a:pt x="9056350" y="0"/>
                </a:lnTo>
                <a:lnTo>
                  <a:pt x="9056350" y="5037594"/>
                </a:lnTo>
                <a:lnTo>
                  <a:pt x="0" y="50375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20802" y="806670"/>
            <a:ext cx="14242299" cy="1677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75"/>
              </a:lnSpc>
            </a:pPr>
            <a:r>
              <a:rPr lang="en-US" b="true" sz="13490">
                <a:solidFill>
                  <a:srgbClr val="05061C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Cypher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55111" y="2617958"/>
            <a:ext cx="11684785" cy="87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39"/>
              </a:lnSpc>
            </a:pPr>
            <a:r>
              <a:rPr lang="en-US" sz="235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Cypher</a:t>
            </a:r>
            <a:r>
              <a:rPr lang="en-US" sz="235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 es un lenguaje declarativo inspirado en SQL, pero optimizado para grafos.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16108" y="4031986"/>
            <a:ext cx="11618842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79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279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rear un nodo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958499">
            <a:off x="-708072" y="3365545"/>
            <a:ext cx="3956755" cy="4890371"/>
          </a:xfrm>
          <a:custGeom>
            <a:avLst/>
            <a:gdLst/>
            <a:ahLst/>
            <a:cxnLst/>
            <a:rect r="r" b="b" t="t" l="l"/>
            <a:pathLst>
              <a:path h="4890371" w="3956755">
                <a:moveTo>
                  <a:pt x="0" y="0"/>
                </a:moveTo>
                <a:lnTo>
                  <a:pt x="3956755" y="0"/>
                </a:lnTo>
                <a:lnTo>
                  <a:pt x="3956755" y="4890371"/>
                </a:lnTo>
                <a:lnTo>
                  <a:pt x="0" y="48903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88341">
            <a:off x="-1234965" y="-119903"/>
            <a:ext cx="3492799" cy="2730734"/>
          </a:xfrm>
          <a:custGeom>
            <a:avLst/>
            <a:gdLst/>
            <a:ahLst/>
            <a:cxnLst/>
            <a:rect r="r" b="b" t="t" l="l"/>
            <a:pathLst>
              <a:path h="2730734" w="3492799">
                <a:moveTo>
                  <a:pt x="0" y="0"/>
                </a:moveTo>
                <a:lnTo>
                  <a:pt x="3492798" y="0"/>
                </a:lnTo>
                <a:lnTo>
                  <a:pt x="3492798" y="2730734"/>
                </a:lnTo>
                <a:lnTo>
                  <a:pt x="0" y="27307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74989" y="8731518"/>
            <a:ext cx="2172846" cy="2280659"/>
          </a:xfrm>
          <a:custGeom>
            <a:avLst/>
            <a:gdLst/>
            <a:ahLst/>
            <a:cxnLst/>
            <a:rect r="r" b="b" t="t" l="l"/>
            <a:pathLst>
              <a:path h="2280659" w="2172846">
                <a:moveTo>
                  <a:pt x="0" y="0"/>
                </a:moveTo>
                <a:lnTo>
                  <a:pt x="2172846" y="0"/>
                </a:lnTo>
                <a:lnTo>
                  <a:pt x="2172846" y="2280659"/>
                </a:lnTo>
                <a:lnTo>
                  <a:pt x="0" y="2280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74899" y="4758028"/>
            <a:ext cx="11301259" cy="5113820"/>
          </a:xfrm>
          <a:custGeom>
            <a:avLst/>
            <a:gdLst/>
            <a:ahLst/>
            <a:cxnLst/>
            <a:rect r="r" b="b" t="t" l="l"/>
            <a:pathLst>
              <a:path h="5113820" w="11301259">
                <a:moveTo>
                  <a:pt x="0" y="0"/>
                </a:moveTo>
                <a:lnTo>
                  <a:pt x="11301259" y="0"/>
                </a:lnTo>
                <a:lnTo>
                  <a:pt x="11301259" y="5113819"/>
                </a:lnTo>
                <a:lnTo>
                  <a:pt x="0" y="51138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20802" y="806670"/>
            <a:ext cx="14242299" cy="1677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75"/>
              </a:lnSpc>
            </a:pPr>
            <a:r>
              <a:rPr lang="en-US" b="true" sz="13490">
                <a:solidFill>
                  <a:srgbClr val="05061C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Cypher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55111" y="2617958"/>
            <a:ext cx="11684785" cy="87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39"/>
              </a:lnSpc>
            </a:pPr>
            <a:r>
              <a:rPr lang="en-US" sz="235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Cypher</a:t>
            </a:r>
            <a:r>
              <a:rPr lang="en-US" sz="235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 es un lenguaje declarativo inspirado en SQL, pero optimizado para grafos.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16108" y="4031986"/>
            <a:ext cx="11618842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79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279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rear relación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958499">
            <a:off x="-708072" y="3365545"/>
            <a:ext cx="3956755" cy="4890371"/>
          </a:xfrm>
          <a:custGeom>
            <a:avLst/>
            <a:gdLst/>
            <a:ahLst/>
            <a:cxnLst/>
            <a:rect r="r" b="b" t="t" l="l"/>
            <a:pathLst>
              <a:path h="4890371" w="3956755">
                <a:moveTo>
                  <a:pt x="0" y="0"/>
                </a:moveTo>
                <a:lnTo>
                  <a:pt x="3956755" y="0"/>
                </a:lnTo>
                <a:lnTo>
                  <a:pt x="3956755" y="4890371"/>
                </a:lnTo>
                <a:lnTo>
                  <a:pt x="0" y="48903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88341">
            <a:off x="-1234965" y="-119903"/>
            <a:ext cx="3492799" cy="2730734"/>
          </a:xfrm>
          <a:custGeom>
            <a:avLst/>
            <a:gdLst/>
            <a:ahLst/>
            <a:cxnLst/>
            <a:rect r="r" b="b" t="t" l="l"/>
            <a:pathLst>
              <a:path h="2730734" w="3492799">
                <a:moveTo>
                  <a:pt x="0" y="0"/>
                </a:moveTo>
                <a:lnTo>
                  <a:pt x="3492798" y="0"/>
                </a:lnTo>
                <a:lnTo>
                  <a:pt x="3492798" y="2730734"/>
                </a:lnTo>
                <a:lnTo>
                  <a:pt x="0" y="27307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74989" y="8731518"/>
            <a:ext cx="2172846" cy="2280659"/>
          </a:xfrm>
          <a:custGeom>
            <a:avLst/>
            <a:gdLst/>
            <a:ahLst/>
            <a:cxnLst/>
            <a:rect r="r" b="b" t="t" l="l"/>
            <a:pathLst>
              <a:path h="2280659" w="2172846">
                <a:moveTo>
                  <a:pt x="0" y="0"/>
                </a:moveTo>
                <a:lnTo>
                  <a:pt x="2172846" y="0"/>
                </a:lnTo>
                <a:lnTo>
                  <a:pt x="2172846" y="2280659"/>
                </a:lnTo>
                <a:lnTo>
                  <a:pt x="0" y="2280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74899" y="4758028"/>
            <a:ext cx="11301259" cy="5113820"/>
          </a:xfrm>
          <a:custGeom>
            <a:avLst/>
            <a:gdLst/>
            <a:ahLst/>
            <a:cxnLst/>
            <a:rect r="r" b="b" t="t" l="l"/>
            <a:pathLst>
              <a:path h="5113820" w="11301259">
                <a:moveTo>
                  <a:pt x="0" y="0"/>
                </a:moveTo>
                <a:lnTo>
                  <a:pt x="11301259" y="0"/>
                </a:lnTo>
                <a:lnTo>
                  <a:pt x="11301259" y="5113819"/>
                </a:lnTo>
                <a:lnTo>
                  <a:pt x="0" y="51138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20802" y="806670"/>
            <a:ext cx="14242299" cy="1677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75"/>
              </a:lnSpc>
            </a:pPr>
            <a:r>
              <a:rPr lang="en-US" b="true" sz="13490">
                <a:solidFill>
                  <a:srgbClr val="05061C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Cypher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55111" y="2617958"/>
            <a:ext cx="11684785" cy="87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39"/>
              </a:lnSpc>
            </a:pPr>
            <a:r>
              <a:rPr lang="en-US" sz="235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Cypher</a:t>
            </a:r>
            <a:r>
              <a:rPr lang="en-US" sz="235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 es un lenguaje declarativo inspirado en SQL, pero optimizado para grafos.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16108" y="4031986"/>
            <a:ext cx="11618842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79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279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rear relación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958499">
            <a:off x="-708072" y="3365545"/>
            <a:ext cx="3956755" cy="4890371"/>
          </a:xfrm>
          <a:custGeom>
            <a:avLst/>
            <a:gdLst/>
            <a:ahLst/>
            <a:cxnLst/>
            <a:rect r="r" b="b" t="t" l="l"/>
            <a:pathLst>
              <a:path h="4890371" w="3956755">
                <a:moveTo>
                  <a:pt x="0" y="0"/>
                </a:moveTo>
                <a:lnTo>
                  <a:pt x="3956755" y="0"/>
                </a:lnTo>
                <a:lnTo>
                  <a:pt x="3956755" y="4890371"/>
                </a:lnTo>
                <a:lnTo>
                  <a:pt x="0" y="48903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88341">
            <a:off x="-1234965" y="-119903"/>
            <a:ext cx="3492799" cy="2730734"/>
          </a:xfrm>
          <a:custGeom>
            <a:avLst/>
            <a:gdLst/>
            <a:ahLst/>
            <a:cxnLst/>
            <a:rect r="r" b="b" t="t" l="l"/>
            <a:pathLst>
              <a:path h="2730734" w="3492799">
                <a:moveTo>
                  <a:pt x="0" y="0"/>
                </a:moveTo>
                <a:lnTo>
                  <a:pt x="3492798" y="0"/>
                </a:lnTo>
                <a:lnTo>
                  <a:pt x="3492798" y="2730734"/>
                </a:lnTo>
                <a:lnTo>
                  <a:pt x="0" y="27307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74989" y="8731518"/>
            <a:ext cx="2172846" cy="2280659"/>
          </a:xfrm>
          <a:custGeom>
            <a:avLst/>
            <a:gdLst/>
            <a:ahLst/>
            <a:cxnLst/>
            <a:rect r="r" b="b" t="t" l="l"/>
            <a:pathLst>
              <a:path h="2280659" w="2172846">
                <a:moveTo>
                  <a:pt x="0" y="0"/>
                </a:moveTo>
                <a:lnTo>
                  <a:pt x="2172846" y="0"/>
                </a:lnTo>
                <a:lnTo>
                  <a:pt x="2172846" y="2280659"/>
                </a:lnTo>
                <a:lnTo>
                  <a:pt x="0" y="2280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148776" y="4725406"/>
            <a:ext cx="8697843" cy="5316557"/>
          </a:xfrm>
          <a:custGeom>
            <a:avLst/>
            <a:gdLst/>
            <a:ahLst/>
            <a:cxnLst/>
            <a:rect r="r" b="b" t="t" l="l"/>
            <a:pathLst>
              <a:path h="5316557" w="8697843">
                <a:moveTo>
                  <a:pt x="0" y="0"/>
                </a:moveTo>
                <a:lnTo>
                  <a:pt x="8697843" y="0"/>
                </a:lnTo>
                <a:lnTo>
                  <a:pt x="8697843" y="5316557"/>
                </a:lnTo>
                <a:lnTo>
                  <a:pt x="0" y="53165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20802" y="806670"/>
            <a:ext cx="14242299" cy="1677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75"/>
              </a:lnSpc>
            </a:pPr>
            <a:r>
              <a:rPr lang="en-US" b="true" sz="13490">
                <a:solidFill>
                  <a:srgbClr val="05061C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Cypher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55111" y="2617958"/>
            <a:ext cx="11684785" cy="87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39"/>
              </a:lnSpc>
            </a:pPr>
            <a:r>
              <a:rPr lang="en-US" sz="235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Cypher</a:t>
            </a:r>
            <a:r>
              <a:rPr lang="en-US" sz="235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 es un lenguaje declarativo inspirado en SQL, pero optimizado para grafos.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16108" y="4031986"/>
            <a:ext cx="11618842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79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Consult</a:t>
            </a:r>
            <a:r>
              <a:rPr lang="en-US" sz="279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ar relaciones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958499">
            <a:off x="-708072" y="3365545"/>
            <a:ext cx="3956755" cy="4890371"/>
          </a:xfrm>
          <a:custGeom>
            <a:avLst/>
            <a:gdLst/>
            <a:ahLst/>
            <a:cxnLst/>
            <a:rect r="r" b="b" t="t" l="l"/>
            <a:pathLst>
              <a:path h="4890371" w="3956755">
                <a:moveTo>
                  <a:pt x="0" y="0"/>
                </a:moveTo>
                <a:lnTo>
                  <a:pt x="3956755" y="0"/>
                </a:lnTo>
                <a:lnTo>
                  <a:pt x="3956755" y="4890371"/>
                </a:lnTo>
                <a:lnTo>
                  <a:pt x="0" y="48903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88341">
            <a:off x="-1234965" y="-119903"/>
            <a:ext cx="3492799" cy="2730734"/>
          </a:xfrm>
          <a:custGeom>
            <a:avLst/>
            <a:gdLst/>
            <a:ahLst/>
            <a:cxnLst/>
            <a:rect r="r" b="b" t="t" l="l"/>
            <a:pathLst>
              <a:path h="2730734" w="3492799">
                <a:moveTo>
                  <a:pt x="0" y="0"/>
                </a:moveTo>
                <a:lnTo>
                  <a:pt x="3492798" y="0"/>
                </a:lnTo>
                <a:lnTo>
                  <a:pt x="3492798" y="2730734"/>
                </a:lnTo>
                <a:lnTo>
                  <a:pt x="0" y="27307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74989" y="8731518"/>
            <a:ext cx="2172846" cy="2280659"/>
          </a:xfrm>
          <a:custGeom>
            <a:avLst/>
            <a:gdLst/>
            <a:ahLst/>
            <a:cxnLst/>
            <a:rect r="r" b="b" t="t" l="l"/>
            <a:pathLst>
              <a:path h="2280659" w="2172846">
                <a:moveTo>
                  <a:pt x="0" y="0"/>
                </a:moveTo>
                <a:lnTo>
                  <a:pt x="2172846" y="0"/>
                </a:lnTo>
                <a:lnTo>
                  <a:pt x="2172846" y="2280659"/>
                </a:lnTo>
                <a:lnTo>
                  <a:pt x="0" y="2280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517668" y="5290020"/>
            <a:ext cx="13414148" cy="4309295"/>
          </a:xfrm>
          <a:custGeom>
            <a:avLst/>
            <a:gdLst/>
            <a:ahLst/>
            <a:cxnLst/>
            <a:rect r="r" b="b" t="t" l="l"/>
            <a:pathLst>
              <a:path h="4309295" w="13414148">
                <a:moveTo>
                  <a:pt x="0" y="0"/>
                </a:moveTo>
                <a:lnTo>
                  <a:pt x="13414147" y="0"/>
                </a:lnTo>
                <a:lnTo>
                  <a:pt x="13414147" y="4309295"/>
                </a:lnTo>
                <a:lnTo>
                  <a:pt x="0" y="43092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20802" y="806670"/>
            <a:ext cx="14242299" cy="1677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75"/>
              </a:lnSpc>
            </a:pPr>
            <a:r>
              <a:rPr lang="en-US" b="true" sz="13490">
                <a:solidFill>
                  <a:srgbClr val="05061C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Cypher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55111" y="2617958"/>
            <a:ext cx="11684785" cy="87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39"/>
              </a:lnSpc>
            </a:pPr>
            <a:r>
              <a:rPr lang="en-US" sz="235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Cypher</a:t>
            </a:r>
            <a:r>
              <a:rPr lang="en-US" sz="235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 es un lenguaje declarativo inspirado en SQL, pero optimizado para grafos.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16108" y="4031986"/>
            <a:ext cx="11618842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79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Busc</a:t>
            </a:r>
            <a:r>
              <a:rPr lang="en-US" sz="2799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ar caminos más cortos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DAG0wsDHuRE</dc:identifier>
  <dcterms:modified xsi:type="dcterms:W3CDTF">2011-08-01T06:04:30Z</dcterms:modified>
  <cp:revision>1</cp:revision>
  <dc:title>Semana 11</dc:title>
</cp:coreProperties>
</file>