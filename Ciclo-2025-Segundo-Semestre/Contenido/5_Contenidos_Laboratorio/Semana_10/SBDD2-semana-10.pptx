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10287000" cx="18288000"/>
  <p:notesSz cx="6858000" cy="9144000"/>
  <p:embeddedFontLst>
    <p:embeddedFont>
      <p:font typeface="Lobster"/>
      <p:regular r:id="rId33"/>
    </p:embeddedFont>
    <p:embeddedFont>
      <p:font typeface="Pacifico"/>
      <p:regular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9" roundtripDataSignature="AMtx7mjJvgpMLKOpkbvngb5m5GLLrTGm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2190EE6-B982-4FEB-AFA4-E969F1605A00}">
  <a:tblStyle styleId="{D2190EE6-B982-4FEB-AFA4-E969F1605A00}"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Lobster-regular.fntdata"/><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OpenSans-regular.fntdata"/><Relationship Id="rId12" Type="http://schemas.openxmlformats.org/officeDocument/2006/relationships/slide" Target="slides/slide5.xml"/><Relationship Id="rId34" Type="http://schemas.openxmlformats.org/officeDocument/2006/relationships/font" Target="fonts/Pacifico-regular.fntdata"/><Relationship Id="rId15" Type="http://schemas.openxmlformats.org/officeDocument/2006/relationships/slide" Target="slides/slide8.xml"/><Relationship Id="rId37" Type="http://schemas.openxmlformats.org/officeDocument/2006/relationships/font" Target="fonts/OpenSans-italic.fntdata"/><Relationship Id="rId14" Type="http://schemas.openxmlformats.org/officeDocument/2006/relationships/slide" Target="slides/slide7.xml"/><Relationship Id="rId36" Type="http://schemas.openxmlformats.org/officeDocument/2006/relationships/font" Target="fonts/OpenSans-bold.fntdata"/><Relationship Id="rId17" Type="http://schemas.openxmlformats.org/officeDocument/2006/relationships/slide" Target="slides/slide10.xml"/><Relationship Id="rId39" Type="http://customschemas.google.com/relationships/presentationmetadata" Target="metadata"/><Relationship Id="rId16" Type="http://schemas.openxmlformats.org/officeDocument/2006/relationships/slide" Target="slides/slide9.xml"/><Relationship Id="rId38" Type="http://schemas.openxmlformats.org/officeDocument/2006/relationships/font" Target="fonts/OpenSans-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8" name="Google Shape;378;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5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5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5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5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5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9"/>
          <p:cNvSpPr/>
          <p:nvPr>
            <p:ph idx="2" type="pic"/>
          </p:nvPr>
        </p:nvSpPr>
        <p:spPr>
          <a:xfrm>
            <a:off x="1792288" y="612775"/>
            <a:ext cx="5486400" cy="4114800"/>
          </a:xfrm>
          <a:prstGeom prst="rect">
            <a:avLst/>
          </a:prstGeom>
          <a:noFill/>
          <a:ln>
            <a:noFill/>
          </a:ln>
        </p:spPr>
      </p:sp>
      <p:sp>
        <p:nvSpPr>
          <p:cNvPr id="64" name="Google Shape;64;p5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p62"/>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82" name="Google Shape;82;p62"/>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83" name="Google Shape;83;p62"/>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p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7" name="Google Shape;9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3" name="Google Shape;103;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p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9" name="Google Shape;109;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5" name="Google Shape;115;p2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6" name="Google Shape;11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2" name="Google Shape;122;p2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3" name="Google Shape;123;p2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4" name="Google Shape;124;p2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5" name="Google Shape;12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6" name="Google Shape;136;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7" name="Google Shape;13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1"/>
          <p:cNvSpPr/>
          <p:nvPr>
            <p:ph idx="2" type="pic"/>
          </p:nvPr>
        </p:nvSpPr>
        <p:spPr>
          <a:xfrm>
            <a:off x="1792288" y="612775"/>
            <a:ext cx="5486400" cy="4114800"/>
          </a:xfrm>
          <a:prstGeom prst="rect">
            <a:avLst/>
          </a:prstGeom>
          <a:noFill/>
          <a:ln>
            <a:noFill/>
          </a:ln>
        </p:spPr>
      </p:sp>
      <p:sp>
        <p:nvSpPr>
          <p:cNvPr id="143" name="Google Shape;143;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4" name="Google Shape;144;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3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0" name="Google Shape;150;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3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3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6" name="Google Shape;15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hyperlink" Target="https://neo4j.com/docs/operations-manual/current/installation/requirements/" TargetMode="External"/><Relationship Id="rId4" Type="http://schemas.openxmlformats.org/officeDocument/2006/relationships/image" Target="../media/image6.png"/><Relationship Id="rId5" Type="http://schemas.openxmlformats.org/officeDocument/2006/relationships/hyperlink" Target="https://neo4j.com/docs/operations-manual/curren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3.jp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3.jpg"/><Relationship Id="rId4" Type="http://schemas.openxmlformats.org/officeDocument/2006/relationships/image" Target="../media/image12.png"/><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3.jpg"/><Relationship Id="rId4" Type="http://schemas.openxmlformats.org/officeDocument/2006/relationships/hyperlink" Target="https://neo4j.com/deployment-center" TargetMode="External"/><Relationship Id="rId5" Type="http://schemas.openxmlformats.org/officeDocument/2006/relationships/hyperlink" Target="https://neo4j.com/docs/operations-manual/current/configuration/file-locations/#file-locations-file-locations" TargetMode="External"/><Relationship Id="rId6" Type="http://schemas.openxmlformats.org/officeDocument/2006/relationships/hyperlink" Target="https://neo4j.com/docs/operations-manual/current/configuration/configuration-settings/#_server_directories_setting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3.jpg"/><Relationship Id="rId4" Type="http://schemas.openxmlformats.org/officeDocument/2006/relationships/hyperlink" Target="https://neo4j.com/deployment-center" TargetMode="External"/><Relationship Id="rId5"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1"/>
          <p:cNvSpPr/>
          <p:nvPr/>
        </p:nvSpPr>
        <p:spPr>
          <a:xfrm>
            <a:off x="3598050" y="5988675"/>
            <a:ext cx="7365000" cy="7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Calibri"/>
                <a:ea typeface="Calibri"/>
                <a:cs typeface="Calibri"/>
                <a:sym typeface="Calibri"/>
              </a:rPr>
              <a:t>NOMBRE DEL TUTOR</a:t>
            </a:r>
            <a:endParaRPr/>
          </a:p>
        </p:txBody>
      </p:sp>
      <p:sp>
        <p:nvSpPr>
          <p:cNvPr id="164" name="Google Shape;164;p1"/>
          <p:cNvSpPr/>
          <p:nvPr/>
        </p:nvSpPr>
        <p:spPr>
          <a:xfrm>
            <a:off x="2338755" y="4781250"/>
            <a:ext cx="10142100" cy="7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0" i="0" lang="en-US" sz="3100" u="none" cap="none" strike="noStrike">
                <a:solidFill>
                  <a:srgbClr val="000000"/>
                </a:solidFill>
                <a:latin typeface="Calibri"/>
                <a:ea typeface="Calibri"/>
                <a:cs typeface="Calibri"/>
                <a:sym typeface="Calibri"/>
              </a:rPr>
              <a:t>BASES DE DATOS 2</a:t>
            </a:r>
            <a:endParaRPr/>
          </a:p>
        </p:txBody>
      </p:sp>
      <p:graphicFrame>
        <p:nvGraphicFramePr>
          <p:cNvPr id="165" name="Google Shape;165;p1"/>
          <p:cNvGraphicFramePr/>
          <p:nvPr/>
        </p:nvGraphicFramePr>
        <p:xfrm>
          <a:off x="11734800" y="2019300"/>
          <a:ext cx="3000000" cy="3000000"/>
        </p:xfrm>
        <a:graphic>
          <a:graphicData uri="http://schemas.openxmlformats.org/drawingml/2006/table">
            <a:tbl>
              <a:tblPr bandRow="1" firstRow="1">
                <a:noFill/>
                <a:tableStyleId>{D2190EE6-B982-4FEB-AFA4-E969F1605A00}</a:tableStyleId>
              </a:tblPr>
              <a:tblGrid>
                <a:gridCol w="2362200"/>
                <a:gridCol w="3733800"/>
              </a:tblGrid>
              <a:tr h="685800">
                <a:tc>
                  <a:txBody>
                    <a:bodyPr/>
                    <a:lstStyle/>
                    <a:p>
                      <a:pPr indent="0" lvl="0" marL="0" marR="0" rtl="0" algn="l">
                        <a:lnSpc>
                          <a:spcPct val="100000"/>
                        </a:lnSpc>
                        <a:spcBef>
                          <a:spcPts val="0"/>
                        </a:spcBef>
                        <a:spcAft>
                          <a:spcPts val="0"/>
                        </a:spcAft>
                        <a:buNone/>
                      </a:pPr>
                      <a:r>
                        <a:rPr lang="en-US" sz="2800" u="none" cap="none" strike="noStrike">
                          <a:solidFill>
                            <a:schemeClr val="dk1"/>
                          </a:solidFill>
                        </a:rPr>
                        <a:t>Día, Fecha:</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800" u="none" cap="none" strike="noStrike">
                          <a:solidFill>
                            <a:schemeClr val="dk1"/>
                          </a:solidFill>
                        </a:rPr>
                        <a:t>Miércoles 01/01/2026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5800">
                <a:tc>
                  <a:txBody>
                    <a:bodyPr/>
                    <a:lstStyle/>
                    <a:p>
                      <a:pPr indent="0" lvl="0" marL="0" marR="0" rtl="0" algn="l">
                        <a:lnSpc>
                          <a:spcPct val="100000"/>
                        </a:lnSpc>
                        <a:spcBef>
                          <a:spcPts val="0"/>
                        </a:spcBef>
                        <a:spcAft>
                          <a:spcPts val="0"/>
                        </a:spcAft>
                        <a:buNone/>
                      </a:pPr>
                      <a:r>
                        <a:rPr b="1" lang="en-US" sz="2800" u="none" cap="none" strike="noStrike">
                          <a:solidFill>
                            <a:schemeClr val="dk1"/>
                          </a:solidFill>
                        </a:rPr>
                        <a:t>Hora Inicio</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800" u="none" cap="none" strike="noStrike">
                          <a:solidFill>
                            <a:schemeClr val="dk1"/>
                          </a:solidFill>
                        </a:rPr>
                        <a:t>17:30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4"/>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4"/>
          <p:cNvSpPr txBox="1"/>
          <p:nvPr/>
        </p:nvSpPr>
        <p:spPr>
          <a:xfrm>
            <a:off x="890249" y="7555025"/>
            <a:ext cx="8526600"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BASES DE DATOS 2</a:t>
            </a:r>
            <a:endParaRPr/>
          </a:p>
        </p:txBody>
      </p:sp>
      <p:sp>
        <p:nvSpPr>
          <p:cNvPr id="172" name="Google Shape;172;p34"/>
          <p:cNvSpPr txBox="1"/>
          <p:nvPr/>
        </p:nvSpPr>
        <p:spPr>
          <a:xfrm>
            <a:off x="2591255" y="2167474"/>
            <a:ext cx="12375000" cy="369331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200"/>
              <a:buFont typeface="Arial"/>
              <a:buNone/>
            </a:pPr>
            <a:r>
              <a:rPr b="1" i="0" lang="en-US" sz="8000" u="none" cap="none" strike="noStrike">
                <a:solidFill>
                  <a:srgbClr val="131416"/>
                </a:solidFill>
                <a:latin typeface="Open Sans"/>
                <a:ea typeface="Open Sans"/>
                <a:cs typeface="Open Sans"/>
                <a:sym typeface="Open Sans"/>
              </a:rPr>
              <a:t>Unidad No. 3 :</a:t>
            </a:r>
            <a:endParaRPr/>
          </a:p>
          <a:p>
            <a:pPr indent="0" lvl="0" marL="0" marR="0" rtl="0" algn="ctr">
              <a:lnSpc>
                <a:spcPct val="100000"/>
              </a:lnSpc>
              <a:spcBef>
                <a:spcPts val="0"/>
              </a:spcBef>
              <a:spcAft>
                <a:spcPts val="0"/>
              </a:spcAft>
              <a:buClr>
                <a:srgbClr val="000000"/>
              </a:buClr>
              <a:buSzPts val="9200"/>
              <a:buFont typeface="Arial"/>
              <a:buNone/>
            </a:pPr>
            <a:r>
              <a:rPr b="1" i="0" lang="en-US" sz="8000" u="none" cap="none" strike="noStrike">
                <a:solidFill>
                  <a:srgbClr val="131416"/>
                </a:solidFill>
                <a:latin typeface="Open Sans"/>
                <a:ea typeface="Open Sans"/>
                <a:cs typeface="Open Sans"/>
                <a:sym typeface="Open Sans"/>
              </a:rPr>
              <a:t> Bases de Datos Clave - Valor</a:t>
            </a:r>
            <a:endParaRPr b="0" i="0" sz="1200" u="none" cap="none" strike="noStrike">
              <a:solidFill>
                <a:srgbClr val="000000"/>
              </a:solidFill>
              <a:latin typeface="Arial"/>
              <a:ea typeface="Arial"/>
              <a:cs typeface="Arial"/>
              <a:sym typeface="Arial"/>
            </a:endParaRPr>
          </a:p>
        </p:txBody>
      </p:sp>
      <p:sp>
        <p:nvSpPr>
          <p:cNvPr id="173" name="Google Shape;173;p34"/>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174" name="Google Shape;174;p34"/>
          <p:cNvSpPr txBox="1"/>
          <p:nvPr/>
        </p:nvSpPr>
        <p:spPr>
          <a:xfrm>
            <a:off x="1063303" y="9162739"/>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175" name="Google Shape;175;p34"/>
          <p:cNvSpPr txBox="1"/>
          <p:nvPr/>
        </p:nvSpPr>
        <p:spPr>
          <a:xfrm>
            <a:off x="1028700" y="9568828"/>
            <a:ext cx="8115300" cy="538417"/>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76" name="Google Shape;176;p34"/>
          <p:cNvSpPr txBox="1"/>
          <p:nvPr/>
        </p:nvSpPr>
        <p:spPr>
          <a:xfrm>
            <a:off x="12979082" y="7426039"/>
            <a:ext cx="3284700"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Open Sans"/>
                <a:ea typeface="Open Sans"/>
                <a:cs typeface="Open Sans"/>
                <a:sym typeface="Open Sans"/>
              </a:rPr>
              <a:t>Clase No. 10</a:t>
            </a:r>
            <a:endParaRPr b="0" i="0" sz="1400" u="none" cap="none" strike="noStrike">
              <a:solidFill>
                <a:srgbClr val="000000"/>
              </a:solidFill>
              <a:latin typeface="Arial"/>
              <a:ea typeface="Arial"/>
              <a:cs typeface="Arial"/>
              <a:sym typeface="Arial"/>
            </a:endParaRPr>
          </a:p>
        </p:txBody>
      </p:sp>
      <p:pic>
        <p:nvPicPr>
          <p:cNvPr id="177" name="Google Shape;177;p34"/>
          <p:cNvPicPr preferRelativeResize="0"/>
          <p:nvPr/>
        </p:nvPicPr>
        <p:blipFill rotWithShape="1">
          <a:blip r:embed="rId4">
            <a:alphaModFix/>
          </a:blip>
          <a:srcRect b="0" l="0" r="0" t="0"/>
          <a:stretch/>
        </p:blipFill>
        <p:spPr>
          <a:xfrm>
            <a:off x="8044675" y="0"/>
            <a:ext cx="10243325" cy="10670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grpSp>
        <p:nvGrpSpPr>
          <p:cNvPr id="182" name="Google Shape;182;p35"/>
          <p:cNvGrpSpPr/>
          <p:nvPr/>
        </p:nvGrpSpPr>
        <p:grpSpPr>
          <a:xfrm>
            <a:off x="176619" y="4520484"/>
            <a:ext cx="11356620" cy="845385"/>
            <a:chOff x="0" y="-76200"/>
            <a:chExt cx="1964221" cy="359923"/>
          </a:xfrm>
        </p:grpSpPr>
        <p:sp>
          <p:nvSpPr>
            <p:cNvPr id="183" name="Google Shape;183;p35"/>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5"/>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Análisis de redes y rutas más cortas en Neo4j 1</a:t>
              </a:r>
              <a:endParaRPr b="0" i="0" sz="1400" u="none" cap="none" strike="noStrike">
                <a:solidFill>
                  <a:srgbClr val="000000"/>
                </a:solidFill>
                <a:latin typeface="Arial"/>
                <a:ea typeface="Arial"/>
                <a:cs typeface="Arial"/>
                <a:sym typeface="Arial"/>
              </a:endParaRPr>
            </a:p>
          </p:txBody>
        </p:sp>
      </p:grpSp>
      <p:sp>
        <p:nvSpPr>
          <p:cNvPr id="185" name="Google Shape;185;p35"/>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6" name="Google Shape;186;p35"/>
          <p:cNvGrpSpPr/>
          <p:nvPr/>
        </p:nvGrpSpPr>
        <p:grpSpPr>
          <a:xfrm>
            <a:off x="1866989" y="3013983"/>
            <a:ext cx="4115190" cy="1556484"/>
            <a:chOff x="0" y="-76200"/>
            <a:chExt cx="1083836" cy="409938"/>
          </a:xfrm>
        </p:grpSpPr>
        <p:sp>
          <p:nvSpPr>
            <p:cNvPr id="187" name="Google Shape;187;p35"/>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5"/>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89" name="Google Shape;189;p35"/>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35"/>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91" name="Google Shape;191;p35"/>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92" name="Google Shape;192;p35"/>
          <p:cNvGrpSpPr/>
          <p:nvPr/>
        </p:nvGrpSpPr>
        <p:grpSpPr>
          <a:xfrm>
            <a:off x="11739805" y="2798634"/>
            <a:ext cx="5353646" cy="1701145"/>
            <a:chOff x="0" y="-114300"/>
            <a:chExt cx="1410014" cy="448038"/>
          </a:xfrm>
        </p:grpSpPr>
        <p:sp>
          <p:nvSpPr>
            <p:cNvPr id="193" name="Google Shape;193;p35"/>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5"/>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a:t>
              </a:r>
              <a:endParaRPr b="0" i="0" sz="1400" u="none" cap="none" strike="noStrike">
                <a:solidFill>
                  <a:srgbClr val="000000"/>
                </a:solidFill>
                <a:latin typeface="Arial"/>
                <a:ea typeface="Arial"/>
                <a:cs typeface="Arial"/>
                <a:sym typeface="Arial"/>
              </a:endParaRPr>
            </a:p>
          </p:txBody>
        </p:sp>
      </p:grpSp>
      <p:grpSp>
        <p:nvGrpSpPr>
          <p:cNvPr id="195" name="Google Shape;195;p35"/>
          <p:cNvGrpSpPr/>
          <p:nvPr/>
        </p:nvGrpSpPr>
        <p:grpSpPr>
          <a:xfrm>
            <a:off x="11739805" y="4598683"/>
            <a:ext cx="5353646" cy="1701145"/>
            <a:chOff x="0" y="-114300"/>
            <a:chExt cx="1410014" cy="448038"/>
          </a:xfrm>
        </p:grpSpPr>
        <p:sp>
          <p:nvSpPr>
            <p:cNvPr id="196" name="Google Shape;196;p35"/>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5"/>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Quizziz</a:t>
              </a:r>
              <a:endParaRPr b="0" i="0" sz="1400" u="none" cap="none" strike="noStrike">
                <a:solidFill>
                  <a:srgbClr val="000000"/>
                </a:solidFill>
                <a:latin typeface="Arial"/>
                <a:ea typeface="Arial"/>
                <a:cs typeface="Arial"/>
                <a:sym typeface="Arial"/>
              </a:endParaRPr>
            </a:p>
          </p:txBody>
        </p:sp>
      </p:grpSp>
      <p:grpSp>
        <p:nvGrpSpPr>
          <p:cNvPr id="198" name="Google Shape;198;p35"/>
          <p:cNvGrpSpPr/>
          <p:nvPr/>
        </p:nvGrpSpPr>
        <p:grpSpPr>
          <a:xfrm>
            <a:off x="176619" y="5444302"/>
            <a:ext cx="11129203" cy="845385"/>
            <a:chOff x="0" y="-76200"/>
            <a:chExt cx="1964221" cy="359923"/>
          </a:xfrm>
        </p:grpSpPr>
        <p:sp>
          <p:nvSpPr>
            <p:cNvPr id="199" name="Google Shape;199;p35"/>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5"/>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Modelado de Relaciones Complejas en Grafos</a:t>
              </a:r>
              <a:endParaRPr/>
            </a:p>
          </p:txBody>
        </p:sp>
      </p:grpSp>
      <p:grpSp>
        <p:nvGrpSpPr>
          <p:cNvPr id="201" name="Google Shape;201;p35"/>
          <p:cNvGrpSpPr/>
          <p:nvPr/>
        </p:nvGrpSpPr>
        <p:grpSpPr>
          <a:xfrm>
            <a:off x="176620" y="6425875"/>
            <a:ext cx="8967380" cy="845385"/>
            <a:chOff x="0" y="-76200"/>
            <a:chExt cx="1964221" cy="359923"/>
          </a:xfrm>
        </p:grpSpPr>
        <p:sp>
          <p:nvSpPr>
            <p:cNvPr id="202" name="Google Shape;202;p35"/>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5"/>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Índices y Restricciones en NEO4J</a:t>
              </a:r>
              <a:endParaRPr b="0" i="0" sz="1400" u="none" cap="none" strike="noStrike">
                <a:solidFill>
                  <a:srgbClr val="000000"/>
                </a:solidFill>
                <a:latin typeface="Arial"/>
                <a:ea typeface="Arial"/>
                <a:cs typeface="Arial"/>
                <a:sym typeface="Arial"/>
              </a:endParaRPr>
            </a:p>
          </p:txBody>
        </p:sp>
      </p:grpSp>
      <p:grpSp>
        <p:nvGrpSpPr>
          <p:cNvPr id="204" name="Google Shape;204;p35"/>
          <p:cNvGrpSpPr/>
          <p:nvPr/>
        </p:nvGrpSpPr>
        <p:grpSpPr>
          <a:xfrm>
            <a:off x="176619" y="7349457"/>
            <a:ext cx="9468826" cy="845385"/>
            <a:chOff x="0" y="-76200"/>
            <a:chExt cx="1964221" cy="359923"/>
          </a:xfrm>
        </p:grpSpPr>
        <p:sp>
          <p:nvSpPr>
            <p:cNvPr id="205" name="Google Shape;205;p35"/>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5"/>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Integración con otras bases de datos</a:t>
              </a:r>
              <a:endParaRPr b="0" i="0" sz="1400" u="none" cap="none" strike="noStrike">
                <a:solidFill>
                  <a:srgbClr val="000000"/>
                </a:solidFill>
                <a:latin typeface="Arial"/>
                <a:ea typeface="Arial"/>
                <a:cs typeface="Arial"/>
                <a:sym typeface="Arial"/>
              </a:endParaRPr>
            </a:p>
          </p:txBody>
        </p:sp>
      </p:grpSp>
      <p:grpSp>
        <p:nvGrpSpPr>
          <p:cNvPr id="207" name="Google Shape;207;p35"/>
          <p:cNvGrpSpPr/>
          <p:nvPr/>
        </p:nvGrpSpPr>
        <p:grpSpPr>
          <a:xfrm>
            <a:off x="176619" y="8412915"/>
            <a:ext cx="6076697" cy="845385"/>
            <a:chOff x="0" y="-76200"/>
            <a:chExt cx="1964221" cy="359923"/>
          </a:xfrm>
        </p:grpSpPr>
        <p:sp>
          <p:nvSpPr>
            <p:cNvPr id="208" name="Google Shape;208;p35"/>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35"/>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Ejemplo practico</a:t>
              </a:r>
              <a:endParaRPr b="0" i="0" sz="1400" u="none" cap="none" strike="noStrike">
                <a:solidFill>
                  <a:srgbClr val="000000"/>
                </a:solidFill>
                <a:latin typeface="Arial"/>
                <a:ea typeface="Arial"/>
                <a:cs typeface="Arial"/>
                <a:sym typeface="Arial"/>
              </a:endParaRPr>
            </a:p>
          </p:txBody>
        </p:sp>
      </p:grpSp>
      <p:sp>
        <p:nvSpPr>
          <p:cNvPr id="210" name="Google Shape;210;p35"/>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35"/>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5"/>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35"/>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2852"/>
        </a:solidFill>
      </p:bgPr>
    </p:bg>
    <p:spTree>
      <p:nvGrpSpPr>
        <p:cNvPr id="217" name="Shape 217"/>
        <p:cNvGrpSpPr/>
        <p:nvPr/>
      </p:nvGrpSpPr>
      <p:grpSpPr>
        <a:xfrm>
          <a:off x="0" y="0"/>
          <a:ext cx="0" cy="0"/>
          <a:chOff x="0" y="0"/>
          <a:chExt cx="0" cy="0"/>
        </a:xfrm>
      </p:grpSpPr>
      <p:sp>
        <p:nvSpPr>
          <p:cNvPr id="218" name="Google Shape;218;p3"/>
          <p:cNvSpPr txBox="1"/>
          <p:nvPr/>
        </p:nvSpPr>
        <p:spPr>
          <a:xfrm>
            <a:off x="5481642" y="4371352"/>
            <a:ext cx="7324716" cy="1795492"/>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4167"/>
              <a:buFont typeface="Arial"/>
              <a:buNone/>
            </a:pPr>
            <a:r>
              <a:rPr b="1" i="0" lang="en-US" sz="4167" u="none" cap="none" strike="noStrike">
                <a:solidFill>
                  <a:srgbClr val="FFFFFF"/>
                </a:solidFill>
                <a:latin typeface="Arial"/>
                <a:ea typeface="Arial"/>
                <a:cs typeface="Arial"/>
                <a:sym typeface="Arial"/>
              </a:rPr>
              <a:t>Bases de datos de grafos y sus ventajas.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p5"/>
          <p:cNvSpPr txBox="1"/>
          <p:nvPr/>
        </p:nvSpPr>
        <p:spPr>
          <a:xfrm>
            <a:off x="1222473" y="2670617"/>
            <a:ext cx="5183732" cy="3118746"/>
          </a:xfrm>
          <a:prstGeom prst="rect">
            <a:avLst/>
          </a:prstGeom>
          <a:noFill/>
          <a:ln>
            <a:noFill/>
          </a:ln>
        </p:spPr>
        <p:txBody>
          <a:bodyPr anchorCtr="0" anchor="t" bIns="45700" lIns="91425" spcFirstLastPara="1" rIns="91425" wrap="square" tIns="45700">
            <a:normAutofit/>
          </a:bodyPr>
          <a:lstStyle/>
          <a:p>
            <a:pPr indent="0" lvl="0" marL="0" marR="0" rtl="0" algn="just">
              <a:lnSpc>
                <a:spcPct val="152000"/>
              </a:lnSpc>
              <a:spcBef>
                <a:spcPts val="0"/>
              </a:spcBef>
              <a:spcAft>
                <a:spcPts val="0"/>
              </a:spcAft>
              <a:buNone/>
            </a:pPr>
            <a:r>
              <a:rPr b="0" i="0" lang="en-US" sz="1800" u="none" cap="none" strike="noStrike">
                <a:solidFill>
                  <a:srgbClr val="092852"/>
                </a:solidFill>
                <a:latin typeface="Arial"/>
                <a:ea typeface="Arial"/>
                <a:cs typeface="Arial"/>
                <a:sym typeface="Arial"/>
              </a:rPr>
              <a:t>Una base de datos orientada a grafos es una plataforma especializada y de un solo propósito para crear y manipular grafos. Los grafos contienen nodos, bordes y propiedades que se utilizan para representar y almacenar datos de una forma que no permiten las bases de datos relacionales.</a:t>
            </a:r>
            <a:endParaRPr/>
          </a:p>
        </p:txBody>
      </p:sp>
      <p:pic>
        <p:nvPicPr>
          <p:cNvPr descr="Diagrama&#10;&#10;El contenido generado por IA puede ser incorrecto." id="224" name="Google Shape;224;p5"/>
          <p:cNvPicPr preferRelativeResize="0"/>
          <p:nvPr/>
        </p:nvPicPr>
        <p:blipFill rotWithShape="1">
          <a:blip r:embed="rId3">
            <a:alphaModFix/>
          </a:blip>
          <a:srcRect b="0" l="0" r="0" t="0"/>
          <a:stretch/>
        </p:blipFill>
        <p:spPr>
          <a:xfrm>
            <a:off x="7481508" y="2670617"/>
            <a:ext cx="9584019" cy="4959729"/>
          </a:xfrm>
          <a:prstGeom prst="rect">
            <a:avLst/>
          </a:prstGeom>
          <a:noFill/>
          <a:ln>
            <a:noFill/>
          </a:ln>
        </p:spPr>
      </p:pic>
      <p:grpSp>
        <p:nvGrpSpPr>
          <p:cNvPr id="225" name="Google Shape;225;p5"/>
          <p:cNvGrpSpPr/>
          <p:nvPr/>
        </p:nvGrpSpPr>
        <p:grpSpPr>
          <a:xfrm flipH="1">
            <a:off x="18102957" y="0"/>
            <a:ext cx="185043" cy="10287000"/>
            <a:chOff x="12068638" y="0"/>
            <a:chExt cx="123362" cy="6858000"/>
          </a:xfrm>
        </p:grpSpPr>
        <p:sp>
          <p:nvSpPr>
            <p:cNvPr id="226" name="Google Shape;226;p5"/>
            <p:cNvSpPr/>
            <p:nvPr/>
          </p:nvSpPr>
          <p:spPr>
            <a:xfrm>
              <a:off x="12068638" y="0"/>
              <a:ext cx="123362" cy="6858000"/>
            </a:xfrm>
            <a:prstGeom prst="rect">
              <a:avLst/>
            </a:prstGeom>
            <a:gradFill>
              <a:gsLst>
                <a:gs pos="0">
                  <a:schemeClr val="accent2"/>
                </a:gs>
                <a:gs pos="100000">
                  <a:schemeClr val="accent5"/>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7" name="Google Shape;227;p5"/>
            <p:cNvSpPr/>
            <p:nvPr/>
          </p:nvSpPr>
          <p:spPr>
            <a:xfrm>
              <a:off x="12068638" y="3527553"/>
              <a:ext cx="123362" cy="3330447"/>
            </a:xfrm>
            <a:prstGeom prst="rect">
              <a:avLst/>
            </a:prstGeom>
            <a:gradFill>
              <a:gsLst>
                <a:gs pos="0">
                  <a:srgbClr val="92CCDC">
                    <a:alpha val="0"/>
                  </a:srgbClr>
                </a:gs>
                <a:gs pos="19000">
                  <a:srgbClr val="92CCDC">
                    <a:alpha val="0"/>
                  </a:srgbClr>
                </a:gs>
                <a:gs pos="100000">
                  <a:srgbClr val="92CCDC"/>
                </a:gs>
              </a:gsLst>
              <a:lin ang="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6"/>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233" name="Google Shape;233;p6"/>
          <p:cNvGrpSpPr/>
          <p:nvPr/>
        </p:nvGrpSpPr>
        <p:grpSpPr>
          <a:xfrm>
            <a:off x="9144000" y="-144661"/>
            <a:ext cx="9144000" cy="10431661"/>
            <a:chOff x="0" y="-38100"/>
            <a:chExt cx="2408296" cy="2747433"/>
          </a:xfrm>
        </p:grpSpPr>
        <p:sp>
          <p:nvSpPr>
            <p:cNvPr id="234" name="Google Shape;234;p6"/>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5" name="Google Shape;235;p6"/>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6" name="Google Shape;236;p6"/>
          <p:cNvSpPr txBox="1"/>
          <p:nvPr/>
        </p:nvSpPr>
        <p:spPr>
          <a:xfrm>
            <a:off x="11750467" y="4470400"/>
            <a:ext cx="3931066" cy="161525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Cómo funcionan los grafos y las bases de datos orientadas a grafos</a:t>
            </a:r>
            <a:endParaRPr b="0" i="0" sz="1400" u="none" cap="none" strike="noStrike">
              <a:solidFill>
                <a:srgbClr val="000000"/>
              </a:solidFill>
              <a:latin typeface="Arial"/>
              <a:ea typeface="Arial"/>
              <a:cs typeface="Arial"/>
              <a:sym typeface="Arial"/>
            </a:endParaRPr>
          </a:p>
        </p:txBody>
      </p:sp>
      <p:sp>
        <p:nvSpPr>
          <p:cNvPr id="237" name="Google Shape;237;p6"/>
          <p:cNvSpPr txBox="1"/>
          <p:nvPr/>
        </p:nvSpPr>
        <p:spPr>
          <a:xfrm>
            <a:off x="1515068" y="2617424"/>
            <a:ext cx="6836452" cy="5052152"/>
          </a:xfrm>
          <a:prstGeom prst="rect">
            <a:avLst/>
          </a:prstGeom>
          <a:noFill/>
          <a:ln>
            <a:noFill/>
          </a:ln>
        </p:spPr>
        <p:txBody>
          <a:bodyPr anchorCtr="0" anchor="t" bIns="0" lIns="0" spcFirstLastPara="1" rIns="0" wrap="square" tIns="0">
            <a:spAutoFit/>
          </a:bodyPr>
          <a:lstStyle/>
          <a:p>
            <a:pPr indent="0" lvl="0" marL="0" marR="0" rtl="0" algn="l">
              <a:lnSpc>
                <a:spcPct val="152000"/>
              </a:lnSpc>
              <a:spcBef>
                <a:spcPts val="0"/>
              </a:spcBef>
              <a:spcAft>
                <a:spcPts val="0"/>
              </a:spcAft>
              <a:buNone/>
            </a:pPr>
            <a:r>
              <a:rPr b="0" i="0" lang="en-US" sz="1800" u="none" cap="none" strike="noStrike">
                <a:solidFill>
                  <a:srgbClr val="092852"/>
                </a:solidFill>
                <a:latin typeface="Arial"/>
                <a:ea typeface="Arial"/>
                <a:cs typeface="Arial"/>
                <a:sym typeface="Arial"/>
              </a:rPr>
              <a:t>Los usuarios pueden hacer consultas transversales basadas en conexiones y aplicar algoritmos de grafos a fin de encontrar patrones, rutas, comunidades, factores influyentes, puntos únicos de fallo y otras relaciones. El poder de los grafos reside en la analítica, los conocimientos que aportan y su capacidad para vincular fuentes de datos dispares.</a:t>
            </a:r>
            <a:endParaRPr/>
          </a:p>
          <a:p>
            <a:pPr indent="0" lvl="0" marL="0" marR="0" rtl="0" algn="l">
              <a:lnSpc>
                <a:spcPct val="152000"/>
              </a:lnSpc>
              <a:spcBef>
                <a:spcPts val="0"/>
              </a:spcBef>
              <a:spcAft>
                <a:spcPts val="0"/>
              </a:spcAft>
              <a:buNone/>
            </a:pPr>
            <a:r>
              <a:t/>
            </a:r>
            <a:endParaRPr b="0" i="0" sz="1800" u="none" cap="none" strike="noStrike">
              <a:solidFill>
                <a:srgbClr val="092852"/>
              </a:solidFill>
              <a:latin typeface="Arial"/>
              <a:ea typeface="Arial"/>
              <a:cs typeface="Arial"/>
              <a:sym typeface="Arial"/>
            </a:endParaRPr>
          </a:p>
          <a:p>
            <a:pPr indent="0" lvl="0" marL="0" marR="0" rtl="0" algn="l">
              <a:lnSpc>
                <a:spcPct val="152000"/>
              </a:lnSpc>
              <a:spcBef>
                <a:spcPts val="0"/>
              </a:spcBef>
              <a:spcAft>
                <a:spcPts val="0"/>
              </a:spcAft>
              <a:buNone/>
            </a:pPr>
            <a:r>
              <a:rPr b="0" i="0" lang="en-US" sz="1800" u="none" cap="none" strike="noStrike">
                <a:solidFill>
                  <a:srgbClr val="092852"/>
                </a:solidFill>
                <a:latin typeface="Arial"/>
                <a:ea typeface="Arial"/>
                <a:cs typeface="Arial"/>
                <a:sym typeface="Arial"/>
              </a:rPr>
              <a:t>Por ejemplo, los algoritmos de grafos pueden identificar qué individuo o elemento está más conectado con otros en las redes sociales o los procesos comerciales. Los algoritmos pueden identificar comunidades, anomalías, patrones comunes y rutas que conectan individuos o transacciones relacionadas.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7"/>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243" name="Google Shape;243;p7"/>
          <p:cNvGrpSpPr/>
          <p:nvPr/>
        </p:nvGrpSpPr>
        <p:grpSpPr>
          <a:xfrm>
            <a:off x="9144000" y="-144661"/>
            <a:ext cx="9144000" cy="10431661"/>
            <a:chOff x="0" y="-38100"/>
            <a:chExt cx="2408296" cy="2747433"/>
          </a:xfrm>
        </p:grpSpPr>
        <p:sp>
          <p:nvSpPr>
            <p:cNvPr id="244" name="Google Shape;244;p7"/>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5" name="Google Shape;245;p7"/>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6" name="Google Shape;246;p7"/>
          <p:cNvSpPr txBox="1"/>
          <p:nvPr/>
        </p:nvSpPr>
        <p:spPr>
          <a:xfrm>
            <a:off x="11750467" y="4689475"/>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Ventajas</a:t>
            </a:r>
            <a:endParaRPr b="0" i="0" sz="1400" u="none" cap="none" strike="noStrike">
              <a:solidFill>
                <a:srgbClr val="000000"/>
              </a:solidFill>
              <a:latin typeface="Arial"/>
              <a:ea typeface="Arial"/>
              <a:cs typeface="Arial"/>
              <a:sym typeface="Arial"/>
            </a:endParaRPr>
          </a:p>
        </p:txBody>
      </p:sp>
      <p:sp>
        <p:nvSpPr>
          <p:cNvPr id="247" name="Google Shape;247;p7"/>
          <p:cNvSpPr txBox="1"/>
          <p:nvPr/>
        </p:nvSpPr>
        <p:spPr>
          <a:xfrm>
            <a:off x="1630680" y="2301504"/>
            <a:ext cx="6019800" cy="56839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chemeClr val="dk2"/>
                </a:solidFill>
                <a:latin typeface="Arial"/>
                <a:ea typeface="Arial"/>
                <a:cs typeface="Arial"/>
                <a:sym typeface="Arial"/>
              </a:rPr>
              <a:t>🔗 Las relaciones no se simulan con joins, existen. Esto hace que</a:t>
            </a:r>
            <a:r>
              <a:rPr b="0" i="0" lang="en-US" sz="1800" u="none" cap="none" strike="noStrike">
                <a:solidFill>
                  <a:schemeClr val="dk2"/>
                </a:solidFill>
                <a:latin typeface="Arial"/>
                <a:ea typeface="Arial"/>
                <a:cs typeface="Arial"/>
                <a:sym typeface="Arial"/>
              </a:rPr>
              <a:t>:</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Consultas de relaciones complejas sean más simples y rápidas.</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Modelos como redes sociales, fraudes o recomendaciones fluyan con naturalidad.</a:t>
            </a:r>
            <a:endParaRPr/>
          </a:p>
          <a:p>
            <a:pPr indent="0" lvl="0" marL="0" marR="0" rtl="0" algn="l">
              <a:lnSpc>
                <a:spcPct val="100000"/>
              </a:lnSpc>
              <a:spcBef>
                <a:spcPts val="0"/>
              </a:spcBef>
              <a:spcAft>
                <a:spcPts val="0"/>
              </a:spcAft>
              <a:buNone/>
            </a:pPr>
            <a:r>
              <a:rPr b="1" i="0" lang="en-US" sz="1800" u="none" cap="none" strike="noStrike">
                <a:solidFill>
                  <a:schemeClr val="dk2"/>
                </a:solidFill>
                <a:latin typeface="Arial"/>
                <a:ea typeface="Arial"/>
                <a:cs typeface="Arial"/>
                <a:sym typeface="Arial"/>
              </a:rPr>
              <a:t>🚀 Alto rendimiento en consultas relacionales</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Recorrer conexiones (amigos de amigos, dependencias, rutas) es muy eficiente.</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El tiempo de respuesta suele depender del tamaño del subgrafo, no del total de datos.</a:t>
            </a:r>
            <a:endParaRPr/>
          </a:p>
          <a:p>
            <a:pPr indent="0" lvl="0" marL="0" marR="0" rtl="0" algn="l">
              <a:lnSpc>
                <a:spcPct val="100000"/>
              </a:lnSpc>
              <a:spcBef>
                <a:spcPts val="0"/>
              </a:spcBef>
              <a:spcAft>
                <a:spcPts val="0"/>
              </a:spcAft>
              <a:buNone/>
            </a:pPr>
            <a:r>
              <a:rPr b="1" i="0" lang="en-US" sz="1800" u="none" cap="none" strike="noStrike">
                <a:solidFill>
                  <a:schemeClr val="dk2"/>
                </a:solidFill>
                <a:latin typeface="Arial"/>
                <a:ea typeface="Arial"/>
                <a:cs typeface="Arial"/>
                <a:sym typeface="Arial"/>
              </a:rPr>
              <a:t>🧠 Modelado intuitivo</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Los modelos se parecen mucho al mundo real.</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Más fácil de entender y mantener cuando hay muchas interconexiones.</a:t>
            </a:r>
            <a:endParaRPr/>
          </a:p>
          <a:p>
            <a:pPr indent="0" lvl="0" marL="0" marR="0" rtl="0" algn="l">
              <a:lnSpc>
                <a:spcPct val="100000"/>
              </a:lnSpc>
              <a:spcBef>
                <a:spcPts val="0"/>
              </a:spcBef>
              <a:spcAft>
                <a:spcPts val="0"/>
              </a:spcAft>
              <a:buNone/>
            </a:pPr>
            <a:r>
              <a:rPr b="1" i="0" lang="en-US" sz="1800" u="none" cap="none" strike="noStrike">
                <a:solidFill>
                  <a:schemeClr val="dk2"/>
                </a:solidFill>
                <a:latin typeface="Arial"/>
                <a:ea typeface="Arial"/>
                <a:cs typeface="Arial"/>
                <a:sym typeface="Arial"/>
              </a:rPr>
              <a:t>🔄 Esquema flexible</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Puedes agregar nuevos tipos de nodos o relaciones sin rediseñar toda la BD.</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Ideal para sistemas que evolucionan rápido.</a:t>
            </a:r>
            <a:endParaRPr/>
          </a:p>
          <a:p>
            <a:pPr indent="0" lvl="0" marL="0" marR="0" rtl="0" algn="just">
              <a:lnSpc>
                <a:spcPct val="152000"/>
              </a:lnSpc>
              <a:spcBef>
                <a:spcPts val="0"/>
              </a:spcBef>
              <a:spcAft>
                <a:spcPts val="0"/>
              </a:spcAft>
              <a:buNone/>
            </a:pPr>
            <a:r>
              <a:t/>
            </a:r>
            <a:endParaRPr b="0" i="0" sz="1800" u="none" cap="none" strike="noStrike">
              <a:solidFill>
                <a:srgbClr val="09285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36"/>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253" name="Google Shape;253;p36"/>
          <p:cNvGrpSpPr/>
          <p:nvPr/>
        </p:nvGrpSpPr>
        <p:grpSpPr>
          <a:xfrm>
            <a:off x="9144000" y="-144661"/>
            <a:ext cx="9144000" cy="10431661"/>
            <a:chOff x="0" y="-38100"/>
            <a:chExt cx="2408296" cy="2747433"/>
          </a:xfrm>
        </p:grpSpPr>
        <p:sp>
          <p:nvSpPr>
            <p:cNvPr id="254" name="Google Shape;254;p36"/>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5" name="Google Shape;255;p36"/>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p36"/>
          <p:cNvSpPr txBox="1"/>
          <p:nvPr/>
        </p:nvSpPr>
        <p:spPr>
          <a:xfrm>
            <a:off x="11750467" y="4689475"/>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Desventajas</a:t>
            </a:r>
            <a:endParaRPr b="0" i="0" sz="1400" u="none" cap="none" strike="noStrike">
              <a:solidFill>
                <a:srgbClr val="000000"/>
              </a:solidFill>
              <a:latin typeface="Arial"/>
              <a:ea typeface="Arial"/>
              <a:cs typeface="Arial"/>
              <a:sym typeface="Arial"/>
            </a:endParaRPr>
          </a:p>
        </p:txBody>
      </p:sp>
      <p:sp>
        <p:nvSpPr>
          <p:cNvPr id="257" name="Google Shape;257;p36"/>
          <p:cNvSpPr txBox="1"/>
          <p:nvPr/>
        </p:nvSpPr>
        <p:spPr>
          <a:xfrm>
            <a:off x="1630680" y="2301504"/>
            <a:ext cx="6019800" cy="596099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 </a:t>
            </a:r>
            <a:r>
              <a:rPr b="1" i="0" lang="en-US" sz="1800" u="none" cap="none" strike="noStrike">
                <a:solidFill>
                  <a:schemeClr val="dk2"/>
                </a:solidFill>
                <a:latin typeface="Arial"/>
                <a:ea typeface="Arial"/>
                <a:cs typeface="Arial"/>
                <a:sym typeface="Arial"/>
              </a:rPr>
              <a:t>No son ideales para datos tabulares</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Reportes clásicos, agregaciones masivas o contabilidad… mejor en relacionales.</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SQL sigue siendo rey para BI tradicional..</a:t>
            </a:r>
            <a:endParaRPr/>
          </a:p>
          <a:p>
            <a:pPr indent="0" lvl="0" marL="0" marR="0" rtl="0" algn="l">
              <a:lnSpc>
                <a:spcPct val="100000"/>
              </a:lnSpc>
              <a:spcBef>
                <a:spcPts val="0"/>
              </a:spcBef>
              <a:spcAft>
                <a:spcPts val="0"/>
              </a:spcAft>
              <a:buNone/>
            </a:pPr>
            <a:r>
              <a:rPr b="1" i="0" lang="en-US" sz="1800" u="none" cap="none" strike="noStrike">
                <a:solidFill>
                  <a:schemeClr val="dk2"/>
                </a:solidFill>
                <a:latin typeface="Arial"/>
                <a:ea typeface="Arial"/>
                <a:cs typeface="Arial"/>
                <a:sym typeface="Arial"/>
              </a:rPr>
              <a:t>📚 Curva de aprendizaje</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Lenguajes como </a:t>
            </a:r>
            <a:r>
              <a:rPr b="1" i="0" lang="en-US" sz="1800" u="none" cap="none" strike="noStrike">
                <a:solidFill>
                  <a:schemeClr val="dk2"/>
                </a:solidFill>
                <a:latin typeface="Arial"/>
                <a:ea typeface="Arial"/>
                <a:cs typeface="Arial"/>
                <a:sym typeface="Arial"/>
              </a:rPr>
              <a:t>Cypher</a:t>
            </a:r>
            <a:r>
              <a:rPr b="0" i="0" lang="en-US" sz="1800" u="none" cap="none" strike="noStrike">
                <a:solidFill>
                  <a:schemeClr val="dk2"/>
                </a:solidFill>
                <a:latin typeface="Arial"/>
                <a:ea typeface="Arial"/>
                <a:cs typeface="Arial"/>
                <a:sym typeface="Arial"/>
              </a:rPr>
              <a:t>, </a:t>
            </a:r>
            <a:r>
              <a:rPr b="1" i="0" lang="en-US" sz="1800" u="none" cap="none" strike="noStrike">
                <a:solidFill>
                  <a:schemeClr val="dk2"/>
                </a:solidFill>
                <a:latin typeface="Arial"/>
                <a:ea typeface="Arial"/>
                <a:cs typeface="Arial"/>
                <a:sym typeface="Arial"/>
              </a:rPr>
              <a:t>Gremlin</a:t>
            </a:r>
            <a:r>
              <a:rPr b="0" i="0" lang="en-US" sz="1800" u="none" cap="none" strike="noStrike">
                <a:solidFill>
                  <a:schemeClr val="dk2"/>
                </a:solidFill>
                <a:latin typeface="Arial"/>
                <a:ea typeface="Arial"/>
                <a:cs typeface="Arial"/>
                <a:sym typeface="Arial"/>
              </a:rPr>
              <a:t> o </a:t>
            </a:r>
            <a:r>
              <a:rPr b="1" i="0" lang="en-US" sz="1800" u="none" cap="none" strike="noStrike">
                <a:solidFill>
                  <a:schemeClr val="dk2"/>
                </a:solidFill>
                <a:latin typeface="Arial"/>
                <a:ea typeface="Arial"/>
                <a:cs typeface="Arial"/>
                <a:sym typeface="Arial"/>
              </a:rPr>
              <a:t>SPARQL</a:t>
            </a:r>
            <a:r>
              <a:rPr b="0" i="0" lang="en-US" sz="1800" u="none" cap="none" strike="noStrike">
                <a:solidFill>
                  <a:schemeClr val="dk2"/>
                </a:solidFill>
                <a:latin typeface="Arial"/>
                <a:ea typeface="Arial"/>
                <a:cs typeface="Arial"/>
                <a:sym typeface="Arial"/>
              </a:rPr>
              <a:t> requieren adaptación.</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Cambia la forma de pensar las consultas.</a:t>
            </a:r>
            <a:endParaRPr/>
          </a:p>
          <a:p>
            <a:pPr indent="0" lvl="0" marL="0" marR="0" rtl="0" algn="l">
              <a:lnSpc>
                <a:spcPct val="100000"/>
              </a:lnSpc>
              <a:spcBef>
                <a:spcPts val="0"/>
              </a:spcBef>
              <a:spcAft>
                <a:spcPts val="0"/>
              </a:spcAft>
              <a:buNone/>
            </a:pPr>
            <a:r>
              <a:rPr b="1" i="0" lang="en-US" sz="1800" u="none" cap="none" strike="noStrike">
                <a:solidFill>
                  <a:schemeClr val="dk2"/>
                </a:solidFill>
                <a:latin typeface="Arial"/>
                <a:ea typeface="Arial"/>
                <a:cs typeface="Arial"/>
                <a:sym typeface="Arial"/>
              </a:rPr>
              <a:t>🧱 Escalabilidad horizontal más compleja</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Distribuir grafos grandes entre nodos es difícil.</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Las relaciones cruzadas pueden afectar el rendimiento en clusters.</a:t>
            </a:r>
            <a:endParaRPr/>
          </a:p>
          <a:p>
            <a:pPr indent="0" lvl="0" marL="0" marR="0" rtl="0" algn="l">
              <a:lnSpc>
                <a:spcPct val="100000"/>
              </a:lnSpc>
              <a:spcBef>
                <a:spcPts val="0"/>
              </a:spcBef>
              <a:spcAft>
                <a:spcPts val="0"/>
              </a:spcAft>
              <a:buNone/>
            </a:pPr>
            <a:r>
              <a:rPr b="1" i="0" lang="en-US" sz="1800" u="none" cap="none" strike="noStrike">
                <a:solidFill>
                  <a:schemeClr val="dk2"/>
                </a:solidFill>
                <a:latin typeface="Arial"/>
                <a:ea typeface="Arial"/>
                <a:cs typeface="Arial"/>
                <a:sym typeface="Arial"/>
              </a:rPr>
              <a:t>🛠️ Menor madurez del ecosistema</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Menos herramientas de reporting, ETL y BI comparado con bases relacionales.</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Integración empresarial puede requerir más trabajo.</a:t>
            </a:r>
            <a:endParaRPr/>
          </a:p>
          <a:p>
            <a:pPr indent="0" lvl="0" marL="0" marR="0" rtl="0" algn="l">
              <a:lnSpc>
                <a:spcPct val="100000"/>
              </a:lnSpc>
              <a:spcBef>
                <a:spcPts val="0"/>
              </a:spcBef>
              <a:spcAft>
                <a:spcPts val="0"/>
              </a:spcAft>
              <a:buNone/>
            </a:pPr>
            <a:r>
              <a:rPr b="1" i="0" lang="en-US" sz="1800" u="none" cap="none" strike="noStrike">
                <a:solidFill>
                  <a:schemeClr val="dk2"/>
                </a:solidFill>
                <a:latin typeface="Arial"/>
                <a:ea typeface="Arial"/>
                <a:cs typeface="Arial"/>
                <a:sym typeface="Arial"/>
              </a:rPr>
              <a:t>💰 Costos y licenciamiento</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Algunas (como Neo4j Enterprise) pueden ser costosas en producción.</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2"/>
                </a:solidFill>
                <a:latin typeface="Arial"/>
                <a:ea typeface="Arial"/>
                <a:cs typeface="Arial"/>
                <a:sym typeface="Arial"/>
              </a:rPr>
              <a:t>Opciones open-source existen, pero con limitaciones.</a:t>
            </a:r>
            <a:endParaRPr/>
          </a:p>
          <a:p>
            <a:pPr indent="0" lvl="0" marL="0" marR="0" rtl="0" algn="just">
              <a:lnSpc>
                <a:spcPct val="152000"/>
              </a:lnSpc>
              <a:spcBef>
                <a:spcPts val="0"/>
              </a:spcBef>
              <a:spcAft>
                <a:spcPts val="0"/>
              </a:spcAft>
              <a:buNone/>
            </a:pPr>
            <a:r>
              <a:t/>
            </a:r>
            <a:endParaRPr b="0" i="0" sz="1800" u="none" cap="none" strike="noStrike">
              <a:solidFill>
                <a:srgbClr val="09285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2852"/>
        </a:solidFill>
      </p:bgPr>
    </p:bg>
    <p:spTree>
      <p:nvGrpSpPr>
        <p:cNvPr id="261" name="Shape 261"/>
        <p:cNvGrpSpPr/>
        <p:nvPr/>
      </p:nvGrpSpPr>
      <p:grpSpPr>
        <a:xfrm>
          <a:off x="0" y="0"/>
          <a:ext cx="0" cy="0"/>
          <a:chOff x="0" y="0"/>
          <a:chExt cx="0" cy="0"/>
        </a:xfrm>
      </p:grpSpPr>
      <p:sp>
        <p:nvSpPr>
          <p:cNvPr id="262" name="Google Shape;262;p10"/>
          <p:cNvSpPr txBox="1"/>
          <p:nvPr/>
        </p:nvSpPr>
        <p:spPr>
          <a:xfrm>
            <a:off x="5481642" y="3855388"/>
            <a:ext cx="7324716" cy="2693238"/>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4167"/>
              <a:buFont typeface="Arial"/>
              <a:buNone/>
            </a:pPr>
            <a:r>
              <a:rPr b="1" i="0" lang="en-US" sz="4167" u="none" cap="none" strike="noStrike">
                <a:solidFill>
                  <a:srgbClr val="FFFFFF"/>
                </a:solidFill>
                <a:latin typeface="Arial"/>
                <a:ea typeface="Arial"/>
                <a:cs typeface="Arial"/>
                <a:sym typeface="Arial"/>
              </a:rPr>
              <a:t>Estructura de datos de grafos: nodos, aristas, propiedades.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9"/>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268" name="Google Shape;268;p9"/>
          <p:cNvGrpSpPr/>
          <p:nvPr/>
        </p:nvGrpSpPr>
        <p:grpSpPr>
          <a:xfrm>
            <a:off x="9144000" y="-144661"/>
            <a:ext cx="9144000" cy="10431661"/>
            <a:chOff x="0" y="-38100"/>
            <a:chExt cx="2408296" cy="2747433"/>
          </a:xfrm>
        </p:grpSpPr>
        <p:sp>
          <p:nvSpPr>
            <p:cNvPr id="269" name="Google Shape;269;p9"/>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9"/>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1" name="Google Shape;271;p9"/>
          <p:cNvSpPr txBox="1"/>
          <p:nvPr/>
        </p:nvSpPr>
        <p:spPr>
          <a:xfrm>
            <a:off x="11750467" y="4470400"/>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Componentes Clave</a:t>
            </a:r>
            <a:endParaRPr/>
          </a:p>
        </p:txBody>
      </p:sp>
      <p:sp>
        <p:nvSpPr>
          <p:cNvPr id="272" name="Google Shape;272;p9"/>
          <p:cNvSpPr txBox="1"/>
          <p:nvPr/>
        </p:nvSpPr>
        <p:spPr>
          <a:xfrm>
            <a:off x="1302806" y="3579877"/>
            <a:ext cx="6036000" cy="3919791"/>
          </a:xfrm>
          <a:prstGeom prst="rect">
            <a:avLst/>
          </a:prstGeom>
          <a:noFill/>
          <a:ln>
            <a:noFill/>
          </a:ln>
        </p:spPr>
        <p:txBody>
          <a:bodyPr anchorCtr="0" anchor="t" bIns="0" lIns="0" spcFirstLastPara="1" rIns="0" wrap="square" tIns="0">
            <a:spAutoFit/>
          </a:bodyPr>
          <a:lstStyle/>
          <a:p>
            <a:pPr indent="-285750" lvl="0" marL="285750" marR="0" rtl="0" algn="just">
              <a:lnSpc>
                <a:spcPct val="100000"/>
              </a:lnSpc>
              <a:spcBef>
                <a:spcPts val="0"/>
              </a:spcBef>
              <a:spcAft>
                <a:spcPts val="0"/>
              </a:spcAft>
              <a:buClr>
                <a:srgbClr val="000000"/>
              </a:buClr>
              <a:buSzPts val="2000"/>
              <a:buFont typeface="Arial"/>
              <a:buChar char="•"/>
            </a:pPr>
            <a:r>
              <a:rPr b="1" i="0" lang="en-US" sz="2000" u="none" cap="none" strike="noStrike">
                <a:solidFill>
                  <a:schemeClr val="dk2"/>
                </a:solidFill>
                <a:latin typeface="Arial"/>
                <a:ea typeface="Arial"/>
                <a:cs typeface="Arial"/>
                <a:sym typeface="Arial"/>
              </a:rPr>
              <a:t>Nodos (Vértices):</a:t>
            </a:r>
            <a:r>
              <a:rPr b="0" i="0" lang="en-US" sz="2000" u="none" cap="none" strike="noStrike">
                <a:solidFill>
                  <a:schemeClr val="dk2"/>
                </a:solidFill>
                <a:latin typeface="Arial"/>
                <a:ea typeface="Arial"/>
                <a:cs typeface="Arial"/>
                <a:sym typeface="Arial"/>
              </a:rPr>
              <a:t> Representan las entidades u objetos, como personas, lugares o productos.</a:t>
            </a:r>
            <a:endParaRPr/>
          </a:p>
          <a:p>
            <a:pPr indent="-285750" lvl="0" marL="285750" marR="0" rtl="0" algn="just">
              <a:lnSpc>
                <a:spcPct val="100000"/>
              </a:lnSpc>
              <a:spcBef>
                <a:spcPts val="0"/>
              </a:spcBef>
              <a:spcAft>
                <a:spcPts val="0"/>
              </a:spcAft>
              <a:buClr>
                <a:srgbClr val="000000"/>
              </a:buClr>
              <a:buSzPts val="2000"/>
              <a:buFont typeface="Arial"/>
              <a:buChar char="•"/>
            </a:pPr>
            <a:r>
              <a:rPr b="1" i="0" lang="en-US" sz="2000" u="none" cap="none" strike="noStrike">
                <a:solidFill>
                  <a:schemeClr val="dk2"/>
                </a:solidFill>
                <a:latin typeface="Arial"/>
                <a:ea typeface="Arial"/>
                <a:cs typeface="Arial"/>
                <a:sym typeface="Arial"/>
              </a:rPr>
              <a:t>Aristas (Enlaces/Arcos):</a:t>
            </a:r>
            <a:r>
              <a:rPr b="0" i="0" lang="en-US" sz="2000" u="none" cap="none" strike="noStrike">
                <a:solidFill>
                  <a:schemeClr val="dk2"/>
                </a:solidFill>
                <a:latin typeface="Arial"/>
                <a:ea typeface="Arial"/>
                <a:cs typeface="Arial"/>
                <a:sym typeface="Arial"/>
              </a:rPr>
              <a:t> Conectan los nodos, simbolizando la relación entre ellos (ej: "es amigo de", "trabaja en").</a:t>
            </a:r>
            <a:endParaRPr/>
          </a:p>
          <a:p>
            <a:pPr indent="-285750" lvl="0" marL="285750" marR="0" rtl="0" algn="just">
              <a:lnSpc>
                <a:spcPct val="100000"/>
              </a:lnSpc>
              <a:spcBef>
                <a:spcPts val="0"/>
              </a:spcBef>
              <a:spcAft>
                <a:spcPts val="0"/>
              </a:spcAft>
              <a:buClr>
                <a:srgbClr val="000000"/>
              </a:buClr>
              <a:buSzPts val="2000"/>
              <a:buFont typeface="Arial"/>
              <a:buChar char="•"/>
            </a:pPr>
            <a:r>
              <a:rPr b="1" i="0" lang="en-US" sz="2000" u="none" cap="none" strike="noStrike">
                <a:solidFill>
                  <a:schemeClr val="dk2"/>
                </a:solidFill>
                <a:latin typeface="Arial"/>
                <a:ea typeface="Arial"/>
                <a:cs typeface="Arial"/>
                <a:sym typeface="Arial"/>
              </a:rPr>
              <a:t>Propiedades:</a:t>
            </a:r>
            <a:r>
              <a:rPr b="0" i="0" lang="en-US" sz="2000" u="none" cap="none" strike="noStrike">
                <a:solidFill>
                  <a:schemeClr val="dk2"/>
                </a:solidFill>
                <a:latin typeface="Arial"/>
                <a:ea typeface="Arial"/>
                <a:cs typeface="Arial"/>
                <a:sym typeface="Arial"/>
              </a:rPr>
              <a:t> Datos asociados a nodos y aristas en pares clave-valor, que añaden contexto (ej: el peso de una arista puede ser la distancia, o un nodo puede tener propiedades como "nombre" y "edad"). </a:t>
            </a:r>
            <a:endParaRPr/>
          </a:p>
          <a:p>
            <a:pPr indent="0" lvl="0" marL="0" marR="0" rtl="0" algn="just">
              <a:lnSpc>
                <a:spcPct val="152000"/>
              </a:lnSpc>
              <a:spcBef>
                <a:spcPts val="0"/>
              </a:spcBef>
              <a:spcAft>
                <a:spcPts val="0"/>
              </a:spcAft>
              <a:buClr>
                <a:srgbClr val="000000"/>
              </a:buClr>
              <a:buSzPts val="1800"/>
              <a:buFont typeface="Arial"/>
              <a:buNone/>
            </a:pPr>
            <a:r>
              <a:t/>
            </a:r>
            <a:endParaRPr b="0" i="0" sz="1800" u="none" cap="none" strike="noStrike">
              <a:solidFill>
                <a:srgbClr val="092852"/>
              </a:solidFill>
              <a:latin typeface="Arial"/>
              <a:ea typeface="Arial"/>
              <a:cs typeface="Arial"/>
              <a:sym typeface="Arial"/>
            </a:endParaRPr>
          </a:p>
          <a:p>
            <a:pPr indent="0" lvl="0" marL="0" marR="0" rtl="0" algn="just">
              <a:lnSpc>
                <a:spcPct val="152000"/>
              </a:lnSpc>
              <a:spcBef>
                <a:spcPts val="0"/>
              </a:spcBef>
              <a:spcAft>
                <a:spcPts val="0"/>
              </a:spcAft>
              <a:buClr>
                <a:srgbClr val="000000"/>
              </a:buClr>
              <a:buSzPts val="1800"/>
              <a:buFont typeface="Arial"/>
              <a:buNone/>
            </a:pPr>
            <a:r>
              <a:t/>
            </a:r>
            <a:endParaRPr b="0" i="0" sz="1800" u="none" cap="none" strike="noStrike">
              <a:solidFill>
                <a:srgbClr val="09285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37"/>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278" name="Google Shape;278;p37"/>
          <p:cNvGrpSpPr/>
          <p:nvPr/>
        </p:nvGrpSpPr>
        <p:grpSpPr>
          <a:xfrm>
            <a:off x="9144000" y="-144661"/>
            <a:ext cx="9144000" cy="10431661"/>
            <a:chOff x="0" y="-38100"/>
            <a:chExt cx="2408296" cy="2747433"/>
          </a:xfrm>
        </p:grpSpPr>
        <p:sp>
          <p:nvSpPr>
            <p:cNvPr id="279" name="Google Shape;279;p37"/>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37"/>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1" name="Google Shape;281;p37"/>
          <p:cNvSpPr txBox="1"/>
          <p:nvPr/>
        </p:nvSpPr>
        <p:spPr>
          <a:xfrm>
            <a:off x="11750467" y="4470400"/>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Tipos de Aristas y Grafos</a:t>
            </a:r>
            <a:endParaRPr/>
          </a:p>
        </p:txBody>
      </p:sp>
      <p:sp>
        <p:nvSpPr>
          <p:cNvPr id="282" name="Google Shape;282;p37"/>
          <p:cNvSpPr txBox="1"/>
          <p:nvPr/>
        </p:nvSpPr>
        <p:spPr>
          <a:xfrm>
            <a:off x="1302806" y="3579877"/>
            <a:ext cx="6036000" cy="2996461"/>
          </a:xfrm>
          <a:prstGeom prst="rect">
            <a:avLst/>
          </a:prstGeom>
          <a:noFill/>
          <a:ln>
            <a:noFill/>
          </a:ln>
        </p:spPr>
        <p:txBody>
          <a:bodyPr anchorCtr="0" anchor="t" bIns="0" lIns="0" spcFirstLastPara="1" rIns="0" wrap="square" tIns="0">
            <a:spAutoFit/>
          </a:bodyPr>
          <a:lstStyle/>
          <a:p>
            <a:pPr indent="-285750" lvl="0" marL="28575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2"/>
                </a:solidFill>
                <a:latin typeface="Arial"/>
                <a:ea typeface="Arial"/>
                <a:cs typeface="Arial"/>
                <a:sym typeface="Arial"/>
              </a:rPr>
              <a:t>Grafos No Dirigidos:</a:t>
            </a:r>
            <a:r>
              <a:rPr b="0" i="0" lang="en-US" sz="2000" u="none" cap="none" strike="noStrike">
                <a:solidFill>
                  <a:schemeClr val="dk2"/>
                </a:solidFill>
                <a:latin typeface="Arial"/>
                <a:ea typeface="Arial"/>
                <a:cs typeface="Arial"/>
                <a:sym typeface="Arial"/>
              </a:rPr>
              <a:t> Las aristas no tienen dirección (ej: amistad bidireccional).</a:t>
            </a:r>
            <a:endParaRPr/>
          </a:p>
          <a:p>
            <a:pPr indent="-285750" lvl="0" marL="28575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2"/>
                </a:solidFill>
                <a:latin typeface="Arial"/>
                <a:ea typeface="Arial"/>
                <a:cs typeface="Arial"/>
                <a:sym typeface="Arial"/>
              </a:rPr>
              <a:t>Grafos Dirigidos (Digrafos):</a:t>
            </a:r>
            <a:r>
              <a:rPr b="0" i="0" lang="en-US" sz="2000" u="none" cap="none" strike="noStrike">
                <a:solidFill>
                  <a:schemeClr val="dk2"/>
                </a:solidFill>
                <a:latin typeface="Arial"/>
                <a:ea typeface="Arial"/>
                <a:cs typeface="Arial"/>
                <a:sym typeface="Arial"/>
              </a:rPr>
              <a:t> Las aristas tienen una dirección específica (ej: "sigue a" en redes sociales).</a:t>
            </a:r>
            <a:endParaRPr/>
          </a:p>
          <a:p>
            <a:pPr indent="-285750" lvl="0" marL="28575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2"/>
                </a:solidFill>
                <a:latin typeface="Arial"/>
                <a:ea typeface="Arial"/>
                <a:cs typeface="Arial"/>
                <a:sym typeface="Arial"/>
              </a:rPr>
              <a:t>Grafos Ponderados:</a:t>
            </a:r>
            <a:r>
              <a:rPr b="0" i="0" lang="en-US" sz="2000" u="none" cap="none" strike="noStrike">
                <a:solidFill>
                  <a:schemeClr val="dk2"/>
                </a:solidFill>
                <a:latin typeface="Arial"/>
                <a:ea typeface="Arial"/>
                <a:cs typeface="Arial"/>
                <a:sym typeface="Arial"/>
              </a:rPr>
              <a:t> Las aristas tienen un "peso" (coste, distancia, fuerza). </a:t>
            </a:r>
            <a:endParaRPr/>
          </a:p>
          <a:p>
            <a:pPr indent="0" lvl="0" marL="0" marR="0" rtl="0" algn="l">
              <a:lnSpc>
                <a:spcPct val="152000"/>
              </a:lnSpc>
              <a:spcBef>
                <a:spcPts val="0"/>
              </a:spcBef>
              <a:spcAft>
                <a:spcPts val="0"/>
              </a:spcAft>
              <a:buClr>
                <a:srgbClr val="000000"/>
              </a:buClr>
              <a:buSzPts val="1800"/>
              <a:buFont typeface="Arial"/>
              <a:buNone/>
            </a:pPr>
            <a:r>
              <a:t/>
            </a:r>
            <a:endParaRPr b="0" i="0" sz="1800" u="none" cap="none" strike="noStrike">
              <a:solidFill>
                <a:srgbClr val="092852"/>
              </a:solidFill>
              <a:latin typeface="Arial"/>
              <a:ea typeface="Arial"/>
              <a:cs typeface="Arial"/>
              <a:sym typeface="Arial"/>
            </a:endParaRPr>
          </a:p>
          <a:p>
            <a:pPr indent="0" lvl="0" marL="0" marR="0" rtl="0" algn="l">
              <a:lnSpc>
                <a:spcPct val="152000"/>
              </a:lnSpc>
              <a:spcBef>
                <a:spcPts val="0"/>
              </a:spcBef>
              <a:spcAft>
                <a:spcPts val="0"/>
              </a:spcAft>
              <a:buClr>
                <a:srgbClr val="000000"/>
              </a:buClr>
              <a:buSzPts val="1800"/>
              <a:buFont typeface="Arial"/>
              <a:buNone/>
            </a:pPr>
            <a:r>
              <a:t/>
            </a:r>
            <a:endParaRPr b="0" i="0" sz="1800" u="none" cap="none" strike="noStrike">
              <a:solidFill>
                <a:srgbClr val="09285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2852"/>
        </a:solidFill>
      </p:bgPr>
    </p:bg>
    <p:spTree>
      <p:nvGrpSpPr>
        <p:cNvPr id="286" name="Shape 286"/>
        <p:cNvGrpSpPr/>
        <p:nvPr/>
      </p:nvGrpSpPr>
      <p:grpSpPr>
        <a:xfrm>
          <a:off x="0" y="0"/>
          <a:ext cx="0" cy="0"/>
          <a:chOff x="0" y="0"/>
          <a:chExt cx="0" cy="0"/>
        </a:xfrm>
      </p:grpSpPr>
      <p:sp>
        <p:nvSpPr>
          <p:cNvPr id="287" name="Google Shape;287;p38"/>
          <p:cNvSpPr txBox="1"/>
          <p:nvPr/>
        </p:nvSpPr>
        <p:spPr>
          <a:xfrm>
            <a:off x="5283522" y="1554148"/>
            <a:ext cx="7324716" cy="897746"/>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4167"/>
              <a:buFont typeface="Arial"/>
              <a:buNone/>
            </a:pPr>
            <a:r>
              <a:rPr b="1" i="0" lang="en-US" sz="4167" u="none" cap="none" strike="noStrike">
                <a:solidFill>
                  <a:srgbClr val="FFFFFF"/>
                </a:solidFill>
                <a:latin typeface="Arial"/>
                <a:ea typeface="Arial"/>
                <a:cs typeface="Arial"/>
                <a:sym typeface="Arial"/>
              </a:rPr>
              <a:t>CASOS DE USO</a:t>
            </a:r>
            <a:endParaRPr b="0" i="0" sz="1400" u="none" cap="none" strike="noStrike">
              <a:solidFill>
                <a:srgbClr val="000000"/>
              </a:solidFill>
              <a:latin typeface="Arial"/>
              <a:ea typeface="Arial"/>
              <a:cs typeface="Arial"/>
              <a:sym typeface="Arial"/>
            </a:endParaRPr>
          </a:p>
        </p:txBody>
      </p:sp>
      <p:pic>
        <p:nvPicPr>
          <p:cNvPr id="288" name="Google Shape;288;p38"/>
          <p:cNvPicPr preferRelativeResize="0"/>
          <p:nvPr/>
        </p:nvPicPr>
        <p:blipFill rotWithShape="1">
          <a:blip r:embed="rId3">
            <a:alphaModFix/>
          </a:blip>
          <a:srcRect b="0" l="0" r="0" t="0"/>
          <a:stretch/>
        </p:blipFill>
        <p:spPr>
          <a:xfrm>
            <a:off x="2588762" y="3086298"/>
            <a:ext cx="13110476" cy="49756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39"/>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294" name="Google Shape;294;p39"/>
          <p:cNvGrpSpPr/>
          <p:nvPr/>
        </p:nvGrpSpPr>
        <p:grpSpPr>
          <a:xfrm>
            <a:off x="9144000" y="-144661"/>
            <a:ext cx="9144000" cy="10431661"/>
            <a:chOff x="0" y="-38100"/>
            <a:chExt cx="2408296" cy="2747433"/>
          </a:xfrm>
        </p:grpSpPr>
        <p:sp>
          <p:nvSpPr>
            <p:cNvPr id="295" name="Google Shape;295;p39"/>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39"/>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p39"/>
          <p:cNvSpPr txBox="1"/>
          <p:nvPr/>
        </p:nvSpPr>
        <p:spPr>
          <a:xfrm>
            <a:off x="11750467" y="4470400"/>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Tipos de Aristas y Grafos</a:t>
            </a:r>
            <a:endParaRPr/>
          </a:p>
        </p:txBody>
      </p:sp>
      <p:sp>
        <p:nvSpPr>
          <p:cNvPr id="298" name="Google Shape;298;p39"/>
          <p:cNvSpPr txBox="1"/>
          <p:nvPr/>
        </p:nvSpPr>
        <p:spPr>
          <a:xfrm>
            <a:off x="1302806" y="3579877"/>
            <a:ext cx="6036000" cy="2267672"/>
          </a:xfrm>
          <a:prstGeom prst="rect">
            <a:avLst/>
          </a:prstGeom>
          <a:noFill/>
          <a:ln>
            <a:noFill/>
          </a:ln>
        </p:spPr>
        <p:txBody>
          <a:bodyPr anchorCtr="0" anchor="t" bIns="0" lIns="0" spcFirstLastPara="1" rIns="0" wrap="square" tIns="0">
            <a:spAutoFit/>
          </a:bodyPr>
          <a:lstStyle/>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2"/>
                </a:solidFill>
                <a:latin typeface="Arial"/>
                <a:ea typeface="Arial"/>
                <a:cs typeface="Arial"/>
                <a:sym typeface="Arial"/>
              </a:rPr>
              <a:t>Redes Sociales: Modelar amistades y conexiones.</a:t>
            </a:r>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2"/>
                </a:solidFill>
                <a:latin typeface="Arial"/>
                <a:ea typeface="Arial"/>
                <a:cs typeface="Arial"/>
                <a:sym typeface="Arial"/>
              </a:rPr>
              <a:t>Sistemas de Recomendación: Sugerir productos o contenidos.</a:t>
            </a:r>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2"/>
                </a:solidFill>
                <a:latin typeface="Arial"/>
                <a:ea typeface="Arial"/>
                <a:cs typeface="Arial"/>
                <a:sym typeface="Arial"/>
              </a:rPr>
              <a:t>Mapas y Rutas: Calcular la ruta más corta.</a:t>
            </a:r>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2"/>
                </a:solidFill>
                <a:latin typeface="Arial"/>
                <a:ea typeface="Arial"/>
                <a:cs typeface="Arial"/>
                <a:sym typeface="Arial"/>
              </a:rPr>
              <a:t>Detección de Fraude: Analizar patrones de transacciones</a:t>
            </a:r>
            <a:endParaRPr b="0" i="0" sz="1800" u="none" cap="none" strike="noStrike">
              <a:solidFill>
                <a:srgbClr val="092852"/>
              </a:solidFill>
              <a:latin typeface="Arial"/>
              <a:ea typeface="Arial"/>
              <a:cs typeface="Arial"/>
              <a:sym typeface="Arial"/>
            </a:endParaRPr>
          </a:p>
          <a:p>
            <a:pPr indent="0" lvl="0" marL="0" marR="0" rtl="0" algn="l">
              <a:lnSpc>
                <a:spcPct val="152000"/>
              </a:lnSpc>
              <a:spcBef>
                <a:spcPts val="0"/>
              </a:spcBef>
              <a:spcAft>
                <a:spcPts val="0"/>
              </a:spcAft>
              <a:buClr>
                <a:srgbClr val="000000"/>
              </a:buClr>
              <a:buSzPts val="1800"/>
              <a:buFont typeface="Arial"/>
              <a:buNone/>
            </a:pPr>
            <a:r>
              <a:t/>
            </a:r>
            <a:endParaRPr b="0" i="0" sz="1800" u="none" cap="none" strike="noStrike">
              <a:solidFill>
                <a:srgbClr val="09285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2852"/>
        </a:solidFill>
      </p:bgPr>
    </p:bg>
    <p:spTree>
      <p:nvGrpSpPr>
        <p:cNvPr id="302" name="Shape 302"/>
        <p:cNvGrpSpPr/>
        <p:nvPr/>
      </p:nvGrpSpPr>
      <p:grpSpPr>
        <a:xfrm>
          <a:off x="0" y="0"/>
          <a:ext cx="0" cy="0"/>
          <a:chOff x="0" y="0"/>
          <a:chExt cx="0" cy="0"/>
        </a:xfrm>
      </p:grpSpPr>
      <p:sp>
        <p:nvSpPr>
          <p:cNvPr id="303" name="Google Shape;303;p16"/>
          <p:cNvSpPr txBox="1"/>
          <p:nvPr/>
        </p:nvSpPr>
        <p:spPr>
          <a:xfrm>
            <a:off x="5481642" y="3855388"/>
            <a:ext cx="7324716" cy="2693238"/>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4167"/>
              <a:buFont typeface="Arial"/>
              <a:buNone/>
            </a:pPr>
            <a:r>
              <a:rPr b="1" i="0" lang="en-US" sz="4167" u="none" cap="none" strike="noStrike">
                <a:solidFill>
                  <a:srgbClr val="FFFFFF"/>
                </a:solidFill>
                <a:latin typeface="Arial"/>
                <a:ea typeface="Arial"/>
                <a:cs typeface="Arial"/>
                <a:sym typeface="Arial"/>
              </a:rPr>
              <a:t>Introducción a Neo4j: arquitectura y características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40"/>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309" name="Google Shape;309;p40"/>
          <p:cNvGrpSpPr/>
          <p:nvPr/>
        </p:nvGrpSpPr>
        <p:grpSpPr>
          <a:xfrm>
            <a:off x="9144000" y="-144661"/>
            <a:ext cx="9144000" cy="10431661"/>
            <a:chOff x="0" y="-38100"/>
            <a:chExt cx="2408296" cy="2747433"/>
          </a:xfrm>
        </p:grpSpPr>
        <p:sp>
          <p:nvSpPr>
            <p:cNvPr id="310" name="Google Shape;310;p40"/>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40"/>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2" name="Google Shape;312;p40"/>
          <p:cNvSpPr txBox="1"/>
          <p:nvPr/>
        </p:nvSpPr>
        <p:spPr>
          <a:xfrm>
            <a:off x="11750467" y="4470400"/>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¿Qué es Neo4j?</a:t>
            </a:r>
            <a:endParaRPr b="1" i="0" sz="2499" u="none" cap="none" strike="noStrike">
              <a:solidFill>
                <a:srgbClr val="FFFFFF"/>
              </a:solidFill>
              <a:latin typeface="Arial"/>
              <a:ea typeface="Arial"/>
              <a:cs typeface="Arial"/>
              <a:sym typeface="Arial"/>
            </a:endParaRPr>
          </a:p>
        </p:txBody>
      </p:sp>
      <p:sp>
        <p:nvSpPr>
          <p:cNvPr id="313" name="Google Shape;313;p40"/>
          <p:cNvSpPr txBox="1"/>
          <p:nvPr/>
        </p:nvSpPr>
        <p:spPr>
          <a:xfrm>
            <a:off x="1302806" y="3579877"/>
            <a:ext cx="6036000" cy="2526076"/>
          </a:xfrm>
          <a:prstGeom prst="rect">
            <a:avLst/>
          </a:prstGeom>
          <a:noFill/>
          <a:ln>
            <a:noFill/>
          </a:ln>
        </p:spPr>
        <p:txBody>
          <a:bodyPr anchorCtr="0" anchor="t" bIns="0" lIns="0" spcFirstLastPara="1" rIns="0" wrap="square" tIns="0">
            <a:spAutoFit/>
          </a:bodyPr>
          <a:lstStyle/>
          <a:p>
            <a:pPr indent="0" lvl="0" marL="0" marR="0" rtl="0" algn="l">
              <a:lnSpc>
                <a:spcPct val="152000"/>
              </a:lnSpc>
              <a:spcBef>
                <a:spcPts val="0"/>
              </a:spcBef>
              <a:spcAft>
                <a:spcPts val="0"/>
              </a:spcAft>
              <a:buClr>
                <a:srgbClr val="000000"/>
              </a:buClr>
              <a:buSzPts val="1800"/>
              <a:buFont typeface="Arial"/>
              <a:buNone/>
            </a:pPr>
            <a:r>
              <a:rPr b="0" i="0" lang="en-US" sz="1800" u="none" cap="none" strike="noStrike">
                <a:solidFill>
                  <a:srgbClr val="092852"/>
                </a:solidFill>
                <a:latin typeface="Arial"/>
                <a:ea typeface="Arial"/>
                <a:cs typeface="Arial"/>
                <a:sym typeface="Arial"/>
              </a:rPr>
              <a:t>Neo4j es una base de datos de grafos nativa, que utiliza el modelo de grafos para almacenar y gestionar datos. A diferencia de las bases de datos relacionales tradicionales que usan tablas, Neo4j organiza los datos en nodos y relaciones, lo que la hace ideal para representar y analizar datos altamente conectados.</a:t>
            </a:r>
            <a:endParaRPr b="0" i="0" sz="1800" u="none" cap="none" strike="noStrike">
              <a:solidFill>
                <a:srgbClr val="09285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41"/>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319" name="Google Shape;319;p41"/>
          <p:cNvGrpSpPr/>
          <p:nvPr/>
        </p:nvGrpSpPr>
        <p:grpSpPr>
          <a:xfrm>
            <a:off x="9144000" y="-144661"/>
            <a:ext cx="9144000" cy="10431661"/>
            <a:chOff x="0" y="-38100"/>
            <a:chExt cx="2408296" cy="2747433"/>
          </a:xfrm>
        </p:grpSpPr>
        <p:sp>
          <p:nvSpPr>
            <p:cNvPr id="320" name="Google Shape;320;p41"/>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41"/>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2" name="Google Shape;322;p41"/>
          <p:cNvSpPr txBox="1"/>
          <p:nvPr/>
        </p:nvSpPr>
        <p:spPr>
          <a:xfrm>
            <a:off x="11750467" y="4470400"/>
            <a:ext cx="3931066" cy="1076833"/>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Características Principales</a:t>
            </a:r>
            <a:endParaRPr b="1" i="0" sz="2499" u="none" cap="none" strike="noStrike">
              <a:solidFill>
                <a:srgbClr val="FFFFFF"/>
              </a:solidFill>
              <a:latin typeface="Arial"/>
              <a:ea typeface="Arial"/>
              <a:cs typeface="Arial"/>
              <a:sym typeface="Arial"/>
            </a:endParaRPr>
          </a:p>
        </p:txBody>
      </p:sp>
      <p:sp>
        <p:nvSpPr>
          <p:cNvPr id="323" name="Google Shape;323;p41"/>
          <p:cNvSpPr txBox="1"/>
          <p:nvPr/>
        </p:nvSpPr>
        <p:spPr>
          <a:xfrm>
            <a:off x="1393234" y="1529852"/>
            <a:ext cx="6036000" cy="5052152"/>
          </a:xfrm>
          <a:prstGeom prst="rect">
            <a:avLst/>
          </a:prstGeom>
          <a:noFill/>
          <a:ln>
            <a:noFill/>
          </a:ln>
        </p:spPr>
        <p:txBody>
          <a:bodyPr anchorCtr="0" anchor="t" bIns="0" lIns="0" spcFirstLastPara="1" rIns="0" wrap="square" tIns="0">
            <a:spAutoFit/>
          </a:bodyPr>
          <a:lstStyle/>
          <a:p>
            <a:pPr indent="0" lvl="0" marL="0" marR="0" rtl="0" algn="l">
              <a:lnSpc>
                <a:spcPct val="152000"/>
              </a:lnSpc>
              <a:spcBef>
                <a:spcPts val="0"/>
              </a:spcBef>
              <a:spcAft>
                <a:spcPts val="0"/>
              </a:spcAft>
              <a:buClr>
                <a:srgbClr val="000000"/>
              </a:buClr>
              <a:buSzPts val="1800"/>
              <a:buFont typeface="Arial"/>
              <a:buNone/>
            </a:pPr>
            <a:r>
              <a:rPr b="1" i="0" lang="en-US" sz="1800" u="none" cap="none" strike="noStrike">
                <a:solidFill>
                  <a:srgbClr val="092852"/>
                </a:solidFill>
                <a:latin typeface="Arial"/>
                <a:ea typeface="Arial"/>
                <a:cs typeface="Arial"/>
                <a:sym typeface="Arial"/>
              </a:rPr>
              <a:t>1. Base de Datos de Grafos Nativa</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Está diseñada específicamente para grafos desde su núcleo</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Almacena datos como grafos de forma nativa</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Alto rendimiento en operaciones de recorrido de grafos</a:t>
            </a:r>
            <a:endParaRPr/>
          </a:p>
          <a:p>
            <a:pPr indent="0" lvl="0" marL="0" marR="0" rtl="0" algn="l">
              <a:lnSpc>
                <a:spcPct val="152000"/>
              </a:lnSpc>
              <a:spcBef>
                <a:spcPts val="0"/>
              </a:spcBef>
              <a:spcAft>
                <a:spcPts val="0"/>
              </a:spcAft>
              <a:buClr>
                <a:srgbClr val="000000"/>
              </a:buClr>
              <a:buSzPts val="1800"/>
              <a:buFont typeface="Arial"/>
              <a:buNone/>
            </a:pPr>
            <a:r>
              <a:t/>
            </a:r>
            <a:endParaRPr b="0" i="0" sz="1800" u="none" cap="none" strike="noStrike">
              <a:solidFill>
                <a:srgbClr val="092852"/>
              </a:solidFill>
              <a:latin typeface="Arial"/>
              <a:ea typeface="Arial"/>
              <a:cs typeface="Arial"/>
              <a:sym typeface="Arial"/>
            </a:endParaRPr>
          </a:p>
          <a:p>
            <a:pPr indent="0" lvl="0" marL="0" marR="0" rtl="0" algn="l">
              <a:lnSpc>
                <a:spcPct val="152000"/>
              </a:lnSpc>
              <a:spcBef>
                <a:spcPts val="0"/>
              </a:spcBef>
              <a:spcAft>
                <a:spcPts val="0"/>
              </a:spcAft>
              <a:buClr>
                <a:srgbClr val="000000"/>
              </a:buClr>
              <a:buSzPts val="1800"/>
              <a:buFont typeface="Arial"/>
              <a:buNone/>
            </a:pPr>
            <a:r>
              <a:rPr b="1" i="0" lang="en-US" sz="1800" u="none" cap="none" strike="noStrike">
                <a:solidFill>
                  <a:srgbClr val="092852"/>
                </a:solidFill>
                <a:latin typeface="Arial"/>
                <a:ea typeface="Arial"/>
                <a:cs typeface="Arial"/>
                <a:sym typeface="Arial"/>
              </a:rPr>
              <a:t>2. Modelo de Datos de Grafos</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Nodos: Representan entidades (personas, productos, etc.)</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Relaciones: Conectan nodos y tienen dirección y tipo</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Propiedades: Pares clave-valor en nodos y relaciones</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Etiquetas: Categorizan nodos para consultas eficientes</a:t>
            </a:r>
            <a:endParaRPr b="0" i="0" sz="1800" u="none" cap="none" strike="noStrike">
              <a:solidFill>
                <a:srgbClr val="09285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42"/>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329" name="Google Shape;329;p42"/>
          <p:cNvGrpSpPr/>
          <p:nvPr/>
        </p:nvGrpSpPr>
        <p:grpSpPr>
          <a:xfrm>
            <a:off x="9144000" y="-144661"/>
            <a:ext cx="9144000" cy="10431661"/>
            <a:chOff x="0" y="-38100"/>
            <a:chExt cx="2408296" cy="2747433"/>
          </a:xfrm>
        </p:grpSpPr>
        <p:sp>
          <p:nvSpPr>
            <p:cNvPr id="330" name="Google Shape;330;p42"/>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2"/>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2" name="Google Shape;332;p42"/>
          <p:cNvSpPr txBox="1"/>
          <p:nvPr/>
        </p:nvSpPr>
        <p:spPr>
          <a:xfrm>
            <a:off x="11750467" y="4470400"/>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Arquitectura Básica</a:t>
            </a:r>
            <a:endParaRPr b="1" i="0" sz="2499" u="none" cap="none" strike="noStrike">
              <a:solidFill>
                <a:srgbClr val="FFFFFF"/>
              </a:solidFill>
              <a:latin typeface="Arial"/>
              <a:ea typeface="Arial"/>
              <a:cs typeface="Arial"/>
              <a:sym typeface="Arial"/>
            </a:endParaRPr>
          </a:p>
        </p:txBody>
      </p:sp>
      <p:sp>
        <p:nvSpPr>
          <p:cNvPr id="333" name="Google Shape;333;p42"/>
          <p:cNvSpPr txBox="1"/>
          <p:nvPr/>
        </p:nvSpPr>
        <p:spPr>
          <a:xfrm>
            <a:off x="1393234" y="1529852"/>
            <a:ext cx="6036000" cy="5473165"/>
          </a:xfrm>
          <a:prstGeom prst="rect">
            <a:avLst/>
          </a:prstGeom>
          <a:noFill/>
          <a:ln>
            <a:noFill/>
          </a:ln>
        </p:spPr>
        <p:txBody>
          <a:bodyPr anchorCtr="0" anchor="t" bIns="0" lIns="0" spcFirstLastPara="1" rIns="0" wrap="square" tIns="0">
            <a:spAutoFit/>
          </a:bodyPr>
          <a:lstStyle/>
          <a:p>
            <a:pPr indent="0" lvl="0" marL="0" marR="0" rtl="0" algn="l">
              <a:lnSpc>
                <a:spcPct val="152000"/>
              </a:lnSpc>
              <a:spcBef>
                <a:spcPts val="0"/>
              </a:spcBef>
              <a:spcAft>
                <a:spcPts val="0"/>
              </a:spcAft>
              <a:buClr>
                <a:srgbClr val="000000"/>
              </a:buClr>
              <a:buSzPts val="1800"/>
              <a:buFont typeface="Arial"/>
              <a:buNone/>
            </a:pPr>
            <a:r>
              <a:rPr b="1" i="0" lang="en-US" sz="1800" u="none" cap="none" strike="noStrike">
                <a:solidFill>
                  <a:srgbClr val="092852"/>
                </a:solidFill>
                <a:latin typeface="Arial"/>
                <a:ea typeface="Arial"/>
                <a:cs typeface="Arial"/>
                <a:sym typeface="Arial"/>
              </a:rPr>
              <a:t>Componentes Principales</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Neo4j Database: Motor principal</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Cypher: Lenguaje de consulta</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Neo4j Browser: Interfaz web para consultas</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Neo4j Drivers: Conectores para múltiples lenguajes (Java, Python, JavaScript, .NET)</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APOC Library: Procedimientos y funciones adicionales</a:t>
            </a:r>
            <a:endParaRPr/>
          </a:p>
          <a:p>
            <a:pPr indent="0" lvl="0" marL="0" marR="0" rtl="0" algn="l">
              <a:lnSpc>
                <a:spcPct val="152000"/>
              </a:lnSpc>
              <a:spcBef>
                <a:spcPts val="0"/>
              </a:spcBef>
              <a:spcAft>
                <a:spcPts val="0"/>
              </a:spcAft>
              <a:buClr>
                <a:srgbClr val="000000"/>
              </a:buClr>
              <a:buSzPts val="1800"/>
              <a:buFont typeface="Arial"/>
              <a:buNone/>
            </a:pPr>
            <a:r>
              <a:t/>
            </a:r>
            <a:endParaRPr b="0" i="0" sz="1800" u="none" cap="none" strike="noStrike">
              <a:solidFill>
                <a:srgbClr val="092852"/>
              </a:solidFill>
              <a:latin typeface="Arial"/>
              <a:ea typeface="Arial"/>
              <a:cs typeface="Arial"/>
              <a:sym typeface="Arial"/>
            </a:endParaRPr>
          </a:p>
          <a:p>
            <a:pPr indent="0" lvl="0" marL="0" marR="0" rtl="0" algn="l">
              <a:lnSpc>
                <a:spcPct val="152000"/>
              </a:lnSpc>
              <a:spcBef>
                <a:spcPts val="0"/>
              </a:spcBef>
              <a:spcAft>
                <a:spcPts val="0"/>
              </a:spcAft>
              <a:buClr>
                <a:srgbClr val="000000"/>
              </a:buClr>
              <a:buSzPts val="1800"/>
              <a:buFont typeface="Arial"/>
              <a:buNone/>
            </a:pPr>
            <a:r>
              <a:rPr b="1" i="0" lang="en-US" sz="1800" u="none" cap="none" strike="noStrike">
                <a:solidFill>
                  <a:srgbClr val="092852"/>
                </a:solidFill>
                <a:latin typeface="Arial"/>
                <a:ea typeface="Arial"/>
                <a:cs typeface="Arial"/>
                <a:sym typeface="Arial"/>
              </a:rPr>
              <a:t>Ediciones Disponibles</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Community Edition: Gratuita, open-source</a:t>
            </a:r>
            <a:endParaRPr b="0" i="0" sz="1800" u="none" cap="none" strike="noStrike">
              <a:solidFill>
                <a:srgbClr val="092852"/>
              </a:solidFill>
              <a:latin typeface="Arial"/>
              <a:ea typeface="Arial"/>
              <a:cs typeface="Arial"/>
              <a:sym typeface="Arial"/>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Enterprise Edition: Con características empresariales (clustering, backups, seguridad avanzada)</a:t>
            </a:r>
            <a:endParaRPr/>
          </a:p>
          <a:p>
            <a:pPr indent="-285750" lvl="0" marL="285750" marR="0" rtl="0" algn="l">
              <a:lnSpc>
                <a:spcPct val="152000"/>
              </a:lnSpc>
              <a:spcBef>
                <a:spcPts val="0"/>
              </a:spcBef>
              <a:spcAft>
                <a:spcPts val="0"/>
              </a:spcAft>
              <a:buClr>
                <a:srgbClr val="000000"/>
              </a:buClr>
              <a:buSzPts val="1800"/>
              <a:buFont typeface="Arial"/>
              <a:buChar char="•"/>
            </a:pPr>
            <a:r>
              <a:rPr b="0" i="0" lang="en-US" sz="1800" u="none" cap="none" strike="noStrike">
                <a:solidFill>
                  <a:srgbClr val="092852"/>
                </a:solidFill>
                <a:latin typeface="Arial"/>
                <a:ea typeface="Arial"/>
                <a:cs typeface="Arial"/>
                <a:sym typeface="Arial"/>
              </a:rPr>
              <a:t>AuraDB: Servicio gestionado en la nube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2852"/>
        </a:solidFill>
      </p:bgPr>
    </p:bg>
    <p:spTree>
      <p:nvGrpSpPr>
        <p:cNvPr id="337" name="Shape 337"/>
        <p:cNvGrpSpPr/>
        <p:nvPr/>
      </p:nvGrpSpPr>
      <p:grpSpPr>
        <a:xfrm>
          <a:off x="0" y="0"/>
          <a:ext cx="0" cy="0"/>
          <a:chOff x="0" y="0"/>
          <a:chExt cx="0" cy="0"/>
        </a:xfrm>
      </p:grpSpPr>
      <p:sp>
        <p:nvSpPr>
          <p:cNvPr id="338" name="Google Shape;338;p43"/>
          <p:cNvSpPr txBox="1"/>
          <p:nvPr/>
        </p:nvSpPr>
        <p:spPr>
          <a:xfrm>
            <a:off x="5481642" y="3855388"/>
            <a:ext cx="7324716" cy="1795492"/>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4167"/>
              <a:buFont typeface="Arial"/>
              <a:buNone/>
            </a:pPr>
            <a:r>
              <a:rPr b="1" i="0" lang="en-US" sz="4167" u="none" cap="none" strike="noStrike">
                <a:solidFill>
                  <a:srgbClr val="FFFFFF"/>
                </a:solidFill>
                <a:latin typeface="Arial"/>
                <a:ea typeface="Arial"/>
                <a:cs typeface="Arial"/>
                <a:sym typeface="Arial"/>
              </a:rPr>
              <a:t>Instalación y configuración de Neo4j.</a:t>
            </a:r>
            <a:endParaRPr b="0" i="0" sz="1400" u="none" cap="none" strike="noStrike">
              <a:solidFill>
                <a:srgbClr val="000000"/>
              </a:solidFill>
              <a:latin typeface="Arial"/>
              <a:ea typeface="Arial"/>
              <a:cs typeface="Arial"/>
              <a:sym typeface="Arial"/>
            </a:endParaRPr>
          </a:p>
        </p:txBody>
      </p:sp>
      <p:sp>
        <p:nvSpPr>
          <p:cNvPr id="339" name="Google Shape;339;p43">
            <a:hlinkClick r:id="rId3"/>
          </p:cNvPr>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43"/>
          <p:cNvSpPr txBox="1"/>
          <p:nvPr/>
        </p:nvSpPr>
        <p:spPr>
          <a:xfrm>
            <a:off x="13037574" y="7374194"/>
            <a:ext cx="271370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sng" cap="none" strike="noStrike">
                <a:solidFill>
                  <a:srgbClr val="000000"/>
                </a:solidFill>
                <a:latin typeface="Arial"/>
                <a:ea typeface="Arial"/>
                <a:cs typeface="Arial"/>
                <a:sym typeface="Arial"/>
                <a:hlinkClick r:id="rId5">
                  <a:extLst>
                    <a:ext uri="{A12FA001-AC4F-418D-AE19-62706E023703}">
                      <ahyp:hlinkClr val="tx"/>
                    </a:ext>
                  </a:extLst>
                </a:hlinkClick>
              </a:rPr>
              <a:t>Manual de Operaciones Neo4j</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44"/>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346" name="Google Shape;346;p44"/>
          <p:cNvGrpSpPr/>
          <p:nvPr/>
        </p:nvGrpSpPr>
        <p:grpSpPr>
          <a:xfrm>
            <a:off x="9144000" y="-144661"/>
            <a:ext cx="9144000" cy="10431661"/>
            <a:chOff x="0" y="-38100"/>
            <a:chExt cx="2408296" cy="2747433"/>
          </a:xfrm>
        </p:grpSpPr>
        <p:sp>
          <p:nvSpPr>
            <p:cNvPr id="347" name="Google Shape;347;p44"/>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9" name="Google Shape;349;p44"/>
          <p:cNvSpPr txBox="1"/>
          <p:nvPr/>
        </p:nvSpPr>
        <p:spPr>
          <a:xfrm>
            <a:off x="11750467" y="4470400"/>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Requisitos de Hardware</a:t>
            </a:r>
            <a:endParaRPr b="1" i="0" sz="2499" u="none" cap="none" strike="noStrike">
              <a:solidFill>
                <a:srgbClr val="FFFFFF"/>
              </a:solidFill>
              <a:latin typeface="Arial"/>
              <a:ea typeface="Arial"/>
              <a:cs typeface="Arial"/>
              <a:sym typeface="Arial"/>
            </a:endParaRPr>
          </a:p>
        </p:txBody>
      </p:sp>
      <p:sp>
        <p:nvSpPr>
          <p:cNvPr id="350" name="Google Shape;350;p44"/>
          <p:cNvSpPr txBox="1"/>
          <p:nvPr/>
        </p:nvSpPr>
        <p:spPr>
          <a:xfrm>
            <a:off x="1393234" y="1529852"/>
            <a:ext cx="6036000" cy="1263038"/>
          </a:xfrm>
          <a:prstGeom prst="rect">
            <a:avLst/>
          </a:prstGeom>
          <a:noFill/>
          <a:ln>
            <a:noFill/>
          </a:ln>
        </p:spPr>
        <p:txBody>
          <a:bodyPr anchorCtr="0" anchor="t" bIns="0" lIns="0" spcFirstLastPara="1" rIns="0" wrap="square" tIns="0">
            <a:spAutoFit/>
          </a:bodyPr>
          <a:lstStyle/>
          <a:p>
            <a:pPr indent="0" lvl="0" marL="0" marR="0" rtl="0" algn="l">
              <a:lnSpc>
                <a:spcPct val="152000"/>
              </a:lnSpc>
              <a:spcBef>
                <a:spcPts val="0"/>
              </a:spcBef>
              <a:spcAft>
                <a:spcPts val="0"/>
              </a:spcAft>
              <a:buClr>
                <a:srgbClr val="000000"/>
              </a:buClr>
              <a:buSzPts val="1800"/>
              <a:buFont typeface="Arial"/>
              <a:buNone/>
            </a:pPr>
            <a:r>
              <a:rPr b="0" i="0" lang="en-US" sz="1800" u="none" cap="none" strike="noStrike">
                <a:solidFill>
                  <a:srgbClr val="092852"/>
                </a:solidFill>
                <a:latin typeface="Arial"/>
                <a:ea typeface="Arial"/>
                <a:cs typeface="Arial"/>
                <a:sym typeface="Arial"/>
              </a:rPr>
              <a:t>Neo4j se puede instalar en diversos entornos y para diferentes ámbitos, por lo que los requisitos del sistema dependen en gran medida del uso del software.</a:t>
            </a:r>
            <a:endParaRPr b="0" i="0" sz="1800" u="none" cap="none" strike="noStrike">
              <a:solidFill>
                <a:srgbClr val="092852"/>
              </a:solidFill>
              <a:latin typeface="Arial"/>
              <a:ea typeface="Arial"/>
              <a:cs typeface="Arial"/>
              <a:sym typeface="Arial"/>
            </a:endParaRPr>
          </a:p>
        </p:txBody>
      </p:sp>
      <p:pic>
        <p:nvPicPr>
          <p:cNvPr descr="Interfaz de usuario gráfica, Texto, Aplicación&#10;&#10;El contenido generado por IA puede ser incorrecto." id="351" name="Google Shape;351;p44"/>
          <p:cNvPicPr preferRelativeResize="0"/>
          <p:nvPr/>
        </p:nvPicPr>
        <p:blipFill rotWithShape="1">
          <a:blip r:embed="rId4">
            <a:alphaModFix/>
          </a:blip>
          <a:srcRect b="0" l="0" r="0" t="0"/>
          <a:stretch/>
        </p:blipFill>
        <p:spPr>
          <a:xfrm>
            <a:off x="489793" y="3342518"/>
            <a:ext cx="8459381" cy="2038635"/>
          </a:xfrm>
          <a:prstGeom prst="rect">
            <a:avLst/>
          </a:prstGeom>
          <a:noFill/>
          <a:ln>
            <a:noFill/>
          </a:ln>
        </p:spPr>
      </p:pic>
      <p:pic>
        <p:nvPicPr>
          <p:cNvPr descr="Interfaz de usuario gráfica, Texto, Aplicación&#10;&#10;El contenido generado por IA puede ser incorrecto." id="352" name="Google Shape;352;p44"/>
          <p:cNvPicPr preferRelativeResize="0"/>
          <p:nvPr/>
        </p:nvPicPr>
        <p:blipFill rotWithShape="1">
          <a:blip r:embed="rId5">
            <a:alphaModFix/>
          </a:blip>
          <a:srcRect b="0" l="0" r="0" t="0"/>
          <a:stretch/>
        </p:blipFill>
        <p:spPr>
          <a:xfrm>
            <a:off x="489793" y="5381153"/>
            <a:ext cx="8546486" cy="2155273"/>
          </a:xfrm>
          <a:prstGeom prst="rect">
            <a:avLst/>
          </a:prstGeom>
          <a:noFill/>
          <a:ln>
            <a:noFill/>
          </a:ln>
        </p:spPr>
      </p:pic>
      <p:pic>
        <p:nvPicPr>
          <p:cNvPr descr="Interfaz de usuario gráfica, Texto, Aplicación&#10;&#10;El contenido generado por IA puede ser incorrecto." id="353" name="Google Shape;353;p44"/>
          <p:cNvPicPr preferRelativeResize="0"/>
          <p:nvPr/>
        </p:nvPicPr>
        <p:blipFill rotWithShape="1">
          <a:blip r:embed="rId6">
            <a:alphaModFix/>
          </a:blip>
          <a:srcRect b="0" l="0" r="0" t="0"/>
          <a:stretch/>
        </p:blipFill>
        <p:spPr>
          <a:xfrm>
            <a:off x="489793" y="7681087"/>
            <a:ext cx="8654207" cy="211381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45"/>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359" name="Google Shape;359;p45"/>
          <p:cNvGrpSpPr/>
          <p:nvPr/>
        </p:nvGrpSpPr>
        <p:grpSpPr>
          <a:xfrm>
            <a:off x="9144000" y="-144661"/>
            <a:ext cx="9144000" cy="10431661"/>
            <a:chOff x="0" y="-38100"/>
            <a:chExt cx="2408296" cy="2747433"/>
          </a:xfrm>
        </p:grpSpPr>
        <p:sp>
          <p:nvSpPr>
            <p:cNvPr id="360" name="Google Shape;360;p45"/>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2" name="Google Shape;362;p45"/>
          <p:cNvSpPr txBox="1"/>
          <p:nvPr/>
        </p:nvSpPr>
        <p:spPr>
          <a:xfrm>
            <a:off x="11750467" y="4470400"/>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Requisitos de software</a:t>
            </a:r>
            <a:endParaRPr b="1" i="0" sz="2499" u="none" cap="none" strike="noStrike">
              <a:solidFill>
                <a:srgbClr val="FFFFFF"/>
              </a:solidFill>
              <a:latin typeface="Arial"/>
              <a:ea typeface="Arial"/>
              <a:cs typeface="Arial"/>
              <a:sym typeface="Arial"/>
            </a:endParaRPr>
          </a:p>
        </p:txBody>
      </p:sp>
      <p:sp>
        <p:nvSpPr>
          <p:cNvPr id="363" name="Google Shape;363;p45"/>
          <p:cNvSpPr txBox="1"/>
          <p:nvPr/>
        </p:nvSpPr>
        <p:spPr>
          <a:xfrm>
            <a:off x="1393234" y="1529852"/>
            <a:ext cx="6036000" cy="1263038"/>
          </a:xfrm>
          <a:prstGeom prst="rect">
            <a:avLst/>
          </a:prstGeom>
          <a:noFill/>
          <a:ln>
            <a:noFill/>
          </a:ln>
        </p:spPr>
        <p:txBody>
          <a:bodyPr anchorCtr="0" anchor="t" bIns="0" lIns="0" spcFirstLastPara="1" rIns="0" wrap="square" tIns="0">
            <a:spAutoFit/>
          </a:bodyPr>
          <a:lstStyle/>
          <a:p>
            <a:pPr indent="0" lvl="0" marL="0" marR="0" rtl="0" algn="l">
              <a:lnSpc>
                <a:spcPct val="152000"/>
              </a:lnSpc>
              <a:spcBef>
                <a:spcPts val="0"/>
              </a:spcBef>
              <a:spcAft>
                <a:spcPts val="0"/>
              </a:spcAft>
              <a:buClr>
                <a:srgbClr val="000000"/>
              </a:buClr>
              <a:buSzPts val="1800"/>
              <a:buFont typeface="Arial"/>
              <a:buNone/>
            </a:pPr>
            <a:r>
              <a:rPr b="0" i="0" lang="en-US" sz="1800" u="none" cap="none" strike="noStrike">
                <a:solidFill>
                  <a:srgbClr val="092852"/>
                </a:solidFill>
                <a:latin typeface="Arial"/>
                <a:ea typeface="Arial"/>
                <a:cs typeface="Arial"/>
                <a:sym typeface="Arial"/>
              </a:rPr>
              <a:t>Neo4j se puede instalar en diversos entornos y para diferentes ámbitos, por lo que los requisitos del sistema dependen en gran medida del uso del software.</a:t>
            </a:r>
            <a:endParaRPr b="0" i="0" sz="1800" u="none" cap="none" strike="noStrike">
              <a:solidFill>
                <a:srgbClr val="092852"/>
              </a:solidFill>
              <a:latin typeface="Arial"/>
              <a:ea typeface="Arial"/>
              <a:cs typeface="Arial"/>
              <a:sym typeface="Arial"/>
            </a:endParaRPr>
          </a:p>
        </p:txBody>
      </p:sp>
      <p:pic>
        <p:nvPicPr>
          <p:cNvPr id="364" name="Google Shape;364;p45"/>
          <p:cNvPicPr preferRelativeResize="0"/>
          <p:nvPr/>
        </p:nvPicPr>
        <p:blipFill rotWithShape="1">
          <a:blip r:embed="rId4">
            <a:alphaModFix/>
          </a:blip>
          <a:srcRect b="0" l="0" r="0" t="0"/>
          <a:stretch/>
        </p:blipFill>
        <p:spPr>
          <a:xfrm>
            <a:off x="831879" y="3342518"/>
            <a:ext cx="6608713" cy="2475600"/>
          </a:xfrm>
          <a:prstGeom prst="rect">
            <a:avLst/>
          </a:prstGeom>
          <a:noFill/>
          <a:ln>
            <a:noFill/>
          </a:ln>
        </p:spPr>
      </p:pic>
      <p:pic>
        <p:nvPicPr>
          <p:cNvPr id="365" name="Google Shape;365;p45"/>
          <p:cNvPicPr preferRelativeResize="0"/>
          <p:nvPr/>
        </p:nvPicPr>
        <p:blipFill rotWithShape="1">
          <a:blip r:embed="rId5">
            <a:alphaModFix/>
          </a:blip>
          <a:srcRect b="0" l="0" r="0" t="0"/>
          <a:stretch/>
        </p:blipFill>
        <p:spPr>
          <a:xfrm>
            <a:off x="820521" y="6236560"/>
            <a:ext cx="6608713" cy="267146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46"/>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371" name="Google Shape;371;p46"/>
          <p:cNvGrpSpPr/>
          <p:nvPr/>
        </p:nvGrpSpPr>
        <p:grpSpPr>
          <a:xfrm>
            <a:off x="9144000" y="-144661"/>
            <a:ext cx="9144000" cy="10431661"/>
            <a:chOff x="0" y="-38100"/>
            <a:chExt cx="2408296" cy="2747433"/>
          </a:xfrm>
        </p:grpSpPr>
        <p:sp>
          <p:nvSpPr>
            <p:cNvPr id="372" name="Google Shape;372;p46"/>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6"/>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4" name="Google Shape;374;p46"/>
          <p:cNvSpPr txBox="1"/>
          <p:nvPr/>
        </p:nvSpPr>
        <p:spPr>
          <a:xfrm>
            <a:off x="11750467" y="4470400"/>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Instalación en Windows</a:t>
            </a:r>
            <a:endParaRPr b="1" i="0" sz="2499" u="none" cap="none" strike="noStrike">
              <a:solidFill>
                <a:srgbClr val="FFFFFF"/>
              </a:solidFill>
              <a:latin typeface="Arial"/>
              <a:ea typeface="Arial"/>
              <a:cs typeface="Arial"/>
              <a:sym typeface="Arial"/>
            </a:endParaRPr>
          </a:p>
        </p:txBody>
      </p:sp>
      <p:sp>
        <p:nvSpPr>
          <p:cNvPr id="375" name="Google Shape;375;p46"/>
          <p:cNvSpPr txBox="1"/>
          <p:nvPr/>
        </p:nvSpPr>
        <p:spPr>
          <a:xfrm>
            <a:off x="1224116" y="634182"/>
            <a:ext cx="6205118" cy="817698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92852"/>
                </a:solidFill>
                <a:latin typeface="Arial"/>
                <a:ea typeface="Arial"/>
                <a:cs typeface="Arial"/>
                <a:sym typeface="Arial"/>
              </a:rPr>
              <a:t>Puede instalar Neo4j en Windows descargando y extrayendo un archivo ZIP, ejecutándolo como un servicio de Windows o utilizando el módulo Windows PowerShell</a:t>
            </a:r>
            <a:endParaRPr/>
          </a:p>
          <a:p>
            <a:pPr indent="0" lvl="0" marL="0" marR="0" rtl="0" algn="l">
              <a:lnSpc>
                <a:spcPct val="152000"/>
              </a:lnSpc>
              <a:spcBef>
                <a:spcPts val="0"/>
              </a:spcBef>
              <a:spcAft>
                <a:spcPts val="0"/>
              </a:spcAft>
              <a:buClr>
                <a:srgbClr val="000000"/>
              </a:buClr>
              <a:buSzPts val="1800"/>
              <a:buFont typeface="Arial"/>
              <a:buNone/>
            </a:pPr>
            <a:r>
              <a:t/>
            </a:r>
            <a:endParaRPr b="0" i="0" sz="1800" u="none" cap="none" strike="noStrike">
              <a:solidFill>
                <a:srgbClr val="092852"/>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92852"/>
                </a:solidFill>
                <a:latin typeface="Arial"/>
                <a:ea typeface="Arial"/>
                <a:cs typeface="Arial"/>
                <a:sym typeface="Arial"/>
              </a:rPr>
              <a:t>Descargue la versión ejecutable de Windows 2025.10.1 (zip) desde </a:t>
            </a:r>
            <a:r>
              <a:rPr b="0" i="0" lang="en-US" sz="1800" u="sng" cap="none" strike="noStrike">
                <a:solidFill>
                  <a:srgbClr val="092852"/>
                </a:solidFill>
                <a:latin typeface="Arial"/>
                <a:ea typeface="Arial"/>
                <a:cs typeface="Arial"/>
                <a:sym typeface="Arial"/>
                <a:hlinkClick r:id="rId4">
                  <a:extLst>
                    <a:ext uri="{A12FA001-AC4F-418D-AE19-62706E023703}">
                      <ahyp:hlinkClr val="tx"/>
                    </a:ext>
                  </a:extLst>
                </a:hlinkClick>
              </a:rPr>
              <a:t>el Centro de implementación de Neo4j</a:t>
            </a:r>
            <a:r>
              <a:rPr b="0" i="0" lang="en-US" sz="1800" u="none" cap="none" strike="noStrike">
                <a:solidFill>
                  <a:srgbClr val="092852"/>
                </a:solidFill>
                <a:latin typeface="Arial"/>
                <a:ea typeface="Arial"/>
                <a:cs typeface="Arial"/>
                <a:sym typeface="Arial"/>
              </a:rPr>
              <a:t>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92852"/>
                </a:solidFill>
                <a:latin typeface="Arial"/>
                <a:ea typeface="Arial"/>
                <a:cs typeface="Arial"/>
                <a:sym typeface="Arial"/>
              </a:rPr>
              <a:t>Haga clic derecho en el archivo descargado y seleccione Extraer todo para extraer el contenido del archivo.</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92852"/>
                </a:solidFill>
                <a:latin typeface="Arial"/>
                <a:ea typeface="Arial"/>
                <a:cs typeface="Arial"/>
                <a:sym typeface="Arial"/>
              </a:rPr>
              <a:t>Coloque los archivos extraídos en un lugar permanente en su servidor y configure la variable de entorno NEO4J_HOMEpara que apunte al directorio extraído, por ejemplo, setx NEO4J_HOME "C:\neo4j\neo4j-&lt;NEO4J_VERSION&gt;"para que sea más fácil consultarlo más adelante.</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92852"/>
                </a:solidFill>
                <a:latin typeface="Arial"/>
                <a:ea typeface="Arial"/>
                <a:cs typeface="Arial"/>
                <a:sym typeface="Arial"/>
              </a:rPr>
              <a:t>(Recomendado) </a:t>
            </a:r>
            <a:r>
              <a:rPr b="0" i="0" lang="en-US" sz="1800" u="sng" cap="none" strike="noStrike">
                <a:solidFill>
                  <a:srgbClr val="092852"/>
                </a:solidFill>
                <a:latin typeface="Arial"/>
                <a:ea typeface="Arial"/>
                <a:cs typeface="Arial"/>
                <a:sym typeface="Arial"/>
                <a:hlinkClick r:id="rId5">
                  <a:extLst>
                    <a:ext uri="{A12FA001-AC4F-418D-AE19-62706E023703}">
                      <ahyp:hlinkClr val="tx"/>
                    </a:ext>
                  </a:extLst>
                </a:hlinkClick>
              </a:rPr>
              <a:t>Cambie las ubicaciones predeterminadas</a:t>
            </a:r>
            <a:r>
              <a:rPr b="0" i="0" lang="en-US" sz="1800" u="none" cap="none" strike="noStrike">
                <a:solidFill>
                  <a:srgbClr val="092852"/>
                </a:solidFill>
                <a:latin typeface="Arial"/>
                <a:ea typeface="Arial"/>
                <a:cs typeface="Arial"/>
                <a:sym typeface="Arial"/>
              </a:rPr>
              <a:t> de los directorios de datos , configuración , certificados , licencias y complementos (si planea usar complementos personalizados) configurando la variable de entorno NEO4J_CONFy las </a:t>
            </a:r>
            <a:r>
              <a:rPr b="0" i="0" lang="en-US" sz="1800" u="sng" cap="none" strike="noStrike">
                <a:solidFill>
                  <a:srgbClr val="092852"/>
                </a:solidFill>
                <a:latin typeface="Arial"/>
                <a:ea typeface="Arial"/>
                <a:cs typeface="Arial"/>
                <a:sym typeface="Arial"/>
                <a:hlinkClick r:id="rId6">
                  <a:extLst>
                    <a:ext uri="{A12FA001-AC4F-418D-AE19-62706E023703}">
                      <ahyp:hlinkClr val="tx"/>
                    </a:ext>
                  </a:extLst>
                </a:hlinkClick>
              </a:rPr>
              <a:t>server.directories.*</a:t>
            </a:r>
            <a:r>
              <a:rPr b="0" i="0" lang="en-US" sz="1800" u="none" cap="none" strike="noStrike">
                <a:solidFill>
                  <a:srgbClr val="092852"/>
                </a:solidFill>
                <a:latin typeface="Arial"/>
                <a:ea typeface="Arial"/>
                <a:cs typeface="Arial"/>
                <a:sym typeface="Arial"/>
              </a:rPr>
              <a:t>configuraciones respectivas para que apunten a las ubicaciones deseadas.</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92852"/>
                </a:solidFill>
                <a:latin typeface="Arial"/>
                <a:ea typeface="Arial"/>
                <a:cs typeface="Arial"/>
                <a:sym typeface="Arial"/>
              </a:rPr>
              <a:t>Antes de iniciar la base de datos por primera vez, se recomienda utilizar el set-initial-passwordcomando de neo4j-adminpara definir la contraseña para el usuario nativo neo4j. Si la contraseña no se establece explícitamente con este método, se establecerá la contraseña predeterminada neo4j. En ese caso, se le solicitará que cambie la contraseña predeterminada la primera vez que inicie sesión.</a:t>
            </a:r>
            <a:endParaRPr b="0" i="0" sz="1800" u="none" cap="none" strike="noStrike">
              <a:solidFill>
                <a:srgbClr val="09285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p47"/>
          <p:cNvPicPr preferRelativeResize="0"/>
          <p:nvPr/>
        </p:nvPicPr>
        <p:blipFill rotWithShape="1">
          <a:blip r:embed="rId3">
            <a:alphaModFix/>
          </a:blip>
          <a:srcRect b="0" l="20388" r="20388" t="0"/>
          <a:stretch/>
        </p:blipFill>
        <p:spPr>
          <a:xfrm>
            <a:off x="9144000" y="0"/>
            <a:ext cx="9144000" cy="10287000"/>
          </a:xfrm>
          <a:prstGeom prst="rect">
            <a:avLst/>
          </a:prstGeom>
          <a:noFill/>
          <a:ln>
            <a:noFill/>
          </a:ln>
        </p:spPr>
      </p:pic>
      <p:grpSp>
        <p:nvGrpSpPr>
          <p:cNvPr id="381" name="Google Shape;381;p47"/>
          <p:cNvGrpSpPr/>
          <p:nvPr/>
        </p:nvGrpSpPr>
        <p:grpSpPr>
          <a:xfrm>
            <a:off x="9144000" y="-144661"/>
            <a:ext cx="9144000" cy="10431661"/>
            <a:chOff x="0" y="-38100"/>
            <a:chExt cx="2408296" cy="2747433"/>
          </a:xfrm>
        </p:grpSpPr>
        <p:sp>
          <p:nvSpPr>
            <p:cNvPr id="382" name="Google Shape;382;p47"/>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92852">
                <a:alpha val="6666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47"/>
            <p:cNvSpPr txBox="1"/>
            <p:nvPr/>
          </p:nvSpPr>
          <p:spPr>
            <a:xfrm>
              <a:off x="0" y="-38100"/>
              <a:ext cx="2408296"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4" name="Google Shape;384;p47"/>
          <p:cNvSpPr txBox="1"/>
          <p:nvPr/>
        </p:nvSpPr>
        <p:spPr>
          <a:xfrm>
            <a:off x="11750467" y="4470400"/>
            <a:ext cx="3931066"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Arial"/>
                <a:ea typeface="Arial"/>
                <a:cs typeface="Arial"/>
                <a:sym typeface="Arial"/>
              </a:rPr>
              <a:t>Neo4j Desktop</a:t>
            </a:r>
            <a:endParaRPr b="1" i="0" sz="2499" u="none" cap="none" strike="noStrike">
              <a:solidFill>
                <a:srgbClr val="FFFFFF"/>
              </a:solidFill>
              <a:latin typeface="Arial"/>
              <a:ea typeface="Arial"/>
              <a:cs typeface="Arial"/>
              <a:sym typeface="Arial"/>
            </a:endParaRPr>
          </a:p>
        </p:txBody>
      </p:sp>
      <p:sp>
        <p:nvSpPr>
          <p:cNvPr id="385" name="Google Shape;385;p47"/>
          <p:cNvSpPr txBox="1"/>
          <p:nvPr/>
        </p:nvSpPr>
        <p:spPr>
          <a:xfrm>
            <a:off x="1312607" y="2783495"/>
            <a:ext cx="6205118" cy="236000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92852"/>
                </a:solidFill>
                <a:latin typeface="Arial"/>
                <a:ea typeface="Arial"/>
                <a:cs typeface="Arial"/>
                <a:sym typeface="Arial"/>
              </a:rPr>
              <a:t>Puede instalar Neo4j en Windows descargando y extrayendo un archivo ZIP, ejecutándolo como un servicio de Windows o utilizando el módulo Windows PowerShell</a:t>
            </a:r>
            <a:endParaRPr/>
          </a:p>
          <a:p>
            <a:pPr indent="0" lvl="0" marL="0" marR="0" rtl="0" algn="l">
              <a:lnSpc>
                <a:spcPct val="152000"/>
              </a:lnSpc>
              <a:spcBef>
                <a:spcPts val="0"/>
              </a:spcBef>
              <a:spcAft>
                <a:spcPts val="0"/>
              </a:spcAft>
              <a:buClr>
                <a:srgbClr val="000000"/>
              </a:buClr>
              <a:buSzPts val="1800"/>
              <a:buFont typeface="Arial"/>
              <a:buNone/>
            </a:pPr>
            <a:r>
              <a:t/>
            </a:r>
            <a:endParaRPr b="0" i="0" sz="1800" u="none" cap="none" strike="noStrike">
              <a:solidFill>
                <a:srgbClr val="092852"/>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92852"/>
                </a:solidFill>
                <a:latin typeface="Arial"/>
                <a:ea typeface="Arial"/>
                <a:cs typeface="Arial"/>
                <a:sym typeface="Arial"/>
              </a:rPr>
              <a:t>Descargue la versión Neo4j Desktop de Windows desde </a:t>
            </a:r>
            <a:r>
              <a:rPr b="0" i="0" lang="en-US" sz="1800" u="sng" cap="none" strike="noStrike">
                <a:solidFill>
                  <a:srgbClr val="092852"/>
                </a:solidFill>
                <a:latin typeface="Arial"/>
                <a:ea typeface="Arial"/>
                <a:cs typeface="Arial"/>
                <a:sym typeface="Arial"/>
                <a:hlinkClick r:id="rId4">
                  <a:extLst>
                    <a:ext uri="{A12FA001-AC4F-418D-AE19-62706E023703}">
                      <ahyp:hlinkClr val="tx"/>
                    </a:ext>
                  </a:extLst>
                </a:hlinkClick>
              </a:rPr>
              <a:t>el Centro de implementación de Neo4j</a:t>
            </a:r>
            <a:r>
              <a:rPr b="0" i="0" lang="en-US" sz="1800" u="none" cap="none" strike="noStrike">
                <a:solidFill>
                  <a:srgbClr val="092852"/>
                </a:solidFill>
                <a:latin typeface="Arial"/>
                <a:ea typeface="Arial"/>
                <a:cs typeface="Arial"/>
                <a:sym typeface="Arial"/>
              </a:rPr>
              <a:t> .</a:t>
            </a:r>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92852"/>
                </a:solidFill>
                <a:latin typeface="Arial"/>
                <a:ea typeface="Arial"/>
                <a:cs typeface="Arial"/>
                <a:sym typeface="Arial"/>
              </a:rPr>
              <a:t>Continuar el proceso con el instalador.</a:t>
            </a:r>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92852"/>
                </a:solidFill>
                <a:latin typeface="Arial"/>
                <a:ea typeface="Arial"/>
                <a:cs typeface="Arial"/>
                <a:sym typeface="Arial"/>
              </a:rPr>
              <a:t>Conectarse a una instancia</a:t>
            </a:r>
            <a:endParaRPr/>
          </a:p>
        </p:txBody>
      </p:sp>
      <p:pic>
        <p:nvPicPr>
          <p:cNvPr descr="Interfaz de usuario gráfica, Aplicación&#10;&#10;El contenido generado por IA puede ser incorrecto." id="386" name="Google Shape;386;p47"/>
          <p:cNvPicPr preferRelativeResize="0"/>
          <p:nvPr/>
        </p:nvPicPr>
        <p:blipFill rotWithShape="1">
          <a:blip r:embed="rId5">
            <a:alphaModFix/>
          </a:blip>
          <a:srcRect b="0" l="0" r="0" t="0"/>
          <a:stretch/>
        </p:blipFill>
        <p:spPr>
          <a:xfrm>
            <a:off x="1001712" y="5830092"/>
            <a:ext cx="7636970" cy="2104539"/>
          </a:xfrm>
          <a:prstGeom prst="rect">
            <a:avLst/>
          </a:prstGeom>
          <a:noFill/>
          <a:ln>
            <a:noFill/>
          </a:ln>
          <a:effectLst>
            <a:outerShdw blurRad="63500" sx="102000" rotWithShape="0" algn="ctr" sy="102000">
              <a:srgbClr val="000000">
                <a:alpha val="4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2852"/>
        </a:solidFill>
      </p:bgPr>
    </p:bg>
    <p:spTree>
      <p:nvGrpSpPr>
        <p:cNvPr id="390" name="Shape 390"/>
        <p:cNvGrpSpPr/>
        <p:nvPr/>
      </p:nvGrpSpPr>
      <p:grpSpPr>
        <a:xfrm>
          <a:off x="0" y="0"/>
          <a:ext cx="0" cy="0"/>
          <a:chOff x="0" y="0"/>
          <a:chExt cx="0" cy="0"/>
        </a:xfrm>
      </p:grpSpPr>
      <p:sp>
        <p:nvSpPr>
          <p:cNvPr id="391" name="Google Shape;391;p48"/>
          <p:cNvSpPr txBox="1"/>
          <p:nvPr/>
        </p:nvSpPr>
        <p:spPr>
          <a:xfrm>
            <a:off x="5481642" y="3855388"/>
            <a:ext cx="7324716" cy="1795492"/>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4167"/>
              <a:buFont typeface="Arial"/>
              <a:buNone/>
            </a:pPr>
            <a:r>
              <a:rPr b="1" i="0" lang="en-US" sz="4167" u="none" cap="none" strike="noStrike">
                <a:solidFill>
                  <a:srgbClr val="FFFFFF"/>
                </a:solidFill>
                <a:latin typeface="Arial"/>
                <a:ea typeface="Arial"/>
                <a:cs typeface="Arial"/>
                <a:sym typeface="Arial"/>
              </a:rPr>
              <a:t>Modelado básico de datos en Neo4j.</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2852"/>
        </a:solidFill>
      </p:bgPr>
    </p:bg>
    <p:spTree>
      <p:nvGrpSpPr>
        <p:cNvPr id="395" name="Shape 395"/>
        <p:cNvGrpSpPr/>
        <p:nvPr/>
      </p:nvGrpSpPr>
      <p:grpSpPr>
        <a:xfrm>
          <a:off x="0" y="0"/>
          <a:ext cx="0" cy="0"/>
          <a:chOff x="0" y="0"/>
          <a:chExt cx="0" cy="0"/>
        </a:xfrm>
      </p:grpSpPr>
      <p:sp>
        <p:nvSpPr>
          <p:cNvPr id="396" name="Google Shape;396;p49"/>
          <p:cNvSpPr txBox="1"/>
          <p:nvPr/>
        </p:nvSpPr>
        <p:spPr>
          <a:xfrm>
            <a:off x="5481642" y="3855388"/>
            <a:ext cx="7324716" cy="2693238"/>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4167"/>
              <a:buFont typeface="Arial"/>
              <a:buNone/>
            </a:pPr>
            <a:r>
              <a:rPr b="1" i="0" lang="en-US" sz="4167" u="none" cap="none" strike="noStrike">
                <a:solidFill>
                  <a:srgbClr val="FFFFFF"/>
                </a:solidFill>
                <a:latin typeface="Arial"/>
                <a:ea typeface="Arial"/>
                <a:cs typeface="Arial"/>
                <a:sym typeface="Arial"/>
              </a:rPr>
              <a:t>Introducción a Cypher, el lenguaje de consultas de Neo4j.</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2852"/>
        </a:solidFill>
      </p:bgPr>
    </p:bg>
    <p:spTree>
      <p:nvGrpSpPr>
        <p:cNvPr id="400" name="Shape 400"/>
        <p:cNvGrpSpPr/>
        <p:nvPr/>
      </p:nvGrpSpPr>
      <p:grpSpPr>
        <a:xfrm>
          <a:off x="0" y="0"/>
          <a:ext cx="0" cy="0"/>
          <a:chOff x="0" y="0"/>
          <a:chExt cx="0" cy="0"/>
        </a:xfrm>
      </p:grpSpPr>
      <p:sp>
        <p:nvSpPr>
          <p:cNvPr id="401" name="Google Shape;401;p21"/>
          <p:cNvSpPr txBox="1"/>
          <p:nvPr/>
        </p:nvSpPr>
        <p:spPr>
          <a:xfrm>
            <a:off x="5481642" y="4741027"/>
            <a:ext cx="7324716" cy="719222"/>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4167"/>
              <a:buFont typeface="Arial"/>
              <a:buNone/>
            </a:pPr>
            <a:r>
              <a:rPr b="1" i="0" lang="en-US" sz="4167" u="none" cap="none" strike="noStrike">
                <a:solidFill>
                  <a:srgbClr val="FFFFFF"/>
                </a:solidFill>
                <a:latin typeface="Arial"/>
                <a:ea typeface="Arial"/>
                <a:cs typeface="Arial"/>
                <a:sym typeface="Arial"/>
              </a:rPr>
              <a:t>MUCHAS GRACIAS!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