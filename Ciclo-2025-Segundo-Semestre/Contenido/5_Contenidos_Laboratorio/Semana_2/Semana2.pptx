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y="10287000" cx="18288000"/>
  <p:notesSz cx="6858000" cy="9144000"/>
  <p:embeddedFontLst>
    <p:embeddedFont>
      <p:font typeface="Lobster"/>
      <p:regular r:id="rId36"/>
    </p:embeddedFont>
    <p:embeddedFont>
      <p:font typeface="Pacifico"/>
      <p:regular r:id="rId37"/>
    </p:embeddedFont>
    <p:embeddedFont>
      <p:font typeface="DM Sans"/>
      <p:regular r:id="rId38"/>
      <p:bold r:id="rId39"/>
      <p:italic r:id="rId40"/>
      <p:boldItalic r:id="rId41"/>
    </p:embeddedFont>
    <p:embeddedFont>
      <p:font typeface="Open Sans"/>
      <p:regular r:id="rId42"/>
      <p:bold r:id="rId43"/>
      <p:italic r:id="rId44"/>
      <p:boldItalic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6" roundtripDataSignature="AMtx7mh2lKynSTd/TiCj+MHuFromasxIT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2ED1157-09C8-47B0-9555-5C5715805245}">
  <a:tblStyle styleId="{C2ED1157-09C8-47B0-9555-5C5715805245}"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E7C221E5-2292-45AF-BF6C-6698CA895631}"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DMSans-italic.fntdata"/><Relationship Id="rId20" Type="http://schemas.openxmlformats.org/officeDocument/2006/relationships/slide" Target="slides/slide14.xml"/><Relationship Id="rId42" Type="http://schemas.openxmlformats.org/officeDocument/2006/relationships/font" Target="fonts/OpenSans-regular.fntdata"/><Relationship Id="rId41" Type="http://schemas.openxmlformats.org/officeDocument/2006/relationships/font" Target="fonts/DMSans-boldItalic.fntdata"/><Relationship Id="rId22" Type="http://schemas.openxmlformats.org/officeDocument/2006/relationships/slide" Target="slides/slide16.xml"/><Relationship Id="rId44" Type="http://schemas.openxmlformats.org/officeDocument/2006/relationships/font" Target="fonts/OpenSans-italic.fntdata"/><Relationship Id="rId21" Type="http://schemas.openxmlformats.org/officeDocument/2006/relationships/slide" Target="slides/slide15.xml"/><Relationship Id="rId43" Type="http://schemas.openxmlformats.org/officeDocument/2006/relationships/font" Target="fonts/OpenSans-bold.fntdata"/><Relationship Id="rId24" Type="http://schemas.openxmlformats.org/officeDocument/2006/relationships/slide" Target="slides/slide18.xml"/><Relationship Id="rId46" Type="http://customschemas.google.com/relationships/presentationmetadata" Target="metadata"/><Relationship Id="rId23" Type="http://schemas.openxmlformats.org/officeDocument/2006/relationships/slide" Target="slides/slide17.xml"/><Relationship Id="rId45" Type="http://schemas.openxmlformats.org/officeDocument/2006/relationships/font" Target="fonts/OpenSans-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Pacifico-regular.fntdata"/><Relationship Id="rId14" Type="http://schemas.openxmlformats.org/officeDocument/2006/relationships/slide" Target="slides/slide8.xml"/><Relationship Id="rId36" Type="http://schemas.openxmlformats.org/officeDocument/2006/relationships/font" Target="fonts/Lobster-regular.fntdata"/><Relationship Id="rId17" Type="http://schemas.openxmlformats.org/officeDocument/2006/relationships/slide" Target="slides/slide11.xml"/><Relationship Id="rId39" Type="http://schemas.openxmlformats.org/officeDocument/2006/relationships/font" Target="fonts/DMSans-bold.fntdata"/><Relationship Id="rId16" Type="http://schemas.openxmlformats.org/officeDocument/2006/relationships/slide" Target="slides/slide10.xml"/><Relationship Id="rId38" Type="http://schemas.openxmlformats.org/officeDocument/2006/relationships/font" Target="fonts/DMSans-regular.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33: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6" name="Google Shape;86;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 name="Google Shape;94;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5" name="Google Shape;105;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7" name="Google Shape;117;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4" name="Google Shape;12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3" name="Google Shape;133;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1" name="Google Shape;141;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9" name="Google Shape;149;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7" name="Google Shape;157;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1" name="Google Shape;171;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5" name="Google Shape;185;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3" name="Google Shape;193;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2" name="Google Shape;202;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1" name="Google Shape;211;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9" name="Google Shape;219;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8" name="Google Shape;228;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6" name="Google Shape;236;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5" name="Google Shape;245;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4" name="Google Shape;254;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3" name="Google Shape;263;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2" name="Google Shape;272;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1" name="Google Shape;281;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7" name="Google Shape;287;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4" name="Google Shape;294;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1" name="Google Shape;301;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7" name="Google Shape;307;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3" name="Google Shape;313;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4" name="Google Shape;324;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0" name="Google Shape;330;p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 name="Shape 15"/>
        <p:cNvGrpSpPr/>
        <p:nvPr/>
      </p:nvGrpSpPr>
      <p:grpSpPr>
        <a:xfrm>
          <a:off x="0" y="0"/>
          <a:ext cx="0" cy="0"/>
          <a:chOff x="0" y="0"/>
          <a:chExt cx="0" cy="0"/>
        </a:xfrm>
      </p:grpSpPr>
      <p:sp>
        <p:nvSpPr>
          <p:cNvPr id="16" name="Google Shape;16;p44"/>
          <p:cNvSpPr txBox="1"/>
          <p:nvPr>
            <p:ph type="title"/>
          </p:nvPr>
        </p:nvSpPr>
        <p:spPr>
          <a:xfrm>
            <a:off x="623400" y="890050"/>
            <a:ext cx="17041200" cy="11454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17" name="Google Shape;17;p44"/>
          <p:cNvSpPr txBox="1"/>
          <p:nvPr>
            <p:ph idx="1" type="body"/>
          </p:nvPr>
        </p:nvSpPr>
        <p:spPr>
          <a:xfrm>
            <a:off x="623400" y="2304950"/>
            <a:ext cx="17041200" cy="6832800"/>
          </a:xfrm>
          <a:prstGeom prst="rect">
            <a:avLst/>
          </a:prstGeom>
          <a:noFill/>
          <a:ln>
            <a:noFill/>
          </a:ln>
        </p:spPr>
        <p:txBody>
          <a:bodyPr anchorCtr="0" anchor="t" bIns="182850" lIns="182850" spcFirstLastPara="1" rIns="182850" wrap="square" tIns="182850">
            <a:normAutofit/>
          </a:bodyPr>
          <a:lstStyle>
            <a:lvl1pPr indent="-457200" lvl="0" marL="457200" algn="l">
              <a:lnSpc>
                <a:spcPct val="115000"/>
              </a:lnSpc>
              <a:spcBef>
                <a:spcPts val="0"/>
              </a:spcBef>
              <a:spcAft>
                <a:spcPts val="0"/>
              </a:spcAft>
              <a:buSzPts val="3600"/>
              <a:buChar char="●"/>
              <a:defRPr/>
            </a:lvl1pPr>
            <a:lvl2pPr indent="-406400" lvl="1" marL="914400" algn="l">
              <a:lnSpc>
                <a:spcPct val="115000"/>
              </a:lnSpc>
              <a:spcBef>
                <a:spcPts val="0"/>
              </a:spcBef>
              <a:spcAft>
                <a:spcPts val="0"/>
              </a:spcAft>
              <a:buSzPts val="2800"/>
              <a:buChar char="○"/>
              <a:defRPr/>
            </a:lvl2pPr>
            <a:lvl3pPr indent="-406400" lvl="2" marL="1371600" algn="l">
              <a:lnSpc>
                <a:spcPct val="115000"/>
              </a:lnSpc>
              <a:spcBef>
                <a:spcPts val="0"/>
              </a:spcBef>
              <a:spcAft>
                <a:spcPts val="0"/>
              </a:spcAft>
              <a:buSzPts val="2800"/>
              <a:buChar char="■"/>
              <a:defRPr/>
            </a:lvl3pPr>
            <a:lvl4pPr indent="-406400" lvl="3" marL="1828800" algn="l">
              <a:lnSpc>
                <a:spcPct val="115000"/>
              </a:lnSpc>
              <a:spcBef>
                <a:spcPts val="0"/>
              </a:spcBef>
              <a:spcAft>
                <a:spcPts val="0"/>
              </a:spcAft>
              <a:buSzPts val="2800"/>
              <a:buChar char="●"/>
              <a:defRPr/>
            </a:lvl4pPr>
            <a:lvl5pPr indent="-406400" lvl="4" marL="2286000" algn="l">
              <a:lnSpc>
                <a:spcPct val="115000"/>
              </a:lnSpc>
              <a:spcBef>
                <a:spcPts val="0"/>
              </a:spcBef>
              <a:spcAft>
                <a:spcPts val="0"/>
              </a:spcAft>
              <a:buSzPts val="2800"/>
              <a:buChar char="○"/>
              <a:defRPr/>
            </a:lvl5pPr>
            <a:lvl6pPr indent="-406400" lvl="5" marL="2743200" algn="l">
              <a:lnSpc>
                <a:spcPct val="115000"/>
              </a:lnSpc>
              <a:spcBef>
                <a:spcPts val="0"/>
              </a:spcBef>
              <a:spcAft>
                <a:spcPts val="0"/>
              </a:spcAft>
              <a:buSzPts val="2800"/>
              <a:buChar char="■"/>
              <a:defRPr/>
            </a:lvl6pPr>
            <a:lvl7pPr indent="-406400" lvl="6" marL="3200400" algn="l">
              <a:lnSpc>
                <a:spcPct val="115000"/>
              </a:lnSpc>
              <a:spcBef>
                <a:spcPts val="0"/>
              </a:spcBef>
              <a:spcAft>
                <a:spcPts val="0"/>
              </a:spcAft>
              <a:buSzPts val="2800"/>
              <a:buChar char="●"/>
              <a:defRPr/>
            </a:lvl7pPr>
            <a:lvl8pPr indent="-406400" lvl="7" marL="3657600" algn="l">
              <a:lnSpc>
                <a:spcPct val="115000"/>
              </a:lnSpc>
              <a:spcBef>
                <a:spcPts val="0"/>
              </a:spcBef>
              <a:spcAft>
                <a:spcPts val="0"/>
              </a:spcAft>
              <a:buSzPts val="2800"/>
              <a:buChar char="○"/>
              <a:defRPr/>
            </a:lvl8pPr>
            <a:lvl9pPr indent="-406400" lvl="8" marL="4114800" algn="l">
              <a:lnSpc>
                <a:spcPct val="115000"/>
              </a:lnSpc>
              <a:spcBef>
                <a:spcPts val="0"/>
              </a:spcBef>
              <a:spcAft>
                <a:spcPts val="0"/>
              </a:spcAft>
              <a:buSzPts val="2800"/>
              <a:buChar char="■"/>
              <a:defRPr/>
            </a:lvl9pPr>
          </a:lstStyle>
          <a:p/>
        </p:txBody>
      </p:sp>
      <p:sp>
        <p:nvSpPr>
          <p:cNvPr id="18" name="Google Shape;18;p44"/>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2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2" name="Google Shape;22;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2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 name="Google Shape;28;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2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2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4" name="Google Shape;34;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0" name="Google Shape;40;p2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1" name="Google Shape;41;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7" name="Google Shape;47;p2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8" name="Google Shape;48;p2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9" name="Google Shape;49;p2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0" name="Google Shape;50;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3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0"/>
          <p:cNvSpPr/>
          <p:nvPr>
            <p:ph idx="2" type="pic"/>
          </p:nvPr>
        </p:nvSpPr>
        <p:spPr>
          <a:xfrm>
            <a:off x="1792288" y="612775"/>
            <a:ext cx="5486400" cy="4114800"/>
          </a:xfrm>
          <a:prstGeom prst="rect">
            <a:avLst/>
          </a:prstGeom>
          <a:noFill/>
          <a:ln>
            <a:noFill/>
          </a:ln>
        </p:spPr>
      </p:sp>
      <p:sp>
        <p:nvSpPr>
          <p:cNvPr id="68" name="Google Shape;68;p3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3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3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2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5.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5.pn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5.pn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5.png"/><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5.png"/><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5.png"/><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5.png"/><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4.png"/><Relationship Id="rId4" Type="http://schemas.openxmlformats.org/officeDocument/2006/relationships/hyperlink" Target="https://www.freecodecamp.org/espanol/news/normalizacion-de-base-de-datos-formas-normales-1nf-2nf-3nf-ejemplos-de-tablas/" TargetMode="External"/><Relationship Id="rId5" Type="http://schemas.openxmlformats.org/officeDocument/2006/relationships/hyperlink" Target="https://www.datacamp.com/es/tutorial/sql-stored-procedure"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p33"/>
          <p:cNvPicPr preferRelativeResize="0"/>
          <p:nvPr/>
        </p:nvPicPr>
        <p:blipFill rotWithShape="1">
          <a:blip r:embed="rId3">
            <a:alphaModFix/>
          </a:blip>
          <a:srcRect b="0" l="0" r="0" t="0"/>
          <a:stretch/>
        </p:blipFill>
        <p:spPr>
          <a:xfrm>
            <a:off x="0" y="0"/>
            <a:ext cx="18288000" cy="10287003"/>
          </a:xfrm>
          <a:prstGeom prst="rect">
            <a:avLst/>
          </a:prstGeom>
          <a:noFill/>
          <a:ln>
            <a:noFill/>
          </a:ln>
        </p:spPr>
      </p:pic>
      <p:sp>
        <p:nvSpPr>
          <p:cNvPr id="89" name="Google Shape;89;p33"/>
          <p:cNvSpPr/>
          <p:nvPr/>
        </p:nvSpPr>
        <p:spPr>
          <a:xfrm>
            <a:off x="3598050" y="5988675"/>
            <a:ext cx="7365000" cy="7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600"/>
              <a:buFont typeface="Arial"/>
              <a:buNone/>
            </a:pPr>
            <a:r>
              <a:rPr b="0" i="0" lang="en-US" sz="2600" u="none" cap="none" strike="noStrike">
                <a:solidFill>
                  <a:srgbClr val="000000"/>
                </a:solidFill>
                <a:latin typeface="Calibri"/>
                <a:ea typeface="Calibri"/>
                <a:cs typeface="Calibri"/>
                <a:sym typeface="Calibri"/>
              </a:rPr>
              <a:t>NOMBRE DEL TUTOR</a:t>
            </a:r>
            <a:endParaRPr b="0" i="0" sz="2600" u="none" cap="none" strike="noStrike">
              <a:solidFill>
                <a:srgbClr val="000000"/>
              </a:solidFill>
              <a:latin typeface="Calibri"/>
              <a:ea typeface="Calibri"/>
              <a:cs typeface="Calibri"/>
              <a:sym typeface="Calibri"/>
            </a:endParaRPr>
          </a:p>
        </p:txBody>
      </p:sp>
      <p:sp>
        <p:nvSpPr>
          <p:cNvPr id="90" name="Google Shape;90;p33"/>
          <p:cNvSpPr/>
          <p:nvPr/>
        </p:nvSpPr>
        <p:spPr>
          <a:xfrm>
            <a:off x="3090925" y="4781250"/>
            <a:ext cx="10142100" cy="7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100"/>
              <a:buFont typeface="Arial"/>
              <a:buNone/>
            </a:pPr>
            <a:r>
              <a:rPr b="0" i="0" lang="en-US" sz="3100" u="none" cap="none" strike="noStrike">
                <a:solidFill>
                  <a:srgbClr val="000000"/>
                </a:solidFill>
                <a:latin typeface="Calibri"/>
                <a:ea typeface="Calibri"/>
                <a:cs typeface="Calibri"/>
                <a:sym typeface="Calibri"/>
              </a:rPr>
              <a:t>SISTEMAS DE BASES DE DATOS 2 </a:t>
            </a:r>
            <a:endParaRPr b="0" i="0" sz="3100" u="none" cap="none" strike="noStrike">
              <a:solidFill>
                <a:srgbClr val="000000"/>
              </a:solidFill>
              <a:latin typeface="Calibri"/>
              <a:ea typeface="Calibri"/>
              <a:cs typeface="Calibri"/>
              <a:sym typeface="Calibri"/>
            </a:endParaRPr>
          </a:p>
        </p:txBody>
      </p:sp>
      <p:sp>
        <p:nvSpPr>
          <p:cNvPr id="91" name="Google Shape;91;p33"/>
          <p:cNvSpPr/>
          <p:nvPr/>
        </p:nvSpPr>
        <p:spPr>
          <a:xfrm>
            <a:off x="15565479" y="2125642"/>
            <a:ext cx="1904374" cy="400989"/>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600"/>
              <a:buFont typeface="Arial"/>
              <a:buNone/>
            </a:pPr>
            <a:r>
              <a:rPr b="0" i="0" lang="en-US" sz="2600" u="none" cap="none" strike="noStrike">
                <a:solidFill>
                  <a:srgbClr val="000000"/>
                </a:solidFill>
                <a:latin typeface="Calibri"/>
                <a:ea typeface="Calibri"/>
                <a:cs typeface="Calibri"/>
                <a:sym typeface="Calibri"/>
              </a:rPr>
              <a:t>0/0/26</a:t>
            </a:r>
            <a:endParaRPr b="0" i="0" sz="2600" u="none" cap="none" strike="noStrike">
              <a:solidFill>
                <a:srgbClr val="000000"/>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34"/>
          <p:cNvSpPr txBox="1"/>
          <p:nvPr/>
        </p:nvSpPr>
        <p:spPr>
          <a:xfrm>
            <a:off x="890248" y="7555025"/>
            <a:ext cx="9336593" cy="1077218"/>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5000"/>
              <a:buFont typeface="Arial"/>
              <a:buNone/>
            </a:pPr>
            <a:r>
              <a:rPr b="1" i="0" lang="en-US" sz="5000" u="none" cap="none" strike="noStrike">
                <a:solidFill>
                  <a:srgbClr val="131416"/>
                </a:solidFill>
                <a:latin typeface="Open Sans"/>
                <a:ea typeface="Open Sans"/>
                <a:cs typeface="Open Sans"/>
                <a:sym typeface="Open Sans"/>
              </a:rPr>
              <a:t>Sistema de Bases de datos 2</a:t>
            </a:r>
            <a:endParaRPr b="1" i="0" sz="5000" u="none" cap="none" strike="noStrike">
              <a:solidFill>
                <a:srgbClr val="131416"/>
              </a:solidFill>
              <a:latin typeface="Open Sans"/>
              <a:ea typeface="Open Sans"/>
              <a:cs typeface="Open Sans"/>
              <a:sym typeface="Open Sans"/>
            </a:endParaRPr>
          </a:p>
        </p:txBody>
      </p:sp>
      <p:sp>
        <p:nvSpPr>
          <p:cNvPr id="97" name="Google Shape;97;p34"/>
          <p:cNvSpPr txBox="1"/>
          <p:nvPr/>
        </p:nvSpPr>
        <p:spPr>
          <a:xfrm>
            <a:off x="1063303" y="8745251"/>
            <a:ext cx="6981379" cy="422275"/>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Escuela de Ingenieria de Ciencias Y Sistemas</a:t>
            </a:r>
            <a:endParaRPr b="1" i="0" sz="2499" u="none" cap="none" strike="noStrike">
              <a:solidFill>
                <a:srgbClr val="131416"/>
              </a:solidFill>
              <a:latin typeface="Open Sans"/>
              <a:ea typeface="Open Sans"/>
              <a:cs typeface="Open Sans"/>
              <a:sym typeface="Open Sans"/>
            </a:endParaRPr>
          </a:p>
        </p:txBody>
      </p:sp>
      <p:sp>
        <p:nvSpPr>
          <p:cNvPr id="98" name="Google Shape;98;p34"/>
          <p:cNvSpPr txBox="1"/>
          <p:nvPr/>
        </p:nvSpPr>
        <p:spPr>
          <a:xfrm>
            <a:off x="1028700" y="9210675"/>
            <a:ext cx="6667500" cy="422275"/>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Facultad de Ingenieria</a:t>
            </a:r>
            <a:endParaRPr b="1" i="0" sz="2499" u="none" cap="none" strike="noStrike">
              <a:solidFill>
                <a:srgbClr val="131416"/>
              </a:solidFill>
              <a:latin typeface="Open Sans"/>
              <a:ea typeface="Open Sans"/>
              <a:cs typeface="Open Sans"/>
              <a:sym typeface="Open Sans"/>
            </a:endParaRPr>
          </a:p>
        </p:txBody>
      </p:sp>
      <p:sp>
        <p:nvSpPr>
          <p:cNvPr id="99" name="Google Shape;99;p34"/>
          <p:cNvSpPr txBox="1"/>
          <p:nvPr/>
        </p:nvSpPr>
        <p:spPr>
          <a:xfrm>
            <a:off x="228600" y="9588254"/>
            <a:ext cx="8115300" cy="419346"/>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Universidad de San Carlos de Guatemala</a:t>
            </a:r>
            <a:endParaRPr b="0" i="0" sz="1400" u="none" cap="none" strike="noStrike">
              <a:solidFill>
                <a:srgbClr val="000000"/>
              </a:solidFill>
              <a:latin typeface="Arial"/>
              <a:ea typeface="Arial"/>
              <a:cs typeface="Arial"/>
              <a:sym typeface="Arial"/>
            </a:endParaRPr>
          </a:p>
        </p:txBody>
      </p:sp>
      <p:pic>
        <p:nvPicPr>
          <p:cNvPr id="100" name="Google Shape;100;p34"/>
          <p:cNvPicPr preferRelativeResize="0"/>
          <p:nvPr/>
        </p:nvPicPr>
        <p:blipFill rotWithShape="1">
          <a:blip r:embed="rId3">
            <a:alphaModFix/>
          </a:blip>
          <a:srcRect b="0" l="0" r="0" t="0"/>
          <a:stretch/>
        </p:blipFill>
        <p:spPr>
          <a:xfrm>
            <a:off x="8044675" y="0"/>
            <a:ext cx="10243325" cy="1067013"/>
          </a:xfrm>
          <a:prstGeom prst="rect">
            <a:avLst/>
          </a:prstGeom>
          <a:noFill/>
          <a:ln>
            <a:noFill/>
          </a:ln>
        </p:spPr>
      </p:pic>
      <p:sp>
        <p:nvSpPr>
          <p:cNvPr id="101" name="Google Shape;101;p34"/>
          <p:cNvSpPr txBox="1"/>
          <p:nvPr/>
        </p:nvSpPr>
        <p:spPr>
          <a:xfrm>
            <a:off x="5392842" y="3876258"/>
            <a:ext cx="12895158" cy="2254143"/>
          </a:xfrm>
          <a:prstGeom prst="rect">
            <a:avLst/>
          </a:prstGeom>
          <a:noFill/>
          <a:ln>
            <a:noFill/>
          </a:ln>
        </p:spPr>
        <p:txBody>
          <a:bodyPr anchorCtr="0" anchor="t" bIns="0" lIns="0" spcFirstLastPara="1" rIns="0" wrap="square" tIns="0">
            <a:spAutoFit/>
          </a:bodyPr>
          <a:lstStyle/>
          <a:p>
            <a:pPr indent="0" lvl="0" marL="0" marR="0" rtl="0" algn="l">
              <a:lnSpc>
                <a:spcPct val="140007"/>
              </a:lnSpc>
              <a:spcBef>
                <a:spcPts val="0"/>
              </a:spcBef>
              <a:spcAft>
                <a:spcPts val="0"/>
              </a:spcAft>
              <a:buClr>
                <a:srgbClr val="000000"/>
              </a:buClr>
              <a:buSzPts val="10463"/>
              <a:buFont typeface="Arial"/>
              <a:buNone/>
            </a:pPr>
            <a:r>
              <a:rPr b="0" i="0" lang="en-US" sz="10463" u="none" cap="none" strike="noStrike">
                <a:solidFill>
                  <a:srgbClr val="343434"/>
                </a:solidFill>
                <a:latin typeface="Arial"/>
                <a:ea typeface="Arial"/>
                <a:cs typeface="Arial"/>
                <a:sym typeface="Arial"/>
              </a:rPr>
              <a:t>Repaso de</a:t>
            </a:r>
            <a:r>
              <a:rPr b="0" i="0" lang="en-US" sz="1400" u="none" cap="none" strike="noStrike">
                <a:solidFill>
                  <a:srgbClr val="000000"/>
                </a:solidFill>
                <a:latin typeface="Arial"/>
                <a:ea typeface="Arial"/>
                <a:cs typeface="Arial"/>
                <a:sym typeface="Arial"/>
              </a:rPr>
              <a:t> </a:t>
            </a:r>
            <a:r>
              <a:rPr b="0" i="0" lang="en-US" sz="10463" u="none" cap="none" strike="noStrike">
                <a:solidFill>
                  <a:srgbClr val="343434"/>
                </a:solidFill>
                <a:latin typeface="Arial"/>
                <a:ea typeface="Arial"/>
                <a:cs typeface="Arial"/>
                <a:sym typeface="Arial"/>
              </a:rPr>
              <a:t>SQL</a:t>
            </a:r>
            <a:endParaRPr b="0" i="0" sz="1400" u="none" cap="none" strike="noStrike">
              <a:solidFill>
                <a:srgbClr val="000000"/>
              </a:solidFill>
              <a:latin typeface="Arial"/>
              <a:ea typeface="Arial"/>
              <a:cs typeface="Arial"/>
              <a:sym typeface="Arial"/>
            </a:endParaRPr>
          </a:p>
        </p:txBody>
      </p:sp>
      <p:sp>
        <p:nvSpPr>
          <p:cNvPr id="102" name="Google Shape;102;p34"/>
          <p:cNvSpPr txBox="1"/>
          <p:nvPr/>
        </p:nvSpPr>
        <p:spPr>
          <a:xfrm>
            <a:off x="5686960" y="1654757"/>
            <a:ext cx="9904619" cy="2392562"/>
          </a:xfrm>
          <a:prstGeom prst="rect">
            <a:avLst/>
          </a:prstGeom>
          <a:noFill/>
          <a:ln>
            <a:noFill/>
          </a:ln>
        </p:spPr>
        <p:txBody>
          <a:bodyPr anchorCtr="0" anchor="t" bIns="0" lIns="0" spcFirstLastPara="1" rIns="0" wrap="square" tIns="0">
            <a:spAutoFit/>
          </a:bodyPr>
          <a:lstStyle/>
          <a:p>
            <a:pPr indent="0" lvl="0" marL="0" marR="0" rtl="0" algn="l">
              <a:lnSpc>
                <a:spcPct val="139998"/>
              </a:lnSpc>
              <a:spcBef>
                <a:spcPts val="0"/>
              </a:spcBef>
              <a:spcAft>
                <a:spcPts val="0"/>
              </a:spcAft>
              <a:buClr>
                <a:srgbClr val="000000"/>
              </a:buClr>
              <a:buSzPts val="12013"/>
              <a:buFont typeface="Arial"/>
              <a:buNone/>
            </a:pPr>
            <a:r>
              <a:rPr b="1" i="0" lang="en-US" sz="12013" u="none" cap="none" strike="noStrike">
                <a:solidFill>
                  <a:srgbClr val="343434"/>
                </a:solidFill>
                <a:latin typeface="Arial"/>
                <a:ea typeface="Arial"/>
                <a:cs typeface="Arial"/>
                <a:sym typeface="Arial"/>
              </a:rPr>
              <a:t>SEMANA 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5EC"/>
        </a:solidFill>
      </p:bgPr>
    </p:bg>
    <p:spTree>
      <p:nvGrpSpPr>
        <p:cNvPr id="106" name="Shape 106"/>
        <p:cNvGrpSpPr/>
        <p:nvPr/>
      </p:nvGrpSpPr>
      <p:grpSpPr>
        <a:xfrm>
          <a:off x="0" y="0"/>
          <a:ext cx="0" cy="0"/>
          <a:chOff x="0" y="0"/>
          <a:chExt cx="0" cy="0"/>
        </a:xfrm>
      </p:grpSpPr>
      <p:sp>
        <p:nvSpPr>
          <p:cNvPr id="107" name="Google Shape;107;p2"/>
          <p:cNvSpPr/>
          <p:nvPr/>
        </p:nvSpPr>
        <p:spPr>
          <a:xfrm>
            <a:off x="-485035" y="-4485535"/>
            <a:ext cx="19258069" cy="19258069"/>
          </a:xfrm>
          <a:custGeom>
            <a:rect b="b" l="l" r="r" t="t"/>
            <a:pathLst>
              <a:path extrusionOk="0" h="19258069" w="19258069">
                <a:moveTo>
                  <a:pt x="0" y="0"/>
                </a:moveTo>
                <a:lnTo>
                  <a:pt x="19258070" y="0"/>
                </a:lnTo>
                <a:lnTo>
                  <a:pt x="19258070" y="19258070"/>
                </a:lnTo>
                <a:lnTo>
                  <a:pt x="0" y="19258070"/>
                </a:lnTo>
                <a:lnTo>
                  <a:pt x="0" y="0"/>
                </a:lnTo>
                <a:close/>
              </a:path>
            </a:pathLst>
          </a:custGeom>
          <a:blipFill rotWithShape="1">
            <a:blip r:embed="rId3">
              <a:alphaModFix amt="4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8" name="Google Shape;108;p2"/>
          <p:cNvSpPr txBox="1"/>
          <p:nvPr/>
        </p:nvSpPr>
        <p:spPr>
          <a:xfrm>
            <a:off x="1136587" y="2831568"/>
            <a:ext cx="9102810" cy="3804819"/>
          </a:xfrm>
          <a:prstGeom prst="rect">
            <a:avLst/>
          </a:prstGeom>
          <a:noFill/>
          <a:ln>
            <a:noFill/>
          </a:ln>
        </p:spPr>
        <p:txBody>
          <a:bodyPr anchorCtr="0" anchor="t" bIns="0" lIns="0" spcFirstLastPara="1" rIns="0" wrap="square" tIns="0">
            <a:spAutoFit/>
          </a:bodyPr>
          <a:lstStyle/>
          <a:p>
            <a:pPr indent="-318807" lvl="1" marL="637617" marR="0" rtl="0" algn="l">
              <a:lnSpc>
                <a:spcPct val="128987"/>
              </a:lnSpc>
              <a:spcBef>
                <a:spcPts val="0"/>
              </a:spcBef>
              <a:spcAft>
                <a:spcPts val="0"/>
              </a:spcAft>
              <a:buClr>
                <a:srgbClr val="343434"/>
              </a:buClr>
              <a:buSzPts val="2953"/>
              <a:buFont typeface="Arial"/>
              <a:buChar char="•"/>
            </a:pPr>
            <a:r>
              <a:rPr b="0" i="0" lang="en-US" sz="2953" u="none" cap="none" strike="noStrike">
                <a:solidFill>
                  <a:srgbClr val="343434"/>
                </a:solidFill>
                <a:latin typeface="DM Sans"/>
                <a:ea typeface="DM Sans"/>
                <a:cs typeface="DM Sans"/>
                <a:sym typeface="DM Sans"/>
              </a:rPr>
              <a:t>Breve repaso de los conceptos fundamentales: tablas, claves primarias y foráneas, consultas básicas.</a:t>
            </a:r>
            <a:endParaRPr b="0" i="0" sz="1400" u="none" cap="none" strike="noStrike">
              <a:solidFill>
                <a:srgbClr val="000000"/>
              </a:solidFill>
              <a:latin typeface="Arial"/>
              <a:ea typeface="Arial"/>
              <a:cs typeface="Arial"/>
              <a:sym typeface="Arial"/>
            </a:endParaRPr>
          </a:p>
          <a:p>
            <a:pPr indent="-318807" lvl="1" marL="637617" marR="0" rtl="0" algn="l">
              <a:lnSpc>
                <a:spcPct val="128987"/>
              </a:lnSpc>
              <a:spcBef>
                <a:spcPts val="0"/>
              </a:spcBef>
              <a:spcAft>
                <a:spcPts val="0"/>
              </a:spcAft>
              <a:buClr>
                <a:srgbClr val="343434"/>
              </a:buClr>
              <a:buSzPts val="2953"/>
              <a:buFont typeface="Arial"/>
              <a:buChar char="•"/>
            </a:pPr>
            <a:r>
              <a:rPr b="0" i="0" lang="en-US" sz="2953" u="none" cap="none" strike="noStrike">
                <a:solidFill>
                  <a:srgbClr val="343434"/>
                </a:solidFill>
                <a:latin typeface="DM Sans"/>
                <a:ea typeface="DM Sans"/>
                <a:cs typeface="DM Sans"/>
                <a:sym typeface="DM Sans"/>
              </a:rPr>
              <a:t>Principios básicos de normalización (1FN, 2FN, 3FN). Importancia de evitar redundancias. </a:t>
            </a:r>
            <a:endParaRPr b="0" i="0" sz="1400" u="none" cap="none" strike="noStrike">
              <a:solidFill>
                <a:srgbClr val="000000"/>
              </a:solidFill>
              <a:latin typeface="Arial"/>
              <a:ea typeface="Arial"/>
              <a:cs typeface="Arial"/>
              <a:sym typeface="Arial"/>
            </a:endParaRPr>
          </a:p>
          <a:p>
            <a:pPr indent="-318807" lvl="1" marL="637617" marR="0" rtl="0" algn="l">
              <a:lnSpc>
                <a:spcPct val="128987"/>
              </a:lnSpc>
              <a:spcBef>
                <a:spcPts val="0"/>
              </a:spcBef>
              <a:spcAft>
                <a:spcPts val="0"/>
              </a:spcAft>
              <a:buClr>
                <a:srgbClr val="343434"/>
              </a:buClr>
              <a:buSzPts val="2953"/>
              <a:buFont typeface="Arial"/>
              <a:buChar char="•"/>
            </a:pPr>
            <a:r>
              <a:rPr b="0" i="0" lang="en-US" sz="2953" u="none" cap="none" strike="noStrike">
                <a:solidFill>
                  <a:srgbClr val="343434"/>
                </a:solidFill>
                <a:latin typeface="DM Sans"/>
                <a:ea typeface="DM Sans"/>
                <a:cs typeface="DM Sans"/>
                <a:sym typeface="DM Sans"/>
              </a:rPr>
              <a:t>Introducción a las funciones SQL más comunes (ej. COUNT, SUM, AVG). </a:t>
            </a:r>
            <a:endParaRPr b="0" i="0" sz="1400" u="none" cap="none" strike="noStrike">
              <a:solidFill>
                <a:srgbClr val="000000"/>
              </a:solidFill>
              <a:latin typeface="Arial"/>
              <a:ea typeface="Arial"/>
              <a:cs typeface="Arial"/>
              <a:sym typeface="Arial"/>
            </a:endParaRPr>
          </a:p>
          <a:p>
            <a:pPr indent="-318807" lvl="1" marL="637617" marR="0" rtl="0" algn="l">
              <a:lnSpc>
                <a:spcPct val="128987"/>
              </a:lnSpc>
              <a:spcBef>
                <a:spcPts val="0"/>
              </a:spcBef>
              <a:spcAft>
                <a:spcPts val="0"/>
              </a:spcAft>
              <a:buClr>
                <a:srgbClr val="343434"/>
              </a:buClr>
              <a:buSzPts val="2953"/>
              <a:buFont typeface="Arial"/>
              <a:buChar char="•"/>
            </a:pPr>
            <a:r>
              <a:rPr b="0" i="0" lang="en-US" sz="2953" u="none" cap="none" strike="noStrike">
                <a:solidFill>
                  <a:srgbClr val="343434"/>
                </a:solidFill>
                <a:latin typeface="DM Sans"/>
                <a:ea typeface="DM Sans"/>
                <a:cs typeface="DM Sans"/>
                <a:sym typeface="DM Sans"/>
              </a:rPr>
              <a:t>Procesos básicos en SQL (procedimientos almacenados).</a:t>
            </a:r>
            <a:endParaRPr b="0" i="0" sz="1400" u="none" cap="none" strike="noStrike">
              <a:solidFill>
                <a:srgbClr val="000000"/>
              </a:solidFill>
              <a:latin typeface="Arial"/>
              <a:ea typeface="Arial"/>
              <a:cs typeface="Arial"/>
              <a:sym typeface="Arial"/>
            </a:endParaRPr>
          </a:p>
        </p:txBody>
      </p:sp>
      <p:sp>
        <p:nvSpPr>
          <p:cNvPr id="109" name="Google Shape;109;p2"/>
          <p:cNvSpPr/>
          <p:nvPr/>
        </p:nvSpPr>
        <p:spPr>
          <a:xfrm>
            <a:off x="683229" y="2831568"/>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0" name="Google Shape;110;p2"/>
          <p:cNvSpPr/>
          <p:nvPr/>
        </p:nvSpPr>
        <p:spPr>
          <a:xfrm>
            <a:off x="683229" y="4593405"/>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1" name="Google Shape;111;p2"/>
          <p:cNvSpPr/>
          <p:nvPr/>
        </p:nvSpPr>
        <p:spPr>
          <a:xfrm>
            <a:off x="683229" y="5757224"/>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2" name="Google Shape;112;p2"/>
          <p:cNvSpPr/>
          <p:nvPr/>
        </p:nvSpPr>
        <p:spPr>
          <a:xfrm>
            <a:off x="640721" y="6905339"/>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3" name="Google Shape;113;p2"/>
          <p:cNvSpPr txBox="1"/>
          <p:nvPr/>
        </p:nvSpPr>
        <p:spPr>
          <a:xfrm>
            <a:off x="10900074" y="238503"/>
            <a:ext cx="8416800" cy="2308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0"/>
              <a:buFont typeface="Arial"/>
              <a:buNone/>
            </a:pPr>
            <a:r>
              <a:rPr b="0" i="0" lang="en-US" sz="15000" u="none" cap="none" strike="noStrike">
                <a:solidFill>
                  <a:srgbClr val="131416"/>
                </a:solidFill>
                <a:latin typeface="Lobster"/>
                <a:ea typeface="Lobster"/>
                <a:cs typeface="Lobster"/>
                <a:sym typeface="Lobster"/>
              </a:rPr>
              <a:t>Recursos</a:t>
            </a:r>
            <a:endParaRPr b="0" i="0" sz="1400" u="none" cap="none" strike="noStrike">
              <a:solidFill>
                <a:srgbClr val="000000"/>
              </a:solidFill>
              <a:latin typeface="Lobster"/>
              <a:ea typeface="Lobster"/>
              <a:cs typeface="Lobster"/>
              <a:sym typeface="Lobster"/>
            </a:endParaRPr>
          </a:p>
        </p:txBody>
      </p:sp>
      <p:sp>
        <p:nvSpPr>
          <p:cNvPr id="114" name="Google Shape;114;p2"/>
          <p:cNvSpPr txBox="1"/>
          <p:nvPr/>
        </p:nvSpPr>
        <p:spPr>
          <a:xfrm>
            <a:off x="1338554" y="335159"/>
            <a:ext cx="7541290" cy="2212144"/>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0"/>
              <a:buFont typeface="Arial"/>
              <a:buNone/>
            </a:pPr>
            <a:r>
              <a:rPr b="0" i="0" lang="en-US" sz="12500" u="none" cap="none" strike="noStrike">
                <a:solidFill>
                  <a:srgbClr val="131416"/>
                </a:solidFill>
                <a:latin typeface="Pacifico"/>
                <a:ea typeface="Pacifico"/>
                <a:cs typeface="Pacifico"/>
                <a:sym typeface="Pacifico"/>
              </a:rPr>
              <a:t>Agenda</a:t>
            </a:r>
            <a:endParaRPr b="0" i="0" sz="1200" u="none" cap="none" strike="noStrike">
              <a:solidFill>
                <a:srgbClr val="000000"/>
              </a:solidFill>
              <a:latin typeface="Pacifico"/>
              <a:ea typeface="Pacifico"/>
              <a:cs typeface="Pacifico"/>
              <a:sym typeface="Pacific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35"/>
          <p:cNvSpPr txBox="1"/>
          <p:nvPr/>
        </p:nvSpPr>
        <p:spPr>
          <a:xfrm>
            <a:off x="1374889" y="654364"/>
            <a:ext cx="139911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COMPETENCIA(S) QUE DESARROLLAREMOS</a:t>
            </a:r>
            <a:endParaRPr b="0" i="0" sz="1400" u="none" cap="none" strike="noStrike">
              <a:solidFill>
                <a:srgbClr val="000000"/>
              </a:solidFill>
              <a:latin typeface="Impact"/>
              <a:ea typeface="Impact"/>
              <a:cs typeface="Impact"/>
              <a:sym typeface="Impact"/>
            </a:endParaRPr>
          </a:p>
        </p:txBody>
      </p:sp>
      <p:sp>
        <p:nvSpPr>
          <p:cNvPr id="120" name="Google Shape;120;p35"/>
          <p:cNvSpPr txBox="1"/>
          <p:nvPr/>
        </p:nvSpPr>
        <p:spPr>
          <a:xfrm>
            <a:off x="5234360" y="3497296"/>
            <a:ext cx="12748840" cy="4739759"/>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None/>
            </a:pPr>
            <a:r>
              <a:rPr b="1" i="0" lang="en-US" sz="4400" u="none" cap="none" strike="noStrike">
                <a:solidFill>
                  <a:srgbClr val="131416"/>
                </a:solidFill>
                <a:latin typeface="Open Sans"/>
                <a:ea typeface="Open Sans"/>
                <a:cs typeface="Open Sans"/>
                <a:sym typeface="Open Sans"/>
              </a:rPr>
              <a:t>Implementa técnicas de modelado y normalización de bases de datos para optimizar la estructura de almacenamiento de información garantizando la integridad y consistencia de los datos </a:t>
            </a:r>
            <a:endParaRPr b="0" i="0" sz="1100" u="none" cap="none" strike="noStrike">
              <a:solidFill>
                <a:srgbClr val="000000"/>
              </a:solidFill>
              <a:latin typeface="Arial"/>
              <a:ea typeface="Arial"/>
              <a:cs typeface="Arial"/>
              <a:sym typeface="Arial"/>
            </a:endParaRPr>
          </a:p>
        </p:txBody>
      </p:sp>
      <p:pic>
        <p:nvPicPr>
          <p:cNvPr id="121" name="Google Shape;121;p35" title="Gemini_Generated_Image_sfb0qdsfb0qdsfb0.png"/>
          <p:cNvPicPr preferRelativeResize="0"/>
          <p:nvPr/>
        </p:nvPicPr>
        <p:blipFill rotWithShape="1">
          <a:blip r:embed="rId3">
            <a:alphaModFix/>
          </a:blip>
          <a:srcRect b="0" l="0" r="0" t="0"/>
          <a:stretch/>
        </p:blipFill>
        <p:spPr>
          <a:xfrm>
            <a:off x="0" y="3113989"/>
            <a:ext cx="5234360" cy="717301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5EC"/>
        </a:solidFill>
      </p:bgPr>
    </p:bg>
    <p:spTree>
      <p:nvGrpSpPr>
        <p:cNvPr id="125" name="Shape 125"/>
        <p:cNvGrpSpPr/>
        <p:nvPr/>
      </p:nvGrpSpPr>
      <p:grpSpPr>
        <a:xfrm>
          <a:off x="0" y="0"/>
          <a:ext cx="0" cy="0"/>
          <a:chOff x="0" y="0"/>
          <a:chExt cx="0" cy="0"/>
        </a:xfrm>
      </p:grpSpPr>
      <p:sp>
        <p:nvSpPr>
          <p:cNvPr id="126" name="Google Shape;126;p3"/>
          <p:cNvSpPr/>
          <p:nvPr/>
        </p:nvSpPr>
        <p:spPr>
          <a:xfrm>
            <a:off x="-485035" y="-4485535"/>
            <a:ext cx="19258069" cy="19258069"/>
          </a:xfrm>
          <a:custGeom>
            <a:rect b="b" l="l" r="r" t="t"/>
            <a:pathLst>
              <a:path extrusionOk="0" h="19258069" w="19258069">
                <a:moveTo>
                  <a:pt x="0" y="0"/>
                </a:moveTo>
                <a:lnTo>
                  <a:pt x="19258070" y="0"/>
                </a:lnTo>
                <a:lnTo>
                  <a:pt x="19258070" y="19258070"/>
                </a:lnTo>
                <a:lnTo>
                  <a:pt x="0" y="19258070"/>
                </a:lnTo>
                <a:lnTo>
                  <a:pt x="0" y="0"/>
                </a:lnTo>
                <a:close/>
              </a:path>
            </a:pathLst>
          </a:custGeom>
          <a:blipFill rotWithShape="1">
            <a:blip r:embed="rId3">
              <a:alphaModFix amt="4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7" name="Google Shape;127;p3"/>
          <p:cNvSpPr txBox="1"/>
          <p:nvPr/>
        </p:nvSpPr>
        <p:spPr>
          <a:xfrm>
            <a:off x="2342130" y="1184350"/>
            <a:ext cx="12941400" cy="10929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7100"/>
              <a:buFont typeface="Arial"/>
              <a:buNone/>
            </a:pPr>
            <a:r>
              <a:rPr b="1" i="0" lang="en-US" sz="7100" u="none" cap="none" strike="noStrike">
                <a:solidFill>
                  <a:srgbClr val="343434"/>
                </a:solidFill>
                <a:latin typeface="Arial"/>
                <a:ea typeface="Arial"/>
                <a:cs typeface="Arial"/>
                <a:sym typeface="Arial"/>
              </a:rPr>
              <a:t>Conceptos básicos</a:t>
            </a:r>
            <a:endParaRPr b="0" i="0" sz="1400" u="none" cap="none" strike="noStrike">
              <a:solidFill>
                <a:srgbClr val="000000"/>
              </a:solidFill>
              <a:latin typeface="Arial"/>
              <a:ea typeface="Arial"/>
              <a:cs typeface="Arial"/>
              <a:sym typeface="Arial"/>
            </a:endParaRPr>
          </a:p>
        </p:txBody>
      </p:sp>
      <p:sp>
        <p:nvSpPr>
          <p:cNvPr id="128" name="Google Shape;128;p3"/>
          <p:cNvSpPr txBox="1"/>
          <p:nvPr/>
        </p:nvSpPr>
        <p:spPr>
          <a:xfrm>
            <a:off x="787336" y="544666"/>
            <a:ext cx="6472196" cy="300846"/>
          </a:xfrm>
          <a:prstGeom prst="rect">
            <a:avLst/>
          </a:prstGeom>
          <a:noFill/>
          <a:ln>
            <a:noFill/>
          </a:ln>
        </p:spPr>
        <p:txBody>
          <a:bodyPr anchorCtr="0" anchor="t" bIns="0" lIns="0" spcFirstLastPara="1" rIns="0" wrap="square" tIns="0">
            <a:spAutoFit/>
          </a:bodyPr>
          <a:lstStyle/>
          <a:p>
            <a:pPr indent="0" lvl="0" marL="0" marR="0" rtl="0" algn="l">
              <a:lnSpc>
                <a:spcPct val="100998"/>
              </a:lnSpc>
              <a:spcBef>
                <a:spcPts val="0"/>
              </a:spcBef>
              <a:spcAft>
                <a:spcPts val="0"/>
              </a:spcAft>
              <a:buClr>
                <a:srgbClr val="000000"/>
              </a:buClr>
              <a:buSzPts val="2204"/>
              <a:buFont typeface="Arial"/>
              <a:buNone/>
            </a:pPr>
            <a:r>
              <a:rPr b="1" i="0" lang="en-US" sz="2204" u="none" cap="none" strike="noStrike">
                <a:solidFill>
                  <a:srgbClr val="343434"/>
                </a:solidFill>
                <a:latin typeface="DM Sans"/>
                <a:ea typeface="DM Sans"/>
                <a:cs typeface="DM Sans"/>
                <a:sym typeface="DM Sans"/>
              </a:rPr>
              <a:t>SISTEMAS DE BASES DE DATOS 2</a:t>
            </a:r>
            <a:endParaRPr b="0" i="0" sz="1400" u="none" cap="none" strike="noStrike">
              <a:solidFill>
                <a:srgbClr val="000000"/>
              </a:solidFill>
              <a:latin typeface="Arial"/>
              <a:ea typeface="Arial"/>
              <a:cs typeface="Arial"/>
              <a:sym typeface="Arial"/>
            </a:endParaRPr>
          </a:p>
        </p:txBody>
      </p:sp>
      <p:sp>
        <p:nvSpPr>
          <p:cNvPr id="129" name="Google Shape;129;p3"/>
          <p:cNvSpPr txBox="1"/>
          <p:nvPr/>
        </p:nvSpPr>
        <p:spPr>
          <a:xfrm>
            <a:off x="787336" y="3376717"/>
            <a:ext cx="8039444" cy="4366260"/>
          </a:xfrm>
          <a:prstGeom prst="rect">
            <a:avLst/>
          </a:prstGeom>
          <a:noFill/>
          <a:ln>
            <a:noFill/>
          </a:ln>
        </p:spPr>
        <p:txBody>
          <a:bodyPr anchorCtr="0" anchor="t" bIns="0" lIns="0" spcFirstLastPara="1" rIns="0" wrap="square" tIns="0">
            <a:spAutoFit/>
          </a:bodyPr>
          <a:lstStyle/>
          <a:p>
            <a:pPr indent="0" lvl="0" marL="0" marR="0" rtl="0" algn="l">
              <a:lnSpc>
                <a:spcPct val="129000"/>
              </a:lnSpc>
              <a:spcBef>
                <a:spcPts val="0"/>
              </a:spcBef>
              <a:spcAft>
                <a:spcPts val="0"/>
              </a:spcAft>
              <a:buClr>
                <a:srgbClr val="000000"/>
              </a:buClr>
              <a:buSzPts val="3000"/>
              <a:buFont typeface="Arial"/>
              <a:buNone/>
            </a:pPr>
            <a:r>
              <a:rPr b="1" i="0" lang="en-US" sz="3000" u="none" cap="none" strike="noStrike">
                <a:solidFill>
                  <a:srgbClr val="343434"/>
                </a:solidFill>
                <a:latin typeface="DM Sans"/>
                <a:ea typeface="DM Sans"/>
                <a:cs typeface="DM Sans"/>
                <a:sym typeface="DM Sans"/>
              </a:rPr>
              <a:t>Tablas</a:t>
            </a:r>
            <a:r>
              <a:rPr b="0" i="0" lang="en-US" sz="3000" u="none" cap="none" strike="noStrike">
                <a:solidFill>
                  <a:srgbClr val="343434"/>
                </a:solidFill>
                <a:latin typeface="DM Sans"/>
                <a:ea typeface="DM Sans"/>
                <a:cs typeface="DM Sans"/>
                <a:sym typeface="DM Sans"/>
              </a:rPr>
              <a:t>:</a:t>
            </a:r>
            <a:endParaRPr b="0" i="0" sz="1400" u="none" cap="none" strike="noStrike">
              <a:solidFill>
                <a:srgbClr val="000000"/>
              </a:solidFill>
              <a:latin typeface="Arial"/>
              <a:ea typeface="Arial"/>
              <a:cs typeface="Arial"/>
              <a:sym typeface="Arial"/>
            </a:endParaRPr>
          </a:p>
          <a:p>
            <a:pPr indent="0" lvl="0" marL="0" marR="0" rtl="0" algn="l">
              <a:lnSpc>
                <a:spcPct val="129000"/>
              </a:lnSpc>
              <a:spcBef>
                <a:spcPts val="0"/>
              </a:spcBef>
              <a:spcAft>
                <a:spcPts val="0"/>
              </a:spcAft>
              <a:buClr>
                <a:srgbClr val="000000"/>
              </a:buClr>
              <a:buSzPts val="3000"/>
              <a:buFont typeface="Arial"/>
              <a:buNone/>
            </a:pPr>
            <a:r>
              <a:rPr b="0" i="0" lang="en-US" sz="3000" u="none" cap="none" strike="noStrike">
                <a:solidFill>
                  <a:srgbClr val="343434"/>
                </a:solidFill>
                <a:latin typeface="DM Sans"/>
                <a:ea typeface="DM Sans"/>
                <a:cs typeface="DM Sans"/>
                <a:sym typeface="DM Sans"/>
              </a:rPr>
              <a:t>Una tabla en una base de datos relacional organiza los datos en filas y columnas</a:t>
            </a:r>
            <a:endParaRPr b="0" i="0" sz="1400" u="none" cap="none" strike="noStrike">
              <a:solidFill>
                <a:srgbClr val="000000"/>
              </a:solidFill>
              <a:latin typeface="Arial"/>
              <a:ea typeface="Arial"/>
              <a:cs typeface="Arial"/>
              <a:sym typeface="Arial"/>
            </a:endParaRPr>
          </a:p>
          <a:p>
            <a:pPr indent="0" lvl="0" marL="0" marR="0" rtl="0" algn="l">
              <a:lnSpc>
                <a:spcPct val="129000"/>
              </a:lnSpc>
              <a:spcBef>
                <a:spcPts val="0"/>
              </a:spcBef>
              <a:spcAft>
                <a:spcPts val="0"/>
              </a:spcAft>
              <a:buClr>
                <a:srgbClr val="000000"/>
              </a:buClr>
              <a:buSzPts val="3000"/>
              <a:buFont typeface="Arial"/>
              <a:buNone/>
            </a:pPr>
            <a:r>
              <a:t/>
            </a:r>
            <a:endParaRPr b="0" i="0" sz="3000" u="none" cap="none" strike="noStrike">
              <a:solidFill>
                <a:srgbClr val="343434"/>
              </a:solidFill>
              <a:latin typeface="DM Sans"/>
              <a:ea typeface="DM Sans"/>
              <a:cs typeface="DM Sans"/>
              <a:sym typeface="DM Sans"/>
            </a:endParaRPr>
          </a:p>
          <a:p>
            <a:pPr indent="-323850" lvl="1" marL="647700" marR="0" rtl="0" algn="l">
              <a:lnSpc>
                <a:spcPct val="129000"/>
              </a:lnSpc>
              <a:spcBef>
                <a:spcPts val="0"/>
              </a:spcBef>
              <a:spcAft>
                <a:spcPts val="0"/>
              </a:spcAft>
              <a:buClr>
                <a:srgbClr val="343434"/>
              </a:buClr>
              <a:buSzPts val="3000"/>
              <a:buFont typeface="Arial"/>
              <a:buChar char="•"/>
            </a:pPr>
            <a:r>
              <a:rPr b="0" i="0" lang="en-US" sz="3000" u="none" cap="none" strike="noStrike">
                <a:solidFill>
                  <a:srgbClr val="343434"/>
                </a:solidFill>
                <a:latin typeface="DM Sans"/>
                <a:ea typeface="DM Sans"/>
                <a:cs typeface="DM Sans"/>
                <a:sym typeface="DM Sans"/>
              </a:rPr>
              <a:t>Filas: Representan registros</a:t>
            </a:r>
            <a:endParaRPr b="0" i="0" sz="1400" u="none" cap="none" strike="noStrike">
              <a:solidFill>
                <a:srgbClr val="000000"/>
              </a:solidFill>
              <a:latin typeface="Arial"/>
              <a:ea typeface="Arial"/>
              <a:cs typeface="Arial"/>
              <a:sym typeface="Arial"/>
            </a:endParaRPr>
          </a:p>
          <a:p>
            <a:pPr indent="0" lvl="0" marL="0" marR="0" rtl="0" algn="l">
              <a:lnSpc>
                <a:spcPct val="129000"/>
              </a:lnSpc>
              <a:spcBef>
                <a:spcPts val="0"/>
              </a:spcBef>
              <a:spcAft>
                <a:spcPts val="0"/>
              </a:spcAft>
              <a:buClr>
                <a:srgbClr val="000000"/>
              </a:buClr>
              <a:buSzPts val="3000"/>
              <a:buFont typeface="Arial"/>
              <a:buNone/>
            </a:pPr>
            <a:r>
              <a:t/>
            </a:r>
            <a:endParaRPr b="0" i="0" sz="3000" u="none" cap="none" strike="noStrike">
              <a:solidFill>
                <a:srgbClr val="343434"/>
              </a:solidFill>
              <a:latin typeface="DM Sans"/>
              <a:ea typeface="DM Sans"/>
              <a:cs typeface="DM Sans"/>
              <a:sym typeface="DM Sans"/>
            </a:endParaRPr>
          </a:p>
          <a:p>
            <a:pPr indent="-323850" lvl="1" marL="647700" marR="0" rtl="0" algn="l">
              <a:lnSpc>
                <a:spcPct val="129000"/>
              </a:lnSpc>
              <a:spcBef>
                <a:spcPts val="0"/>
              </a:spcBef>
              <a:spcAft>
                <a:spcPts val="0"/>
              </a:spcAft>
              <a:buClr>
                <a:srgbClr val="343434"/>
              </a:buClr>
              <a:buSzPts val="3000"/>
              <a:buFont typeface="Arial"/>
              <a:buChar char="•"/>
            </a:pPr>
            <a:r>
              <a:rPr b="0" i="0" lang="en-US" sz="3000" u="none" cap="none" strike="noStrike">
                <a:solidFill>
                  <a:srgbClr val="343434"/>
                </a:solidFill>
                <a:latin typeface="DM Sans"/>
                <a:ea typeface="DM Sans"/>
                <a:cs typeface="DM Sans"/>
                <a:sym typeface="DM Sans"/>
              </a:rPr>
              <a:t>Columnas: Representan atributos o campos de cada registro</a:t>
            </a:r>
            <a:endParaRPr b="0" i="0" sz="1400" u="none" cap="none" strike="noStrike">
              <a:solidFill>
                <a:srgbClr val="000000"/>
              </a:solidFill>
              <a:latin typeface="Arial"/>
              <a:ea typeface="Arial"/>
              <a:cs typeface="Arial"/>
              <a:sym typeface="Arial"/>
            </a:endParaRPr>
          </a:p>
          <a:p>
            <a:pPr indent="0" lvl="0" marL="0" marR="0" rtl="0" algn="l">
              <a:lnSpc>
                <a:spcPct val="129000"/>
              </a:lnSpc>
              <a:spcBef>
                <a:spcPts val="0"/>
              </a:spcBef>
              <a:spcAft>
                <a:spcPts val="0"/>
              </a:spcAft>
              <a:buClr>
                <a:srgbClr val="000000"/>
              </a:buClr>
              <a:buSzPts val="3000"/>
              <a:buFont typeface="Arial"/>
              <a:buNone/>
            </a:pPr>
            <a:r>
              <a:t/>
            </a:r>
            <a:endParaRPr b="0" i="0" sz="3000" u="none" cap="none" strike="noStrike">
              <a:solidFill>
                <a:srgbClr val="343434"/>
              </a:solidFill>
              <a:latin typeface="DM Sans"/>
              <a:ea typeface="DM Sans"/>
              <a:cs typeface="DM Sans"/>
              <a:sym typeface="DM Sans"/>
            </a:endParaRPr>
          </a:p>
        </p:txBody>
      </p:sp>
      <p:sp>
        <p:nvSpPr>
          <p:cNvPr id="130" name="Google Shape;130;p3"/>
          <p:cNvSpPr txBox="1"/>
          <p:nvPr/>
        </p:nvSpPr>
        <p:spPr>
          <a:xfrm>
            <a:off x="9801268" y="2943063"/>
            <a:ext cx="8039444" cy="5823585"/>
          </a:xfrm>
          <a:prstGeom prst="rect">
            <a:avLst/>
          </a:prstGeom>
          <a:noFill/>
          <a:ln>
            <a:noFill/>
          </a:ln>
        </p:spPr>
        <p:txBody>
          <a:bodyPr anchorCtr="0" anchor="t" bIns="0" lIns="0" spcFirstLastPara="1" rIns="0" wrap="square" tIns="0">
            <a:spAutoFit/>
          </a:bodyPr>
          <a:lstStyle/>
          <a:p>
            <a:pPr indent="0" lvl="0" marL="0" marR="0" rtl="0" algn="l">
              <a:lnSpc>
                <a:spcPct val="129000"/>
              </a:lnSpc>
              <a:spcBef>
                <a:spcPts val="0"/>
              </a:spcBef>
              <a:spcAft>
                <a:spcPts val="0"/>
              </a:spcAft>
              <a:buClr>
                <a:srgbClr val="000000"/>
              </a:buClr>
              <a:buSzPts val="3000"/>
              <a:buFont typeface="Arial"/>
              <a:buNone/>
            </a:pPr>
            <a:r>
              <a:rPr b="1" i="0" lang="en-US" sz="3000" u="none" cap="none" strike="noStrike">
                <a:solidFill>
                  <a:srgbClr val="343434"/>
                </a:solidFill>
                <a:latin typeface="DM Sans"/>
                <a:ea typeface="DM Sans"/>
                <a:cs typeface="DM Sans"/>
                <a:sym typeface="DM Sans"/>
              </a:rPr>
              <a:t>Llaves Primarias</a:t>
            </a:r>
            <a:r>
              <a:rPr b="0" i="0" lang="en-US" sz="3000" u="none" cap="none" strike="noStrike">
                <a:solidFill>
                  <a:srgbClr val="343434"/>
                </a:solidFill>
                <a:latin typeface="DM Sans"/>
                <a:ea typeface="DM Sans"/>
                <a:cs typeface="DM Sans"/>
                <a:sym typeface="DM Sans"/>
              </a:rPr>
              <a:t>:</a:t>
            </a:r>
            <a:endParaRPr b="0" i="0" sz="1400" u="none" cap="none" strike="noStrike">
              <a:solidFill>
                <a:srgbClr val="000000"/>
              </a:solidFill>
              <a:latin typeface="Arial"/>
              <a:ea typeface="Arial"/>
              <a:cs typeface="Arial"/>
              <a:sym typeface="Arial"/>
            </a:endParaRPr>
          </a:p>
          <a:p>
            <a:pPr indent="0" lvl="0" marL="0" marR="0" rtl="0" algn="l">
              <a:lnSpc>
                <a:spcPct val="129000"/>
              </a:lnSpc>
              <a:spcBef>
                <a:spcPts val="0"/>
              </a:spcBef>
              <a:spcAft>
                <a:spcPts val="0"/>
              </a:spcAft>
              <a:buClr>
                <a:srgbClr val="000000"/>
              </a:buClr>
              <a:buSzPts val="3000"/>
              <a:buFont typeface="Arial"/>
              <a:buNone/>
            </a:pPr>
            <a:r>
              <a:rPr b="0" i="0" lang="en-US" sz="3000" u="none" cap="none" strike="noStrike">
                <a:solidFill>
                  <a:srgbClr val="343434"/>
                </a:solidFill>
                <a:latin typeface="DM Sans"/>
                <a:ea typeface="DM Sans"/>
                <a:cs typeface="DM Sans"/>
                <a:sym typeface="DM Sans"/>
              </a:rPr>
              <a:t>Es un campo o conjunto de campos que identifican de manera única cada fila de una tabla. Ejemplo:</a:t>
            </a:r>
            <a:endParaRPr b="0" i="0" sz="1400" u="none" cap="none" strike="noStrike">
              <a:solidFill>
                <a:srgbClr val="000000"/>
              </a:solidFill>
              <a:latin typeface="Arial"/>
              <a:ea typeface="Arial"/>
              <a:cs typeface="Arial"/>
              <a:sym typeface="Arial"/>
            </a:endParaRPr>
          </a:p>
          <a:p>
            <a:pPr indent="0" lvl="0" marL="0" marR="0" rtl="0" algn="ctr">
              <a:lnSpc>
                <a:spcPct val="129000"/>
              </a:lnSpc>
              <a:spcBef>
                <a:spcPts val="0"/>
              </a:spcBef>
              <a:spcAft>
                <a:spcPts val="0"/>
              </a:spcAft>
              <a:buClr>
                <a:srgbClr val="000000"/>
              </a:buClr>
              <a:buSzPts val="3000"/>
              <a:buFont typeface="Arial"/>
              <a:buNone/>
            </a:pPr>
            <a:r>
              <a:t/>
            </a:r>
            <a:endParaRPr b="0" i="0" sz="3000" u="none" cap="none" strike="noStrike">
              <a:solidFill>
                <a:srgbClr val="343434"/>
              </a:solidFill>
              <a:latin typeface="DM Sans"/>
              <a:ea typeface="DM Sans"/>
              <a:cs typeface="DM Sans"/>
              <a:sym typeface="DM Sans"/>
            </a:endParaRPr>
          </a:p>
          <a:p>
            <a:pPr indent="0" lvl="0" marL="0" marR="0" rtl="0" algn="l">
              <a:lnSpc>
                <a:spcPct val="129000"/>
              </a:lnSpc>
              <a:spcBef>
                <a:spcPts val="0"/>
              </a:spcBef>
              <a:spcAft>
                <a:spcPts val="0"/>
              </a:spcAft>
              <a:buClr>
                <a:srgbClr val="000000"/>
              </a:buClr>
              <a:buSzPts val="3000"/>
              <a:buFont typeface="Arial"/>
              <a:buNone/>
            </a:pPr>
            <a:r>
              <a:t/>
            </a:r>
            <a:endParaRPr b="0" i="0" sz="3000" u="none" cap="none" strike="noStrike">
              <a:solidFill>
                <a:srgbClr val="343434"/>
              </a:solidFill>
              <a:latin typeface="DM Sans"/>
              <a:ea typeface="DM Sans"/>
              <a:cs typeface="DM Sans"/>
              <a:sym typeface="DM Sans"/>
            </a:endParaRPr>
          </a:p>
          <a:p>
            <a:pPr indent="0" lvl="0" marL="0" marR="0" rtl="0" algn="l">
              <a:lnSpc>
                <a:spcPct val="129000"/>
              </a:lnSpc>
              <a:spcBef>
                <a:spcPts val="0"/>
              </a:spcBef>
              <a:spcAft>
                <a:spcPts val="0"/>
              </a:spcAft>
              <a:buClr>
                <a:srgbClr val="000000"/>
              </a:buClr>
              <a:buSzPts val="3000"/>
              <a:buFont typeface="Arial"/>
              <a:buNone/>
            </a:pPr>
            <a:r>
              <a:rPr b="1" i="0" lang="en-US" sz="3000" u="none" cap="none" strike="noStrike">
                <a:solidFill>
                  <a:srgbClr val="343434"/>
                </a:solidFill>
                <a:latin typeface="DM Sans"/>
                <a:ea typeface="DM Sans"/>
                <a:cs typeface="DM Sans"/>
                <a:sym typeface="DM Sans"/>
              </a:rPr>
              <a:t>Llaves Foráneas</a:t>
            </a:r>
            <a:r>
              <a:rPr b="0" i="0" lang="en-US" sz="3000" u="none" cap="none" strike="noStrike">
                <a:solidFill>
                  <a:srgbClr val="343434"/>
                </a:solidFill>
                <a:latin typeface="DM Sans"/>
                <a:ea typeface="DM Sans"/>
                <a:cs typeface="DM Sans"/>
                <a:sym typeface="DM Sans"/>
              </a:rPr>
              <a:t>:</a:t>
            </a:r>
            <a:endParaRPr b="0" i="0" sz="1400" u="none" cap="none" strike="noStrike">
              <a:solidFill>
                <a:srgbClr val="000000"/>
              </a:solidFill>
              <a:latin typeface="Arial"/>
              <a:ea typeface="Arial"/>
              <a:cs typeface="Arial"/>
              <a:sym typeface="Arial"/>
            </a:endParaRPr>
          </a:p>
          <a:p>
            <a:pPr indent="0" lvl="0" marL="0" marR="0" rtl="0" algn="just">
              <a:lnSpc>
                <a:spcPct val="129000"/>
              </a:lnSpc>
              <a:spcBef>
                <a:spcPts val="0"/>
              </a:spcBef>
              <a:spcAft>
                <a:spcPts val="0"/>
              </a:spcAft>
              <a:buClr>
                <a:srgbClr val="000000"/>
              </a:buClr>
              <a:buSzPts val="3000"/>
              <a:buFont typeface="Arial"/>
              <a:buNone/>
            </a:pPr>
            <a:r>
              <a:rPr b="0" i="0" lang="en-US" sz="3000" u="none" cap="none" strike="noStrike">
                <a:solidFill>
                  <a:srgbClr val="343434"/>
                </a:solidFill>
                <a:latin typeface="DM Sans"/>
                <a:ea typeface="DM Sans"/>
                <a:cs typeface="DM Sans"/>
                <a:sym typeface="DM Sans"/>
              </a:rPr>
              <a:t>Es un campo en una tabla que se utiliza para establecer una relación con la clave primaria de otra tabla</a:t>
            </a:r>
            <a:endParaRPr b="0" i="0" sz="1400" u="none" cap="none" strike="noStrike">
              <a:solidFill>
                <a:srgbClr val="000000"/>
              </a:solidFill>
              <a:latin typeface="Arial"/>
              <a:ea typeface="Arial"/>
              <a:cs typeface="Arial"/>
              <a:sym typeface="Arial"/>
            </a:endParaRPr>
          </a:p>
          <a:p>
            <a:pPr indent="0" lvl="0" marL="0" marR="0" rtl="0" algn="l">
              <a:lnSpc>
                <a:spcPct val="129000"/>
              </a:lnSpc>
              <a:spcBef>
                <a:spcPts val="0"/>
              </a:spcBef>
              <a:spcAft>
                <a:spcPts val="0"/>
              </a:spcAft>
              <a:buClr>
                <a:srgbClr val="000000"/>
              </a:buClr>
              <a:buSzPts val="3000"/>
              <a:buFont typeface="Arial"/>
              <a:buNone/>
            </a:pPr>
            <a:r>
              <a:t/>
            </a:r>
            <a:endParaRPr b="0" i="0" sz="3000" u="none" cap="none" strike="noStrike">
              <a:solidFill>
                <a:srgbClr val="343434"/>
              </a:solidFill>
              <a:latin typeface="DM Sans"/>
              <a:ea typeface="DM Sans"/>
              <a:cs typeface="DM Sans"/>
              <a:sym typeface="DM Sans"/>
            </a:endParaRPr>
          </a:p>
          <a:p>
            <a:pPr indent="0" lvl="0" marL="0" marR="0" rtl="0" algn="l">
              <a:lnSpc>
                <a:spcPct val="129000"/>
              </a:lnSpc>
              <a:spcBef>
                <a:spcPts val="0"/>
              </a:spcBef>
              <a:spcAft>
                <a:spcPts val="0"/>
              </a:spcAft>
              <a:buClr>
                <a:srgbClr val="000000"/>
              </a:buClr>
              <a:buSzPts val="3000"/>
              <a:buFont typeface="Arial"/>
              <a:buNone/>
            </a:pPr>
            <a:r>
              <a:t/>
            </a:r>
            <a:endParaRPr b="0" i="0" sz="3000" u="none" cap="none" strike="noStrike">
              <a:solidFill>
                <a:srgbClr val="343434"/>
              </a:solidFill>
              <a:latin typeface="DM Sans"/>
              <a:ea typeface="DM Sans"/>
              <a:cs typeface="DM Sans"/>
              <a:sym typeface="DM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5EC"/>
        </a:solidFill>
      </p:bgPr>
    </p:bg>
    <p:spTree>
      <p:nvGrpSpPr>
        <p:cNvPr id="134" name="Shape 134"/>
        <p:cNvGrpSpPr/>
        <p:nvPr/>
      </p:nvGrpSpPr>
      <p:grpSpPr>
        <a:xfrm>
          <a:off x="0" y="0"/>
          <a:ext cx="0" cy="0"/>
          <a:chOff x="0" y="0"/>
          <a:chExt cx="0" cy="0"/>
        </a:xfrm>
      </p:grpSpPr>
      <p:sp>
        <p:nvSpPr>
          <p:cNvPr id="135" name="Google Shape;135;p4"/>
          <p:cNvSpPr/>
          <p:nvPr/>
        </p:nvSpPr>
        <p:spPr>
          <a:xfrm>
            <a:off x="-265453" y="-4187531"/>
            <a:ext cx="19258069" cy="19258069"/>
          </a:xfrm>
          <a:custGeom>
            <a:rect b="b" l="l" r="r" t="t"/>
            <a:pathLst>
              <a:path extrusionOk="0" h="19258069" w="19258069">
                <a:moveTo>
                  <a:pt x="0" y="0"/>
                </a:moveTo>
                <a:lnTo>
                  <a:pt x="19258069" y="0"/>
                </a:lnTo>
                <a:lnTo>
                  <a:pt x="19258069" y="19258069"/>
                </a:lnTo>
                <a:lnTo>
                  <a:pt x="0" y="19258069"/>
                </a:lnTo>
                <a:lnTo>
                  <a:pt x="0" y="0"/>
                </a:lnTo>
                <a:close/>
              </a:path>
            </a:pathLst>
          </a:custGeom>
          <a:blipFill rotWithShape="1">
            <a:blip r:embed="rId3">
              <a:alphaModFix amt="4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6" name="Google Shape;136;p4"/>
          <p:cNvSpPr/>
          <p:nvPr/>
        </p:nvSpPr>
        <p:spPr>
          <a:xfrm>
            <a:off x="4201978" y="2555527"/>
            <a:ext cx="9468561" cy="6959598"/>
          </a:xfrm>
          <a:custGeom>
            <a:rect b="b" l="l" r="r" t="t"/>
            <a:pathLst>
              <a:path extrusionOk="0" h="6959598" w="9468561">
                <a:moveTo>
                  <a:pt x="0" y="0"/>
                </a:moveTo>
                <a:lnTo>
                  <a:pt x="9468561" y="0"/>
                </a:lnTo>
                <a:lnTo>
                  <a:pt x="9468561" y="6959598"/>
                </a:lnTo>
                <a:lnTo>
                  <a:pt x="0" y="6959598"/>
                </a:lnTo>
                <a:lnTo>
                  <a:pt x="0" y="0"/>
                </a:lnTo>
                <a:close/>
              </a:path>
            </a:pathLst>
          </a:custGeom>
          <a:blipFill rotWithShape="1">
            <a:blip r:embed="rId4">
              <a:alphaModFix/>
            </a:blip>
            <a:stretch>
              <a:fillRect b="-17977" l="0" r="0" t="-19783"/>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7" name="Google Shape;137;p4"/>
          <p:cNvSpPr txBox="1"/>
          <p:nvPr/>
        </p:nvSpPr>
        <p:spPr>
          <a:xfrm>
            <a:off x="6567395" y="997375"/>
            <a:ext cx="10267500" cy="10929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7100"/>
              <a:buFont typeface="Arial"/>
              <a:buNone/>
            </a:pPr>
            <a:r>
              <a:rPr b="1" i="0" lang="en-US" sz="7100" u="none" cap="none" strike="noStrike">
                <a:solidFill>
                  <a:srgbClr val="343434"/>
                </a:solidFill>
                <a:latin typeface="Arial"/>
                <a:ea typeface="Arial"/>
                <a:cs typeface="Arial"/>
                <a:sym typeface="Arial"/>
              </a:rPr>
              <a:t>SQL básico</a:t>
            </a:r>
            <a:endParaRPr b="0" i="0" sz="1400" u="none" cap="none" strike="noStrike">
              <a:solidFill>
                <a:srgbClr val="000000"/>
              </a:solidFill>
              <a:latin typeface="Arial"/>
              <a:ea typeface="Arial"/>
              <a:cs typeface="Arial"/>
              <a:sym typeface="Arial"/>
            </a:endParaRPr>
          </a:p>
        </p:txBody>
      </p:sp>
      <p:sp>
        <p:nvSpPr>
          <p:cNvPr id="138" name="Google Shape;138;p4"/>
          <p:cNvSpPr txBox="1"/>
          <p:nvPr/>
        </p:nvSpPr>
        <p:spPr>
          <a:xfrm>
            <a:off x="787336" y="555326"/>
            <a:ext cx="6472196" cy="300846"/>
          </a:xfrm>
          <a:prstGeom prst="rect">
            <a:avLst/>
          </a:prstGeom>
          <a:noFill/>
          <a:ln>
            <a:noFill/>
          </a:ln>
        </p:spPr>
        <p:txBody>
          <a:bodyPr anchorCtr="0" anchor="t" bIns="0" lIns="0" spcFirstLastPara="1" rIns="0" wrap="square" tIns="0">
            <a:spAutoFit/>
          </a:bodyPr>
          <a:lstStyle/>
          <a:p>
            <a:pPr indent="0" lvl="0" marL="0" marR="0" rtl="0" algn="l">
              <a:lnSpc>
                <a:spcPct val="100998"/>
              </a:lnSpc>
              <a:spcBef>
                <a:spcPts val="0"/>
              </a:spcBef>
              <a:spcAft>
                <a:spcPts val="0"/>
              </a:spcAft>
              <a:buClr>
                <a:srgbClr val="000000"/>
              </a:buClr>
              <a:buSzPts val="2204"/>
              <a:buFont typeface="Arial"/>
              <a:buNone/>
            </a:pPr>
            <a:r>
              <a:rPr b="1" i="0" lang="en-US" sz="2204" u="none" cap="none" strike="noStrike">
                <a:solidFill>
                  <a:srgbClr val="343434"/>
                </a:solidFill>
                <a:latin typeface="DM Sans"/>
                <a:ea typeface="DM Sans"/>
                <a:cs typeface="DM Sans"/>
                <a:sym typeface="DM Sans"/>
              </a:rPr>
              <a:t>SISTEMAS DE BASES DE DATOS 2</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5EC"/>
        </a:solidFill>
      </p:bgPr>
    </p:bg>
    <p:spTree>
      <p:nvGrpSpPr>
        <p:cNvPr id="142" name="Shape 142"/>
        <p:cNvGrpSpPr/>
        <p:nvPr/>
      </p:nvGrpSpPr>
      <p:grpSpPr>
        <a:xfrm>
          <a:off x="0" y="0"/>
          <a:ext cx="0" cy="0"/>
          <a:chOff x="0" y="0"/>
          <a:chExt cx="0" cy="0"/>
        </a:xfrm>
      </p:grpSpPr>
      <p:sp>
        <p:nvSpPr>
          <p:cNvPr id="143" name="Google Shape;143;p5"/>
          <p:cNvSpPr/>
          <p:nvPr/>
        </p:nvSpPr>
        <p:spPr>
          <a:xfrm>
            <a:off x="-265453" y="-4187531"/>
            <a:ext cx="19258069" cy="19258069"/>
          </a:xfrm>
          <a:custGeom>
            <a:rect b="b" l="l" r="r" t="t"/>
            <a:pathLst>
              <a:path extrusionOk="0" h="19258069" w="19258069">
                <a:moveTo>
                  <a:pt x="0" y="0"/>
                </a:moveTo>
                <a:lnTo>
                  <a:pt x="19258069" y="0"/>
                </a:lnTo>
                <a:lnTo>
                  <a:pt x="19258069" y="19258069"/>
                </a:lnTo>
                <a:lnTo>
                  <a:pt x="0" y="19258069"/>
                </a:lnTo>
                <a:lnTo>
                  <a:pt x="0" y="0"/>
                </a:lnTo>
                <a:close/>
              </a:path>
            </a:pathLst>
          </a:custGeom>
          <a:blipFill rotWithShape="1">
            <a:blip r:embed="rId3">
              <a:alphaModFix amt="4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4" name="Google Shape;144;p5"/>
          <p:cNvSpPr/>
          <p:nvPr/>
        </p:nvSpPr>
        <p:spPr>
          <a:xfrm>
            <a:off x="5294764" y="2279747"/>
            <a:ext cx="7099743" cy="7455390"/>
          </a:xfrm>
          <a:custGeom>
            <a:rect b="b" l="l" r="r" t="t"/>
            <a:pathLst>
              <a:path extrusionOk="0" h="7455390" w="7099743">
                <a:moveTo>
                  <a:pt x="0" y="0"/>
                </a:moveTo>
                <a:lnTo>
                  <a:pt x="7099743" y="0"/>
                </a:lnTo>
                <a:lnTo>
                  <a:pt x="7099743" y="7455391"/>
                </a:lnTo>
                <a:lnTo>
                  <a:pt x="0" y="7455391"/>
                </a:lnTo>
                <a:lnTo>
                  <a:pt x="0" y="0"/>
                </a:lnTo>
                <a:close/>
              </a:path>
            </a:pathLst>
          </a:custGeom>
          <a:blipFill rotWithShape="1">
            <a:blip r:embed="rId4">
              <a:alphaModFix/>
            </a:blip>
            <a:stretch>
              <a:fillRect b="-10877" l="0" r="-22279" t="-7037"/>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5" name="Google Shape;145;p5"/>
          <p:cNvSpPr txBox="1"/>
          <p:nvPr/>
        </p:nvSpPr>
        <p:spPr>
          <a:xfrm>
            <a:off x="5455424" y="771425"/>
            <a:ext cx="11330400" cy="10929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7100"/>
              <a:buFont typeface="Arial"/>
              <a:buNone/>
            </a:pPr>
            <a:r>
              <a:rPr b="1" i="0" lang="en-US" sz="7100" u="none" cap="none" strike="noStrike">
                <a:solidFill>
                  <a:srgbClr val="343434"/>
                </a:solidFill>
                <a:latin typeface="Arial"/>
                <a:ea typeface="Arial"/>
                <a:cs typeface="Arial"/>
                <a:sym typeface="Arial"/>
              </a:rPr>
              <a:t>Consultas básicas</a:t>
            </a:r>
            <a:endParaRPr b="0" i="0" sz="1400" u="none" cap="none" strike="noStrike">
              <a:solidFill>
                <a:srgbClr val="000000"/>
              </a:solidFill>
              <a:latin typeface="Arial"/>
              <a:ea typeface="Arial"/>
              <a:cs typeface="Arial"/>
              <a:sym typeface="Arial"/>
            </a:endParaRPr>
          </a:p>
        </p:txBody>
      </p:sp>
      <p:sp>
        <p:nvSpPr>
          <p:cNvPr id="146" name="Google Shape;146;p5"/>
          <p:cNvSpPr txBox="1"/>
          <p:nvPr/>
        </p:nvSpPr>
        <p:spPr>
          <a:xfrm>
            <a:off x="787336" y="555326"/>
            <a:ext cx="6472196" cy="300846"/>
          </a:xfrm>
          <a:prstGeom prst="rect">
            <a:avLst/>
          </a:prstGeom>
          <a:noFill/>
          <a:ln>
            <a:noFill/>
          </a:ln>
        </p:spPr>
        <p:txBody>
          <a:bodyPr anchorCtr="0" anchor="t" bIns="0" lIns="0" spcFirstLastPara="1" rIns="0" wrap="square" tIns="0">
            <a:spAutoFit/>
          </a:bodyPr>
          <a:lstStyle/>
          <a:p>
            <a:pPr indent="0" lvl="0" marL="0" marR="0" rtl="0" algn="l">
              <a:lnSpc>
                <a:spcPct val="100998"/>
              </a:lnSpc>
              <a:spcBef>
                <a:spcPts val="0"/>
              </a:spcBef>
              <a:spcAft>
                <a:spcPts val="0"/>
              </a:spcAft>
              <a:buClr>
                <a:srgbClr val="000000"/>
              </a:buClr>
              <a:buSzPts val="2204"/>
              <a:buFont typeface="Arial"/>
              <a:buNone/>
            </a:pPr>
            <a:r>
              <a:rPr b="1" i="0" lang="en-US" sz="2204" u="none" cap="none" strike="noStrike">
                <a:solidFill>
                  <a:srgbClr val="343434"/>
                </a:solidFill>
                <a:latin typeface="DM Sans"/>
                <a:ea typeface="DM Sans"/>
                <a:cs typeface="DM Sans"/>
                <a:sym typeface="DM Sans"/>
              </a:rPr>
              <a:t>SISTEMAS DE BASES DE DATOS 2</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5EC"/>
        </a:solidFill>
      </p:bgPr>
    </p:bg>
    <p:spTree>
      <p:nvGrpSpPr>
        <p:cNvPr id="150" name="Shape 150"/>
        <p:cNvGrpSpPr/>
        <p:nvPr/>
      </p:nvGrpSpPr>
      <p:grpSpPr>
        <a:xfrm>
          <a:off x="0" y="0"/>
          <a:ext cx="0" cy="0"/>
          <a:chOff x="0" y="0"/>
          <a:chExt cx="0" cy="0"/>
        </a:xfrm>
      </p:grpSpPr>
      <p:sp>
        <p:nvSpPr>
          <p:cNvPr id="151" name="Google Shape;151;p6"/>
          <p:cNvSpPr/>
          <p:nvPr/>
        </p:nvSpPr>
        <p:spPr>
          <a:xfrm>
            <a:off x="-485035" y="-4485535"/>
            <a:ext cx="19258069" cy="19258069"/>
          </a:xfrm>
          <a:custGeom>
            <a:rect b="b" l="l" r="r" t="t"/>
            <a:pathLst>
              <a:path extrusionOk="0" h="19258069" w="19258069">
                <a:moveTo>
                  <a:pt x="0" y="0"/>
                </a:moveTo>
                <a:lnTo>
                  <a:pt x="19258070" y="0"/>
                </a:lnTo>
                <a:lnTo>
                  <a:pt x="19258070" y="19258070"/>
                </a:lnTo>
                <a:lnTo>
                  <a:pt x="0" y="19258070"/>
                </a:lnTo>
                <a:lnTo>
                  <a:pt x="0" y="0"/>
                </a:lnTo>
                <a:close/>
              </a:path>
            </a:pathLst>
          </a:custGeom>
          <a:blipFill rotWithShape="1">
            <a:blip r:embed="rId3">
              <a:alphaModFix amt="4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2" name="Google Shape;152;p6"/>
          <p:cNvSpPr txBox="1"/>
          <p:nvPr/>
        </p:nvSpPr>
        <p:spPr>
          <a:xfrm>
            <a:off x="5720923" y="1932300"/>
            <a:ext cx="7978800" cy="10929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7100"/>
              <a:buFont typeface="Arial"/>
              <a:buNone/>
            </a:pPr>
            <a:r>
              <a:rPr b="1" i="0" lang="en-US" sz="7100" u="none" cap="none" strike="noStrike">
                <a:solidFill>
                  <a:srgbClr val="343434"/>
                </a:solidFill>
                <a:latin typeface="Arial"/>
                <a:ea typeface="Arial"/>
                <a:cs typeface="Arial"/>
                <a:sym typeface="Arial"/>
              </a:rPr>
              <a:t>Normalización</a:t>
            </a:r>
            <a:endParaRPr b="0" i="0" sz="1400" u="none" cap="none" strike="noStrike">
              <a:solidFill>
                <a:srgbClr val="000000"/>
              </a:solidFill>
              <a:latin typeface="Arial"/>
              <a:ea typeface="Arial"/>
              <a:cs typeface="Arial"/>
              <a:sym typeface="Arial"/>
            </a:endParaRPr>
          </a:p>
        </p:txBody>
      </p:sp>
      <p:sp>
        <p:nvSpPr>
          <p:cNvPr id="153" name="Google Shape;153;p6"/>
          <p:cNvSpPr txBox="1"/>
          <p:nvPr/>
        </p:nvSpPr>
        <p:spPr>
          <a:xfrm>
            <a:off x="809827" y="550672"/>
            <a:ext cx="6472196" cy="300846"/>
          </a:xfrm>
          <a:prstGeom prst="rect">
            <a:avLst/>
          </a:prstGeom>
          <a:noFill/>
          <a:ln>
            <a:noFill/>
          </a:ln>
        </p:spPr>
        <p:txBody>
          <a:bodyPr anchorCtr="0" anchor="t" bIns="0" lIns="0" spcFirstLastPara="1" rIns="0" wrap="square" tIns="0">
            <a:spAutoFit/>
          </a:bodyPr>
          <a:lstStyle/>
          <a:p>
            <a:pPr indent="0" lvl="0" marL="0" marR="0" rtl="0" algn="l">
              <a:lnSpc>
                <a:spcPct val="100998"/>
              </a:lnSpc>
              <a:spcBef>
                <a:spcPts val="0"/>
              </a:spcBef>
              <a:spcAft>
                <a:spcPts val="0"/>
              </a:spcAft>
              <a:buClr>
                <a:srgbClr val="000000"/>
              </a:buClr>
              <a:buSzPts val="2204"/>
              <a:buFont typeface="Arial"/>
              <a:buNone/>
            </a:pPr>
            <a:r>
              <a:rPr b="1" i="0" lang="en-US" sz="2204" u="none" cap="none" strike="noStrike">
                <a:solidFill>
                  <a:srgbClr val="343434"/>
                </a:solidFill>
                <a:latin typeface="DM Sans"/>
                <a:ea typeface="DM Sans"/>
                <a:cs typeface="DM Sans"/>
                <a:sym typeface="DM Sans"/>
              </a:rPr>
              <a:t>SISTEMAS DE BASES DE DATOS 2</a:t>
            </a:r>
            <a:endParaRPr b="0" i="0" sz="1400" u="none" cap="none" strike="noStrike">
              <a:solidFill>
                <a:srgbClr val="000000"/>
              </a:solidFill>
              <a:latin typeface="Arial"/>
              <a:ea typeface="Arial"/>
              <a:cs typeface="Arial"/>
              <a:sym typeface="Arial"/>
            </a:endParaRPr>
          </a:p>
        </p:txBody>
      </p:sp>
      <p:sp>
        <p:nvSpPr>
          <p:cNvPr id="154" name="Google Shape;154;p6"/>
          <p:cNvSpPr txBox="1"/>
          <p:nvPr/>
        </p:nvSpPr>
        <p:spPr>
          <a:xfrm>
            <a:off x="1028700" y="4132695"/>
            <a:ext cx="16585413" cy="1479384"/>
          </a:xfrm>
          <a:prstGeom prst="rect">
            <a:avLst/>
          </a:prstGeom>
          <a:noFill/>
          <a:ln>
            <a:noFill/>
          </a:ln>
        </p:spPr>
        <p:txBody>
          <a:bodyPr anchorCtr="0" anchor="t" bIns="0" lIns="0" spcFirstLastPara="1" rIns="0" wrap="square" tIns="0">
            <a:spAutoFit/>
          </a:bodyPr>
          <a:lstStyle/>
          <a:p>
            <a:pPr indent="0" lvl="0" marL="0" marR="0" rtl="0" algn="just">
              <a:lnSpc>
                <a:spcPct val="128990"/>
              </a:lnSpc>
              <a:spcBef>
                <a:spcPts val="0"/>
              </a:spcBef>
              <a:spcAft>
                <a:spcPts val="0"/>
              </a:spcAft>
              <a:buClr>
                <a:srgbClr val="000000"/>
              </a:buClr>
              <a:buSzPts val="3070"/>
              <a:buFont typeface="Arial"/>
              <a:buNone/>
            </a:pPr>
            <a:r>
              <a:rPr b="0" i="0" lang="en-US" sz="3070" u="none" cap="none" strike="noStrike">
                <a:solidFill>
                  <a:srgbClr val="343434"/>
                </a:solidFill>
                <a:latin typeface="DM Sans"/>
                <a:ea typeface="DM Sans"/>
                <a:cs typeface="DM Sans"/>
                <a:sym typeface="DM Sans"/>
              </a:rPr>
              <a:t>Es el proceso de organizar los datos en una base de datos para evitar redundancias y mejorar la integridad de los datos. Se lleva a cabo dividiendo las tablas grandes en tablas más pequeñas y definiendo relaciones entre ellas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5EC"/>
        </a:solidFill>
      </p:bgPr>
    </p:bg>
    <p:spTree>
      <p:nvGrpSpPr>
        <p:cNvPr id="158" name="Shape 158"/>
        <p:cNvGrpSpPr/>
        <p:nvPr/>
      </p:nvGrpSpPr>
      <p:grpSpPr>
        <a:xfrm>
          <a:off x="0" y="0"/>
          <a:ext cx="0" cy="0"/>
          <a:chOff x="0" y="0"/>
          <a:chExt cx="0" cy="0"/>
        </a:xfrm>
      </p:grpSpPr>
      <p:sp>
        <p:nvSpPr>
          <p:cNvPr id="159" name="Google Shape;159;p7"/>
          <p:cNvSpPr/>
          <p:nvPr/>
        </p:nvSpPr>
        <p:spPr>
          <a:xfrm>
            <a:off x="-485035" y="-4485535"/>
            <a:ext cx="19258069" cy="19258069"/>
          </a:xfrm>
          <a:custGeom>
            <a:rect b="b" l="l" r="r" t="t"/>
            <a:pathLst>
              <a:path extrusionOk="0" h="19258069" w="19258069">
                <a:moveTo>
                  <a:pt x="0" y="0"/>
                </a:moveTo>
                <a:lnTo>
                  <a:pt x="19258070" y="0"/>
                </a:lnTo>
                <a:lnTo>
                  <a:pt x="19258070" y="19258070"/>
                </a:lnTo>
                <a:lnTo>
                  <a:pt x="0" y="19258070"/>
                </a:lnTo>
                <a:lnTo>
                  <a:pt x="0" y="0"/>
                </a:lnTo>
                <a:close/>
              </a:path>
            </a:pathLst>
          </a:custGeom>
          <a:blipFill rotWithShape="1">
            <a:blip r:embed="rId3">
              <a:alphaModFix amt="4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aphicFrame>
        <p:nvGraphicFramePr>
          <p:cNvPr id="160" name="Google Shape;160;p7"/>
          <p:cNvGraphicFramePr/>
          <p:nvPr/>
        </p:nvGraphicFramePr>
        <p:xfrm>
          <a:off x="567207" y="4556435"/>
          <a:ext cx="3000000" cy="3000000"/>
        </p:xfrm>
        <a:graphic>
          <a:graphicData uri="http://schemas.openxmlformats.org/drawingml/2006/table">
            <a:tbl>
              <a:tblPr>
                <a:noFill/>
                <a:tableStyleId>{C2ED1157-09C8-47B0-9555-5C5715805245}</a:tableStyleId>
              </a:tblPr>
              <a:tblGrid>
                <a:gridCol w="717875"/>
                <a:gridCol w="1340400"/>
                <a:gridCol w="4367900"/>
              </a:tblGrid>
              <a:tr h="771525">
                <a:tc>
                  <a:txBody>
                    <a:bodyPr/>
                    <a:lstStyle/>
                    <a:p>
                      <a:pPr indent="0" lvl="0" marL="0" marR="0" rtl="0" algn="ctr">
                        <a:lnSpc>
                          <a:spcPct val="140000"/>
                        </a:lnSpc>
                        <a:spcBef>
                          <a:spcPts val="0"/>
                        </a:spcBef>
                        <a:spcAft>
                          <a:spcPts val="0"/>
                        </a:spcAft>
                        <a:buClr>
                          <a:srgbClr val="000000"/>
                        </a:buClr>
                        <a:buSzPts val="1800"/>
                        <a:buFont typeface="Arial"/>
                        <a:buNone/>
                      </a:pPr>
                      <a:r>
                        <a:rPr b="1" lang="en-US" sz="1800" u="none" cap="none" strike="noStrike">
                          <a:solidFill>
                            <a:srgbClr val="000000"/>
                          </a:solidFill>
                          <a:latin typeface="DM Sans"/>
                          <a:ea typeface="DM Sans"/>
                          <a:cs typeface="DM Sans"/>
                          <a:sym typeface="DM Sans"/>
                        </a:rPr>
                        <a:t>id</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noFill/>
                  </a:tcPr>
                </a:tc>
                <a:tc>
                  <a:txBody>
                    <a:bodyPr/>
                    <a:lstStyle/>
                    <a:p>
                      <a:pPr indent="0" lvl="0" marL="0" marR="0" rtl="0" algn="ctr">
                        <a:lnSpc>
                          <a:spcPct val="140000"/>
                        </a:lnSpc>
                        <a:spcBef>
                          <a:spcPts val="0"/>
                        </a:spcBef>
                        <a:spcAft>
                          <a:spcPts val="0"/>
                        </a:spcAft>
                        <a:buClr>
                          <a:srgbClr val="000000"/>
                        </a:buClr>
                        <a:buSzPts val="1800"/>
                        <a:buFont typeface="Arial"/>
                        <a:buNone/>
                      </a:pPr>
                      <a:r>
                        <a:rPr b="1" lang="en-US" sz="1800" u="none" cap="none" strike="noStrike">
                          <a:solidFill>
                            <a:srgbClr val="000000"/>
                          </a:solidFill>
                          <a:latin typeface="DM Sans"/>
                          <a:ea typeface="DM Sans"/>
                          <a:cs typeface="DM Sans"/>
                          <a:sym typeface="DM Sans"/>
                        </a:rPr>
                        <a:t>nombre</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noFill/>
                  </a:tcPr>
                </a:tc>
                <a:tc>
                  <a:txBody>
                    <a:bodyPr/>
                    <a:lstStyle/>
                    <a:p>
                      <a:pPr indent="0" lvl="0" marL="0" marR="0" rtl="0" algn="ctr">
                        <a:lnSpc>
                          <a:spcPct val="140000"/>
                        </a:lnSpc>
                        <a:spcBef>
                          <a:spcPts val="0"/>
                        </a:spcBef>
                        <a:spcAft>
                          <a:spcPts val="0"/>
                        </a:spcAft>
                        <a:buClr>
                          <a:srgbClr val="000000"/>
                        </a:buClr>
                        <a:buSzPts val="1800"/>
                        <a:buFont typeface="Arial"/>
                        <a:buNone/>
                      </a:pPr>
                      <a:r>
                        <a:rPr b="1" lang="en-US" sz="1800" u="none" cap="none" strike="noStrike">
                          <a:solidFill>
                            <a:srgbClr val="000000"/>
                          </a:solidFill>
                          <a:latin typeface="DM Sans"/>
                          <a:ea typeface="DM Sans"/>
                          <a:cs typeface="DM Sans"/>
                          <a:sym typeface="DM Sans"/>
                        </a:rPr>
                        <a:t>telefonos</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noFill/>
                  </a:tcPr>
                </a:tc>
              </a:tr>
              <a:tr h="771525">
                <a:tc>
                  <a:txBody>
                    <a:bodyPr/>
                    <a:lstStyle/>
                    <a:p>
                      <a:pPr indent="0" lvl="0" marL="0" marR="0" rtl="0" algn="ctr">
                        <a:lnSpc>
                          <a:spcPct val="140000"/>
                        </a:lnSpc>
                        <a:spcBef>
                          <a:spcPts val="0"/>
                        </a:spcBef>
                        <a:spcAft>
                          <a:spcPts val="0"/>
                        </a:spcAft>
                        <a:buClr>
                          <a:srgbClr val="000000"/>
                        </a:buClr>
                        <a:buSzPts val="1800"/>
                        <a:buFont typeface="Arial"/>
                        <a:buNone/>
                      </a:pPr>
                      <a:r>
                        <a:rPr lang="en-US" sz="1800" u="none" cap="none" strike="noStrike">
                          <a:solidFill>
                            <a:srgbClr val="000000"/>
                          </a:solidFill>
                          <a:latin typeface="DM Sans"/>
                          <a:ea typeface="DM Sans"/>
                          <a:cs typeface="DM Sans"/>
                          <a:sym typeface="DM Sans"/>
                        </a:rPr>
                        <a:t>1</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noFill/>
                  </a:tcPr>
                </a:tc>
                <a:tc>
                  <a:txBody>
                    <a:bodyPr/>
                    <a:lstStyle/>
                    <a:p>
                      <a:pPr indent="0" lvl="0" marL="0" marR="0" rtl="0" algn="ctr">
                        <a:lnSpc>
                          <a:spcPct val="140000"/>
                        </a:lnSpc>
                        <a:spcBef>
                          <a:spcPts val="0"/>
                        </a:spcBef>
                        <a:spcAft>
                          <a:spcPts val="0"/>
                        </a:spcAft>
                        <a:buClr>
                          <a:srgbClr val="000000"/>
                        </a:buClr>
                        <a:buSzPts val="1800"/>
                        <a:buFont typeface="Arial"/>
                        <a:buNone/>
                      </a:pPr>
                      <a:r>
                        <a:rPr lang="en-US" sz="1800" u="none" cap="none" strike="noStrike">
                          <a:solidFill>
                            <a:srgbClr val="000000"/>
                          </a:solidFill>
                          <a:latin typeface="DM Sans"/>
                          <a:ea typeface="DM Sans"/>
                          <a:cs typeface="DM Sans"/>
                          <a:sym typeface="DM Sans"/>
                        </a:rPr>
                        <a:t>Juan</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noFill/>
                  </a:tcPr>
                </a:tc>
                <a:tc>
                  <a:txBody>
                    <a:bodyPr/>
                    <a:lstStyle/>
                    <a:p>
                      <a:pPr indent="0" lvl="0" marL="0" marR="0" rtl="0" algn="ctr">
                        <a:lnSpc>
                          <a:spcPct val="140000"/>
                        </a:lnSpc>
                        <a:spcBef>
                          <a:spcPts val="0"/>
                        </a:spcBef>
                        <a:spcAft>
                          <a:spcPts val="0"/>
                        </a:spcAft>
                        <a:buClr>
                          <a:srgbClr val="000000"/>
                        </a:buClr>
                        <a:buSzPts val="1800"/>
                        <a:buFont typeface="Arial"/>
                        <a:buNone/>
                      </a:pPr>
                      <a:r>
                        <a:rPr lang="en-US" sz="1800" u="none" cap="none" strike="noStrike">
                          <a:solidFill>
                            <a:srgbClr val="000000"/>
                          </a:solidFill>
                          <a:latin typeface="DM Sans"/>
                          <a:ea typeface="DM Sans"/>
                          <a:cs typeface="DM Sans"/>
                          <a:sym typeface="DM Sans"/>
                        </a:rPr>
                        <a:t>12345678,98765439</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noFill/>
                  </a:tcPr>
                </a:tc>
              </a:tr>
              <a:tr h="771525">
                <a:tc>
                  <a:txBody>
                    <a:bodyPr/>
                    <a:lstStyle/>
                    <a:p>
                      <a:pPr indent="0" lvl="0" marL="0" marR="0" rtl="0" algn="ctr">
                        <a:lnSpc>
                          <a:spcPct val="140000"/>
                        </a:lnSpc>
                        <a:spcBef>
                          <a:spcPts val="0"/>
                        </a:spcBef>
                        <a:spcAft>
                          <a:spcPts val="0"/>
                        </a:spcAft>
                        <a:buClr>
                          <a:srgbClr val="000000"/>
                        </a:buClr>
                        <a:buSzPts val="1800"/>
                        <a:buFont typeface="Arial"/>
                        <a:buNone/>
                      </a:pPr>
                      <a:r>
                        <a:rPr lang="en-US" sz="1800" u="none" cap="none" strike="noStrike">
                          <a:solidFill>
                            <a:srgbClr val="000000"/>
                          </a:solidFill>
                          <a:latin typeface="DM Sans"/>
                          <a:ea typeface="DM Sans"/>
                          <a:cs typeface="DM Sans"/>
                          <a:sym typeface="DM Sans"/>
                        </a:rPr>
                        <a:t>2</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noFill/>
                  </a:tcPr>
                </a:tc>
                <a:tc>
                  <a:txBody>
                    <a:bodyPr/>
                    <a:lstStyle/>
                    <a:p>
                      <a:pPr indent="0" lvl="0" marL="0" marR="0" rtl="0" algn="ctr">
                        <a:lnSpc>
                          <a:spcPct val="140000"/>
                        </a:lnSpc>
                        <a:spcBef>
                          <a:spcPts val="0"/>
                        </a:spcBef>
                        <a:spcAft>
                          <a:spcPts val="0"/>
                        </a:spcAft>
                        <a:buClr>
                          <a:srgbClr val="000000"/>
                        </a:buClr>
                        <a:buSzPts val="1800"/>
                        <a:buFont typeface="Arial"/>
                        <a:buNone/>
                      </a:pPr>
                      <a:r>
                        <a:rPr lang="en-US" sz="1800" u="none" cap="none" strike="noStrike">
                          <a:solidFill>
                            <a:srgbClr val="000000"/>
                          </a:solidFill>
                          <a:latin typeface="DM Sans"/>
                          <a:ea typeface="DM Sans"/>
                          <a:cs typeface="DM Sans"/>
                          <a:sym typeface="DM Sans"/>
                        </a:rPr>
                        <a:t>Mario</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noFill/>
                  </a:tcPr>
                </a:tc>
                <a:tc>
                  <a:txBody>
                    <a:bodyPr/>
                    <a:lstStyle/>
                    <a:p>
                      <a:pPr indent="0" lvl="0" marL="0" marR="0" rtl="0" algn="ctr">
                        <a:lnSpc>
                          <a:spcPct val="140000"/>
                        </a:lnSpc>
                        <a:spcBef>
                          <a:spcPts val="0"/>
                        </a:spcBef>
                        <a:spcAft>
                          <a:spcPts val="0"/>
                        </a:spcAft>
                        <a:buClr>
                          <a:srgbClr val="000000"/>
                        </a:buClr>
                        <a:buSzPts val="1800"/>
                        <a:buFont typeface="Arial"/>
                        <a:buNone/>
                      </a:pPr>
                      <a:r>
                        <a:rPr lang="en-US" sz="1800" u="none" cap="none" strike="noStrike">
                          <a:solidFill>
                            <a:srgbClr val="000000"/>
                          </a:solidFill>
                          <a:latin typeface="DM Sans"/>
                          <a:ea typeface="DM Sans"/>
                          <a:cs typeface="DM Sans"/>
                          <a:sym typeface="DM Sans"/>
                        </a:rPr>
                        <a:t>12346789,12412535,1231241</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noFill/>
                  </a:tcPr>
                </a:tc>
              </a:tr>
              <a:tr h="771525">
                <a:tc>
                  <a:txBody>
                    <a:bodyPr/>
                    <a:lstStyle/>
                    <a:p>
                      <a:pPr indent="0" lvl="0" marL="0" marR="0" rtl="0" algn="ctr">
                        <a:lnSpc>
                          <a:spcPct val="140000"/>
                        </a:lnSpc>
                        <a:spcBef>
                          <a:spcPts val="0"/>
                        </a:spcBef>
                        <a:spcAft>
                          <a:spcPts val="0"/>
                        </a:spcAft>
                        <a:buClr>
                          <a:srgbClr val="000000"/>
                        </a:buClr>
                        <a:buSzPts val="1800"/>
                        <a:buFont typeface="Arial"/>
                        <a:buNone/>
                      </a:pPr>
                      <a:r>
                        <a:rPr lang="en-US" sz="1800" u="none" cap="none" strike="noStrike">
                          <a:solidFill>
                            <a:srgbClr val="000000"/>
                          </a:solidFill>
                          <a:latin typeface="DM Sans"/>
                          <a:ea typeface="DM Sans"/>
                          <a:cs typeface="DM Sans"/>
                          <a:sym typeface="DM Sans"/>
                        </a:rPr>
                        <a:t>3</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noFill/>
                  </a:tcPr>
                </a:tc>
                <a:tc>
                  <a:txBody>
                    <a:bodyPr/>
                    <a:lstStyle/>
                    <a:p>
                      <a:pPr indent="0" lvl="0" marL="0" marR="0" rtl="0" algn="ctr">
                        <a:lnSpc>
                          <a:spcPct val="140000"/>
                        </a:lnSpc>
                        <a:spcBef>
                          <a:spcPts val="0"/>
                        </a:spcBef>
                        <a:spcAft>
                          <a:spcPts val="0"/>
                        </a:spcAft>
                        <a:buClr>
                          <a:srgbClr val="000000"/>
                        </a:buClr>
                        <a:buSzPts val="1800"/>
                        <a:buFont typeface="Arial"/>
                        <a:buNone/>
                      </a:pPr>
                      <a:r>
                        <a:rPr lang="en-US" sz="1800" u="none" cap="none" strike="noStrike">
                          <a:solidFill>
                            <a:srgbClr val="000000"/>
                          </a:solidFill>
                          <a:latin typeface="DM Sans"/>
                          <a:ea typeface="DM Sans"/>
                          <a:cs typeface="DM Sans"/>
                          <a:sym typeface="DM Sans"/>
                        </a:rPr>
                        <a:t>Carlos</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noFill/>
                  </a:tcPr>
                </a:tc>
                <a:tc>
                  <a:txBody>
                    <a:bodyPr/>
                    <a:lstStyle/>
                    <a:p>
                      <a:pPr indent="0" lvl="0" marL="0" marR="0" rtl="0" algn="ctr">
                        <a:lnSpc>
                          <a:spcPct val="140000"/>
                        </a:lnSpc>
                        <a:spcBef>
                          <a:spcPts val="0"/>
                        </a:spcBef>
                        <a:spcAft>
                          <a:spcPts val="0"/>
                        </a:spcAft>
                        <a:buClr>
                          <a:srgbClr val="000000"/>
                        </a:buClr>
                        <a:buSzPts val="1800"/>
                        <a:buFont typeface="Arial"/>
                        <a:buNone/>
                      </a:pPr>
                      <a:r>
                        <a:rPr lang="en-US" sz="1800" u="none" cap="none" strike="noStrike">
                          <a:solidFill>
                            <a:srgbClr val="000000"/>
                          </a:solidFill>
                          <a:latin typeface="DM Sans"/>
                          <a:ea typeface="DM Sans"/>
                          <a:cs typeface="DM Sans"/>
                          <a:sym typeface="DM Sans"/>
                        </a:rPr>
                        <a:t>12414124,5646456</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noFill/>
                  </a:tcPr>
                </a:tc>
              </a:tr>
            </a:tbl>
          </a:graphicData>
        </a:graphic>
      </p:graphicFrame>
      <p:sp>
        <p:nvSpPr>
          <p:cNvPr id="161" name="Google Shape;161;p7"/>
          <p:cNvSpPr txBox="1"/>
          <p:nvPr/>
        </p:nvSpPr>
        <p:spPr>
          <a:xfrm>
            <a:off x="5740704" y="508625"/>
            <a:ext cx="7959000" cy="10929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7100"/>
              <a:buFont typeface="Arial"/>
              <a:buNone/>
            </a:pPr>
            <a:r>
              <a:rPr b="1" i="0" lang="en-US" sz="7100" u="none" cap="none" strike="noStrike">
                <a:solidFill>
                  <a:srgbClr val="343434"/>
                </a:solidFill>
                <a:latin typeface="Arial"/>
                <a:ea typeface="Arial"/>
                <a:cs typeface="Arial"/>
                <a:sym typeface="Arial"/>
              </a:rPr>
              <a:t>Normalización</a:t>
            </a:r>
            <a:endParaRPr b="0" i="0" sz="1400" u="none" cap="none" strike="noStrike">
              <a:solidFill>
                <a:srgbClr val="000000"/>
              </a:solidFill>
              <a:latin typeface="Arial"/>
              <a:ea typeface="Arial"/>
              <a:cs typeface="Arial"/>
              <a:sym typeface="Arial"/>
            </a:endParaRPr>
          </a:p>
        </p:txBody>
      </p:sp>
      <p:sp>
        <p:nvSpPr>
          <p:cNvPr id="162" name="Google Shape;162;p7"/>
          <p:cNvSpPr txBox="1"/>
          <p:nvPr/>
        </p:nvSpPr>
        <p:spPr>
          <a:xfrm>
            <a:off x="809827" y="550672"/>
            <a:ext cx="6472196" cy="300846"/>
          </a:xfrm>
          <a:prstGeom prst="rect">
            <a:avLst/>
          </a:prstGeom>
          <a:noFill/>
          <a:ln>
            <a:noFill/>
          </a:ln>
        </p:spPr>
        <p:txBody>
          <a:bodyPr anchorCtr="0" anchor="t" bIns="0" lIns="0" spcFirstLastPara="1" rIns="0" wrap="square" tIns="0">
            <a:spAutoFit/>
          </a:bodyPr>
          <a:lstStyle/>
          <a:p>
            <a:pPr indent="0" lvl="0" marL="0" marR="0" rtl="0" algn="l">
              <a:lnSpc>
                <a:spcPct val="100998"/>
              </a:lnSpc>
              <a:spcBef>
                <a:spcPts val="0"/>
              </a:spcBef>
              <a:spcAft>
                <a:spcPts val="0"/>
              </a:spcAft>
              <a:buClr>
                <a:srgbClr val="000000"/>
              </a:buClr>
              <a:buSzPts val="2204"/>
              <a:buFont typeface="Arial"/>
              <a:buNone/>
            </a:pPr>
            <a:r>
              <a:rPr b="1" i="0" lang="en-US" sz="2204" u="none" cap="none" strike="noStrike">
                <a:solidFill>
                  <a:srgbClr val="343434"/>
                </a:solidFill>
                <a:latin typeface="DM Sans"/>
                <a:ea typeface="DM Sans"/>
                <a:cs typeface="DM Sans"/>
                <a:sym typeface="DM Sans"/>
              </a:rPr>
              <a:t>SISTEMAS DE BASES DE DATOS 2</a:t>
            </a:r>
            <a:endParaRPr b="0" i="0" sz="1400" u="none" cap="none" strike="noStrike">
              <a:solidFill>
                <a:srgbClr val="000000"/>
              </a:solidFill>
              <a:latin typeface="Arial"/>
              <a:ea typeface="Arial"/>
              <a:cs typeface="Arial"/>
              <a:sym typeface="Arial"/>
            </a:endParaRPr>
          </a:p>
        </p:txBody>
      </p:sp>
      <p:sp>
        <p:nvSpPr>
          <p:cNvPr id="163" name="Google Shape;163;p7"/>
          <p:cNvSpPr txBox="1"/>
          <p:nvPr/>
        </p:nvSpPr>
        <p:spPr>
          <a:xfrm>
            <a:off x="520574" y="2064328"/>
            <a:ext cx="16585413" cy="1479384"/>
          </a:xfrm>
          <a:prstGeom prst="rect">
            <a:avLst/>
          </a:prstGeom>
          <a:noFill/>
          <a:ln>
            <a:noFill/>
          </a:ln>
        </p:spPr>
        <p:txBody>
          <a:bodyPr anchorCtr="0" anchor="t" bIns="0" lIns="0" spcFirstLastPara="1" rIns="0" wrap="square" tIns="0">
            <a:spAutoFit/>
          </a:bodyPr>
          <a:lstStyle/>
          <a:p>
            <a:pPr indent="0" lvl="0" marL="0" marR="0" rtl="0" algn="just">
              <a:lnSpc>
                <a:spcPct val="128990"/>
              </a:lnSpc>
              <a:spcBef>
                <a:spcPts val="0"/>
              </a:spcBef>
              <a:spcAft>
                <a:spcPts val="0"/>
              </a:spcAft>
              <a:buClr>
                <a:srgbClr val="000000"/>
              </a:buClr>
              <a:buSzPts val="3070"/>
              <a:buFont typeface="Arial"/>
              <a:buNone/>
            </a:pPr>
            <a:r>
              <a:rPr b="1" i="0" lang="en-US" sz="3070" u="none" cap="none" strike="noStrike">
                <a:solidFill>
                  <a:srgbClr val="343434"/>
                </a:solidFill>
                <a:latin typeface="DM Sans"/>
                <a:ea typeface="DM Sans"/>
                <a:cs typeface="DM Sans"/>
                <a:sym typeface="DM Sans"/>
              </a:rPr>
              <a:t>Primera Forma Normal (1FN)</a:t>
            </a:r>
            <a:endParaRPr b="0" i="0" sz="1400" u="none" cap="none" strike="noStrike">
              <a:solidFill>
                <a:srgbClr val="000000"/>
              </a:solidFill>
              <a:latin typeface="Arial"/>
              <a:ea typeface="Arial"/>
              <a:cs typeface="Arial"/>
              <a:sym typeface="Arial"/>
            </a:endParaRPr>
          </a:p>
          <a:p>
            <a:pPr indent="0" lvl="0" marL="0" marR="0" rtl="0" algn="just">
              <a:lnSpc>
                <a:spcPct val="128990"/>
              </a:lnSpc>
              <a:spcBef>
                <a:spcPts val="0"/>
              </a:spcBef>
              <a:spcAft>
                <a:spcPts val="0"/>
              </a:spcAft>
              <a:buClr>
                <a:srgbClr val="000000"/>
              </a:buClr>
              <a:buSzPts val="3070"/>
              <a:buFont typeface="Arial"/>
              <a:buNone/>
            </a:pPr>
            <a:r>
              <a:rPr b="0" i="0" lang="en-US" sz="3070" u="none" cap="none" strike="noStrike">
                <a:solidFill>
                  <a:srgbClr val="343434"/>
                </a:solidFill>
                <a:latin typeface="DM Sans"/>
                <a:ea typeface="DM Sans"/>
                <a:cs typeface="DM Sans"/>
                <a:sym typeface="DM Sans"/>
              </a:rPr>
              <a:t>Requiere que todos los valores en una columna sean atómicos (es decir, no deben contener listas o valores repetidos).</a:t>
            </a:r>
            <a:endParaRPr b="0" i="0" sz="1400" u="none" cap="none" strike="noStrike">
              <a:solidFill>
                <a:srgbClr val="000000"/>
              </a:solidFill>
              <a:latin typeface="Arial"/>
              <a:ea typeface="Arial"/>
              <a:cs typeface="Arial"/>
              <a:sym typeface="Arial"/>
            </a:endParaRPr>
          </a:p>
        </p:txBody>
      </p:sp>
      <p:sp>
        <p:nvSpPr>
          <p:cNvPr id="164" name="Google Shape;164;p7"/>
          <p:cNvSpPr txBox="1"/>
          <p:nvPr/>
        </p:nvSpPr>
        <p:spPr>
          <a:xfrm>
            <a:off x="567196" y="3905725"/>
            <a:ext cx="3927300" cy="472500"/>
          </a:xfrm>
          <a:prstGeom prst="rect">
            <a:avLst/>
          </a:prstGeom>
          <a:noFill/>
          <a:ln>
            <a:noFill/>
          </a:ln>
        </p:spPr>
        <p:txBody>
          <a:bodyPr anchorCtr="0" anchor="t" bIns="0" lIns="0" spcFirstLastPara="1" rIns="0" wrap="square" tIns="0">
            <a:spAutoFit/>
          </a:bodyPr>
          <a:lstStyle/>
          <a:p>
            <a:pPr indent="0" lvl="0" marL="0" marR="0" rtl="0" algn="just">
              <a:lnSpc>
                <a:spcPct val="128990"/>
              </a:lnSpc>
              <a:spcBef>
                <a:spcPts val="0"/>
              </a:spcBef>
              <a:spcAft>
                <a:spcPts val="0"/>
              </a:spcAft>
              <a:buClr>
                <a:srgbClr val="000000"/>
              </a:buClr>
              <a:buSzPts val="3070"/>
              <a:buFont typeface="Arial"/>
              <a:buNone/>
            </a:pPr>
            <a:r>
              <a:rPr b="0" i="0" lang="en-US" sz="3070" u="none" cap="none" strike="noStrike">
                <a:solidFill>
                  <a:srgbClr val="343434"/>
                </a:solidFill>
                <a:latin typeface="DM Sans"/>
                <a:ea typeface="DM Sans"/>
                <a:cs typeface="DM Sans"/>
                <a:sym typeface="DM Sans"/>
              </a:rPr>
              <a:t>Tabla Clientes</a:t>
            </a:r>
            <a:endParaRPr b="0" i="0" sz="1400" u="none" cap="none" strike="noStrike">
              <a:solidFill>
                <a:srgbClr val="000000"/>
              </a:solidFill>
              <a:latin typeface="Arial"/>
              <a:ea typeface="Arial"/>
              <a:cs typeface="Arial"/>
              <a:sym typeface="Arial"/>
            </a:endParaRPr>
          </a:p>
        </p:txBody>
      </p:sp>
      <p:graphicFrame>
        <p:nvGraphicFramePr>
          <p:cNvPr id="165" name="Google Shape;165;p7"/>
          <p:cNvGraphicFramePr/>
          <p:nvPr/>
        </p:nvGraphicFramePr>
        <p:xfrm>
          <a:off x="8410075" y="4768571"/>
          <a:ext cx="3000000" cy="3000000"/>
        </p:xfrm>
        <a:graphic>
          <a:graphicData uri="http://schemas.openxmlformats.org/drawingml/2006/table">
            <a:tbl>
              <a:tblPr>
                <a:noFill/>
                <a:tableStyleId>{C2ED1157-09C8-47B0-9555-5C5715805245}</a:tableStyleId>
              </a:tblPr>
              <a:tblGrid>
                <a:gridCol w="694425"/>
                <a:gridCol w="1968525"/>
              </a:tblGrid>
              <a:tr h="771525">
                <a:tc>
                  <a:txBody>
                    <a:bodyPr/>
                    <a:lstStyle/>
                    <a:p>
                      <a:pPr indent="0" lvl="0" marL="0" marR="0" rtl="0" algn="ctr">
                        <a:lnSpc>
                          <a:spcPct val="140000"/>
                        </a:lnSpc>
                        <a:spcBef>
                          <a:spcPts val="0"/>
                        </a:spcBef>
                        <a:spcAft>
                          <a:spcPts val="0"/>
                        </a:spcAft>
                        <a:buClr>
                          <a:srgbClr val="000000"/>
                        </a:buClr>
                        <a:buSzPts val="1800"/>
                        <a:buFont typeface="Arial"/>
                        <a:buNone/>
                      </a:pPr>
                      <a:r>
                        <a:rPr b="1" lang="en-US" sz="1800" u="none" cap="none" strike="noStrike">
                          <a:solidFill>
                            <a:srgbClr val="000000"/>
                          </a:solidFill>
                          <a:latin typeface="DM Sans"/>
                          <a:ea typeface="DM Sans"/>
                          <a:cs typeface="DM Sans"/>
                          <a:sym typeface="DM Sans"/>
                        </a:rPr>
                        <a:t>id</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noFill/>
                  </a:tcPr>
                </a:tc>
                <a:tc>
                  <a:txBody>
                    <a:bodyPr/>
                    <a:lstStyle/>
                    <a:p>
                      <a:pPr indent="0" lvl="0" marL="0" marR="0" rtl="0" algn="ctr">
                        <a:lnSpc>
                          <a:spcPct val="140000"/>
                        </a:lnSpc>
                        <a:spcBef>
                          <a:spcPts val="0"/>
                        </a:spcBef>
                        <a:spcAft>
                          <a:spcPts val="0"/>
                        </a:spcAft>
                        <a:buClr>
                          <a:srgbClr val="000000"/>
                        </a:buClr>
                        <a:buSzPts val="1800"/>
                        <a:buFont typeface="Arial"/>
                        <a:buNone/>
                      </a:pPr>
                      <a:r>
                        <a:rPr b="1" lang="en-US" sz="1800" u="none" cap="none" strike="noStrike">
                          <a:solidFill>
                            <a:srgbClr val="000000"/>
                          </a:solidFill>
                          <a:latin typeface="DM Sans"/>
                          <a:ea typeface="DM Sans"/>
                          <a:cs typeface="DM Sans"/>
                          <a:sym typeface="DM Sans"/>
                        </a:rPr>
                        <a:t>nombre</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noFill/>
                  </a:tcPr>
                </a:tc>
              </a:tr>
              <a:tr h="771525">
                <a:tc>
                  <a:txBody>
                    <a:bodyPr/>
                    <a:lstStyle/>
                    <a:p>
                      <a:pPr indent="0" lvl="0" marL="0" marR="0" rtl="0" algn="ctr">
                        <a:lnSpc>
                          <a:spcPct val="140000"/>
                        </a:lnSpc>
                        <a:spcBef>
                          <a:spcPts val="0"/>
                        </a:spcBef>
                        <a:spcAft>
                          <a:spcPts val="0"/>
                        </a:spcAft>
                        <a:buClr>
                          <a:srgbClr val="000000"/>
                        </a:buClr>
                        <a:buSzPts val="1800"/>
                        <a:buFont typeface="Arial"/>
                        <a:buNone/>
                      </a:pPr>
                      <a:r>
                        <a:rPr lang="en-US" sz="1800" u="none" cap="none" strike="noStrike">
                          <a:solidFill>
                            <a:srgbClr val="000000"/>
                          </a:solidFill>
                          <a:latin typeface="DM Sans"/>
                          <a:ea typeface="DM Sans"/>
                          <a:cs typeface="DM Sans"/>
                          <a:sym typeface="DM Sans"/>
                        </a:rPr>
                        <a:t>1</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noFill/>
                  </a:tcPr>
                </a:tc>
                <a:tc>
                  <a:txBody>
                    <a:bodyPr/>
                    <a:lstStyle/>
                    <a:p>
                      <a:pPr indent="0" lvl="0" marL="0" marR="0" rtl="0" algn="ctr">
                        <a:lnSpc>
                          <a:spcPct val="140000"/>
                        </a:lnSpc>
                        <a:spcBef>
                          <a:spcPts val="0"/>
                        </a:spcBef>
                        <a:spcAft>
                          <a:spcPts val="0"/>
                        </a:spcAft>
                        <a:buClr>
                          <a:srgbClr val="000000"/>
                        </a:buClr>
                        <a:buSzPts val="1800"/>
                        <a:buFont typeface="Arial"/>
                        <a:buNone/>
                      </a:pPr>
                      <a:r>
                        <a:rPr lang="en-US" sz="1800" u="none" cap="none" strike="noStrike">
                          <a:solidFill>
                            <a:srgbClr val="000000"/>
                          </a:solidFill>
                          <a:latin typeface="DM Sans"/>
                          <a:ea typeface="DM Sans"/>
                          <a:cs typeface="DM Sans"/>
                          <a:sym typeface="DM Sans"/>
                        </a:rPr>
                        <a:t>Juan</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noFill/>
                  </a:tcPr>
                </a:tc>
              </a:tr>
              <a:tr h="771525">
                <a:tc>
                  <a:txBody>
                    <a:bodyPr/>
                    <a:lstStyle/>
                    <a:p>
                      <a:pPr indent="0" lvl="0" marL="0" marR="0" rtl="0" algn="ctr">
                        <a:lnSpc>
                          <a:spcPct val="140000"/>
                        </a:lnSpc>
                        <a:spcBef>
                          <a:spcPts val="0"/>
                        </a:spcBef>
                        <a:spcAft>
                          <a:spcPts val="0"/>
                        </a:spcAft>
                        <a:buClr>
                          <a:srgbClr val="000000"/>
                        </a:buClr>
                        <a:buSzPts val="1800"/>
                        <a:buFont typeface="Arial"/>
                        <a:buNone/>
                      </a:pPr>
                      <a:r>
                        <a:rPr lang="en-US" sz="1800" u="none" cap="none" strike="noStrike">
                          <a:solidFill>
                            <a:srgbClr val="000000"/>
                          </a:solidFill>
                          <a:latin typeface="DM Sans"/>
                          <a:ea typeface="DM Sans"/>
                          <a:cs typeface="DM Sans"/>
                          <a:sym typeface="DM Sans"/>
                        </a:rPr>
                        <a:t>2</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noFill/>
                  </a:tcPr>
                </a:tc>
                <a:tc>
                  <a:txBody>
                    <a:bodyPr/>
                    <a:lstStyle/>
                    <a:p>
                      <a:pPr indent="0" lvl="0" marL="0" marR="0" rtl="0" algn="ctr">
                        <a:lnSpc>
                          <a:spcPct val="140000"/>
                        </a:lnSpc>
                        <a:spcBef>
                          <a:spcPts val="0"/>
                        </a:spcBef>
                        <a:spcAft>
                          <a:spcPts val="0"/>
                        </a:spcAft>
                        <a:buClr>
                          <a:srgbClr val="000000"/>
                        </a:buClr>
                        <a:buSzPts val="1800"/>
                        <a:buFont typeface="Arial"/>
                        <a:buNone/>
                      </a:pPr>
                      <a:r>
                        <a:rPr lang="en-US" sz="1800" u="none" cap="none" strike="noStrike">
                          <a:solidFill>
                            <a:srgbClr val="000000"/>
                          </a:solidFill>
                          <a:latin typeface="DM Sans"/>
                          <a:ea typeface="DM Sans"/>
                          <a:cs typeface="DM Sans"/>
                          <a:sym typeface="DM Sans"/>
                        </a:rPr>
                        <a:t>Mario</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noFill/>
                  </a:tcPr>
                </a:tc>
              </a:tr>
              <a:tr h="771525">
                <a:tc>
                  <a:txBody>
                    <a:bodyPr/>
                    <a:lstStyle/>
                    <a:p>
                      <a:pPr indent="0" lvl="0" marL="0" marR="0" rtl="0" algn="ctr">
                        <a:lnSpc>
                          <a:spcPct val="140000"/>
                        </a:lnSpc>
                        <a:spcBef>
                          <a:spcPts val="0"/>
                        </a:spcBef>
                        <a:spcAft>
                          <a:spcPts val="0"/>
                        </a:spcAft>
                        <a:buClr>
                          <a:srgbClr val="000000"/>
                        </a:buClr>
                        <a:buSzPts val="1800"/>
                        <a:buFont typeface="Arial"/>
                        <a:buNone/>
                      </a:pPr>
                      <a:r>
                        <a:rPr lang="en-US" sz="1800" u="none" cap="none" strike="noStrike">
                          <a:solidFill>
                            <a:srgbClr val="000000"/>
                          </a:solidFill>
                          <a:latin typeface="DM Sans"/>
                          <a:ea typeface="DM Sans"/>
                          <a:cs typeface="DM Sans"/>
                          <a:sym typeface="DM Sans"/>
                        </a:rPr>
                        <a:t>3</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noFill/>
                  </a:tcPr>
                </a:tc>
                <a:tc>
                  <a:txBody>
                    <a:bodyPr/>
                    <a:lstStyle/>
                    <a:p>
                      <a:pPr indent="0" lvl="0" marL="0" marR="0" rtl="0" algn="ctr">
                        <a:lnSpc>
                          <a:spcPct val="140000"/>
                        </a:lnSpc>
                        <a:spcBef>
                          <a:spcPts val="0"/>
                        </a:spcBef>
                        <a:spcAft>
                          <a:spcPts val="0"/>
                        </a:spcAft>
                        <a:buClr>
                          <a:srgbClr val="000000"/>
                        </a:buClr>
                        <a:buSzPts val="1800"/>
                        <a:buFont typeface="Arial"/>
                        <a:buNone/>
                      </a:pPr>
                      <a:r>
                        <a:rPr lang="en-US" sz="1800" u="none" cap="none" strike="noStrike">
                          <a:solidFill>
                            <a:srgbClr val="000000"/>
                          </a:solidFill>
                          <a:latin typeface="DM Sans"/>
                          <a:ea typeface="DM Sans"/>
                          <a:cs typeface="DM Sans"/>
                          <a:sym typeface="DM Sans"/>
                        </a:rPr>
                        <a:t>Carlos</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noFill/>
                  </a:tcPr>
                </a:tc>
              </a:tr>
            </a:tbl>
          </a:graphicData>
        </a:graphic>
      </p:graphicFrame>
      <p:graphicFrame>
        <p:nvGraphicFramePr>
          <p:cNvPr id="166" name="Google Shape;166;p7"/>
          <p:cNvGraphicFramePr/>
          <p:nvPr/>
        </p:nvGraphicFramePr>
        <p:xfrm>
          <a:off x="13178651" y="4768571"/>
          <a:ext cx="3000000" cy="3000000"/>
        </p:xfrm>
        <a:graphic>
          <a:graphicData uri="http://schemas.openxmlformats.org/drawingml/2006/table">
            <a:tbl>
              <a:tblPr>
                <a:noFill/>
                <a:tableStyleId>{C2ED1157-09C8-47B0-9555-5C5715805245}</a:tableStyleId>
              </a:tblPr>
              <a:tblGrid>
                <a:gridCol w="678275"/>
                <a:gridCol w="1659325"/>
                <a:gridCol w="1589750"/>
              </a:tblGrid>
              <a:tr h="771525">
                <a:tc>
                  <a:txBody>
                    <a:bodyPr/>
                    <a:lstStyle/>
                    <a:p>
                      <a:pPr indent="0" lvl="0" marL="0" marR="0" rtl="0" algn="ctr">
                        <a:lnSpc>
                          <a:spcPct val="140000"/>
                        </a:lnSpc>
                        <a:spcBef>
                          <a:spcPts val="0"/>
                        </a:spcBef>
                        <a:spcAft>
                          <a:spcPts val="0"/>
                        </a:spcAft>
                        <a:buClr>
                          <a:srgbClr val="000000"/>
                        </a:buClr>
                        <a:buSzPts val="1800"/>
                        <a:buFont typeface="Arial"/>
                        <a:buNone/>
                      </a:pPr>
                      <a:r>
                        <a:rPr b="1" lang="en-US" sz="1800" u="none" cap="none" strike="noStrike">
                          <a:solidFill>
                            <a:srgbClr val="000000"/>
                          </a:solidFill>
                          <a:latin typeface="DM Sans"/>
                          <a:ea typeface="DM Sans"/>
                          <a:cs typeface="DM Sans"/>
                          <a:sym typeface="DM Sans"/>
                        </a:rPr>
                        <a:t>id</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noFill/>
                  </a:tcPr>
                </a:tc>
                <a:tc>
                  <a:txBody>
                    <a:bodyPr/>
                    <a:lstStyle/>
                    <a:p>
                      <a:pPr indent="0" lvl="0" marL="0" marR="0" rtl="0" algn="ctr">
                        <a:lnSpc>
                          <a:spcPct val="140000"/>
                        </a:lnSpc>
                        <a:spcBef>
                          <a:spcPts val="0"/>
                        </a:spcBef>
                        <a:spcAft>
                          <a:spcPts val="0"/>
                        </a:spcAft>
                        <a:buClr>
                          <a:srgbClr val="000000"/>
                        </a:buClr>
                        <a:buSzPts val="1800"/>
                        <a:buFont typeface="Arial"/>
                        <a:buNone/>
                      </a:pPr>
                      <a:r>
                        <a:rPr b="1" lang="en-US" sz="1800" u="none" cap="none" strike="noStrike">
                          <a:solidFill>
                            <a:srgbClr val="000000"/>
                          </a:solidFill>
                          <a:latin typeface="DM Sans"/>
                          <a:ea typeface="DM Sans"/>
                          <a:cs typeface="DM Sans"/>
                          <a:sym typeface="DM Sans"/>
                        </a:rPr>
                        <a:t>telefono</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noFill/>
                  </a:tcPr>
                </a:tc>
                <a:tc>
                  <a:txBody>
                    <a:bodyPr/>
                    <a:lstStyle/>
                    <a:p>
                      <a:pPr indent="0" lvl="0" marL="0" marR="0" rtl="0" algn="ctr">
                        <a:lnSpc>
                          <a:spcPct val="140000"/>
                        </a:lnSpc>
                        <a:spcBef>
                          <a:spcPts val="0"/>
                        </a:spcBef>
                        <a:spcAft>
                          <a:spcPts val="0"/>
                        </a:spcAft>
                        <a:buClr>
                          <a:srgbClr val="000000"/>
                        </a:buClr>
                        <a:buSzPts val="1800"/>
                        <a:buFont typeface="Arial"/>
                        <a:buNone/>
                      </a:pPr>
                      <a:r>
                        <a:rPr b="1" lang="en-US" sz="1800" u="none" cap="none" strike="noStrike">
                          <a:solidFill>
                            <a:srgbClr val="000000"/>
                          </a:solidFill>
                          <a:latin typeface="DM Sans"/>
                          <a:ea typeface="DM Sans"/>
                          <a:cs typeface="DM Sans"/>
                          <a:sym typeface="DM Sans"/>
                        </a:rPr>
                        <a:t>id_cliente</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noFill/>
                  </a:tcPr>
                </a:tc>
              </a:tr>
              <a:tr h="771525">
                <a:tc>
                  <a:txBody>
                    <a:bodyPr/>
                    <a:lstStyle/>
                    <a:p>
                      <a:pPr indent="0" lvl="0" marL="0" marR="0" rtl="0" algn="ctr">
                        <a:lnSpc>
                          <a:spcPct val="140000"/>
                        </a:lnSpc>
                        <a:spcBef>
                          <a:spcPts val="0"/>
                        </a:spcBef>
                        <a:spcAft>
                          <a:spcPts val="0"/>
                        </a:spcAft>
                        <a:buClr>
                          <a:srgbClr val="000000"/>
                        </a:buClr>
                        <a:buSzPts val="1800"/>
                        <a:buFont typeface="Arial"/>
                        <a:buNone/>
                      </a:pPr>
                      <a:r>
                        <a:rPr lang="en-US" sz="1800" u="none" cap="none" strike="noStrike">
                          <a:solidFill>
                            <a:srgbClr val="000000"/>
                          </a:solidFill>
                          <a:latin typeface="DM Sans"/>
                          <a:ea typeface="DM Sans"/>
                          <a:cs typeface="DM Sans"/>
                          <a:sym typeface="DM Sans"/>
                        </a:rPr>
                        <a:t>1</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noFill/>
                  </a:tcPr>
                </a:tc>
                <a:tc>
                  <a:txBody>
                    <a:bodyPr/>
                    <a:lstStyle/>
                    <a:p>
                      <a:pPr indent="0" lvl="0" marL="0" marR="0" rtl="0" algn="ctr">
                        <a:lnSpc>
                          <a:spcPct val="140000"/>
                        </a:lnSpc>
                        <a:spcBef>
                          <a:spcPts val="0"/>
                        </a:spcBef>
                        <a:spcAft>
                          <a:spcPts val="0"/>
                        </a:spcAft>
                        <a:buClr>
                          <a:srgbClr val="000000"/>
                        </a:buClr>
                        <a:buSzPts val="1800"/>
                        <a:buFont typeface="Arial"/>
                        <a:buNone/>
                      </a:pPr>
                      <a:r>
                        <a:rPr lang="en-US" sz="1800" u="none" cap="none" strike="noStrike">
                          <a:solidFill>
                            <a:srgbClr val="000000"/>
                          </a:solidFill>
                          <a:latin typeface="DM Sans"/>
                          <a:ea typeface="DM Sans"/>
                          <a:cs typeface="DM Sans"/>
                          <a:sym typeface="DM Sans"/>
                        </a:rPr>
                        <a:t>12345678</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noFill/>
                  </a:tcPr>
                </a:tc>
                <a:tc>
                  <a:txBody>
                    <a:bodyPr/>
                    <a:lstStyle/>
                    <a:p>
                      <a:pPr indent="0" lvl="0" marL="0" marR="0" rtl="0" algn="ctr">
                        <a:lnSpc>
                          <a:spcPct val="140000"/>
                        </a:lnSpc>
                        <a:spcBef>
                          <a:spcPts val="0"/>
                        </a:spcBef>
                        <a:spcAft>
                          <a:spcPts val="0"/>
                        </a:spcAft>
                        <a:buClr>
                          <a:srgbClr val="000000"/>
                        </a:buClr>
                        <a:buSzPts val="1800"/>
                        <a:buFont typeface="Arial"/>
                        <a:buNone/>
                      </a:pPr>
                      <a:r>
                        <a:rPr lang="en-US" sz="1800" u="none" cap="none" strike="noStrike">
                          <a:solidFill>
                            <a:srgbClr val="000000"/>
                          </a:solidFill>
                          <a:latin typeface="DM Sans"/>
                          <a:ea typeface="DM Sans"/>
                          <a:cs typeface="DM Sans"/>
                          <a:sym typeface="DM Sans"/>
                        </a:rPr>
                        <a:t>1</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noFill/>
                  </a:tcPr>
                </a:tc>
              </a:tr>
              <a:tr h="771525">
                <a:tc>
                  <a:txBody>
                    <a:bodyPr/>
                    <a:lstStyle/>
                    <a:p>
                      <a:pPr indent="0" lvl="0" marL="0" marR="0" rtl="0" algn="ctr">
                        <a:lnSpc>
                          <a:spcPct val="140000"/>
                        </a:lnSpc>
                        <a:spcBef>
                          <a:spcPts val="0"/>
                        </a:spcBef>
                        <a:spcAft>
                          <a:spcPts val="0"/>
                        </a:spcAft>
                        <a:buClr>
                          <a:srgbClr val="000000"/>
                        </a:buClr>
                        <a:buSzPts val="1800"/>
                        <a:buFont typeface="Arial"/>
                        <a:buNone/>
                      </a:pPr>
                      <a:r>
                        <a:rPr lang="en-US" sz="1800" u="none" cap="none" strike="noStrike">
                          <a:solidFill>
                            <a:srgbClr val="000000"/>
                          </a:solidFill>
                          <a:latin typeface="DM Sans"/>
                          <a:ea typeface="DM Sans"/>
                          <a:cs typeface="DM Sans"/>
                          <a:sym typeface="DM Sans"/>
                        </a:rPr>
                        <a:t>2</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noFill/>
                  </a:tcPr>
                </a:tc>
                <a:tc>
                  <a:txBody>
                    <a:bodyPr/>
                    <a:lstStyle/>
                    <a:p>
                      <a:pPr indent="0" lvl="0" marL="0" marR="0" rtl="0" algn="ctr">
                        <a:lnSpc>
                          <a:spcPct val="140000"/>
                        </a:lnSpc>
                        <a:spcBef>
                          <a:spcPts val="0"/>
                        </a:spcBef>
                        <a:spcAft>
                          <a:spcPts val="0"/>
                        </a:spcAft>
                        <a:buClr>
                          <a:srgbClr val="000000"/>
                        </a:buClr>
                        <a:buSzPts val="1800"/>
                        <a:buFont typeface="Arial"/>
                        <a:buNone/>
                      </a:pPr>
                      <a:r>
                        <a:rPr lang="en-US" sz="1800" u="none" cap="none" strike="noStrike">
                          <a:solidFill>
                            <a:srgbClr val="000000"/>
                          </a:solidFill>
                          <a:latin typeface="DM Sans"/>
                          <a:ea typeface="DM Sans"/>
                          <a:cs typeface="DM Sans"/>
                          <a:sym typeface="DM Sans"/>
                        </a:rPr>
                        <a:t>98765432</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noFill/>
                  </a:tcPr>
                </a:tc>
                <a:tc>
                  <a:txBody>
                    <a:bodyPr/>
                    <a:lstStyle/>
                    <a:p>
                      <a:pPr indent="0" lvl="0" marL="0" marR="0" rtl="0" algn="ctr">
                        <a:lnSpc>
                          <a:spcPct val="140000"/>
                        </a:lnSpc>
                        <a:spcBef>
                          <a:spcPts val="0"/>
                        </a:spcBef>
                        <a:spcAft>
                          <a:spcPts val="0"/>
                        </a:spcAft>
                        <a:buClr>
                          <a:srgbClr val="000000"/>
                        </a:buClr>
                        <a:buSzPts val="1800"/>
                        <a:buFont typeface="Arial"/>
                        <a:buNone/>
                      </a:pPr>
                      <a:r>
                        <a:rPr lang="en-US" sz="1800" u="none" cap="none" strike="noStrike">
                          <a:solidFill>
                            <a:srgbClr val="000000"/>
                          </a:solidFill>
                          <a:latin typeface="DM Sans"/>
                          <a:ea typeface="DM Sans"/>
                          <a:cs typeface="DM Sans"/>
                          <a:sym typeface="DM Sans"/>
                        </a:rPr>
                        <a:t>1</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noFill/>
                  </a:tcPr>
                </a:tc>
              </a:tr>
              <a:tr h="771525">
                <a:tc>
                  <a:txBody>
                    <a:bodyPr/>
                    <a:lstStyle/>
                    <a:p>
                      <a:pPr indent="0" lvl="0" marL="0" marR="0" rtl="0" algn="ctr">
                        <a:lnSpc>
                          <a:spcPct val="140000"/>
                        </a:lnSpc>
                        <a:spcBef>
                          <a:spcPts val="0"/>
                        </a:spcBef>
                        <a:spcAft>
                          <a:spcPts val="0"/>
                        </a:spcAft>
                        <a:buClr>
                          <a:srgbClr val="000000"/>
                        </a:buClr>
                        <a:buSzPts val="1800"/>
                        <a:buFont typeface="Arial"/>
                        <a:buNone/>
                      </a:pPr>
                      <a:r>
                        <a:rPr lang="en-US" sz="1800" u="none" cap="none" strike="noStrike">
                          <a:solidFill>
                            <a:srgbClr val="000000"/>
                          </a:solidFill>
                          <a:latin typeface="DM Sans"/>
                          <a:ea typeface="DM Sans"/>
                          <a:cs typeface="DM Sans"/>
                          <a:sym typeface="DM Sans"/>
                        </a:rPr>
                        <a:t>3</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noFill/>
                  </a:tcPr>
                </a:tc>
                <a:tc>
                  <a:txBody>
                    <a:bodyPr/>
                    <a:lstStyle/>
                    <a:p>
                      <a:pPr indent="0" lvl="0" marL="0" marR="0" rtl="0" algn="ctr">
                        <a:lnSpc>
                          <a:spcPct val="140000"/>
                        </a:lnSpc>
                        <a:spcBef>
                          <a:spcPts val="0"/>
                        </a:spcBef>
                        <a:spcAft>
                          <a:spcPts val="0"/>
                        </a:spcAft>
                        <a:buClr>
                          <a:srgbClr val="000000"/>
                        </a:buClr>
                        <a:buSzPts val="1800"/>
                        <a:buFont typeface="Arial"/>
                        <a:buNone/>
                      </a:pPr>
                      <a:r>
                        <a:rPr lang="en-US" sz="1800" u="none" cap="none" strike="noStrike">
                          <a:solidFill>
                            <a:srgbClr val="000000"/>
                          </a:solidFill>
                          <a:latin typeface="DM Sans"/>
                          <a:ea typeface="DM Sans"/>
                          <a:cs typeface="DM Sans"/>
                          <a:sym typeface="DM Sans"/>
                        </a:rPr>
                        <a:t>12346789</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noFill/>
                  </a:tcPr>
                </a:tc>
                <a:tc>
                  <a:txBody>
                    <a:bodyPr/>
                    <a:lstStyle/>
                    <a:p>
                      <a:pPr indent="0" lvl="0" marL="0" marR="0" rtl="0" algn="ctr">
                        <a:lnSpc>
                          <a:spcPct val="140000"/>
                        </a:lnSpc>
                        <a:spcBef>
                          <a:spcPts val="0"/>
                        </a:spcBef>
                        <a:spcAft>
                          <a:spcPts val="0"/>
                        </a:spcAft>
                        <a:buClr>
                          <a:srgbClr val="000000"/>
                        </a:buClr>
                        <a:buSzPts val="1800"/>
                        <a:buFont typeface="Arial"/>
                        <a:buNone/>
                      </a:pPr>
                      <a:r>
                        <a:rPr lang="en-US" sz="1800" u="none" cap="none" strike="noStrike">
                          <a:solidFill>
                            <a:srgbClr val="000000"/>
                          </a:solidFill>
                          <a:latin typeface="DM Sans"/>
                          <a:ea typeface="DM Sans"/>
                          <a:cs typeface="DM Sans"/>
                          <a:sym typeface="DM Sans"/>
                        </a:rPr>
                        <a:t>2</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noFill/>
                  </a:tcPr>
                </a:tc>
              </a:tr>
            </a:tbl>
          </a:graphicData>
        </a:graphic>
      </p:graphicFrame>
      <p:sp>
        <p:nvSpPr>
          <p:cNvPr id="167" name="Google Shape;167;p7"/>
          <p:cNvSpPr txBox="1"/>
          <p:nvPr/>
        </p:nvSpPr>
        <p:spPr>
          <a:xfrm>
            <a:off x="9144000" y="4067650"/>
            <a:ext cx="3604800" cy="472500"/>
          </a:xfrm>
          <a:prstGeom prst="rect">
            <a:avLst/>
          </a:prstGeom>
          <a:noFill/>
          <a:ln>
            <a:noFill/>
          </a:ln>
        </p:spPr>
        <p:txBody>
          <a:bodyPr anchorCtr="0" anchor="t" bIns="0" lIns="0" spcFirstLastPara="1" rIns="0" wrap="square" tIns="0">
            <a:spAutoFit/>
          </a:bodyPr>
          <a:lstStyle/>
          <a:p>
            <a:pPr indent="0" lvl="0" marL="0" marR="0" rtl="0" algn="just">
              <a:lnSpc>
                <a:spcPct val="128990"/>
              </a:lnSpc>
              <a:spcBef>
                <a:spcPts val="0"/>
              </a:spcBef>
              <a:spcAft>
                <a:spcPts val="0"/>
              </a:spcAft>
              <a:buClr>
                <a:srgbClr val="000000"/>
              </a:buClr>
              <a:buSzPts val="3070"/>
              <a:buFont typeface="Arial"/>
              <a:buNone/>
            </a:pPr>
            <a:r>
              <a:rPr b="0" i="0" lang="en-US" sz="3070" u="none" cap="none" strike="noStrike">
                <a:solidFill>
                  <a:srgbClr val="343434"/>
                </a:solidFill>
                <a:latin typeface="DM Sans"/>
                <a:ea typeface="DM Sans"/>
                <a:cs typeface="DM Sans"/>
                <a:sym typeface="DM Sans"/>
              </a:rPr>
              <a:t>Tabla Clientes</a:t>
            </a:r>
            <a:endParaRPr b="0" i="0" sz="1400" u="none" cap="none" strike="noStrike">
              <a:solidFill>
                <a:srgbClr val="000000"/>
              </a:solidFill>
              <a:latin typeface="Arial"/>
              <a:ea typeface="Arial"/>
              <a:cs typeface="Arial"/>
              <a:sym typeface="Arial"/>
            </a:endParaRPr>
          </a:p>
        </p:txBody>
      </p:sp>
      <p:sp>
        <p:nvSpPr>
          <p:cNvPr id="168" name="Google Shape;168;p7"/>
          <p:cNvSpPr txBox="1"/>
          <p:nvPr/>
        </p:nvSpPr>
        <p:spPr>
          <a:xfrm>
            <a:off x="13422571" y="4067650"/>
            <a:ext cx="3927300" cy="472500"/>
          </a:xfrm>
          <a:prstGeom prst="rect">
            <a:avLst/>
          </a:prstGeom>
          <a:noFill/>
          <a:ln>
            <a:noFill/>
          </a:ln>
        </p:spPr>
        <p:txBody>
          <a:bodyPr anchorCtr="0" anchor="t" bIns="0" lIns="0" spcFirstLastPara="1" rIns="0" wrap="square" tIns="0">
            <a:spAutoFit/>
          </a:bodyPr>
          <a:lstStyle/>
          <a:p>
            <a:pPr indent="0" lvl="0" marL="0" marR="0" rtl="0" algn="just">
              <a:lnSpc>
                <a:spcPct val="128990"/>
              </a:lnSpc>
              <a:spcBef>
                <a:spcPts val="0"/>
              </a:spcBef>
              <a:spcAft>
                <a:spcPts val="0"/>
              </a:spcAft>
              <a:buClr>
                <a:srgbClr val="000000"/>
              </a:buClr>
              <a:buSzPts val="3070"/>
              <a:buFont typeface="Arial"/>
              <a:buNone/>
            </a:pPr>
            <a:r>
              <a:rPr b="0" i="0" lang="en-US" sz="3070" u="none" cap="none" strike="noStrike">
                <a:solidFill>
                  <a:srgbClr val="343434"/>
                </a:solidFill>
                <a:latin typeface="DM Sans"/>
                <a:ea typeface="DM Sans"/>
                <a:cs typeface="DM Sans"/>
                <a:sym typeface="DM Sans"/>
              </a:rPr>
              <a:t>Tabla Telefonos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5EC"/>
        </a:solidFill>
      </p:bgPr>
    </p:bg>
    <p:spTree>
      <p:nvGrpSpPr>
        <p:cNvPr id="172" name="Shape 172"/>
        <p:cNvGrpSpPr/>
        <p:nvPr/>
      </p:nvGrpSpPr>
      <p:grpSpPr>
        <a:xfrm>
          <a:off x="0" y="0"/>
          <a:ext cx="0" cy="0"/>
          <a:chOff x="0" y="0"/>
          <a:chExt cx="0" cy="0"/>
        </a:xfrm>
      </p:grpSpPr>
      <p:sp>
        <p:nvSpPr>
          <p:cNvPr id="173" name="Google Shape;173;p8"/>
          <p:cNvSpPr/>
          <p:nvPr/>
        </p:nvSpPr>
        <p:spPr>
          <a:xfrm>
            <a:off x="-485035" y="-4485535"/>
            <a:ext cx="19258069" cy="19258069"/>
          </a:xfrm>
          <a:custGeom>
            <a:rect b="b" l="l" r="r" t="t"/>
            <a:pathLst>
              <a:path extrusionOk="0" h="19258069" w="19258069">
                <a:moveTo>
                  <a:pt x="0" y="0"/>
                </a:moveTo>
                <a:lnTo>
                  <a:pt x="19258070" y="0"/>
                </a:lnTo>
                <a:lnTo>
                  <a:pt x="19258070" y="19258070"/>
                </a:lnTo>
                <a:lnTo>
                  <a:pt x="0" y="19258070"/>
                </a:lnTo>
                <a:lnTo>
                  <a:pt x="0" y="0"/>
                </a:lnTo>
                <a:close/>
              </a:path>
            </a:pathLst>
          </a:custGeom>
          <a:blipFill rotWithShape="1">
            <a:blip r:embed="rId3">
              <a:alphaModFix amt="4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aphicFrame>
        <p:nvGraphicFramePr>
          <p:cNvPr id="174" name="Google Shape;174;p8"/>
          <p:cNvGraphicFramePr/>
          <p:nvPr/>
        </p:nvGraphicFramePr>
        <p:xfrm>
          <a:off x="567207" y="4556435"/>
          <a:ext cx="3000000" cy="3000000"/>
        </p:xfrm>
        <a:graphic>
          <a:graphicData uri="http://schemas.openxmlformats.org/drawingml/2006/table">
            <a:tbl>
              <a:tblPr>
                <a:noFill/>
                <a:tableStyleId>{C2ED1157-09C8-47B0-9555-5C5715805245}</a:tableStyleId>
              </a:tblPr>
              <a:tblGrid>
                <a:gridCol w="1471250"/>
                <a:gridCol w="1560250"/>
                <a:gridCol w="1259825"/>
                <a:gridCol w="2265050"/>
              </a:tblGrid>
              <a:tr h="771525">
                <a:tc>
                  <a:txBody>
                    <a:bodyPr/>
                    <a:lstStyle/>
                    <a:p>
                      <a:pPr indent="0" lvl="0" marL="0" marR="0" rtl="0" algn="ctr">
                        <a:lnSpc>
                          <a:spcPct val="140000"/>
                        </a:lnSpc>
                        <a:spcBef>
                          <a:spcPts val="0"/>
                        </a:spcBef>
                        <a:spcAft>
                          <a:spcPts val="0"/>
                        </a:spcAft>
                        <a:buClr>
                          <a:srgbClr val="000000"/>
                        </a:buClr>
                        <a:buSzPts val="1800"/>
                        <a:buFont typeface="Arial"/>
                        <a:buNone/>
                      </a:pPr>
                      <a:r>
                        <a:rPr b="1" lang="en-US" sz="1800" u="none" cap="none" strike="noStrike">
                          <a:solidFill>
                            <a:srgbClr val="000000"/>
                          </a:solidFill>
                          <a:latin typeface="DM Sans"/>
                          <a:ea typeface="DM Sans"/>
                          <a:cs typeface="DM Sans"/>
                          <a:sym typeface="DM Sans"/>
                        </a:rPr>
                        <a:t>id_venta</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noFill/>
                  </a:tcPr>
                </a:tc>
                <a:tc>
                  <a:txBody>
                    <a:bodyPr/>
                    <a:lstStyle/>
                    <a:p>
                      <a:pPr indent="0" lvl="0" marL="0" marR="0" rtl="0" algn="ctr">
                        <a:lnSpc>
                          <a:spcPct val="140000"/>
                        </a:lnSpc>
                        <a:spcBef>
                          <a:spcPts val="0"/>
                        </a:spcBef>
                        <a:spcAft>
                          <a:spcPts val="0"/>
                        </a:spcAft>
                        <a:buClr>
                          <a:srgbClr val="000000"/>
                        </a:buClr>
                        <a:buSzPts val="1800"/>
                        <a:buFont typeface="Arial"/>
                        <a:buNone/>
                      </a:pPr>
                      <a:r>
                        <a:rPr b="1" lang="en-US" sz="1800" u="none" cap="none" strike="noStrike">
                          <a:solidFill>
                            <a:srgbClr val="000000"/>
                          </a:solidFill>
                          <a:latin typeface="DM Sans"/>
                          <a:ea typeface="DM Sans"/>
                          <a:cs typeface="DM Sans"/>
                          <a:sym typeface="DM Sans"/>
                        </a:rPr>
                        <a:t>id_cliente</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noFill/>
                  </a:tcPr>
                </a:tc>
                <a:tc>
                  <a:txBody>
                    <a:bodyPr/>
                    <a:lstStyle/>
                    <a:p>
                      <a:pPr indent="0" lvl="0" marL="0" marR="0" rtl="0" algn="ctr">
                        <a:lnSpc>
                          <a:spcPct val="140000"/>
                        </a:lnSpc>
                        <a:spcBef>
                          <a:spcPts val="0"/>
                        </a:spcBef>
                        <a:spcAft>
                          <a:spcPts val="0"/>
                        </a:spcAft>
                        <a:buClr>
                          <a:srgbClr val="000000"/>
                        </a:buClr>
                        <a:buSzPts val="1800"/>
                        <a:buFont typeface="Arial"/>
                        <a:buNone/>
                      </a:pPr>
                      <a:r>
                        <a:rPr b="1" lang="en-US" sz="1800" u="none" cap="none" strike="noStrike">
                          <a:solidFill>
                            <a:srgbClr val="000000"/>
                          </a:solidFill>
                          <a:latin typeface="DM Sans"/>
                          <a:ea typeface="DM Sans"/>
                          <a:cs typeface="DM Sans"/>
                          <a:sym typeface="DM Sans"/>
                        </a:rPr>
                        <a:t>monto</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noFill/>
                  </a:tcPr>
                </a:tc>
                <a:tc>
                  <a:txBody>
                    <a:bodyPr/>
                    <a:lstStyle/>
                    <a:p>
                      <a:pPr indent="0" lvl="0" marL="0" marR="0" rtl="0" algn="ctr">
                        <a:lnSpc>
                          <a:spcPct val="140000"/>
                        </a:lnSpc>
                        <a:spcBef>
                          <a:spcPts val="0"/>
                        </a:spcBef>
                        <a:spcAft>
                          <a:spcPts val="0"/>
                        </a:spcAft>
                        <a:buClr>
                          <a:srgbClr val="000000"/>
                        </a:buClr>
                        <a:buSzPts val="1800"/>
                        <a:buFont typeface="Arial"/>
                        <a:buNone/>
                      </a:pPr>
                      <a:r>
                        <a:rPr b="1" lang="en-US" sz="1800" u="none" cap="none" strike="noStrike">
                          <a:solidFill>
                            <a:srgbClr val="000000"/>
                          </a:solidFill>
                          <a:latin typeface="DM Sans"/>
                          <a:ea typeface="DM Sans"/>
                          <a:cs typeface="DM Sans"/>
                          <a:sym typeface="DM Sans"/>
                        </a:rPr>
                        <a:t>nombre_cliente</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noFill/>
                  </a:tcPr>
                </a:tc>
              </a:tr>
              <a:tr h="771525">
                <a:tc>
                  <a:txBody>
                    <a:bodyPr/>
                    <a:lstStyle/>
                    <a:p>
                      <a:pPr indent="0" lvl="0" marL="0" marR="0" rtl="0" algn="ctr">
                        <a:lnSpc>
                          <a:spcPct val="140000"/>
                        </a:lnSpc>
                        <a:spcBef>
                          <a:spcPts val="0"/>
                        </a:spcBef>
                        <a:spcAft>
                          <a:spcPts val="0"/>
                        </a:spcAft>
                        <a:buClr>
                          <a:srgbClr val="000000"/>
                        </a:buClr>
                        <a:buSzPts val="1800"/>
                        <a:buFont typeface="Arial"/>
                        <a:buNone/>
                      </a:pPr>
                      <a:r>
                        <a:rPr lang="en-US" sz="1800" u="none" cap="none" strike="noStrike">
                          <a:solidFill>
                            <a:srgbClr val="000000"/>
                          </a:solidFill>
                          <a:latin typeface="DM Sans"/>
                          <a:ea typeface="DM Sans"/>
                          <a:cs typeface="DM Sans"/>
                          <a:sym typeface="DM Sans"/>
                        </a:rPr>
                        <a:t>1</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noFill/>
                  </a:tcPr>
                </a:tc>
                <a:tc>
                  <a:txBody>
                    <a:bodyPr/>
                    <a:lstStyle/>
                    <a:p>
                      <a:pPr indent="0" lvl="0" marL="0" marR="0" rtl="0" algn="ctr">
                        <a:lnSpc>
                          <a:spcPct val="140000"/>
                        </a:lnSpc>
                        <a:spcBef>
                          <a:spcPts val="0"/>
                        </a:spcBef>
                        <a:spcAft>
                          <a:spcPts val="0"/>
                        </a:spcAft>
                        <a:buClr>
                          <a:srgbClr val="000000"/>
                        </a:buClr>
                        <a:buSzPts val="1800"/>
                        <a:buFont typeface="Arial"/>
                        <a:buNone/>
                      </a:pPr>
                      <a:r>
                        <a:rPr lang="en-US" sz="1800" u="none" cap="none" strike="noStrike">
                          <a:solidFill>
                            <a:srgbClr val="000000"/>
                          </a:solidFill>
                          <a:latin typeface="DM Sans"/>
                          <a:ea typeface="DM Sans"/>
                          <a:cs typeface="DM Sans"/>
                          <a:sym typeface="DM Sans"/>
                        </a:rPr>
                        <a:t>1</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noFill/>
                  </a:tcPr>
                </a:tc>
                <a:tc>
                  <a:txBody>
                    <a:bodyPr/>
                    <a:lstStyle/>
                    <a:p>
                      <a:pPr indent="0" lvl="0" marL="0" marR="0" rtl="0" algn="ctr">
                        <a:lnSpc>
                          <a:spcPct val="140000"/>
                        </a:lnSpc>
                        <a:spcBef>
                          <a:spcPts val="0"/>
                        </a:spcBef>
                        <a:spcAft>
                          <a:spcPts val="0"/>
                        </a:spcAft>
                        <a:buClr>
                          <a:srgbClr val="000000"/>
                        </a:buClr>
                        <a:buSzPts val="1800"/>
                        <a:buFont typeface="Arial"/>
                        <a:buNone/>
                      </a:pPr>
                      <a:r>
                        <a:rPr lang="en-US" sz="1800" u="none" cap="none" strike="noStrike">
                          <a:solidFill>
                            <a:srgbClr val="000000"/>
                          </a:solidFill>
                          <a:latin typeface="DM Sans"/>
                          <a:ea typeface="DM Sans"/>
                          <a:cs typeface="DM Sans"/>
                          <a:sym typeface="DM Sans"/>
                        </a:rPr>
                        <a:t>100.00</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noFill/>
                  </a:tcPr>
                </a:tc>
                <a:tc>
                  <a:txBody>
                    <a:bodyPr/>
                    <a:lstStyle/>
                    <a:p>
                      <a:pPr indent="0" lvl="0" marL="0" marR="0" rtl="0" algn="ctr">
                        <a:lnSpc>
                          <a:spcPct val="140000"/>
                        </a:lnSpc>
                        <a:spcBef>
                          <a:spcPts val="0"/>
                        </a:spcBef>
                        <a:spcAft>
                          <a:spcPts val="0"/>
                        </a:spcAft>
                        <a:buClr>
                          <a:srgbClr val="000000"/>
                        </a:buClr>
                        <a:buSzPts val="1800"/>
                        <a:buFont typeface="Arial"/>
                        <a:buNone/>
                      </a:pPr>
                      <a:r>
                        <a:rPr lang="en-US" sz="1800" u="none" cap="none" strike="noStrike">
                          <a:solidFill>
                            <a:srgbClr val="000000"/>
                          </a:solidFill>
                          <a:latin typeface="DM Sans"/>
                          <a:ea typeface="DM Sans"/>
                          <a:cs typeface="DM Sans"/>
                          <a:sym typeface="DM Sans"/>
                        </a:rPr>
                        <a:t>Juan</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noFill/>
                  </a:tcPr>
                </a:tc>
              </a:tr>
              <a:tr h="771525">
                <a:tc>
                  <a:txBody>
                    <a:bodyPr/>
                    <a:lstStyle/>
                    <a:p>
                      <a:pPr indent="0" lvl="0" marL="0" marR="0" rtl="0" algn="ctr">
                        <a:lnSpc>
                          <a:spcPct val="140000"/>
                        </a:lnSpc>
                        <a:spcBef>
                          <a:spcPts val="0"/>
                        </a:spcBef>
                        <a:spcAft>
                          <a:spcPts val="0"/>
                        </a:spcAft>
                        <a:buClr>
                          <a:srgbClr val="000000"/>
                        </a:buClr>
                        <a:buSzPts val="1800"/>
                        <a:buFont typeface="Arial"/>
                        <a:buNone/>
                      </a:pPr>
                      <a:r>
                        <a:rPr lang="en-US" sz="1800" u="none" cap="none" strike="noStrike">
                          <a:solidFill>
                            <a:srgbClr val="000000"/>
                          </a:solidFill>
                          <a:latin typeface="DM Sans"/>
                          <a:ea typeface="DM Sans"/>
                          <a:cs typeface="DM Sans"/>
                          <a:sym typeface="DM Sans"/>
                        </a:rPr>
                        <a:t>2</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noFill/>
                  </a:tcPr>
                </a:tc>
                <a:tc>
                  <a:txBody>
                    <a:bodyPr/>
                    <a:lstStyle/>
                    <a:p>
                      <a:pPr indent="0" lvl="0" marL="0" marR="0" rtl="0" algn="ctr">
                        <a:lnSpc>
                          <a:spcPct val="140000"/>
                        </a:lnSpc>
                        <a:spcBef>
                          <a:spcPts val="0"/>
                        </a:spcBef>
                        <a:spcAft>
                          <a:spcPts val="0"/>
                        </a:spcAft>
                        <a:buClr>
                          <a:srgbClr val="000000"/>
                        </a:buClr>
                        <a:buSzPts val="1800"/>
                        <a:buFont typeface="Arial"/>
                        <a:buNone/>
                      </a:pPr>
                      <a:r>
                        <a:rPr lang="en-US" sz="1800" u="none" cap="none" strike="noStrike">
                          <a:solidFill>
                            <a:srgbClr val="000000"/>
                          </a:solidFill>
                          <a:latin typeface="DM Sans"/>
                          <a:ea typeface="DM Sans"/>
                          <a:cs typeface="DM Sans"/>
                          <a:sym typeface="DM Sans"/>
                        </a:rPr>
                        <a:t>2</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noFill/>
                  </a:tcPr>
                </a:tc>
                <a:tc>
                  <a:txBody>
                    <a:bodyPr/>
                    <a:lstStyle/>
                    <a:p>
                      <a:pPr indent="0" lvl="0" marL="0" marR="0" rtl="0" algn="ctr">
                        <a:lnSpc>
                          <a:spcPct val="140000"/>
                        </a:lnSpc>
                        <a:spcBef>
                          <a:spcPts val="0"/>
                        </a:spcBef>
                        <a:spcAft>
                          <a:spcPts val="0"/>
                        </a:spcAft>
                        <a:buClr>
                          <a:srgbClr val="000000"/>
                        </a:buClr>
                        <a:buSzPts val="1800"/>
                        <a:buFont typeface="Arial"/>
                        <a:buNone/>
                      </a:pPr>
                      <a:r>
                        <a:rPr lang="en-US" sz="1800" u="none" cap="none" strike="noStrike">
                          <a:solidFill>
                            <a:srgbClr val="000000"/>
                          </a:solidFill>
                          <a:latin typeface="DM Sans"/>
                          <a:ea typeface="DM Sans"/>
                          <a:cs typeface="DM Sans"/>
                          <a:sym typeface="DM Sans"/>
                        </a:rPr>
                        <a:t>50.00</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noFill/>
                  </a:tcPr>
                </a:tc>
                <a:tc>
                  <a:txBody>
                    <a:bodyPr/>
                    <a:lstStyle/>
                    <a:p>
                      <a:pPr indent="0" lvl="0" marL="0" marR="0" rtl="0" algn="ctr">
                        <a:lnSpc>
                          <a:spcPct val="140000"/>
                        </a:lnSpc>
                        <a:spcBef>
                          <a:spcPts val="0"/>
                        </a:spcBef>
                        <a:spcAft>
                          <a:spcPts val="0"/>
                        </a:spcAft>
                        <a:buClr>
                          <a:srgbClr val="000000"/>
                        </a:buClr>
                        <a:buSzPts val="1800"/>
                        <a:buFont typeface="Arial"/>
                        <a:buNone/>
                      </a:pPr>
                      <a:r>
                        <a:rPr lang="en-US" sz="1800" u="none" cap="none" strike="noStrike">
                          <a:solidFill>
                            <a:srgbClr val="000000"/>
                          </a:solidFill>
                          <a:latin typeface="DM Sans"/>
                          <a:ea typeface="DM Sans"/>
                          <a:cs typeface="DM Sans"/>
                          <a:sym typeface="DM Sans"/>
                        </a:rPr>
                        <a:t>Mario</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noFill/>
                  </a:tcPr>
                </a:tc>
              </a:tr>
              <a:tr h="771525">
                <a:tc>
                  <a:txBody>
                    <a:bodyPr/>
                    <a:lstStyle/>
                    <a:p>
                      <a:pPr indent="0" lvl="0" marL="0" marR="0" rtl="0" algn="ctr">
                        <a:lnSpc>
                          <a:spcPct val="140000"/>
                        </a:lnSpc>
                        <a:spcBef>
                          <a:spcPts val="0"/>
                        </a:spcBef>
                        <a:spcAft>
                          <a:spcPts val="0"/>
                        </a:spcAft>
                        <a:buClr>
                          <a:srgbClr val="000000"/>
                        </a:buClr>
                        <a:buSzPts val="1800"/>
                        <a:buFont typeface="Arial"/>
                        <a:buNone/>
                      </a:pPr>
                      <a:r>
                        <a:rPr lang="en-US" sz="1800" u="none" cap="none" strike="noStrike">
                          <a:solidFill>
                            <a:srgbClr val="000000"/>
                          </a:solidFill>
                          <a:latin typeface="DM Sans"/>
                          <a:ea typeface="DM Sans"/>
                          <a:cs typeface="DM Sans"/>
                          <a:sym typeface="DM Sans"/>
                        </a:rPr>
                        <a:t>3</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noFill/>
                  </a:tcPr>
                </a:tc>
                <a:tc>
                  <a:txBody>
                    <a:bodyPr/>
                    <a:lstStyle/>
                    <a:p>
                      <a:pPr indent="0" lvl="0" marL="0" marR="0" rtl="0" algn="ctr">
                        <a:lnSpc>
                          <a:spcPct val="140000"/>
                        </a:lnSpc>
                        <a:spcBef>
                          <a:spcPts val="0"/>
                        </a:spcBef>
                        <a:spcAft>
                          <a:spcPts val="0"/>
                        </a:spcAft>
                        <a:buClr>
                          <a:srgbClr val="000000"/>
                        </a:buClr>
                        <a:buSzPts val="1800"/>
                        <a:buFont typeface="Arial"/>
                        <a:buNone/>
                      </a:pPr>
                      <a:r>
                        <a:rPr lang="en-US" sz="1800" u="none" cap="none" strike="noStrike">
                          <a:solidFill>
                            <a:srgbClr val="000000"/>
                          </a:solidFill>
                          <a:latin typeface="DM Sans"/>
                          <a:ea typeface="DM Sans"/>
                          <a:cs typeface="DM Sans"/>
                          <a:sym typeface="DM Sans"/>
                        </a:rPr>
                        <a:t>4</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noFill/>
                  </a:tcPr>
                </a:tc>
                <a:tc>
                  <a:txBody>
                    <a:bodyPr/>
                    <a:lstStyle/>
                    <a:p>
                      <a:pPr indent="0" lvl="0" marL="0" marR="0" rtl="0" algn="ctr">
                        <a:lnSpc>
                          <a:spcPct val="140000"/>
                        </a:lnSpc>
                        <a:spcBef>
                          <a:spcPts val="0"/>
                        </a:spcBef>
                        <a:spcAft>
                          <a:spcPts val="0"/>
                        </a:spcAft>
                        <a:buClr>
                          <a:srgbClr val="000000"/>
                        </a:buClr>
                        <a:buSzPts val="1800"/>
                        <a:buFont typeface="Arial"/>
                        <a:buNone/>
                      </a:pPr>
                      <a:r>
                        <a:rPr lang="en-US" sz="1800" u="none" cap="none" strike="noStrike">
                          <a:solidFill>
                            <a:srgbClr val="000000"/>
                          </a:solidFill>
                          <a:latin typeface="DM Sans"/>
                          <a:ea typeface="DM Sans"/>
                          <a:cs typeface="DM Sans"/>
                          <a:sym typeface="DM Sans"/>
                        </a:rPr>
                        <a:t>500.00</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noFill/>
                  </a:tcPr>
                </a:tc>
                <a:tc>
                  <a:txBody>
                    <a:bodyPr/>
                    <a:lstStyle/>
                    <a:p>
                      <a:pPr indent="0" lvl="0" marL="0" marR="0" rtl="0" algn="ctr">
                        <a:lnSpc>
                          <a:spcPct val="140000"/>
                        </a:lnSpc>
                        <a:spcBef>
                          <a:spcPts val="0"/>
                        </a:spcBef>
                        <a:spcAft>
                          <a:spcPts val="0"/>
                        </a:spcAft>
                        <a:buClr>
                          <a:srgbClr val="000000"/>
                        </a:buClr>
                        <a:buSzPts val="1800"/>
                        <a:buFont typeface="Arial"/>
                        <a:buNone/>
                      </a:pPr>
                      <a:r>
                        <a:rPr lang="en-US" sz="1800" u="none" cap="none" strike="noStrike">
                          <a:solidFill>
                            <a:srgbClr val="000000"/>
                          </a:solidFill>
                          <a:latin typeface="DM Sans"/>
                          <a:ea typeface="DM Sans"/>
                          <a:cs typeface="DM Sans"/>
                          <a:sym typeface="DM Sans"/>
                        </a:rPr>
                        <a:t>Carlos</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noFill/>
                  </a:tcPr>
                </a:tc>
              </a:tr>
            </a:tbl>
          </a:graphicData>
        </a:graphic>
      </p:graphicFrame>
      <p:sp>
        <p:nvSpPr>
          <p:cNvPr id="175" name="Google Shape;175;p8"/>
          <p:cNvSpPr txBox="1"/>
          <p:nvPr/>
        </p:nvSpPr>
        <p:spPr>
          <a:xfrm>
            <a:off x="5740706" y="508625"/>
            <a:ext cx="9216300" cy="10929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7100"/>
              <a:buFont typeface="Arial"/>
              <a:buNone/>
            </a:pPr>
            <a:r>
              <a:rPr b="1" i="0" lang="en-US" sz="7100" u="none" cap="none" strike="noStrike">
                <a:solidFill>
                  <a:srgbClr val="343434"/>
                </a:solidFill>
                <a:latin typeface="Arial"/>
                <a:ea typeface="Arial"/>
                <a:cs typeface="Arial"/>
                <a:sym typeface="Arial"/>
              </a:rPr>
              <a:t>Normalización</a:t>
            </a:r>
            <a:endParaRPr b="0" i="0" sz="1400" u="none" cap="none" strike="noStrike">
              <a:solidFill>
                <a:srgbClr val="000000"/>
              </a:solidFill>
              <a:latin typeface="Arial"/>
              <a:ea typeface="Arial"/>
              <a:cs typeface="Arial"/>
              <a:sym typeface="Arial"/>
            </a:endParaRPr>
          </a:p>
        </p:txBody>
      </p:sp>
      <p:sp>
        <p:nvSpPr>
          <p:cNvPr id="176" name="Google Shape;176;p8"/>
          <p:cNvSpPr txBox="1"/>
          <p:nvPr/>
        </p:nvSpPr>
        <p:spPr>
          <a:xfrm>
            <a:off x="809827" y="550672"/>
            <a:ext cx="6472196" cy="300846"/>
          </a:xfrm>
          <a:prstGeom prst="rect">
            <a:avLst/>
          </a:prstGeom>
          <a:noFill/>
          <a:ln>
            <a:noFill/>
          </a:ln>
        </p:spPr>
        <p:txBody>
          <a:bodyPr anchorCtr="0" anchor="t" bIns="0" lIns="0" spcFirstLastPara="1" rIns="0" wrap="square" tIns="0">
            <a:spAutoFit/>
          </a:bodyPr>
          <a:lstStyle/>
          <a:p>
            <a:pPr indent="0" lvl="0" marL="0" marR="0" rtl="0" algn="l">
              <a:lnSpc>
                <a:spcPct val="100998"/>
              </a:lnSpc>
              <a:spcBef>
                <a:spcPts val="0"/>
              </a:spcBef>
              <a:spcAft>
                <a:spcPts val="0"/>
              </a:spcAft>
              <a:buClr>
                <a:srgbClr val="000000"/>
              </a:buClr>
              <a:buSzPts val="2204"/>
              <a:buFont typeface="Arial"/>
              <a:buNone/>
            </a:pPr>
            <a:r>
              <a:rPr b="1" i="0" lang="en-US" sz="2204" u="none" cap="none" strike="noStrike">
                <a:solidFill>
                  <a:srgbClr val="343434"/>
                </a:solidFill>
                <a:latin typeface="DM Sans"/>
                <a:ea typeface="DM Sans"/>
                <a:cs typeface="DM Sans"/>
                <a:sym typeface="DM Sans"/>
              </a:rPr>
              <a:t>SISTEMAS DE BASES DE DATOS 2</a:t>
            </a:r>
            <a:endParaRPr b="0" i="0" sz="1400" u="none" cap="none" strike="noStrike">
              <a:solidFill>
                <a:srgbClr val="000000"/>
              </a:solidFill>
              <a:latin typeface="Arial"/>
              <a:ea typeface="Arial"/>
              <a:cs typeface="Arial"/>
              <a:sym typeface="Arial"/>
            </a:endParaRPr>
          </a:p>
        </p:txBody>
      </p:sp>
      <p:sp>
        <p:nvSpPr>
          <p:cNvPr id="177" name="Google Shape;177;p8"/>
          <p:cNvSpPr txBox="1"/>
          <p:nvPr/>
        </p:nvSpPr>
        <p:spPr>
          <a:xfrm>
            <a:off x="567207" y="3905726"/>
            <a:ext cx="2499533" cy="488784"/>
          </a:xfrm>
          <a:prstGeom prst="rect">
            <a:avLst/>
          </a:prstGeom>
          <a:noFill/>
          <a:ln>
            <a:noFill/>
          </a:ln>
        </p:spPr>
        <p:txBody>
          <a:bodyPr anchorCtr="0" anchor="t" bIns="0" lIns="0" spcFirstLastPara="1" rIns="0" wrap="square" tIns="0">
            <a:spAutoFit/>
          </a:bodyPr>
          <a:lstStyle/>
          <a:p>
            <a:pPr indent="0" lvl="0" marL="0" marR="0" rtl="0" algn="just">
              <a:lnSpc>
                <a:spcPct val="128990"/>
              </a:lnSpc>
              <a:spcBef>
                <a:spcPts val="0"/>
              </a:spcBef>
              <a:spcAft>
                <a:spcPts val="0"/>
              </a:spcAft>
              <a:buClr>
                <a:srgbClr val="000000"/>
              </a:buClr>
              <a:buSzPts val="3070"/>
              <a:buFont typeface="Arial"/>
              <a:buNone/>
            </a:pPr>
            <a:r>
              <a:rPr b="0" i="0" lang="en-US" sz="3070" u="none" cap="none" strike="noStrike">
                <a:solidFill>
                  <a:srgbClr val="343434"/>
                </a:solidFill>
                <a:latin typeface="DM Sans"/>
                <a:ea typeface="DM Sans"/>
                <a:cs typeface="DM Sans"/>
                <a:sym typeface="DM Sans"/>
              </a:rPr>
              <a:t>Tabla Ventas</a:t>
            </a:r>
            <a:endParaRPr b="0" i="0" sz="1400" u="none" cap="none" strike="noStrike">
              <a:solidFill>
                <a:srgbClr val="000000"/>
              </a:solidFill>
              <a:latin typeface="Arial"/>
              <a:ea typeface="Arial"/>
              <a:cs typeface="Arial"/>
              <a:sym typeface="Arial"/>
            </a:endParaRPr>
          </a:p>
        </p:txBody>
      </p:sp>
      <p:sp>
        <p:nvSpPr>
          <p:cNvPr id="178" name="Google Shape;178;p8"/>
          <p:cNvSpPr txBox="1"/>
          <p:nvPr/>
        </p:nvSpPr>
        <p:spPr>
          <a:xfrm>
            <a:off x="8175726" y="4067651"/>
            <a:ext cx="2499533" cy="488784"/>
          </a:xfrm>
          <a:prstGeom prst="rect">
            <a:avLst/>
          </a:prstGeom>
          <a:noFill/>
          <a:ln>
            <a:noFill/>
          </a:ln>
        </p:spPr>
        <p:txBody>
          <a:bodyPr anchorCtr="0" anchor="t" bIns="0" lIns="0" spcFirstLastPara="1" rIns="0" wrap="square" tIns="0">
            <a:spAutoFit/>
          </a:bodyPr>
          <a:lstStyle/>
          <a:p>
            <a:pPr indent="0" lvl="0" marL="0" marR="0" rtl="0" algn="just">
              <a:lnSpc>
                <a:spcPct val="128990"/>
              </a:lnSpc>
              <a:spcBef>
                <a:spcPts val="0"/>
              </a:spcBef>
              <a:spcAft>
                <a:spcPts val="0"/>
              </a:spcAft>
              <a:buClr>
                <a:srgbClr val="000000"/>
              </a:buClr>
              <a:buSzPts val="3070"/>
              <a:buFont typeface="Arial"/>
              <a:buNone/>
            </a:pPr>
            <a:r>
              <a:rPr b="0" i="0" lang="en-US" sz="3070" u="none" cap="none" strike="noStrike">
                <a:solidFill>
                  <a:srgbClr val="343434"/>
                </a:solidFill>
                <a:latin typeface="DM Sans"/>
                <a:ea typeface="DM Sans"/>
                <a:cs typeface="DM Sans"/>
                <a:sym typeface="DM Sans"/>
              </a:rPr>
              <a:t>Tabla Ventas</a:t>
            </a:r>
            <a:endParaRPr b="0" i="0" sz="1400" u="none" cap="none" strike="noStrike">
              <a:solidFill>
                <a:srgbClr val="000000"/>
              </a:solidFill>
              <a:latin typeface="Arial"/>
              <a:ea typeface="Arial"/>
              <a:cs typeface="Arial"/>
              <a:sym typeface="Arial"/>
            </a:endParaRPr>
          </a:p>
        </p:txBody>
      </p:sp>
      <p:sp>
        <p:nvSpPr>
          <p:cNvPr id="179" name="Google Shape;179;p8"/>
          <p:cNvSpPr txBox="1"/>
          <p:nvPr/>
        </p:nvSpPr>
        <p:spPr>
          <a:xfrm>
            <a:off x="13422583" y="4067651"/>
            <a:ext cx="2697090" cy="488784"/>
          </a:xfrm>
          <a:prstGeom prst="rect">
            <a:avLst/>
          </a:prstGeom>
          <a:noFill/>
          <a:ln>
            <a:noFill/>
          </a:ln>
        </p:spPr>
        <p:txBody>
          <a:bodyPr anchorCtr="0" anchor="t" bIns="0" lIns="0" spcFirstLastPara="1" rIns="0" wrap="square" tIns="0">
            <a:spAutoFit/>
          </a:bodyPr>
          <a:lstStyle/>
          <a:p>
            <a:pPr indent="0" lvl="0" marL="0" marR="0" rtl="0" algn="just">
              <a:lnSpc>
                <a:spcPct val="128990"/>
              </a:lnSpc>
              <a:spcBef>
                <a:spcPts val="0"/>
              </a:spcBef>
              <a:spcAft>
                <a:spcPts val="0"/>
              </a:spcAft>
              <a:buClr>
                <a:srgbClr val="000000"/>
              </a:buClr>
              <a:buSzPts val="3070"/>
              <a:buFont typeface="Arial"/>
              <a:buNone/>
            </a:pPr>
            <a:r>
              <a:rPr b="0" i="0" lang="en-US" sz="3070" u="none" cap="none" strike="noStrike">
                <a:solidFill>
                  <a:srgbClr val="343434"/>
                </a:solidFill>
                <a:latin typeface="DM Sans"/>
                <a:ea typeface="DM Sans"/>
                <a:cs typeface="DM Sans"/>
                <a:sym typeface="DM Sans"/>
              </a:rPr>
              <a:t>Tabla Clientes</a:t>
            </a:r>
            <a:endParaRPr b="0" i="0" sz="1400" u="none" cap="none" strike="noStrike">
              <a:solidFill>
                <a:srgbClr val="000000"/>
              </a:solidFill>
              <a:latin typeface="Arial"/>
              <a:ea typeface="Arial"/>
              <a:cs typeface="Arial"/>
              <a:sym typeface="Arial"/>
            </a:endParaRPr>
          </a:p>
        </p:txBody>
      </p:sp>
      <p:sp>
        <p:nvSpPr>
          <p:cNvPr id="180" name="Google Shape;180;p8"/>
          <p:cNvSpPr txBox="1"/>
          <p:nvPr/>
        </p:nvSpPr>
        <p:spPr>
          <a:xfrm>
            <a:off x="809827" y="1899902"/>
            <a:ext cx="16585413" cy="1479384"/>
          </a:xfrm>
          <a:prstGeom prst="rect">
            <a:avLst/>
          </a:prstGeom>
          <a:noFill/>
          <a:ln>
            <a:noFill/>
          </a:ln>
        </p:spPr>
        <p:txBody>
          <a:bodyPr anchorCtr="0" anchor="t" bIns="0" lIns="0" spcFirstLastPara="1" rIns="0" wrap="square" tIns="0">
            <a:spAutoFit/>
          </a:bodyPr>
          <a:lstStyle/>
          <a:p>
            <a:pPr indent="0" lvl="0" marL="0" marR="0" rtl="0" algn="just">
              <a:lnSpc>
                <a:spcPct val="128990"/>
              </a:lnSpc>
              <a:spcBef>
                <a:spcPts val="0"/>
              </a:spcBef>
              <a:spcAft>
                <a:spcPts val="0"/>
              </a:spcAft>
              <a:buClr>
                <a:srgbClr val="000000"/>
              </a:buClr>
              <a:buSzPts val="3070"/>
              <a:buFont typeface="Arial"/>
              <a:buNone/>
            </a:pPr>
            <a:r>
              <a:rPr b="1" i="0" lang="en-US" sz="3070" u="none" cap="none" strike="noStrike">
                <a:solidFill>
                  <a:srgbClr val="343434"/>
                </a:solidFill>
                <a:latin typeface="DM Sans"/>
                <a:ea typeface="DM Sans"/>
                <a:cs typeface="DM Sans"/>
                <a:sym typeface="DM Sans"/>
              </a:rPr>
              <a:t>Segunda Forma Normal (2FN)</a:t>
            </a:r>
            <a:endParaRPr b="0" i="0" sz="1400" u="none" cap="none" strike="noStrike">
              <a:solidFill>
                <a:srgbClr val="000000"/>
              </a:solidFill>
              <a:latin typeface="Arial"/>
              <a:ea typeface="Arial"/>
              <a:cs typeface="Arial"/>
              <a:sym typeface="Arial"/>
            </a:endParaRPr>
          </a:p>
          <a:p>
            <a:pPr indent="0" lvl="0" marL="0" marR="0" rtl="0" algn="just">
              <a:lnSpc>
                <a:spcPct val="128990"/>
              </a:lnSpc>
              <a:spcBef>
                <a:spcPts val="0"/>
              </a:spcBef>
              <a:spcAft>
                <a:spcPts val="0"/>
              </a:spcAft>
              <a:buClr>
                <a:srgbClr val="000000"/>
              </a:buClr>
              <a:buSzPts val="3070"/>
              <a:buFont typeface="Arial"/>
              <a:buNone/>
            </a:pPr>
            <a:r>
              <a:rPr b="0" i="0" lang="en-US" sz="3070" u="none" cap="none" strike="noStrike">
                <a:solidFill>
                  <a:srgbClr val="343434"/>
                </a:solidFill>
                <a:latin typeface="DM Sans"/>
                <a:ea typeface="DM Sans"/>
                <a:cs typeface="DM Sans"/>
                <a:sym typeface="DM Sans"/>
              </a:rPr>
              <a:t>Cumple con la 1FN y además exige que todos los atributos no clave dependan completamente de la clave primaria</a:t>
            </a:r>
            <a:endParaRPr b="0" i="0" sz="1400" u="none" cap="none" strike="noStrike">
              <a:solidFill>
                <a:srgbClr val="000000"/>
              </a:solidFill>
              <a:latin typeface="Arial"/>
              <a:ea typeface="Arial"/>
              <a:cs typeface="Arial"/>
              <a:sym typeface="Arial"/>
            </a:endParaRPr>
          </a:p>
        </p:txBody>
      </p:sp>
      <p:graphicFrame>
        <p:nvGraphicFramePr>
          <p:cNvPr id="181" name="Google Shape;181;p8"/>
          <p:cNvGraphicFramePr/>
          <p:nvPr/>
        </p:nvGraphicFramePr>
        <p:xfrm>
          <a:off x="13493632" y="4713597"/>
          <a:ext cx="3000000" cy="3000000"/>
        </p:xfrm>
        <a:graphic>
          <a:graphicData uri="http://schemas.openxmlformats.org/drawingml/2006/table">
            <a:tbl>
              <a:tblPr>
                <a:noFill/>
                <a:tableStyleId>{C2ED1157-09C8-47B0-9555-5C5715805245}</a:tableStyleId>
              </a:tblPr>
              <a:tblGrid>
                <a:gridCol w="1388225"/>
                <a:gridCol w="2377450"/>
              </a:tblGrid>
              <a:tr h="771525">
                <a:tc>
                  <a:txBody>
                    <a:bodyPr/>
                    <a:lstStyle/>
                    <a:p>
                      <a:pPr indent="0" lvl="0" marL="0" marR="0" rtl="0" algn="ctr">
                        <a:lnSpc>
                          <a:spcPct val="140000"/>
                        </a:lnSpc>
                        <a:spcBef>
                          <a:spcPts val="0"/>
                        </a:spcBef>
                        <a:spcAft>
                          <a:spcPts val="0"/>
                        </a:spcAft>
                        <a:buClr>
                          <a:srgbClr val="000000"/>
                        </a:buClr>
                        <a:buSzPts val="1800"/>
                        <a:buFont typeface="Arial"/>
                        <a:buNone/>
                      </a:pPr>
                      <a:r>
                        <a:rPr b="1" lang="en-US" sz="1800" u="none" cap="none" strike="noStrike">
                          <a:solidFill>
                            <a:srgbClr val="000000"/>
                          </a:solidFill>
                          <a:latin typeface="DM Sans"/>
                          <a:ea typeface="DM Sans"/>
                          <a:cs typeface="DM Sans"/>
                          <a:sym typeface="DM Sans"/>
                        </a:rPr>
                        <a:t>cliente</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noFill/>
                  </a:tcPr>
                </a:tc>
                <a:tc>
                  <a:txBody>
                    <a:bodyPr/>
                    <a:lstStyle/>
                    <a:p>
                      <a:pPr indent="0" lvl="0" marL="0" marR="0" rtl="0" algn="ctr">
                        <a:lnSpc>
                          <a:spcPct val="140000"/>
                        </a:lnSpc>
                        <a:spcBef>
                          <a:spcPts val="0"/>
                        </a:spcBef>
                        <a:spcAft>
                          <a:spcPts val="0"/>
                        </a:spcAft>
                        <a:buClr>
                          <a:srgbClr val="000000"/>
                        </a:buClr>
                        <a:buSzPts val="1800"/>
                        <a:buFont typeface="Arial"/>
                        <a:buNone/>
                      </a:pPr>
                      <a:r>
                        <a:rPr b="1" lang="en-US" sz="1800" u="none" cap="none" strike="noStrike">
                          <a:solidFill>
                            <a:srgbClr val="000000"/>
                          </a:solidFill>
                          <a:latin typeface="DM Sans"/>
                          <a:ea typeface="DM Sans"/>
                          <a:cs typeface="DM Sans"/>
                          <a:sym typeface="DM Sans"/>
                        </a:rPr>
                        <a:t>nombre_cliente</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noFill/>
                  </a:tcPr>
                </a:tc>
              </a:tr>
              <a:tr h="771525">
                <a:tc>
                  <a:txBody>
                    <a:bodyPr/>
                    <a:lstStyle/>
                    <a:p>
                      <a:pPr indent="0" lvl="0" marL="0" marR="0" rtl="0" algn="ctr">
                        <a:lnSpc>
                          <a:spcPct val="140000"/>
                        </a:lnSpc>
                        <a:spcBef>
                          <a:spcPts val="0"/>
                        </a:spcBef>
                        <a:spcAft>
                          <a:spcPts val="0"/>
                        </a:spcAft>
                        <a:buClr>
                          <a:srgbClr val="000000"/>
                        </a:buClr>
                        <a:buSzPts val="1800"/>
                        <a:buFont typeface="Arial"/>
                        <a:buNone/>
                      </a:pPr>
                      <a:r>
                        <a:rPr lang="en-US" sz="1800" u="none" cap="none" strike="noStrike">
                          <a:solidFill>
                            <a:srgbClr val="000000"/>
                          </a:solidFill>
                          <a:latin typeface="DM Sans"/>
                          <a:ea typeface="DM Sans"/>
                          <a:cs typeface="DM Sans"/>
                          <a:sym typeface="DM Sans"/>
                        </a:rPr>
                        <a:t>1</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noFill/>
                  </a:tcPr>
                </a:tc>
                <a:tc>
                  <a:txBody>
                    <a:bodyPr/>
                    <a:lstStyle/>
                    <a:p>
                      <a:pPr indent="0" lvl="0" marL="0" marR="0" rtl="0" algn="ctr">
                        <a:lnSpc>
                          <a:spcPct val="140000"/>
                        </a:lnSpc>
                        <a:spcBef>
                          <a:spcPts val="0"/>
                        </a:spcBef>
                        <a:spcAft>
                          <a:spcPts val="0"/>
                        </a:spcAft>
                        <a:buClr>
                          <a:srgbClr val="000000"/>
                        </a:buClr>
                        <a:buSzPts val="1800"/>
                        <a:buFont typeface="Arial"/>
                        <a:buNone/>
                      </a:pPr>
                      <a:r>
                        <a:rPr lang="en-US" sz="1800" u="none" cap="none" strike="noStrike">
                          <a:solidFill>
                            <a:srgbClr val="000000"/>
                          </a:solidFill>
                          <a:latin typeface="DM Sans"/>
                          <a:ea typeface="DM Sans"/>
                          <a:cs typeface="DM Sans"/>
                          <a:sym typeface="DM Sans"/>
                        </a:rPr>
                        <a:t>Juan</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noFill/>
                  </a:tcPr>
                </a:tc>
              </a:tr>
              <a:tr h="771525">
                <a:tc>
                  <a:txBody>
                    <a:bodyPr/>
                    <a:lstStyle/>
                    <a:p>
                      <a:pPr indent="0" lvl="0" marL="0" marR="0" rtl="0" algn="ctr">
                        <a:lnSpc>
                          <a:spcPct val="140000"/>
                        </a:lnSpc>
                        <a:spcBef>
                          <a:spcPts val="0"/>
                        </a:spcBef>
                        <a:spcAft>
                          <a:spcPts val="0"/>
                        </a:spcAft>
                        <a:buClr>
                          <a:srgbClr val="000000"/>
                        </a:buClr>
                        <a:buSzPts val="1800"/>
                        <a:buFont typeface="Arial"/>
                        <a:buNone/>
                      </a:pPr>
                      <a:r>
                        <a:rPr lang="en-US" sz="1800" u="none" cap="none" strike="noStrike">
                          <a:solidFill>
                            <a:srgbClr val="000000"/>
                          </a:solidFill>
                          <a:latin typeface="DM Sans"/>
                          <a:ea typeface="DM Sans"/>
                          <a:cs typeface="DM Sans"/>
                          <a:sym typeface="DM Sans"/>
                        </a:rPr>
                        <a:t>2</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noFill/>
                  </a:tcPr>
                </a:tc>
                <a:tc>
                  <a:txBody>
                    <a:bodyPr/>
                    <a:lstStyle/>
                    <a:p>
                      <a:pPr indent="0" lvl="0" marL="0" marR="0" rtl="0" algn="ctr">
                        <a:lnSpc>
                          <a:spcPct val="140000"/>
                        </a:lnSpc>
                        <a:spcBef>
                          <a:spcPts val="0"/>
                        </a:spcBef>
                        <a:spcAft>
                          <a:spcPts val="0"/>
                        </a:spcAft>
                        <a:buClr>
                          <a:srgbClr val="000000"/>
                        </a:buClr>
                        <a:buSzPts val="1800"/>
                        <a:buFont typeface="Arial"/>
                        <a:buNone/>
                      </a:pPr>
                      <a:r>
                        <a:rPr lang="en-US" sz="1800" u="none" cap="none" strike="noStrike">
                          <a:solidFill>
                            <a:srgbClr val="000000"/>
                          </a:solidFill>
                          <a:latin typeface="DM Sans"/>
                          <a:ea typeface="DM Sans"/>
                          <a:cs typeface="DM Sans"/>
                          <a:sym typeface="DM Sans"/>
                        </a:rPr>
                        <a:t>Mario</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noFill/>
                  </a:tcPr>
                </a:tc>
              </a:tr>
              <a:tr h="771525">
                <a:tc>
                  <a:txBody>
                    <a:bodyPr/>
                    <a:lstStyle/>
                    <a:p>
                      <a:pPr indent="0" lvl="0" marL="0" marR="0" rtl="0" algn="ctr">
                        <a:lnSpc>
                          <a:spcPct val="140000"/>
                        </a:lnSpc>
                        <a:spcBef>
                          <a:spcPts val="0"/>
                        </a:spcBef>
                        <a:spcAft>
                          <a:spcPts val="0"/>
                        </a:spcAft>
                        <a:buClr>
                          <a:srgbClr val="000000"/>
                        </a:buClr>
                        <a:buSzPts val="1800"/>
                        <a:buFont typeface="Arial"/>
                        <a:buNone/>
                      </a:pPr>
                      <a:r>
                        <a:rPr lang="en-US" sz="1800" u="none" cap="none" strike="noStrike">
                          <a:solidFill>
                            <a:srgbClr val="000000"/>
                          </a:solidFill>
                          <a:latin typeface="DM Sans"/>
                          <a:ea typeface="DM Sans"/>
                          <a:cs typeface="DM Sans"/>
                          <a:sym typeface="DM Sans"/>
                        </a:rPr>
                        <a:t>4</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noFill/>
                  </a:tcPr>
                </a:tc>
                <a:tc>
                  <a:txBody>
                    <a:bodyPr/>
                    <a:lstStyle/>
                    <a:p>
                      <a:pPr indent="0" lvl="0" marL="0" marR="0" rtl="0" algn="ctr">
                        <a:lnSpc>
                          <a:spcPct val="140000"/>
                        </a:lnSpc>
                        <a:spcBef>
                          <a:spcPts val="0"/>
                        </a:spcBef>
                        <a:spcAft>
                          <a:spcPts val="0"/>
                        </a:spcAft>
                        <a:buClr>
                          <a:srgbClr val="000000"/>
                        </a:buClr>
                        <a:buSzPts val="1800"/>
                        <a:buFont typeface="Arial"/>
                        <a:buNone/>
                      </a:pPr>
                      <a:r>
                        <a:rPr lang="en-US" sz="1800" u="none" cap="none" strike="noStrike">
                          <a:solidFill>
                            <a:srgbClr val="000000"/>
                          </a:solidFill>
                          <a:latin typeface="DM Sans"/>
                          <a:ea typeface="DM Sans"/>
                          <a:cs typeface="DM Sans"/>
                          <a:sym typeface="DM Sans"/>
                        </a:rPr>
                        <a:t>Carlos</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noFill/>
                  </a:tcPr>
                </a:tc>
              </a:tr>
            </a:tbl>
          </a:graphicData>
        </a:graphic>
      </p:graphicFrame>
      <p:graphicFrame>
        <p:nvGraphicFramePr>
          <p:cNvPr id="182" name="Google Shape;182;p8"/>
          <p:cNvGraphicFramePr/>
          <p:nvPr/>
        </p:nvGraphicFramePr>
        <p:xfrm>
          <a:off x="7890960" y="4556435"/>
          <a:ext cx="3000000" cy="3000000"/>
        </p:xfrm>
        <a:graphic>
          <a:graphicData uri="http://schemas.openxmlformats.org/drawingml/2006/table">
            <a:tbl>
              <a:tblPr>
                <a:noFill/>
                <a:tableStyleId>{C2ED1157-09C8-47B0-9555-5C5715805245}</a:tableStyleId>
              </a:tblPr>
              <a:tblGrid>
                <a:gridCol w="1422350"/>
                <a:gridCol w="1827225"/>
                <a:gridCol w="1884400"/>
              </a:tblGrid>
              <a:tr h="771525">
                <a:tc>
                  <a:txBody>
                    <a:bodyPr/>
                    <a:lstStyle/>
                    <a:p>
                      <a:pPr indent="0" lvl="0" marL="0" marR="0" rtl="0" algn="ctr">
                        <a:lnSpc>
                          <a:spcPct val="140000"/>
                        </a:lnSpc>
                        <a:spcBef>
                          <a:spcPts val="0"/>
                        </a:spcBef>
                        <a:spcAft>
                          <a:spcPts val="0"/>
                        </a:spcAft>
                        <a:buClr>
                          <a:srgbClr val="000000"/>
                        </a:buClr>
                        <a:buSzPts val="1800"/>
                        <a:buFont typeface="Arial"/>
                        <a:buNone/>
                      </a:pPr>
                      <a:r>
                        <a:rPr b="1" lang="en-US" sz="1800" u="none" cap="none" strike="noStrike">
                          <a:solidFill>
                            <a:srgbClr val="000000"/>
                          </a:solidFill>
                          <a:latin typeface="DM Sans"/>
                          <a:ea typeface="DM Sans"/>
                          <a:cs typeface="DM Sans"/>
                          <a:sym typeface="DM Sans"/>
                        </a:rPr>
                        <a:t>id_venta</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noFill/>
                  </a:tcPr>
                </a:tc>
                <a:tc>
                  <a:txBody>
                    <a:bodyPr/>
                    <a:lstStyle/>
                    <a:p>
                      <a:pPr indent="0" lvl="0" marL="0" marR="0" rtl="0" algn="ctr">
                        <a:lnSpc>
                          <a:spcPct val="140000"/>
                        </a:lnSpc>
                        <a:spcBef>
                          <a:spcPts val="0"/>
                        </a:spcBef>
                        <a:spcAft>
                          <a:spcPts val="0"/>
                        </a:spcAft>
                        <a:buClr>
                          <a:srgbClr val="000000"/>
                        </a:buClr>
                        <a:buSzPts val="1800"/>
                        <a:buFont typeface="Arial"/>
                        <a:buNone/>
                      </a:pPr>
                      <a:r>
                        <a:rPr b="1" lang="en-US" sz="1800" u="none" cap="none" strike="noStrike">
                          <a:solidFill>
                            <a:srgbClr val="000000"/>
                          </a:solidFill>
                          <a:latin typeface="DM Sans"/>
                          <a:ea typeface="DM Sans"/>
                          <a:cs typeface="DM Sans"/>
                          <a:sym typeface="DM Sans"/>
                        </a:rPr>
                        <a:t>id_cliente</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noFill/>
                  </a:tcPr>
                </a:tc>
                <a:tc>
                  <a:txBody>
                    <a:bodyPr/>
                    <a:lstStyle/>
                    <a:p>
                      <a:pPr indent="0" lvl="0" marL="0" marR="0" rtl="0" algn="ctr">
                        <a:lnSpc>
                          <a:spcPct val="140000"/>
                        </a:lnSpc>
                        <a:spcBef>
                          <a:spcPts val="0"/>
                        </a:spcBef>
                        <a:spcAft>
                          <a:spcPts val="0"/>
                        </a:spcAft>
                        <a:buClr>
                          <a:srgbClr val="000000"/>
                        </a:buClr>
                        <a:buSzPts val="1800"/>
                        <a:buFont typeface="Arial"/>
                        <a:buNone/>
                      </a:pPr>
                      <a:r>
                        <a:rPr b="1" lang="en-US" sz="1800" u="none" cap="none" strike="noStrike">
                          <a:solidFill>
                            <a:srgbClr val="000000"/>
                          </a:solidFill>
                          <a:latin typeface="DM Sans"/>
                          <a:ea typeface="DM Sans"/>
                          <a:cs typeface="DM Sans"/>
                          <a:sym typeface="DM Sans"/>
                        </a:rPr>
                        <a:t>monto</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noFill/>
                  </a:tcPr>
                </a:tc>
              </a:tr>
              <a:tr h="771525">
                <a:tc>
                  <a:txBody>
                    <a:bodyPr/>
                    <a:lstStyle/>
                    <a:p>
                      <a:pPr indent="0" lvl="0" marL="0" marR="0" rtl="0" algn="ctr">
                        <a:lnSpc>
                          <a:spcPct val="140000"/>
                        </a:lnSpc>
                        <a:spcBef>
                          <a:spcPts val="0"/>
                        </a:spcBef>
                        <a:spcAft>
                          <a:spcPts val="0"/>
                        </a:spcAft>
                        <a:buClr>
                          <a:srgbClr val="000000"/>
                        </a:buClr>
                        <a:buSzPts val="1800"/>
                        <a:buFont typeface="Arial"/>
                        <a:buNone/>
                      </a:pPr>
                      <a:r>
                        <a:rPr lang="en-US" sz="1800" u="none" cap="none" strike="noStrike">
                          <a:solidFill>
                            <a:srgbClr val="000000"/>
                          </a:solidFill>
                          <a:latin typeface="DM Sans"/>
                          <a:ea typeface="DM Sans"/>
                          <a:cs typeface="DM Sans"/>
                          <a:sym typeface="DM Sans"/>
                        </a:rPr>
                        <a:t>1</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noFill/>
                  </a:tcPr>
                </a:tc>
                <a:tc>
                  <a:txBody>
                    <a:bodyPr/>
                    <a:lstStyle/>
                    <a:p>
                      <a:pPr indent="0" lvl="0" marL="0" marR="0" rtl="0" algn="ctr">
                        <a:lnSpc>
                          <a:spcPct val="140000"/>
                        </a:lnSpc>
                        <a:spcBef>
                          <a:spcPts val="0"/>
                        </a:spcBef>
                        <a:spcAft>
                          <a:spcPts val="0"/>
                        </a:spcAft>
                        <a:buClr>
                          <a:srgbClr val="000000"/>
                        </a:buClr>
                        <a:buSzPts val="1800"/>
                        <a:buFont typeface="Arial"/>
                        <a:buNone/>
                      </a:pPr>
                      <a:r>
                        <a:rPr lang="en-US" sz="1800" u="none" cap="none" strike="noStrike">
                          <a:solidFill>
                            <a:srgbClr val="000000"/>
                          </a:solidFill>
                          <a:latin typeface="DM Sans"/>
                          <a:ea typeface="DM Sans"/>
                          <a:cs typeface="DM Sans"/>
                          <a:sym typeface="DM Sans"/>
                        </a:rPr>
                        <a:t>1</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noFill/>
                  </a:tcPr>
                </a:tc>
                <a:tc>
                  <a:txBody>
                    <a:bodyPr/>
                    <a:lstStyle/>
                    <a:p>
                      <a:pPr indent="0" lvl="0" marL="0" marR="0" rtl="0" algn="ctr">
                        <a:lnSpc>
                          <a:spcPct val="140000"/>
                        </a:lnSpc>
                        <a:spcBef>
                          <a:spcPts val="0"/>
                        </a:spcBef>
                        <a:spcAft>
                          <a:spcPts val="0"/>
                        </a:spcAft>
                        <a:buClr>
                          <a:srgbClr val="000000"/>
                        </a:buClr>
                        <a:buSzPts val="1800"/>
                        <a:buFont typeface="Arial"/>
                        <a:buNone/>
                      </a:pPr>
                      <a:r>
                        <a:rPr lang="en-US" sz="1800" u="none" cap="none" strike="noStrike">
                          <a:solidFill>
                            <a:srgbClr val="000000"/>
                          </a:solidFill>
                          <a:latin typeface="DM Sans"/>
                          <a:ea typeface="DM Sans"/>
                          <a:cs typeface="DM Sans"/>
                          <a:sym typeface="DM Sans"/>
                        </a:rPr>
                        <a:t>100.00</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noFill/>
                  </a:tcPr>
                </a:tc>
              </a:tr>
              <a:tr h="771525">
                <a:tc>
                  <a:txBody>
                    <a:bodyPr/>
                    <a:lstStyle/>
                    <a:p>
                      <a:pPr indent="0" lvl="0" marL="0" marR="0" rtl="0" algn="ctr">
                        <a:lnSpc>
                          <a:spcPct val="140000"/>
                        </a:lnSpc>
                        <a:spcBef>
                          <a:spcPts val="0"/>
                        </a:spcBef>
                        <a:spcAft>
                          <a:spcPts val="0"/>
                        </a:spcAft>
                        <a:buClr>
                          <a:srgbClr val="000000"/>
                        </a:buClr>
                        <a:buSzPts val="1800"/>
                        <a:buFont typeface="Arial"/>
                        <a:buNone/>
                      </a:pPr>
                      <a:r>
                        <a:rPr lang="en-US" sz="1800" u="none" cap="none" strike="noStrike">
                          <a:solidFill>
                            <a:srgbClr val="000000"/>
                          </a:solidFill>
                          <a:latin typeface="DM Sans"/>
                          <a:ea typeface="DM Sans"/>
                          <a:cs typeface="DM Sans"/>
                          <a:sym typeface="DM Sans"/>
                        </a:rPr>
                        <a:t>2</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noFill/>
                  </a:tcPr>
                </a:tc>
                <a:tc>
                  <a:txBody>
                    <a:bodyPr/>
                    <a:lstStyle/>
                    <a:p>
                      <a:pPr indent="0" lvl="0" marL="0" marR="0" rtl="0" algn="ctr">
                        <a:lnSpc>
                          <a:spcPct val="140000"/>
                        </a:lnSpc>
                        <a:spcBef>
                          <a:spcPts val="0"/>
                        </a:spcBef>
                        <a:spcAft>
                          <a:spcPts val="0"/>
                        </a:spcAft>
                        <a:buClr>
                          <a:srgbClr val="000000"/>
                        </a:buClr>
                        <a:buSzPts val="1800"/>
                        <a:buFont typeface="Arial"/>
                        <a:buNone/>
                      </a:pPr>
                      <a:r>
                        <a:rPr lang="en-US" sz="1800" u="none" cap="none" strike="noStrike">
                          <a:solidFill>
                            <a:srgbClr val="000000"/>
                          </a:solidFill>
                          <a:latin typeface="DM Sans"/>
                          <a:ea typeface="DM Sans"/>
                          <a:cs typeface="DM Sans"/>
                          <a:sym typeface="DM Sans"/>
                        </a:rPr>
                        <a:t>2</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noFill/>
                  </a:tcPr>
                </a:tc>
                <a:tc>
                  <a:txBody>
                    <a:bodyPr/>
                    <a:lstStyle/>
                    <a:p>
                      <a:pPr indent="0" lvl="0" marL="0" marR="0" rtl="0" algn="ctr">
                        <a:lnSpc>
                          <a:spcPct val="140000"/>
                        </a:lnSpc>
                        <a:spcBef>
                          <a:spcPts val="0"/>
                        </a:spcBef>
                        <a:spcAft>
                          <a:spcPts val="0"/>
                        </a:spcAft>
                        <a:buClr>
                          <a:srgbClr val="000000"/>
                        </a:buClr>
                        <a:buSzPts val="1800"/>
                        <a:buFont typeface="Arial"/>
                        <a:buNone/>
                      </a:pPr>
                      <a:r>
                        <a:rPr lang="en-US" sz="1800" u="none" cap="none" strike="noStrike">
                          <a:solidFill>
                            <a:srgbClr val="000000"/>
                          </a:solidFill>
                          <a:latin typeface="DM Sans"/>
                          <a:ea typeface="DM Sans"/>
                          <a:cs typeface="DM Sans"/>
                          <a:sym typeface="DM Sans"/>
                        </a:rPr>
                        <a:t>50.00</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noFill/>
                  </a:tcPr>
                </a:tc>
              </a:tr>
              <a:tr h="771525">
                <a:tc>
                  <a:txBody>
                    <a:bodyPr/>
                    <a:lstStyle/>
                    <a:p>
                      <a:pPr indent="0" lvl="0" marL="0" marR="0" rtl="0" algn="ctr">
                        <a:lnSpc>
                          <a:spcPct val="140000"/>
                        </a:lnSpc>
                        <a:spcBef>
                          <a:spcPts val="0"/>
                        </a:spcBef>
                        <a:spcAft>
                          <a:spcPts val="0"/>
                        </a:spcAft>
                        <a:buClr>
                          <a:srgbClr val="000000"/>
                        </a:buClr>
                        <a:buSzPts val="1800"/>
                        <a:buFont typeface="Arial"/>
                        <a:buNone/>
                      </a:pPr>
                      <a:r>
                        <a:rPr lang="en-US" sz="1800" u="none" cap="none" strike="noStrike">
                          <a:solidFill>
                            <a:srgbClr val="000000"/>
                          </a:solidFill>
                          <a:latin typeface="DM Sans"/>
                          <a:ea typeface="DM Sans"/>
                          <a:cs typeface="DM Sans"/>
                          <a:sym typeface="DM Sans"/>
                        </a:rPr>
                        <a:t>3</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noFill/>
                  </a:tcPr>
                </a:tc>
                <a:tc>
                  <a:txBody>
                    <a:bodyPr/>
                    <a:lstStyle/>
                    <a:p>
                      <a:pPr indent="0" lvl="0" marL="0" marR="0" rtl="0" algn="ctr">
                        <a:lnSpc>
                          <a:spcPct val="140000"/>
                        </a:lnSpc>
                        <a:spcBef>
                          <a:spcPts val="0"/>
                        </a:spcBef>
                        <a:spcAft>
                          <a:spcPts val="0"/>
                        </a:spcAft>
                        <a:buClr>
                          <a:srgbClr val="000000"/>
                        </a:buClr>
                        <a:buSzPts val="1800"/>
                        <a:buFont typeface="Arial"/>
                        <a:buNone/>
                      </a:pPr>
                      <a:r>
                        <a:rPr lang="en-US" sz="1800" u="none" cap="none" strike="noStrike">
                          <a:solidFill>
                            <a:srgbClr val="000000"/>
                          </a:solidFill>
                          <a:latin typeface="DM Sans"/>
                          <a:ea typeface="DM Sans"/>
                          <a:cs typeface="DM Sans"/>
                          <a:sym typeface="DM Sans"/>
                        </a:rPr>
                        <a:t>4</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noFill/>
                  </a:tcPr>
                </a:tc>
                <a:tc>
                  <a:txBody>
                    <a:bodyPr/>
                    <a:lstStyle/>
                    <a:p>
                      <a:pPr indent="0" lvl="0" marL="0" marR="0" rtl="0" algn="ctr">
                        <a:lnSpc>
                          <a:spcPct val="140000"/>
                        </a:lnSpc>
                        <a:spcBef>
                          <a:spcPts val="0"/>
                        </a:spcBef>
                        <a:spcAft>
                          <a:spcPts val="0"/>
                        </a:spcAft>
                        <a:buClr>
                          <a:srgbClr val="000000"/>
                        </a:buClr>
                        <a:buSzPts val="1800"/>
                        <a:buFont typeface="Arial"/>
                        <a:buNone/>
                      </a:pPr>
                      <a:r>
                        <a:rPr lang="en-US" sz="1800" u="none" cap="none" strike="noStrike">
                          <a:solidFill>
                            <a:srgbClr val="000000"/>
                          </a:solidFill>
                          <a:latin typeface="DM Sans"/>
                          <a:ea typeface="DM Sans"/>
                          <a:cs typeface="DM Sans"/>
                          <a:sym typeface="DM Sans"/>
                        </a:rPr>
                        <a:t>500.00</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no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5EC"/>
        </a:solidFill>
      </p:bgPr>
    </p:bg>
    <p:spTree>
      <p:nvGrpSpPr>
        <p:cNvPr id="186" name="Shape 186"/>
        <p:cNvGrpSpPr/>
        <p:nvPr/>
      </p:nvGrpSpPr>
      <p:grpSpPr>
        <a:xfrm>
          <a:off x="0" y="0"/>
          <a:ext cx="0" cy="0"/>
          <a:chOff x="0" y="0"/>
          <a:chExt cx="0" cy="0"/>
        </a:xfrm>
      </p:grpSpPr>
      <p:sp>
        <p:nvSpPr>
          <p:cNvPr id="187" name="Google Shape;187;p9"/>
          <p:cNvSpPr/>
          <p:nvPr/>
        </p:nvSpPr>
        <p:spPr>
          <a:xfrm>
            <a:off x="-485035" y="-4485535"/>
            <a:ext cx="19258069" cy="19258069"/>
          </a:xfrm>
          <a:custGeom>
            <a:rect b="b" l="l" r="r" t="t"/>
            <a:pathLst>
              <a:path extrusionOk="0" h="19258069" w="19258069">
                <a:moveTo>
                  <a:pt x="0" y="0"/>
                </a:moveTo>
                <a:lnTo>
                  <a:pt x="19258070" y="0"/>
                </a:lnTo>
                <a:lnTo>
                  <a:pt x="19258070" y="19258070"/>
                </a:lnTo>
                <a:lnTo>
                  <a:pt x="0" y="19258070"/>
                </a:lnTo>
                <a:lnTo>
                  <a:pt x="0" y="0"/>
                </a:lnTo>
                <a:close/>
              </a:path>
            </a:pathLst>
          </a:custGeom>
          <a:blipFill rotWithShape="1">
            <a:blip r:embed="rId3">
              <a:alphaModFix amt="4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8" name="Google Shape;188;p9"/>
          <p:cNvSpPr txBox="1"/>
          <p:nvPr/>
        </p:nvSpPr>
        <p:spPr>
          <a:xfrm>
            <a:off x="5740705" y="1041400"/>
            <a:ext cx="8497800" cy="10929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7100"/>
              <a:buFont typeface="Arial"/>
              <a:buNone/>
            </a:pPr>
            <a:r>
              <a:rPr b="1" i="0" lang="en-US" sz="7100" u="none" cap="none" strike="noStrike">
                <a:solidFill>
                  <a:srgbClr val="343434"/>
                </a:solidFill>
                <a:latin typeface="Arial"/>
                <a:ea typeface="Arial"/>
                <a:cs typeface="Arial"/>
                <a:sym typeface="Arial"/>
              </a:rPr>
              <a:t>Normalización</a:t>
            </a:r>
            <a:endParaRPr b="0" i="0" sz="1400" u="none" cap="none" strike="noStrike">
              <a:solidFill>
                <a:srgbClr val="000000"/>
              </a:solidFill>
              <a:latin typeface="Arial"/>
              <a:ea typeface="Arial"/>
              <a:cs typeface="Arial"/>
              <a:sym typeface="Arial"/>
            </a:endParaRPr>
          </a:p>
        </p:txBody>
      </p:sp>
      <p:sp>
        <p:nvSpPr>
          <p:cNvPr id="189" name="Google Shape;189;p9"/>
          <p:cNvSpPr txBox="1"/>
          <p:nvPr/>
        </p:nvSpPr>
        <p:spPr>
          <a:xfrm>
            <a:off x="809827" y="550672"/>
            <a:ext cx="6472196" cy="300846"/>
          </a:xfrm>
          <a:prstGeom prst="rect">
            <a:avLst/>
          </a:prstGeom>
          <a:noFill/>
          <a:ln>
            <a:noFill/>
          </a:ln>
        </p:spPr>
        <p:txBody>
          <a:bodyPr anchorCtr="0" anchor="t" bIns="0" lIns="0" spcFirstLastPara="1" rIns="0" wrap="square" tIns="0">
            <a:spAutoFit/>
          </a:bodyPr>
          <a:lstStyle/>
          <a:p>
            <a:pPr indent="0" lvl="0" marL="0" marR="0" rtl="0" algn="l">
              <a:lnSpc>
                <a:spcPct val="100998"/>
              </a:lnSpc>
              <a:spcBef>
                <a:spcPts val="0"/>
              </a:spcBef>
              <a:spcAft>
                <a:spcPts val="0"/>
              </a:spcAft>
              <a:buClr>
                <a:srgbClr val="000000"/>
              </a:buClr>
              <a:buSzPts val="2204"/>
              <a:buFont typeface="Arial"/>
              <a:buNone/>
            </a:pPr>
            <a:r>
              <a:rPr b="1" i="0" lang="en-US" sz="2204" u="none" cap="none" strike="noStrike">
                <a:solidFill>
                  <a:srgbClr val="343434"/>
                </a:solidFill>
                <a:latin typeface="DM Sans"/>
                <a:ea typeface="DM Sans"/>
                <a:cs typeface="DM Sans"/>
                <a:sym typeface="DM Sans"/>
              </a:rPr>
              <a:t>SISTEMAS DE BASES DE DATOS 2</a:t>
            </a:r>
            <a:endParaRPr b="0" i="0" sz="1400" u="none" cap="none" strike="noStrike">
              <a:solidFill>
                <a:srgbClr val="000000"/>
              </a:solidFill>
              <a:latin typeface="Arial"/>
              <a:ea typeface="Arial"/>
              <a:cs typeface="Arial"/>
              <a:sym typeface="Arial"/>
            </a:endParaRPr>
          </a:p>
        </p:txBody>
      </p:sp>
      <p:sp>
        <p:nvSpPr>
          <p:cNvPr id="190" name="Google Shape;190;p9"/>
          <p:cNvSpPr txBox="1"/>
          <p:nvPr/>
        </p:nvSpPr>
        <p:spPr>
          <a:xfrm>
            <a:off x="1028700" y="3534462"/>
            <a:ext cx="16230600" cy="1479384"/>
          </a:xfrm>
          <a:prstGeom prst="rect">
            <a:avLst/>
          </a:prstGeom>
          <a:noFill/>
          <a:ln>
            <a:noFill/>
          </a:ln>
        </p:spPr>
        <p:txBody>
          <a:bodyPr anchorCtr="0" anchor="t" bIns="0" lIns="0" spcFirstLastPara="1" rIns="0" wrap="square" tIns="0">
            <a:spAutoFit/>
          </a:bodyPr>
          <a:lstStyle/>
          <a:p>
            <a:pPr indent="0" lvl="0" marL="0" marR="0" rtl="0" algn="just">
              <a:lnSpc>
                <a:spcPct val="128990"/>
              </a:lnSpc>
              <a:spcBef>
                <a:spcPts val="0"/>
              </a:spcBef>
              <a:spcAft>
                <a:spcPts val="0"/>
              </a:spcAft>
              <a:buClr>
                <a:srgbClr val="000000"/>
              </a:buClr>
              <a:buSzPts val="3070"/>
              <a:buFont typeface="Arial"/>
              <a:buNone/>
            </a:pPr>
            <a:r>
              <a:rPr b="1" i="0" lang="en-US" sz="3070" u="none" cap="none" strike="noStrike">
                <a:solidFill>
                  <a:srgbClr val="343434"/>
                </a:solidFill>
                <a:latin typeface="DM Sans"/>
                <a:ea typeface="DM Sans"/>
                <a:cs typeface="DM Sans"/>
                <a:sym typeface="DM Sans"/>
              </a:rPr>
              <a:t>Tercera Forma Normal (3FN)</a:t>
            </a:r>
            <a:endParaRPr b="0" i="0" sz="1400" u="none" cap="none" strike="noStrike">
              <a:solidFill>
                <a:srgbClr val="000000"/>
              </a:solidFill>
              <a:latin typeface="Arial"/>
              <a:ea typeface="Arial"/>
              <a:cs typeface="Arial"/>
              <a:sym typeface="Arial"/>
            </a:endParaRPr>
          </a:p>
          <a:p>
            <a:pPr indent="0" lvl="0" marL="0" marR="0" rtl="0" algn="just">
              <a:lnSpc>
                <a:spcPct val="128990"/>
              </a:lnSpc>
              <a:spcBef>
                <a:spcPts val="0"/>
              </a:spcBef>
              <a:spcAft>
                <a:spcPts val="0"/>
              </a:spcAft>
              <a:buClr>
                <a:srgbClr val="000000"/>
              </a:buClr>
              <a:buSzPts val="3070"/>
              <a:buFont typeface="Arial"/>
              <a:buNone/>
            </a:pPr>
            <a:r>
              <a:rPr b="0" i="0" lang="en-US" sz="3070" u="none" cap="none" strike="noStrike">
                <a:solidFill>
                  <a:srgbClr val="343434"/>
                </a:solidFill>
                <a:latin typeface="DM Sans"/>
                <a:ea typeface="DM Sans"/>
                <a:cs typeface="DM Sans"/>
                <a:sym typeface="DM Sans"/>
              </a:rPr>
              <a:t>Cumple con la 2FN y asegura que no existan dependencias transitivas, es decir, los atributos no clave no deben depender de otros atributos no clave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5EC"/>
        </a:solidFill>
      </p:bgPr>
    </p:bg>
    <p:spTree>
      <p:nvGrpSpPr>
        <p:cNvPr id="194" name="Shape 194"/>
        <p:cNvGrpSpPr/>
        <p:nvPr/>
      </p:nvGrpSpPr>
      <p:grpSpPr>
        <a:xfrm>
          <a:off x="0" y="0"/>
          <a:ext cx="0" cy="0"/>
          <a:chOff x="0" y="0"/>
          <a:chExt cx="0" cy="0"/>
        </a:xfrm>
      </p:grpSpPr>
      <p:sp>
        <p:nvSpPr>
          <p:cNvPr id="195" name="Google Shape;195;p10"/>
          <p:cNvSpPr/>
          <p:nvPr/>
        </p:nvSpPr>
        <p:spPr>
          <a:xfrm>
            <a:off x="-485035" y="-4485535"/>
            <a:ext cx="19258069" cy="19258069"/>
          </a:xfrm>
          <a:custGeom>
            <a:rect b="b" l="l" r="r" t="t"/>
            <a:pathLst>
              <a:path extrusionOk="0" h="19258069" w="19258069">
                <a:moveTo>
                  <a:pt x="0" y="0"/>
                </a:moveTo>
                <a:lnTo>
                  <a:pt x="19258070" y="0"/>
                </a:lnTo>
                <a:lnTo>
                  <a:pt x="19258070" y="19258070"/>
                </a:lnTo>
                <a:lnTo>
                  <a:pt x="0" y="19258070"/>
                </a:lnTo>
                <a:lnTo>
                  <a:pt x="0" y="0"/>
                </a:lnTo>
                <a:close/>
              </a:path>
            </a:pathLst>
          </a:custGeom>
          <a:blipFill rotWithShape="1">
            <a:blip r:embed="rId3">
              <a:alphaModFix amt="4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6" name="Google Shape;196;p10"/>
          <p:cNvSpPr/>
          <p:nvPr/>
        </p:nvSpPr>
        <p:spPr>
          <a:xfrm>
            <a:off x="12227835" y="2232094"/>
            <a:ext cx="5610468" cy="6246472"/>
          </a:xfrm>
          <a:custGeom>
            <a:rect b="b" l="l" r="r" t="t"/>
            <a:pathLst>
              <a:path extrusionOk="0" h="6246472" w="5610468">
                <a:moveTo>
                  <a:pt x="0" y="0"/>
                </a:moveTo>
                <a:lnTo>
                  <a:pt x="5610467" y="0"/>
                </a:lnTo>
                <a:lnTo>
                  <a:pt x="5610467" y="6246472"/>
                </a:lnTo>
                <a:lnTo>
                  <a:pt x="0" y="624647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7" name="Google Shape;197;p10"/>
          <p:cNvSpPr txBox="1"/>
          <p:nvPr/>
        </p:nvSpPr>
        <p:spPr>
          <a:xfrm>
            <a:off x="510439" y="2867765"/>
            <a:ext cx="11338174" cy="6646545"/>
          </a:xfrm>
          <a:prstGeom prst="rect">
            <a:avLst/>
          </a:prstGeom>
          <a:noFill/>
          <a:ln>
            <a:noFill/>
          </a:ln>
        </p:spPr>
        <p:txBody>
          <a:bodyPr anchorCtr="0" anchor="t" bIns="0" lIns="0" spcFirstLastPara="1" rIns="0" wrap="square" tIns="0">
            <a:spAutoFit/>
          </a:bodyPr>
          <a:lstStyle/>
          <a:p>
            <a:pPr indent="0" lvl="0" marL="0" marR="0" rtl="0" algn="just">
              <a:lnSpc>
                <a:spcPct val="140014"/>
              </a:lnSpc>
              <a:spcBef>
                <a:spcPts val="0"/>
              </a:spcBef>
              <a:spcAft>
                <a:spcPts val="0"/>
              </a:spcAft>
              <a:buClr>
                <a:srgbClr val="000000"/>
              </a:buClr>
              <a:buSzPts val="2699"/>
              <a:buFont typeface="Arial"/>
              <a:buNone/>
            </a:pPr>
            <a:r>
              <a:rPr b="0" i="0" lang="en-US" sz="2699" u="none" cap="none" strike="noStrike">
                <a:solidFill>
                  <a:srgbClr val="343434"/>
                </a:solidFill>
                <a:latin typeface="DM Sans"/>
                <a:ea typeface="DM Sans"/>
                <a:cs typeface="DM Sans"/>
                <a:sym typeface="DM Sans"/>
              </a:rPr>
              <a:t>Se refiere a la duplicación innecesaria de datos</a:t>
            </a:r>
            <a:endParaRPr b="0" i="0" sz="1400" u="none" cap="none" strike="noStrike">
              <a:solidFill>
                <a:srgbClr val="000000"/>
              </a:solidFill>
              <a:latin typeface="Arial"/>
              <a:ea typeface="Arial"/>
              <a:cs typeface="Arial"/>
              <a:sym typeface="Arial"/>
            </a:endParaRPr>
          </a:p>
          <a:p>
            <a:pPr indent="0" lvl="0" marL="0" marR="0" rtl="0" algn="just">
              <a:lnSpc>
                <a:spcPct val="140014"/>
              </a:lnSpc>
              <a:spcBef>
                <a:spcPts val="0"/>
              </a:spcBef>
              <a:spcAft>
                <a:spcPts val="0"/>
              </a:spcAft>
              <a:buClr>
                <a:srgbClr val="000000"/>
              </a:buClr>
              <a:buSzPts val="2699"/>
              <a:buFont typeface="Arial"/>
              <a:buNone/>
            </a:pPr>
            <a:r>
              <a:t/>
            </a:r>
            <a:endParaRPr b="0" i="0" sz="2699" u="none" cap="none" strike="noStrike">
              <a:solidFill>
                <a:srgbClr val="343434"/>
              </a:solidFill>
              <a:latin typeface="DM Sans"/>
              <a:ea typeface="DM Sans"/>
              <a:cs typeface="DM Sans"/>
              <a:sym typeface="DM Sans"/>
            </a:endParaRPr>
          </a:p>
          <a:p>
            <a:pPr indent="0" lvl="0" marL="0" marR="0" rtl="0" algn="just">
              <a:lnSpc>
                <a:spcPct val="140014"/>
              </a:lnSpc>
              <a:spcBef>
                <a:spcPts val="0"/>
              </a:spcBef>
              <a:spcAft>
                <a:spcPts val="0"/>
              </a:spcAft>
              <a:buClr>
                <a:srgbClr val="000000"/>
              </a:buClr>
              <a:buSzPts val="2699"/>
              <a:buFont typeface="Arial"/>
              <a:buNone/>
            </a:pPr>
            <a:r>
              <a:rPr b="0" i="0" lang="en-US" sz="2699" u="none" cap="none" strike="noStrike">
                <a:solidFill>
                  <a:srgbClr val="343434"/>
                </a:solidFill>
                <a:latin typeface="DM Sans"/>
                <a:ea typeface="DM Sans"/>
                <a:cs typeface="DM Sans"/>
                <a:sym typeface="DM Sans"/>
              </a:rPr>
              <a:t>Problemas:</a:t>
            </a:r>
            <a:endParaRPr b="0" i="0" sz="1400" u="none" cap="none" strike="noStrike">
              <a:solidFill>
                <a:srgbClr val="000000"/>
              </a:solidFill>
              <a:latin typeface="Arial"/>
              <a:ea typeface="Arial"/>
              <a:cs typeface="Arial"/>
              <a:sym typeface="Arial"/>
            </a:endParaRPr>
          </a:p>
          <a:p>
            <a:pPr indent="-291464" lvl="1" marL="582928" marR="0" rtl="0" algn="just">
              <a:lnSpc>
                <a:spcPct val="140014"/>
              </a:lnSpc>
              <a:spcBef>
                <a:spcPts val="0"/>
              </a:spcBef>
              <a:spcAft>
                <a:spcPts val="0"/>
              </a:spcAft>
              <a:buClr>
                <a:srgbClr val="343434"/>
              </a:buClr>
              <a:buSzPts val="2699"/>
              <a:buFont typeface="Arial"/>
              <a:buChar char="•"/>
            </a:pPr>
            <a:r>
              <a:rPr b="0" i="0" lang="en-US" sz="2699" u="none" cap="none" strike="noStrike">
                <a:solidFill>
                  <a:srgbClr val="343434"/>
                </a:solidFill>
                <a:latin typeface="DM Sans"/>
                <a:ea typeface="DM Sans"/>
                <a:cs typeface="DM Sans"/>
                <a:sym typeface="DM Sans"/>
              </a:rPr>
              <a:t>Inconsistencias: Los datos duplicados pueden volverse contradictorios.</a:t>
            </a:r>
            <a:endParaRPr b="0" i="0" sz="1400" u="none" cap="none" strike="noStrike">
              <a:solidFill>
                <a:srgbClr val="000000"/>
              </a:solidFill>
              <a:latin typeface="Arial"/>
              <a:ea typeface="Arial"/>
              <a:cs typeface="Arial"/>
              <a:sym typeface="Arial"/>
            </a:endParaRPr>
          </a:p>
          <a:p>
            <a:pPr indent="-291464" lvl="1" marL="582928" marR="0" rtl="0" algn="just">
              <a:lnSpc>
                <a:spcPct val="140014"/>
              </a:lnSpc>
              <a:spcBef>
                <a:spcPts val="0"/>
              </a:spcBef>
              <a:spcAft>
                <a:spcPts val="0"/>
              </a:spcAft>
              <a:buClr>
                <a:srgbClr val="343434"/>
              </a:buClr>
              <a:buSzPts val="2699"/>
              <a:buFont typeface="Arial"/>
              <a:buChar char="•"/>
            </a:pPr>
            <a:r>
              <a:rPr b="0" i="0" lang="en-US" sz="2699" u="none" cap="none" strike="noStrike">
                <a:solidFill>
                  <a:srgbClr val="343434"/>
                </a:solidFill>
                <a:latin typeface="DM Sans"/>
                <a:ea typeface="DM Sans"/>
                <a:cs typeface="DM Sans"/>
                <a:sym typeface="DM Sans"/>
              </a:rPr>
              <a:t>Mayor almacenamiento: Almacenar datos redundantes ocupa más espacio.</a:t>
            </a:r>
            <a:endParaRPr b="0" i="0" sz="1400" u="none" cap="none" strike="noStrike">
              <a:solidFill>
                <a:srgbClr val="000000"/>
              </a:solidFill>
              <a:latin typeface="Arial"/>
              <a:ea typeface="Arial"/>
              <a:cs typeface="Arial"/>
              <a:sym typeface="Arial"/>
            </a:endParaRPr>
          </a:p>
          <a:p>
            <a:pPr indent="-291464" lvl="1" marL="582928" marR="0" rtl="0" algn="just">
              <a:lnSpc>
                <a:spcPct val="140014"/>
              </a:lnSpc>
              <a:spcBef>
                <a:spcPts val="0"/>
              </a:spcBef>
              <a:spcAft>
                <a:spcPts val="0"/>
              </a:spcAft>
              <a:buClr>
                <a:srgbClr val="343434"/>
              </a:buClr>
              <a:buSzPts val="2699"/>
              <a:buFont typeface="Arial"/>
              <a:buChar char="•"/>
            </a:pPr>
            <a:r>
              <a:rPr b="0" i="0" lang="en-US" sz="2699" u="none" cap="none" strike="noStrike">
                <a:solidFill>
                  <a:srgbClr val="343434"/>
                </a:solidFill>
                <a:latin typeface="DM Sans"/>
                <a:ea typeface="DM Sans"/>
                <a:cs typeface="DM Sans"/>
                <a:sym typeface="DM Sans"/>
              </a:rPr>
              <a:t>Dificultad en la actualización: Modificar un dato repetido en varias ubicaciones puede generar errores.</a:t>
            </a:r>
            <a:endParaRPr b="0" i="0" sz="1400" u="none" cap="none" strike="noStrike">
              <a:solidFill>
                <a:srgbClr val="000000"/>
              </a:solidFill>
              <a:latin typeface="Arial"/>
              <a:ea typeface="Arial"/>
              <a:cs typeface="Arial"/>
              <a:sym typeface="Arial"/>
            </a:endParaRPr>
          </a:p>
          <a:p>
            <a:pPr indent="0" lvl="0" marL="0" marR="0" rtl="0" algn="just">
              <a:lnSpc>
                <a:spcPct val="140014"/>
              </a:lnSpc>
              <a:spcBef>
                <a:spcPts val="0"/>
              </a:spcBef>
              <a:spcAft>
                <a:spcPts val="0"/>
              </a:spcAft>
              <a:buClr>
                <a:srgbClr val="000000"/>
              </a:buClr>
              <a:buSzPts val="2699"/>
              <a:buFont typeface="Arial"/>
              <a:buNone/>
            </a:pPr>
            <a:r>
              <a:t/>
            </a:r>
            <a:endParaRPr b="0" i="0" sz="2699" u="none" cap="none" strike="noStrike">
              <a:solidFill>
                <a:srgbClr val="343434"/>
              </a:solidFill>
              <a:latin typeface="DM Sans"/>
              <a:ea typeface="DM Sans"/>
              <a:cs typeface="DM Sans"/>
              <a:sym typeface="DM Sans"/>
            </a:endParaRPr>
          </a:p>
          <a:p>
            <a:pPr indent="0" lvl="0" marL="0" marR="0" rtl="0" algn="just">
              <a:lnSpc>
                <a:spcPct val="140014"/>
              </a:lnSpc>
              <a:spcBef>
                <a:spcPts val="0"/>
              </a:spcBef>
              <a:spcAft>
                <a:spcPts val="0"/>
              </a:spcAft>
              <a:buClr>
                <a:srgbClr val="000000"/>
              </a:buClr>
              <a:buSzPts val="2699"/>
              <a:buFont typeface="Arial"/>
              <a:buNone/>
            </a:pPr>
            <a:r>
              <a:rPr b="0" i="0" lang="en-US" sz="2699" u="none" cap="none" strike="noStrike">
                <a:solidFill>
                  <a:srgbClr val="343434"/>
                </a:solidFill>
                <a:latin typeface="DM Sans"/>
                <a:ea typeface="DM Sans"/>
                <a:cs typeface="DM Sans"/>
                <a:sym typeface="DM Sans"/>
              </a:rPr>
              <a:t>Ejemplo: Si se repiten direcciones en cada orden de un cliente, esto puede generar redundancias. En cambio, se puede almacenar una única dirección en una tabla separada de clientes.</a:t>
            </a:r>
            <a:endParaRPr b="0" i="0" sz="1400" u="none" cap="none" strike="noStrike">
              <a:solidFill>
                <a:srgbClr val="000000"/>
              </a:solidFill>
              <a:latin typeface="Arial"/>
              <a:ea typeface="Arial"/>
              <a:cs typeface="Arial"/>
              <a:sym typeface="Arial"/>
            </a:endParaRPr>
          </a:p>
          <a:p>
            <a:pPr indent="0" lvl="0" marL="0" marR="0" rtl="0" algn="just">
              <a:lnSpc>
                <a:spcPct val="140014"/>
              </a:lnSpc>
              <a:spcBef>
                <a:spcPts val="0"/>
              </a:spcBef>
              <a:spcAft>
                <a:spcPts val="0"/>
              </a:spcAft>
              <a:buClr>
                <a:srgbClr val="000000"/>
              </a:buClr>
              <a:buSzPts val="2699"/>
              <a:buFont typeface="Arial"/>
              <a:buNone/>
            </a:pPr>
            <a:r>
              <a:t/>
            </a:r>
            <a:endParaRPr b="0" i="0" sz="2699" u="none" cap="none" strike="noStrike">
              <a:solidFill>
                <a:srgbClr val="343434"/>
              </a:solidFill>
              <a:latin typeface="DM Sans"/>
              <a:ea typeface="DM Sans"/>
              <a:cs typeface="DM Sans"/>
              <a:sym typeface="DM Sans"/>
            </a:endParaRPr>
          </a:p>
        </p:txBody>
      </p:sp>
      <p:sp>
        <p:nvSpPr>
          <p:cNvPr id="198" name="Google Shape;198;p10"/>
          <p:cNvSpPr txBox="1"/>
          <p:nvPr/>
        </p:nvSpPr>
        <p:spPr>
          <a:xfrm>
            <a:off x="830992" y="572512"/>
            <a:ext cx="6472196" cy="300846"/>
          </a:xfrm>
          <a:prstGeom prst="rect">
            <a:avLst/>
          </a:prstGeom>
          <a:noFill/>
          <a:ln>
            <a:noFill/>
          </a:ln>
        </p:spPr>
        <p:txBody>
          <a:bodyPr anchorCtr="0" anchor="t" bIns="0" lIns="0" spcFirstLastPara="1" rIns="0" wrap="square" tIns="0">
            <a:spAutoFit/>
          </a:bodyPr>
          <a:lstStyle/>
          <a:p>
            <a:pPr indent="0" lvl="0" marL="0" marR="0" rtl="0" algn="l">
              <a:lnSpc>
                <a:spcPct val="100998"/>
              </a:lnSpc>
              <a:spcBef>
                <a:spcPts val="0"/>
              </a:spcBef>
              <a:spcAft>
                <a:spcPts val="0"/>
              </a:spcAft>
              <a:buClr>
                <a:srgbClr val="000000"/>
              </a:buClr>
              <a:buSzPts val="2204"/>
              <a:buFont typeface="Arial"/>
              <a:buNone/>
            </a:pPr>
            <a:r>
              <a:rPr b="1" i="0" lang="en-US" sz="2204" u="none" cap="none" strike="noStrike">
                <a:solidFill>
                  <a:srgbClr val="343434"/>
                </a:solidFill>
                <a:latin typeface="DM Sans"/>
                <a:ea typeface="DM Sans"/>
                <a:cs typeface="DM Sans"/>
                <a:sym typeface="DM Sans"/>
              </a:rPr>
              <a:t>SISTEMAS DE BASES DE DATOS 2</a:t>
            </a:r>
            <a:endParaRPr b="0" i="0" sz="1400" u="none" cap="none" strike="noStrike">
              <a:solidFill>
                <a:srgbClr val="000000"/>
              </a:solidFill>
              <a:latin typeface="Arial"/>
              <a:ea typeface="Arial"/>
              <a:cs typeface="Arial"/>
              <a:sym typeface="Arial"/>
            </a:endParaRPr>
          </a:p>
        </p:txBody>
      </p:sp>
      <p:sp>
        <p:nvSpPr>
          <p:cNvPr id="199" name="Google Shape;199;p10"/>
          <p:cNvSpPr txBox="1"/>
          <p:nvPr/>
        </p:nvSpPr>
        <p:spPr>
          <a:xfrm>
            <a:off x="2591480" y="1112849"/>
            <a:ext cx="6145185" cy="1462405"/>
          </a:xfrm>
          <a:prstGeom prst="rect">
            <a:avLst/>
          </a:prstGeom>
          <a:noFill/>
          <a:ln>
            <a:noFill/>
          </a:ln>
        </p:spPr>
        <p:txBody>
          <a:bodyPr anchorCtr="0" anchor="t" bIns="0" lIns="0" spcFirstLastPara="1" rIns="0" wrap="square" tIns="0">
            <a:spAutoFit/>
          </a:bodyPr>
          <a:lstStyle/>
          <a:p>
            <a:pPr indent="0" lvl="0" marL="0" marR="0" rtl="0" algn="l">
              <a:lnSpc>
                <a:spcPct val="140005"/>
              </a:lnSpc>
              <a:spcBef>
                <a:spcPts val="0"/>
              </a:spcBef>
              <a:spcAft>
                <a:spcPts val="0"/>
              </a:spcAft>
              <a:buClr>
                <a:srgbClr val="000000"/>
              </a:buClr>
              <a:buSzPts val="7299"/>
              <a:buFont typeface="Arial"/>
              <a:buNone/>
            </a:pPr>
            <a:r>
              <a:rPr b="1" i="0" lang="en-US" sz="7299" u="none" cap="none" strike="noStrike">
                <a:solidFill>
                  <a:srgbClr val="343434"/>
                </a:solidFill>
                <a:latin typeface="Arial"/>
                <a:ea typeface="Arial"/>
                <a:cs typeface="Arial"/>
                <a:sym typeface="Arial"/>
              </a:rPr>
              <a:t>Redundancia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5EC"/>
        </a:solidFill>
      </p:bgPr>
    </p:bg>
    <p:spTree>
      <p:nvGrpSpPr>
        <p:cNvPr id="203" name="Shape 203"/>
        <p:cNvGrpSpPr/>
        <p:nvPr/>
      </p:nvGrpSpPr>
      <p:grpSpPr>
        <a:xfrm>
          <a:off x="0" y="0"/>
          <a:ext cx="0" cy="0"/>
          <a:chOff x="0" y="0"/>
          <a:chExt cx="0" cy="0"/>
        </a:xfrm>
      </p:grpSpPr>
      <p:sp>
        <p:nvSpPr>
          <p:cNvPr id="204" name="Google Shape;204;p11"/>
          <p:cNvSpPr/>
          <p:nvPr/>
        </p:nvSpPr>
        <p:spPr>
          <a:xfrm>
            <a:off x="-485035" y="-4485535"/>
            <a:ext cx="19258069" cy="19258069"/>
          </a:xfrm>
          <a:custGeom>
            <a:rect b="b" l="l" r="r" t="t"/>
            <a:pathLst>
              <a:path extrusionOk="0" h="19258069" w="19258069">
                <a:moveTo>
                  <a:pt x="0" y="0"/>
                </a:moveTo>
                <a:lnTo>
                  <a:pt x="19258070" y="0"/>
                </a:lnTo>
                <a:lnTo>
                  <a:pt x="19258070" y="19258070"/>
                </a:lnTo>
                <a:lnTo>
                  <a:pt x="0" y="19258070"/>
                </a:lnTo>
                <a:lnTo>
                  <a:pt x="0" y="0"/>
                </a:lnTo>
                <a:close/>
              </a:path>
            </a:pathLst>
          </a:custGeom>
          <a:blipFill rotWithShape="1">
            <a:blip r:embed="rId3">
              <a:alphaModFix amt="4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5" name="Google Shape;205;p11"/>
          <p:cNvSpPr txBox="1"/>
          <p:nvPr/>
        </p:nvSpPr>
        <p:spPr>
          <a:xfrm>
            <a:off x="915724" y="3106329"/>
            <a:ext cx="14479471" cy="4631055"/>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3300"/>
              <a:buFont typeface="Arial"/>
              <a:buNone/>
            </a:pPr>
            <a:r>
              <a:rPr b="1" i="0" lang="en-US" sz="3300" u="none" cap="none" strike="noStrike">
                <a:solidFill>
                  <a:srgbClr val="343434"/>
                </a:solidFill>
                <a:latin typeface="DM Sans"/>
                <a:ea typeface="DM Sans"/>
                <a:cs typeface="DM Sans"/>
                <a:sym typeface="DM Sans"/>
              </a:rPr>
              <a:t>COUNT</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3300"/>
              <a:buFont typeface="Arial"/>
              <a:buNone/>
            </a:pPr>
            <a:r>
              <a:rPr b="0" i="0" lang="en-US" sz="3300" u="none" cap="none" strike="noStrike">
                <a:solidFill>
                  <a:srgbClr val="343434"/>
                </a:solidFill>
                <a:latin typeface="DM Sans"/>
                <a:ea typeface="DM Sans"/>
                <a:cs typeface="DM Sans"/>
                <a:sym typeface="DM Sans"/>
              </a:rPr>
              <a:t>Devuelve el número de filas que cumplen con una condición específica.</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3300"/>
              <a:buFont typeface="Arial"/>
              <a:buNone/>
            </a:pPr>
            <a:r>
              <a:t/>
            </a:r>
            <a:endParaRPr b="0" i="0" sz="3300" u="none" cap="none" strike="noStrike">
              <a:solidFill>
                <a:srgbClr val="343434"/>
              </a:solidFill>
              <a:latin typeface="DM Sans"/>
              <a:ea typeface="DM Sans"/>
              <a:cs typeface="DM Sans"/>
              <a:sym typeface="DM Sans"/>
            </a:endParaRPr>
          </a:p>
          <a:p>
            <a:pPr indent="0" lvl="0" marL="0" marR="0" rtl="0" algn="just">
              <a:lnSpc>
                <a:spcPct val="140000"/>
              </a:lnSpc>
              <a:spcBef>
                <a:spcPts val="0"/>
              </a:spcBef>
              <a:spcAft>
                <a:spcPts val="0"/>
              </a:spcAft>
              <a:buClr>
                <a:srgbClr val="000000"/>
              </a:buClr>
              <a:buSzPts val="3300"/>
              <a:buFont typeface="Arial"/>
              <a:buNone/>
            </a:pPr>
            <a:r>
              <a:rPr b="1" i="0" lang="en-US" sz="3300" u="none" cap="none" strike="noStrike">
                <a:solidFill>
                  <a:srgbClr val="343434"/>
                </a:solidFill>
                <a:latin typeface="DM Sans"/>
                <a:ea typeface="DM Sans"/>
                <a:cs typeface="DM Sans"/>
                <a:sym typeface="DM Sans"/>
              </a:rPr>
              <a:t>SUM</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3300"/>
              <a:buFont typeface="Arial"/>
              <a:buNone/>
            </a:pPr>
            <a:r>
              <a:rPr b="0" i="0" lang="en-US" sz="3300" u="none" cap="none" strike="noStrike">
                <a:solidFill>
                  <a:srgbClr val="343434"/>
                </a:solidFill>
                <a:latin typeface="DM Sans"/>
                <a:ea typeface="DM Sans"/>
                <a:cs typeface="DM Sans"/>
                <a:sym typeface="DM Sans"/>
              </a:rPr>
              <a:t>Devuelve la suma total de un campo numérico</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3300"/>
              <a:buFont typeface="Arial"/>
              <a:buNone/>
            </a:pPr>
            <a:r>
              <a:t/>
            </a:r>
            <a:endParaRPr b="0" i="0" sz="3300" u="none" cap="none" strike="noStrike">
              <a:solidFill>
                <a:srgbClr val="343434"/>
              </a:solidFill>
              <a:latin typeface="DM Sans"/>
              <a:ea typeface="DM Sans"/>
              <a:cs typeface="DM Sans"/>
              <a:sym typeface="DM Sans"/>
            </a:endParaRPr>
          </a:p>
          <a:p>
            <a:pPr indent="0" lvl="0" marL="0" marR="0" rtl="0" algn="just">
              <a:lnSpc>
                <a:spcPct val="140000"/>
              </a:lnSpc>
              <a:spcBef>
                <a:spcPts val="0"/>
              </a:spcBef>
              <a:spcAft>
                <a:spcPts val="0"/>
              </a:spcAft>
              <a:buClr>
                <a:srgbClr val="000000"/>
              </a:buClr>
              <a:buSzPts val="3300"/>
              <a:buFont typeface="Arial"/>
              <a:buNone/>
            </a:pPr>
            <a:r>
              <a:rPr b="1" i="0" lang="en-US" sz="3300" u="none" cap="none" strike="noStrike">
                <a:solidFill>
                  <a:srgbClr val="343434"/>
                </a:solidFill>
                <a:latin typeface="DM Sans"/>
                <a:ea typeface="DM Sans"/>
                <a:cs typeface="DM Sans"/>
                <a:sym typeface="DM Sans"/>
              </a:rPr>
              <a:t>AVG</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3300"/>
              <a:buFont typeface="Arial"/>
              <a:buNone/>
            </a:pPr>
            <a:r>
              <a:rPr b="0" i="0" lang="en-US" sz="3300" u="none" cap="none" strike="noStrike">
                <a:solidFill>
                  <a:srgbClr val="343434"/>
                </a:solidFill>
                <a:latin typeface="DM Sans"/>
                <a:ea typeface="DM Sans"/>
                <a:cs typeface="DM Sans"/>
                <a:sym typeface="DM Sans"/>
              </a:rPr>
              <a:t>Devuelve el valor promedio de un campo numérico.</a:t>
            </a:r>
            <a:endParaRPr b="0" i="0" sz="1400" u="none" cap="none" strike="noStrike">
              <a:solidFill>
                <a:srgbClr val="000000"/>
              </a:solidFill>
              <a:latin typeface="Arial"/>
              <a:ea typeface="Arial"/>
              <a:cs typeface="Arial"/>
              <a:sym typeface="Arial"/>
            </a:endParaRPr>
          </a:p>
        </p:txBody>
      </p:sp>
      <p:sp>
        <p:nvSpPr>
          <p:cNvPr id="206" name="Google Shape;206;p11"/>
          <p:cNvSpPr txBox="1"/>
          <p:nvPr/>
        </p:nvSpPr>
        <p:spPr>
          <a:xfrm>
            <a:off x="915724" y="530146"/>
            <a:ext cx="6472196" cy="300846"/>
          </a:xfrm>
          <a:prstGeom prst="rect">
            <a:avLst/>
          </a:prstGeom>
          <a:noFill/>
          <a:ln>
            <a:noFill/>
          </a:ln>
        </p:spPr>
        <p:txBody>
          <a:bodyPr anchorCtr="0" anchor="t" bIns="0" lIns="0" spcFirstLastPara="1" rIns="0" wrap="square" tIns="0">
            <a:spAutoFit/>
          </a:bodyPr>
          <a:lstStyle/>
          <a:p>
            <a:pPr indent="0" lvl="0" marL="0" marR="0" rtl="0" algn="l">
              <a:lnSpc>
                <a:spcPct val="100998"/>
              </a:lnSpc>
              <a:spcBef>
                <a:spcPts val="0"/>
              </a:spcBef>
              <a:spcAft>
                <a:spcPts val="0"/>
              </a:spcAft>
              <a:buClr>
                <a:srgbClr val="000000"/>
              </a:buClr>
              <a:buSzPts val="2204"/>
              <a:buFont typeface="Arial"/>
              <a:buNone/>
            </a:pPr>
            <a:r>
              <a:rPr b="1" i="0" lang="en-US" sz="2204" u="none" cap="none" strike="noStrike">
                <a:solidFill>
                  <a:srgbClr val="343434"/>
                </a:solidFill>
                <a:latin typeface="DM Sans"/>
                <a:ea typeface="DM Sans"/>
                <a:cs typeface="DM Sans"/>
                <a:sym typeface="DM Sans"/>
              </a:rPr>
              <a:t>SISTEMAS DE BASES DE DATOS 2</a:t>
            </a:r>
            <a:endParaRPr b="0" i="0" sz="1400" u="none" cap="none" strike="noStrike">
              <a:solidFill>
                <a:srgbClr val="000000"/>
              </a:solidFill>
              <a:latin typeface="Arial"/>
              <a:ea typeface="Arial"/>
              <a:cs typeface="Arial"/>
              <a:sym typeface="Arial"/>
            </a:endParaRPr>
          </a:p>
        </p:txBody>
      </p:sp>
      <p:sp>
        <p:nvSpPr>
          <p:cNvPr id="207" name="Google Shape;207;p11"/>
          <p:cNvSpPr/>
          <p:nvPr/>
        </p:nvSpPr>
        <p:spPr>
          <a:xfrm>
            <a:off x="13387317" y="4755159"/>
            <a:ext cx="4015755" cy="4709308"/>
          </a:xfrm>
          <a:custGeom>
            <a:rect b="b" l="l" r="r" t="t"/>
            <a:pathLst>
              <a:path extrusionOk="0" h="4709308" w="4015755">
                <a:moveTo>
                  <a:pt x="0" y="0"/>
                </a:moveTo>
                <a:lnTo>
                  <a:pt x="4015756" y="0"/>
                </a:lnTo>
                <a:lnTo>
                  <a:pt x="4015756" y="4709308"/>
                </a:lnTo>
                <a:lnTo>
                  <a:pt x="0" y="4709308"/>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8" name="Google Shape;208;p11"/>
          <p:cNvSpPr txBox="1"/>
          <p:nvPr/>
        </p:nvSpPr>
        <p:spPr>
          <a:xfrm>
            <a:off x="3903674" y="1470525"/>
            <a:ext cx="11911800" cy="1123500"/>
          </a:xfrm>
          <a:prstGeom prst="rect">
            <a:avLst/>
          </a:prstGeom>
          <a:noFill/>
          <a:ln>
            <a:noFill/>
          </a:ln>
        </p:spPr>
        <p:txBody>
          <a:bodyPr anchorCtr="0" anchor="t" bIns="0" lIns="0" spcFirstLastPara="1" rIns="0" wrap="square" tIns="0">
            <a:spAutoFit/>
          </a:bodyPr>
          <a:lstStyle/>
          <a:p>
            <a:pPr indent="0" lvl="0" marL="0" marR="0" rtl="0" algn="l">
              <a:lnSpc>
                <a:spcPct val="140005"/>
              </a:lnSpc>
              <a:spcBef>
                <a:spcPts val="0"/>
              </a:spcBef>
              <a:spcAft>
                <a:spcPts val="0"/>
              </a:spcAft>
              <a:buClr>
                <a:srgbClr val="000000"/>
              </a:buClr>
              <a:buSzPts val="7299"/>
              <a:buFont typeface="Arial"/>
              <a:buNone/>
            </a:pPr>
            <a:r>
              <a:rPr b="1" i="0" lang="en-US" sz="7299" u="none" cap="none" strike="noStrike">
                <a:solidFill>
                  <a:srgbClr val="343434"/>
                </a:solidFill>
                <a:latin typeface="Arial"/>
                <a:ea typeface="Arial"/>
                <a:cs typeface="Arial"/>
                <a:sym typeface="Arial"/>
              </a:rPr>
              <a:t>Funciones más comunes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5EC"/>
        </a:solidFill>
      </p:bgPr>
    </p:bg>
    <p:spTree>
      <p:nvGrpSpPr>
        <p:cNvPr id="212" name="Shape 212"/>
        <p:cNvGrpSpPr/>
        <p:nvPr/>
      </p:nvGrpSpPr>
      <p:grpSpPr>
        <a:xfrm>
          <a:off x="0" y="0"/>
          <a:ext cx="0" cy="0"/>
          <a:chOff x="0" y="0"/>
          <a:chExt cx="0" cy="0"/>
        </a:xfrm>
      </p:grpSpPr>
      <p:sp>
        <p:nvSpPr>
          <p:cNvPr id="213" name="Google Shape;213;p12"/>
          <p:cNvSpPr/>
          <p:nvPr/>
        </p:nvSpPr>
        <p:spPr>
          <a:xfrm>
            <a:off x="-265453" y="-4187531"/>
            <a:ext cx="19258069" cy="19258069"/>
          </a:xfrm>
          <a:custGeom>
            <a:rect b="b" l="l" r="r" t="t"/>
            <a:pathLst>
              <a:path extrusionOk="0" h="19258069" w="19258069">
                <a:moveTo>
                  <a:pt x="0" y="0"/>
                </a:moveTo>
                <a:lnTo>
                  <a:pt x="19258069" y="0"/>
                </a:lnTo>
                <a:lnTo>
                  <a:pt x="19258069" y="19258069"/>
                </a:lnTo>
                <a:lnTo>
                  <a:pt x="0" y="19258069"/>
                </a:lnTo>
                <a:lnTo>
                  <a:pt x="0" y="0"/>
                </a:lnTo>
                <a:close/>
              </a:path>
            </a:pathLst>
          </a:custGeom>
          <a:blipFill rotWithShape="1">
            <a:blip r:embed="rId3">
              <a:alphaModFix amt="4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4" name="Google Shape;214;p12"/>
          <p:cNvSpPr/>
          <p:nvPr/>
        </p:nvSpPr>
        <p:spPr>
          <a:xfrm>
            <a:off x="6030310" y="2332193"/>
            <a:ext cx="5878205" cy="7278987"/>
          </a:xfrm>
          <a:custGeom>
            <a:rect b="b" l="l" r="r" t="t"/>
            <a:pathLst>
              <a:path extrusionOk="0" h="7278987" w="5878205">
                <a:moveTo>
                  <a:pt x="0" y="0"/>
                </a:moveTo>
                <a:lnTo>
                  <a:pt x="5878205" y="0"/>
                </a:lnTo>
                <a:lnTo>
                  <a:pt x="5878205" y="7278987"/>
                </a:lnTo>
                <a:lnTo>
                  <a:pt x="0" y="7278987"/>
                </a:lnTo>
                <a:lnTo>
                  <a:pt x="0" y="0"/>
                </a:lnTo>
                <a:close/>
              </a:path>
            </a:pathLst>
          </a:custGeom>
          <a:blipFill rotWithShape="1">
            <a:blip r:embed="rId4">
              <a:alphaModFix/>
            </a:blip>
            <a:stretch>
              <a:fillRect b="0" l="0" r="-22279"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5" name="Google Shape;215;p12"/>
          <p:cNvSpPr txBox="1"/>
          <p:nvPr/>
        </p:nvSpPr>
        <p:spPr>
          <a:xfrm>
            <a:off x="5455427" y="771425"/>
            <a:ext cx="8747269" cy="152965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7100"/>
              <a:buFont typeface="Arial"/>
              <a:buNone/>
            </a:pPr>
            <a:r>
              <a:rPr b="1" i="0" lang="en-US" sz="7100" u="none" cap="none" strike="noStrike">
                <a:solidFill>
                  <a:srgbClr val="343434"/>
                </a:solidFill>
                <a:latin typeface="Arial"/>
                <a:ea typeface="Arial"/>
                <a:cs typeface="Arial"/>
                <a:sym typeface="Arial"/>
              </a:rPr>
              <a:t>Consultas básicas</a:t>
            </a:r>
            <a:endParaRPr b="0" i="0" sz="1400" u="none" cap="none" strike="noStrike">
              <a:solidFill>
                <a:srgbClr val="000000"/>
              </a:solidFill>
              <a:latin typeface="Arial"/>
              <a:ea typeface="Arial"/>
              <a:cs typeface="Arial"/>
              <a:sym typeface="Arial"/>
            </a:endParaRPr>
          </a:p>
        </p:txBody>
      </p:sp>
      <p:sp>
        <p:nvSpPr>
          <p:cNvPr id="216" name="Google Shape;216;p12"/>
          <p:cNvSpPr txBox="1"/>
          <p:nvPr/>
        </p:nvSpPr>
        <p:spPr>
          <a:xfrm>
            <a:off x="787336" y="555326"/>
            <a:ext cx="6472196" cy="300846"/>
          </a:xfrm>
          <a:prstGeom prst="rect">
            <a:avLst/>
          </a:prstGeom>
          <a:noFill/>
          <a:ln>
            <a:noFill/>
          </a:ln>
        </p:spPr>
        <p:txBody>
          <a:bodyPr anchorCtr="0" anchor="t" bIns="0" lIns="0" spcFirstLastPara="1" rIns="0" wrap="square" tIns="0">
            <a:spAutoFit/>
          </a:bodyPr>
          <a:lstStyle/>
          <a:p>
            <a:pPr indent="0" lvl="0" marL="0" marR="0" rtl="0" algn="l">
              <a:lnSpc>
                <a:spcPct val="100998"/>
              </a:lnSpc>
              <a:spcBef>
                <a:spcPts val="0"/>
              </a:spcBef>
              <a:spcAft>
                <a:spcPts val="0"/>
              </a:spcAft>
              <a:buClr>
                <a:srgbClr val="000000"/>
              </a:buClr>
              <a:buSzPts val="2204"/>
              <a:buFont typeface="Arial"/>
              <a:buNone/>
            </a:pPr>
            <a:r>
              <a:rPr b="1" i="0" lang="en-US" sz="2204" u="none" cap="none" strike="noStrike">
                <a:solidFill>
                  <a:srgbClr val="343434"/>
                </a:solidFill>
                <a:latin typeface="DM Sans"/>
                <a:ea typeface="DM Sans"/>
                <a:cs typeface="DM Sans"/>
                <a:sym typeface="DM Sans"/>
              </a:rPr>
              <a:t>SISTEMAS DE BASES DE DATOS 2</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5EC"/>
        </a:solidFill>
      </p:bgPr>
    </p:bg>
    <p:spTree>
      <p:nvGrpSpPr>
        <p:cNvPr id="220" name="Shape 220"/>
        <p:cNvGrpSpPr/>
        <p:nvPr/>
      </p:nvGrpSpPr>
      <p:grpSpPr>
        <a:xfrm>
          <a:off x="0" y="0"/>
          <a:ext cx="0" cy="0"/>
          <a:chOff x="0" y="0"/>
          <a:chExt cx="0" cy="0"/>
        </a:xfrm>
      </p:grpSpPr>
      <p:sp>
        <p:nvSpPr>
          <p:cNvPr id="221" name="Google Shape;221;p13"/>
          <p:cNvSpPr/>
          <p:nvPr/>
        </p:nvSpPr>
        <p:spPr>
          <a:xfrm>
            <a:off x="-485035" y="-4485535"/>
            <a:ext cx="19258069" cy="19258069"/>
          </a:xfrm>
          <a:custGeom>
            <a:rect b="b" l="l" r="r" t="t"/>
            <a:pathLst>
              <a:path extrusionOk="0" h="19258069" w="19258069">
                <a:moveTo>
                  <a:pt x="0" y="0"/>
                </a:moveTo>
                <a:lnTo>
                  <a:pt x="19258070" y="0"/>
                </a:lnTo>
                <a:lnTo>
                  <a:pt x="19258070" y="19258070"/>
                </a:lnTo>
                <a:lnTo>
                  <a:pt x="0" y="19258070"/>
                </a:lnTo>
                <a:lnTo>
                  <a:pt x="0" y="0"/>
                </a:lnTo>
                <a:close/>
              </a:path>
            </a:pathLst>
          </a:custGeom>
          <a:blipFill rotWithShape="1">
            <a:blip r:embed="rId3">
              <a:alphaModFix amt="4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2" name="Google Shape;222;p13"/>
          <p:cNvSpPr/>
          <p:nvPr/>
        </p:nvSpPr>
        <p:spPr>
          <a:xfrm>
            <a:off x="13883062" y="2071752"/>
            <a:ext cx="4132897" cy="6143495"/>
          </a:xfrm>
          <a:custGeom>
            <a:rect b="b" l="l" r="r" t="t"/>
            <a:pathLst>
              <a:path extrusionOk="0" h="6143495" w="4132897">
                <a:moveTo>
                  <a:pt x="0" y="0"/>
                </a:moveTo>
                <a:lnTo>
                  <a:pt x="4132897" y="0"/>
                </a:lnTo>
                <a:lnTo>
                  <a:pt x="4132897" y="6143496"/>
                </a:lnTo>
                <a:lnTo>
                  <a:pt x="0" y="6143496"/>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3" name="Google Shape;223;p13"/>
          <p:cNvSpPr txBox="1"/>
          <p:nvPr/>
        </p:nvSpPr>
        <p:spPr>
          <a:xfrm>
            <a:off x="887480" y="4676812"/>
            <a:ext cx="11757454" cy="2076450"/>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Clr>
                <a:srgbClr val="000000"/>
              </a:buClr>
              <a:buSzPts val="2999"/>
              <a:buFont typeface="Arial"/>
              <a:buNone/>
            </a:pPr>
            <a:r>
              <a:rPr b="0" i="0" lang="en-US" sz="2999" u="none" cap="none" strike="noStrike">
                <a:solidFill>
                  <a:srgbClr val="343434"/>
                </a:solidFill>
                <a:latin typeface="DM Sans"/>
                <a:ea typeface="DM Sans"/>
                <a:cs typeface="DM Sans"/>
                <a:sym typeface="DM Sans"/>
              </a:rPr>
              <a:t>Los procedimientos almacenados son bloques de código que se pueden ejecutar como una unidad. Se almacenan en el servidor de la base de datos y pueden ser invocados varias veces sin necesidad de escribir el código SQL cada vez</a:t>
            </a:r>
            <a:endParaRPr b="0" i="0" sz="1400" u="none" cap="none" strike="noStrike">
              <a:solidFill>
                <a:srgbClr val="000000"/>
              </a:solidFill>
              <a:latin typeface="Arial"/>
              <a:ea typeface="Arial"/>
              <a:cs typeface="Arial"/>
              <a:sym typeface="Arial"/>
            </a:endParaRPr>
          </a:p>
        </p:txBody>
      </p:sp>
      <p:sp>
        <p:nvSpPr>
          <p:cNvPr id="224" name="Google Shape;224;p13"/>
          <p:cNvSpPr txBox="1"/>
          <p:nvPr/>
        </p:nvSpPr>
        <p:spPr>
          <a:xfrm>
            <a:off x="887480" y="470419"/>
            <a:ext cx="6472196" cy="300846"/>
          </a:xfrm>
          <a:prstGeom prst="rect">
            <a:avLst/>
          </a:prstGeom>
          <a:noFill/>
          <a:ln>
            <a:noFill/>
          </a:ln>
        </p:spPr>
        <p:txBody>
          <a:bodyPr anchorCtr="0" anchor="t" bIns="0" lIns="0" spcFirstLastPara="1" rIns="0" wrap="square" tIns="0">
            <a:spAutoFit/>
          </a:bodyPr>
          <a:lstStyle/>
          <a:p>
            <a:pPr indent="0" lvl="0" marL="0" marR="0" rtl="0" algn="l">
              <a:lnSpc>
                <a:spcPct val="100998"/>
              </a:lnSpc>
              <a:spcBef>
                <a:spcPts val="0"/>
              </a:spcBef>
              <a:spcAft>
                <a:spcPts val="0"/>
              </a:spcAft>
              <a:buClr>
                <a:srgbClr val="000000"/>
              </a:buClr>
              <a:buSzPts val="2204"/>
              <a:buFont typeface="Arial"/>
              <a:buNone/>
            </a:pPr>
            <a:r>
              <a:rPr b="1" i="0" lang="en-US" sz="2204" u="none" cap="none" strike="noStrike">
                <a:solidFill>
                  <a:srgbClr val="343434"/>
                </a:solidFill>
                <a:latin typeface="DM Sans"/>
                <a:ea typeface="DM Sans"/>
                <a:cs typeface="DM Sans"/>
                <a:sym typeface="DM Sans"/>
              </a:rPr>
              <a:t>SISTEMAS DE BASES DE DATOS 2</a:t>
            </a:r>
            <a:endParaRPr b="0" i="0" sz="1400" u="none" cap="none" strike="noStrike">
              <a:solidFill>
                <a:srgbClr val="000000"/>
              </a:solidFill>
              <a:latin typeface="Arial"/>
              <a:ea typeface="Arial"/>
              <a:cs typeface="Arial"/>
              <a:sym typeface="Arial"/>
            </a:endParaRPr>
          </a:p>
        </p:txBody>
      </p:sp>
      <p:sp>
        <p:nvSpPr>
          <p:cNvPr id="225" name="Google Shape;225;p13"/>
          <p:cNvSpPr txBox="1"/>
          <p:nvPr/>
        </p:nvSpPr>
        <p:spPr>
          <a:xfrm>
            <a:off x="2151494" y="1399915"/>
            <a:ext cx="7317312" cy="2757805"/>
          </a:xfrm>
          <a:prstGeom prst="rect">
            <a:avLst/>
          </a:prstGeom>
          <a:noFill/>
          <a:ln>
            <a:noFill/>
          </a:ln>
        </p:spPr>
        <p:txBody>
          <a:bodyPr anchorCtr="0" anchor="t" bIns="0" lIns="0" spcFirstLastPara="1" rIns="0" wrap="square" tIns="0">
            <a:spAutoFit/>
          </a:bodyPr>
          <a:lstStyle/>
          <a:p>
            <a:pPr indent="0" lvl="0" marL="0" marR="0" rtl="0" algn="ctr">
              <a:lnSpc>
                <a:spcPct val="140005"/>
              </a:lnSpc>
              <a:spcBef>
                <a:spcPts val="0"/>
              </a:spcBef>
              <a:spcAft>
                <a:spcPts val="0"/>
              </a:spcAft>
              <a:buClr>
                <a:srgbClr val="000000"/>
              </a:buClr>
              <a:buSzPts val="7299"/>
              <a:buFont typeface="Arial"/>
              <a:buNone/>
            </a:pPr>
            <a:r>
              <a:rPr b="1" i="0" lang="en-US" sz="7299" u="none" cap="none" strike="noStrike">
                <a:solidFill>
                  <a:srgbClr val="343434"/>
                </a:solidFill>
                <a:latin typeface="Arial"/>
                <a:ea typeface="Arial"/>
                <a:cs typeface="Arial"/>
                <a:sym typeface="Arial"/>
              </a:rPr>
              <a:t>Procedimientos Almacenados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5EC"/>
        </a:solidFill>
      </p:bgPr>
    </p:bg>
    <p:spTree>
      <p:nvGrpSpPr>
        <p:cNvPr id="229" name="Shape 229"/>
        <p:cNvGrpSpPr/>
        <p:nvPr/>
      </p:nvGrpSpPr>
      <p:grpSpPr>
        <a:xfrm>
          <a:off x="0" y="0"/>
          <a:ext cx="0" cy="0"/>
          <a:chOff x="0" y="0"/>
          <a:chExt cx="0" cy="0"/>
        </a:xfrm>
      </p:grpSpPr>
      <p:sp>
        <p:nvSpPr>
          <p:cNvPr id="230" name="Google Shape;230;p14"/>
          <p:cNvSpPr/>
          <p:nvPr/>
        </p:nvSpPr>
        <p:spPr>
          <a:xfrm>
            <a:off x="-485035" y="-4485535"/>
            <a:ext cx="19258069" cy="19258069"/>
          </a:xfrm>
          <a:custGeom>
            <a:rect b="b" l="l" r="r" t="t"/>
            <a:pathLst>
              <a:path extrusionOk="0" h="19258069" w="19258069">
                <a:moveTo>
                  <a:pt x="0" y="0"/>
                </a:moveTo>
                <a:lnTo>
                  <a:pt x="19258070" y="0"/>
                </a:lnTo>
                <a:lnTo>
                  <a:pt x="19258070" y="19258070"/>
                </a:lnTo>
                <a:lnTo>
                  <a:pt x="0" y="19258070"/>
                </a:lnTo>
                <a:lnTo>
                  <a:pt x="0" y="0"/>
                </a:lnTo>
                <a:close/>
              </a:path>
            </a:pathLst>
          </a:custGeom>
          <a:blipFill rotWithShape="1">
            <a:blip r:embed="rId3">
              <a:alphaModFix amt="4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1" name="Google Shape;231;p14"/>
          <p:cNvSpPr txBox="1"/>
          <p:nvPr/>
        </p:nvSpPr>
        <p:spPr>
          <a:xfrm>
            <a:off x="835090" y="3326495"/>
            <a:ext cx="16617821" cy="5743575"/>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Clr>
                <a:srgbClr val="000000"/>
              </a:buClr>
              <a:buSzPts val="2999"/>
              <a:buFont typeface="Arial"/>
              <a:buNone/>
            </a:pPr>
            <a:r>
              <a:rPr b="1" i="0" lang="en-US" sz="2999" u="none" cap="none" strike="noStrike">
                <a:solidFill>
                  <a:srgbClr val="343434"/>
                </a:solidFill>
                <a:latin typeface="DM Sans"/>
                <a:ea typeface="DM Sans"/>
                <a:cs typeface="DM Sans"/>
                <a:sym typeface="DM Sans"/>
              </a:rPr>
              <a:t>Ventajas:</a:t>
            </a:r>
            <a:endParaRPr b="0" i="0" sz="1400" u="none" cap="none" strike="noStrike">
              <a:solidFill>
                <a:srgbClr val="000000"/>
              </a:solidFill>
              <a:latin typeface="Arial"/>
              <a:ea typeface="Arial"/>
              <a:cs typeface="Arial"/>
              <a:sym typeface="Arial"/>
            </a:endParaRPr>
          </a:p>
          <a:p>
            <a:pPr indent="-323847" lvl="1" marL="647697" marR="0" rtl="0" algn="just">
              <a:lnSpc>
                <a:spcPct val="140013"/>
              </a:lnSpc>
              <a:spcBef>
                <a:spcPts val="0"/>
              </a:spcBef>
              <a:spcAft>
                <a:spcPts val="0"/>
              </a:spcAft>
              <a:buClr>
                <a:srgbClr val="343434"/>
              </a:buClr>
              <a:buSzPts val="2999"/>
              <a:buFont typeface="Arial"/>
              <a:buChar char="•"/>
            </a:pPr>
            <a:r>
              <a:rPr b="1" i="0" lang="en-US" sz="2999" u="none" cap="none" strike="noStrike">
                <a:solidFill>
                  <a:srgbClr val="343434"/>
                </a:solidFill>
                <a:latin typeface="DM Sans"/>
                <a:ea typeface="DM Sans"/>
                <a:cs typeface="DM Sans"/>
                <a:sym typeface="DM Sans"/>
              </a:rPr>
              <a:t>Reutilización</a:t>
            </a:r>
            <a:r>
              <a:rPr b="0" i="0" lang="en-US" sz="2999" u="none" cap="none" strike="noStrike">
                <a:solidFill>
                  <a:srgbClr val="343434"/>
                </a:solidFill>
                <a:latin typeface="DM Sans"/>
                <a:ea typeface="DM Sans"/>
                <a:cs typeface="DM Sans"/>
                <a:sym typeface="DM Sans"/>
              </a:rPr>
              <a:t>: Una vez creado, se puede ejecutar muchas veces sin necesidad de reescribir el código SQL.</a:t>
            </a:r>
            <a:endParaRPr b="0" i="0" sz="1400" u="none" cap="none" strike="noStrike">
              <a:solidFill>
                <a:srgbClr val="000000"/>
              </a:solidFill>
              <a:latin typeface="Arial"/>
              <a:ea typeface="Arial"/>
              <a:cs typeface="Arial"/>
              <a:sym typeface="Arial"/>
            </a:endParaRPr>
          </a:p>
          <a:p>
            <a:pPr indent="-323847" lvl="1" marL="647697" marR="0" rtl="0" algn="just">
              <a:lnSpc>
                <a:spcPct val="140013"/>
              </a:lnSpc>
              <a:spcBef>
                <a:spcPts val="0"/>
              </a:spcBef>
              <a:spcAft>
                <a:spcPts val="0"/>
              </a:spcAft>
              <a:buClr>
                <a:srgbClr val="343434"/>
              </a:buClr>
              <a:buSzPts val="2999"/>
              <a:buFont typeface="Arial"/>
              <a:buChar char="•"/>
            </a:pPr>
            <a:r>
              <a:rPr b="1" i="0" lang="en-US" sz="2999" u="none" cap="none" strike="noStrike">
                <a:solidFill>
                  <a:srgbClr val="343434"/>
                </a:solidFill>
                <a:latin typeface="DM Sans"/>
                <a:ea typeface="DM Sans"/>
                <a:cs typeface="DM Sans"/>
                <a:sym typeface="DM Sans"/>
              </a:rPr>
              <a:t>Rendimiento</a:t>
            </a:r>
            <a:r>
              <a:rPr b="0" i="0" lang="en-US" sz="2999" u="none" cap="none" strike="noStrike">
                <a:solidFill>
                  <a:srgbClr val="343434"/>
                </a:solidFill>
                <a:latin typeface="DM Sans"/>
                <a:ea typeface="DM Sans"/>
                <a:cs typeface="DM Sans"/>
                <a:sym typeface="DM Sans"/>
              </a:rPr>
              <a:t>: Al almacenarse en el servidor de la base de datos, los procedimientos almacenados se pueden ejecutar más rápidamente, ya que el código no tiene que ser interpretado cada vez que se invoca.</a:t>
            </a:r>
            <a:endParaRPr b="0" i="0" sz="1400" u="none" cap="none" strike="noStrike">
              <a:solidFill>
                <a:srgbClr val="000000"/>
              </a:solidFill>
              <a:latin typeface="Arial"/>
              <a:ea typeface="Arial"/>
              <a:cs typeface="Arial"/>
              <a:sym typeface="Arial"/>
            </a:endParaRPr>
          </a:p>
          <a:p>
            <a:pPr indent="-323847" lvl="1" marL="647697" marR="0" rtl="0" algn="just">
              <a:lnSpc>
                <a:spcPct val="140013"/>
              </a:lnSpc>
              <a:spcBef>
                <a:spcPts val="0"/>
              </a:spcBef>
              <a:spcAft>
                <a:spcPts val="0"/>
              </a:spcAft>
              <a:buClr>
                <a:srgbClr val="343434"/>
              </a:buClr>
              <a:buSzPts val="2999"/>
              <a:buFont typeface="Arial"/>
              <a:buChar char="•"/>
            </a:pPr>
            <a:r>
              <a:rPr b="1" i="0" lang="en-US" sz="2999" u="none" cap="none" strike="noStrike">
                <a:solidFill>
                  <a:srgbClr val="343434"/>
                </a:solidFill>
                <a:latin typeface="DM Sans"/>
                <a:ea typeface="DM Sans"/>
                <a:cs typeface="DM Sans"/>
                <a:sym typeface="DM Sans"/>
              </a:rPr>
              <a:t>Seguridad</a:t>
            </a:r>
            <a:r>
              <a:rPr b="0" i="0" lang="en-US" sz="2999" u="none" cap="none" strike="noStrike">
                <a:solidFill>
                  <a:srgbClr val="343434"/>
                </a:solidFill>
                <a:latin typeface="DM Sans"/>
                <a:ea typeface="DM Sans"/>
                <a:cs typeface="DM Sans"/>
                <a:sym typeface="DM Sans"/>
              </a:rPr>
              <a:t>: Se pueden otorgar permisos para ejecutar un procedimiento sin dar acceso directo a las tablas subyacentes.</a:t>
            </a:r>
            <a:endParaRPr b="0" i="0" sz="1400" u="none" cap="none" strike="noStrike">
              <a:solidFill>
                <a:srgbClr val="000000"/>
              </a:solidFill>
              <a:latin typeface="Arial"/>
              <a:ea typeface="Arial"/>
              <a:cs typeface="Arial"/>
              <a:sym typeface="Arial"/>
            </a:endParaRPr>
          </a:p>
          <a:p>
            <a:pPr indent="-323847" lvl="1" marL="647697" marR="0" rtl="0" algn="just">
              <a:lnSpc>
                <a:spcPct val="140013"/>
              </a:lnSpc>
              <a:spcBef>
                <a:spcPts val="0"/>
              </a:spcBef>
              <a:spcAft>
                <a:spcPts val="0"/>
              </a:spcAft>
              <a:buClr>
                <a:srgbClr val="343434"/>
              </a:buClr>
              <a:buSzPts val="2999"/>
              <a:buFont typeface="Arial"/>
              <a:buChar char="•"/>
            </a:pPr>
            <a:r>
              <a:rPr b="1" i="0" lang="en-US" sz="2999" u="none" cap="none" strike="noStrike">
                <a:solidFill>
                  <a:srgbClr val="343434"/>
                </a:solidFill>
                <a:latin typeface="DM Sans"/>
                <a:ea typeface="DM Sans"/>
                <a:cs typeface="DM Sans"/>
                <a:sym typeface="DM Sans"/>
              </a:rPr>
              <a:t>Encapsulación</a:t>
            </a:r>
            <a:r>
              <a:rPr b="0" i="0" lang="en-US" sz="2999" u="none" cap="none" strike="noStrike">
                <a:solidFill>
                  <a:srgbClr val="343434"/>
                </a:solidFill>
                <a:latin typeface="DM Sans"/>
                <a:ea typeface="DM Sans"/>
                <a:cs typeface="DM Sans"/>
                <a:sym typeface="DM Sans"/>
              </a:rPr>
              <a:t>: La lógica de la base de datos puede ser encapsulada, lo que facilita el mantenimiento y evita errores al centralizar el código.</a:t>
            </a:r>
            <a:endParaRPr b="0" i="0" sz="1400" u="none" cap="none" strike="noStrike">
              <a:solidFill>
                <a:srgbClr val="000000"/>
              </a:solidFill>
              <a:latin typeface="Arial"/>
              <a:ea typeface="Arial"/>
              <a:cs typeface="Arial"/>
              <a:sym typeface="Arial"/>
            </a:endParaRPr>
          </a:p>
          <a:p>
            <a:pPr indent="0" lvl="0" marL="0" marR="0" rtl="0" algn="just">
              <a:lnSpc>
                <a:spcPct val="140013"/>
              </a:lnSpc>
              <a:spcBef>
                <a:spcPts val="0"/>
              </a:spcBef>
              <a:spcAft>
                <a:spcPts val="0"/>
              </a:spcAft>
              <a:buClr>
                <a:srgbClr val="000000"/>
              </a:buClr>
              <a:buSzPts val="2999"/>
              <a:buFont typeface="Arial"/>
              <a:buNone/>
            </a:pPr>
            <a:r>
              <a:t/>
            </a:r>
            <a:endParaRPr b="0" i="0" sz="2999" u="none" cap="none" strike="noStrike">
              <a:solidFill>
                <a:srgbClr val="343434"/>
              </a:solidFill>
              <a:latin typeface="DM Sans"/>
              <a:ea typeface="DM Sans"/>
              <a:cs typeface="DM Sans"/>
              <a:sym typeface="DM Sans"/>
            </a:endParaRPr>
          </a:p>
        </p:txBody>
      </p:sp>
      <p:sp>
        <p:nvSpPr>
          <p:cNvPr id="232" name="Google Shape;232;p14"/>
          <p:cNvSpPr txBox="1"/>
          <p:nvPr/>
        </p:nvSpPr>
        <p:spPr>
          <a:xfrm>
            <a:off x="887480" y="470419"/>
            <a:ext cx="6472196" cy="300846"/>
          </a:xfrm>
          <a:prstGeom prst="rect">
            <a:avLst/>
          </a:prstGeom>
          <a:noFill/>
          <a:ln>
            <a:noFill/>
          </a:ln>
        </p:spPr>
        <p:txBody>
          <a:bodyPr anchorCtr="0" anchor="t" bIns="0" lIns="0" spcFirstLastPara="1" rIns="0" wrap="square" tIns="0">
            <a:spAutoFit/>
          </a:bodyPr>
          <a:lstStyle/>
          <a:p>
            <a:pPr indent="0" lvl="0" marL="0" marR="0" rtl="0" algn="l">
              <a:lnSpc>
                <a:spcPct val="100998"/>
              </a:lnSpc>
              <a:spcBef>
                <a:spcPts val="0"/>
              </a:spcBef>
              <a:spcAft>
                <a:spcPts val="0"/>
              </a:spcAft>
              <a:buClr>
                <a:srgbClr val="000000"/>
              </a:buClr>
              <a:buSzPts val="2204"/>
              <a:buFont typeface="Arial"/>
              <a:buNone/>
            </a:pPr>
            <a:r>
              <a:rPr b="1" i="0" lang="en-US" sz="2204" u="none" cap="none" strike="noStrike">
                <a:solidFill>
                  <a:srgbClr val="343434"/>
                </a:solidFill>
                <a:latin typeface="DM Sans"/>
                <a:ea typeface="DM Sans"/>
                <a:cs typeface="DM Sans"/>
                <a:sym typeface="DM Sans"/>
              </a:rPr>
              <a:t>SISTEMAS DE BASES DE DATOS 2</a:t>
            </a:r>
            <a:endParaRPr b="0" i="0" sz="1400" u="none" cap="none" strike="noStrike">
              <a:solidFill>
                <a:srgbClr val="000000"/>
              </a:solidFill>
              <a:latin typeface="Arial"/>
              <a:ea typeface="Arial"/>
              <a:cs typeface="Arial"/>
              <a:sym typeface="Arial"/>
            </a:endParaRPr>
          </a:p>
        </p:txBody>
      </p:sp>
      <p:sp>
        <p:nvSpPr>
          <p:cNvPr id="233" name="Google Shape;233;p14"/>
          <p:cNvSpPr txBox="1"/>
          <p:nvPr/>
        </p:nvSpPr>
        <p:spPr>
          <a:xfrm>
            <a:off x="2093487" y="1170040"/>
            <a:ext cx="13152747" cy="1462405"/>
          </a:xfrm>
          <a:prstGeom prst="rect">
            <a:avLst/>
          </a:prstGeom>
          <a:noFill/>
          <a:ln>
            <a:noFill/>
          </a:ln>
        </p:spPr>
        <p:txBody>
          <a:bodyPr anchorCtr="0" anchor="t" bIns="0" lIns="0" spcFirstLastPara="1" rIns="0" wrap="square" tIns="0">
            <a:spAutoFit/>
          </a:bodyPr>
          <a:lstStyle/>
          <a:p>
            <a:pPr indent="0" lvl="0" marL="0" marR="0" rtl="0" algn="ctr">
              <a:lnSpc>
                <a:spcPct val="140005"/>
              </a:lnSpc>
              <a:spcBef>
                <a:spcPts val="0"/>
              </a:spcBef>
              <a:spcAft>
                <a:spcPts val="0"/>
              </a:spcAft>
              <a:buClr>
                <a:srgbClr val="000000"/>
              </a:buClr>
              <a:buSzPts val="7299"/>
              <a:buFont typeface="Arial"/>
              <a:buNone/>
            </a:pPr>
            <a:r>
              <a:rPr b="1" i="0" lang="en-US" sz="7299" u="none" cap="none" strike="noStrike">
                <a:solidFill>
                  <a:srgbClr val="343434"/>
                </a:solidFill>
                <a:latin typeface="Arial"/>
                <a:ea typeface="Arial"/>
                <a:cs typeface="Arial"/>
                <a:sym typeface="Arial"/>
              </a:rPr>
              <a:t>Procedimientos Almacenados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5EC"/>
        </a:solidFill>
      </p:bgPr>
    </p:bg>
    <p:spTree>
      <p:nvGrpSpPr>
        <p:cNvPr id="237" name="Shape 237"/>
        <p:cNvGrpSpPr/>
        <p:nvPr/>
      </p:nvGrpSpPr>
      <p:grpSpPr>
        <a:xfrm>
          <a:off x="0" y="0"/>
          <a:ext cx="0" cy="0"/>
          <a:chOff x="0" y="0"/>
          <a:chExt cx="0" cy="0"/>
        </a:xfrm>
      </p:grpSpPr>
      <p:sp>
        <p:nvSpPr>
          <p:cNvPr id="238" name="Google Shape;238;p15"/>
          <p:cNvSpPr/>
          <p:nvPr/>
        </p:nvSpPr>
        <p:spPr>
          <a:xfrm>
            <a:off x="-485035" y="-4485535"/>
            <a:ext cx="19258069" cy="19258069"/>
          </a:xfrm>
          <a:custGeom>
            <a:rect b="b" l="l" r="r" t="t"/>
            <a:pathLst>
              <a:path extrusionOk="0" h="19258069" w="19258069">
                <a:moveTo>
                  <a:pt x="0" y="0"/>
                </a:moveTo>
                <a:lnTo>
                  <a:pt x="19258070" y="0"/>
                </a:lnTo>
                <a:lnTo>
                  <a:pt x="19258070" y="19258070"/>
                </a:lnTo>
                <a:lnTo>
                  <a:pt x="0" y="19258070"/>
                </a:lnTo>
                <a:lnTo>
                  <a:pt x="0" y="0"/>
                </a:lnTo>
                <a:close/>
              </a:path>
            </a:pathLst>
          </a:custGeom>
          <a:blipFill rotWithShape="1">
            <a:blip r:embed="rId3">
              <a:alphaModFix amt="4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9" name="Google Shape;239;p15"/>
          <p:cNvSpPr/>
          <p:nvPr/>
        </p:nvSpPr>
        <p:spPr>
          <a:xfrm>
            <a:off x="1500088" y="2632445"/>
            <a:ext cx="9440109" cy="7064065"/>
          </a:xfrm>
          <a:custGeom>
            <a:rect b="b" l="l" r="r" t="t"/>
            <a:pathLst>
              <a:path extrusionOk="0" h="7064065" w="9440109">
                <a:moveTo>
                  <a:pt x="0" y="0"/>
                </a:moveTo>
                <a:lnTo>
                  <a:pt x="9440109" y="0"/>
                </a:lnTo>
                <a:lnTo>
                  <a:pt x="9440109" y="7064065"/>
                </a:lnTo>
                <a:lnTo>
                  <a:pt x="0" y="7064065"/>
                </a:lnTo>
                <a:lnTo>
                  <a:pt x="0" y="0"/>
                </a:lnTo>
                <a:close/>
              </a:path>
            </a:pathLst>
          </a:custGeom>
          <a:blipFill rotWithShape="1">
            <a:blip r:embed="rId4">
              <a:alphaModFix/>
            </a:blip>
            <a:stretch>
              <a:fillRect b="-18499" l="0" r="0" t="-16817"/>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0" name="Google Shape;240;p15"/>
          <p:cNvSpPr txBox="1"/>
          <p:nvPr/>
        </p:nvSpPr>
        <p:spPr>
          <a:xfrm>
            <a:off x="887480" y="470419"/>
            <a:ext cx="6472196" cy="300846"/>
          </a:xfrm>
          <a:prstGeom prst="rect">
            <a:avLst/>
          </a:prstGeom>
          <a:noFill/>
          <a:ln>
            <a:noFill/>
          </a:ln>
        </p:spPr>
        <p:txBody>
          <a:bodyPr anchorCtr="0" anchor="t" bIns="0" lIns="0" spcFirstLastPara="1" rIns="0" wrap="square" tIns="0">
            <a:spAutoFit/>
          </a:bodyPr>
          <a:lstStyle/>
          <a:p>
            <a:pPr indent="0" lvl="0" marL="0" marR="0" rtl="0" algn="l">
              <a:lnSpc>
                <a:spcPct val="100998"/>
              </a:lnSpc>
              <a:spcBef>
                <a:spcPts val="0"/>
              </a:spcBef>
              <a:spcAft>
                <a:spcPts val="0"/>
              </a:spcAft>
              <a:buClr>
                <a:srgbClr val="000000"/>
              </a:buClr>
              <a:buSzPts val="2204"/>
              <a:buFont typeface="Arial"/>
              <a:buNone/>
            </a:pPr>
            <a:r>
              <a:rPr b="1" i="0" lang="en-US" sz="2204" u="none" cap="none" strike="noStrike">
                <a:solidFill>
                  <a:srgbClr val="343434"/>
                </a:solidFill>
                <a:latin typeface="DM Sans"/>
                <a:ea typeface="DM Sans"/>
                <a:cs typeface="DM Sans"/>
                <a:sym typeface="DM Sans"/>
              </a:rPr>
              <a:t>SISTEMAS DE BASES DE DATOS 2</a:t>
            </a:r>
            <a:endParaRPr b="0" i="0" sz="1400" u="none" cap="none" strike="noStrike">
              <a:solidFill>
                <a:srgbClr val="000000"/>
              </a:solidFill>
              <a:latin typeface="Arial"/>
              <a:ea typeface="Arial"/>
              <a:cs typeface="Arial"/>
              <a:sym typeface="Arial"/>
            </a:endParaRPr>
          </a:p>
        </p:txBody>
      </p:sp>
      <p:sp>
        <p:nvSpPr>
          <p:cNvPr id="241" name="Google Shape;241;p15"/>
          <p:cNvSpPr txBox="1"/>
          <p:nvPr/>
        </p:nvSpPr>
        <p:spPr>
          <a:xfrm>
            <a:off x="3513213" y="0"/>
            <a:ext cx="13152747" cy="1462405"/>
          </a:xfrm>
          <a:prstGeom prst="rect">
            <a:avLst/>
          </a:prstGeom>
          <a:noFill/>
          <a:ln>
            <a:noFill/>
          </a:ln>
        </p:spPr>
        <p:txBody>
          <a:bodyPr anchorCtr="0" anchor="t" bIns="0" lIns="0" spcFirstLastPara="1" rIns="0" wrap="square" tIns="0">
            <a:spAutoFit/>
          </a:bodyPr>
          <a:lstStyle/>
          <a:p>
            <a:pPr indent="0" lvl="0" marL="0" marR="0" rtl="0" algn="ctr">
              <a:lnSpc>
                <a:spcPct val="140005"/>
              </a:lnSpc>
              <a:spcBef>
                <a:spcPts val="0"/>
              </a:spcBef>
              <a:spcAft>
                <a:spcPts val="0"/>
              </a:spcAft>
              <a:buClr>
                <a:srgbClr val="000000"/>
              </a:buClr>
              <a:buSzPts val="7299"/>
              <a:buFont typeface="Arial"/>
              <a:buNone/>
            </a:pPr>
            <a:r>
              <a:rPr b="1" i="0" lang="en-US" sz="7299" u="none" cap="none" strike="noStrike">
                <a:solidFill>
                  <a:srgbClr val="343434"/>
                </a:solidFill>
                <a:latin typeface="Arial"/>
                <a:ea typeface="Arial"/>
                <a:cs typeface="Arial"/>
                <a:sym typeface="Arial"/>
              </a:rPr>
              <a:t>Procedimientos Almacenados</a:t>
            </a:r>
            <a:endParaRPr b="0" i="0" sz="1400" u="none" cap="none" strike="noStrike">
              <a:solidFill>
                <a:srgbClr val="000000"/>
              </a:solidFill>
              <a:latin typeface="Arial"/>
              <a:ea typeface="Arial"/>
              <a:cs typeface="Arial"/>
              <a:sym typeface="Arial"/>
            </a:endParaRPr>
          </a:p>
        </p:txBody>
      </p:sp>
      <p:sp>
        <p:nvSpPr>
          <p:cNvPr id="242" name="Google Shape;242;p15"/>
          <p:cNvSpPr txBox="1"/>
          <p:nvPr/>
        </p:nvSpPr>
        <p:spPr>
          <a:xfrm>
            <a:off x="12814333" y="5343748"/>
            <a:ext cx="3469316" cy="417812"/>
          </a:xfrm>
          <a:prstGeom prst="rect">
            <a:avLst/>
          </a:prstGeom>
          <a:noFill/>
          <a:ln>
            <a:noFill/>
          </a:ln>
        </p:spPr>
        <p:txBody>
          <a:bodyPr anchorCtr="0" anchor="t" bIns="0" lIns="0" spcFirstLastPara="1" rIns="0" wrap="square" tIns="0">
            <a:spAutoFit/>
          </a:bodyPr>
          <a:lstStyle/>
          <a:p>
            <a:pPr indent="0" lvl="0" marL="0" marR="0" rtl="0" algn="l">
              <a:lnSpc>
                <a:spcPct val="100998"/>
              </a:lnSpc>
              <a:spcBef>
                <a:spcPts val="0"/>
              </a:spcBef>
              <a:spcAft>
                <a:spcPts val="0"/>
              </a:spcAft>
              <a:buClr>
                <a:srgbClr val="000000"/>
              </a:buClr>
              <a:buSzPts val="3104"/>
              <a:buFont typeface="Arial"/>
              <a:buNone/>
            </a:pPr>
            <a:r>
              <a:rPr b="1" i="0" lang="en-US" sz="3104" u="none" cap="none" strike="noStrike">
                <a:solidFill>
                  <a:srgbClr val="343434"/>
                </a:solidFill>
                <a:latin typeface="DM Sans"/>
                <a:ea typeface="DM Sans"/>
                <a:cs typeface="DM Sans"/>
                <a:sym typeface="DM Sans"/>
              </a:rPr>
              <a:t>SINTAXIS BÁSICA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5EC"/>
        </a:solidFill>
      </p:bgPr>
    </p:bg>
    <p:spTree>
      <p:nvGrpSpPr>
        <p:cNvPr id="246" name="Shape 246"/>
        <p:cNvGrpSpPr/>
        <p:nvPr/>
      </p:nvGrpSpPr>
      <p:grpSpPr>
        <a:xfrm>
          <a:off x="0" y="0"/>
          <a:ext cx="0" cy="0"/>
          <a:chOff x="0" y="0"/>
          <a:chExt cx="0" cy="0"/>
        </a:xfrm>
      </p:grpSpPr>
      <p:sp>
        <p:nvSpPr>
          <p:cNvPr id="247" name="Google Shape;247;p16"/>
          <p:cNvSpPr/>
          <p:nvPr/>
        </p:nvSpPr>
        <p:spPr>
          <a:xfrm>
            <a:off x="-485035" y="-4485535"/>
            <a:ext cx="19258069" cy="19258069"/>
          </a:xfrm>
          <a:custGeom>
            <a:rect b="b" l="l" r="r" t="t"/>
            <a:pathLst>
              <a:path extrusionOk="0" h="19258069" w="19258069">
                <a:moveTo>
                  <a:pt x="0" y="0"/>
                </a:moveTo>
                <a:lnTo>
                  <a:pt x="19258070" y="0"/>
                </a:lnTo>
                <a:lnTo>
                  <a:pt x="19258070" y="19258070"/>
                </a:lnTo>
                <a:lnTo>
                  <a:pt x="0" y="19258070"/>
                </a:lnTo>
                <a:lnTo>
                  <a:pt x="0" y="0"/>
                </a:lnTo>
                <a:close/>
              </a:path>
            </a:pathLst>
          </a:custGeom>
          <a:blipFill rotWithShape="1">
            <a:blip r:embed="rId3">
              <a:alphaModFix amt="4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8" name="Google Shape;248;p16"/>
          <p:cNvSpPr/>
          <p:nvPr/>
        </p:nvSpPr>
        <p:spPr>
          <a:xfrm>
            <a:off x="1187087" y="2986518"/>
            <a:ext cx="10045568" cy="5550086"/>
          </a:xfrm>
          <a:custGeom>
            <a:rect b="b" l="l" r="r" t="t"/>
            <a:pathLst>
              <a:path extrusionOk="0" h="5550086" w="10045568">
                <a:moveTo>
                  <a:pt x="0" y="0"/>
                </a:moveTo>
                <a:lnTo>
                  <a:pt x="10045568" y="0"/>
                </a:lnTo>
                <a:lnTo>
                  <a:pt x="10045568" y="5550085"/>
                </a:lnTo>
                <a:lnTo>
                  <a:pt x="0" y="5550085"/>
                </a:lnTo>
                <a:lnTo>
                  <a:pt x="0" y="0"/>
                </a:lnTo>
                <a:close/>
              </a:path>
            </a:pathLst>
          </a:custGeom>
          <a:blipFill rotWithShape="1">
            <a:blip r:embed="rId4">
              <a:alphaModFix/>
            </a:blip>
            <a:stretch>
              <a:fillRect b="-32030" l="0" r="0" t="-23844"/>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9" name="Google Shape;249;p16"/>
          <p:cNvSpPr txBox="1"/>
          <p:nvPr/>
        </p:nvSpPr>
        <p:spPr>
          <a:xfrm>
            <a:off x="887480" y="470419"/>
            <a:ext cx="6472196" cy="300846"/>
          </a:xfrm>
          <a:prstGeom prst="rect">
            <a:avLst/>
          </a:prstGeom>
          <a:noFill/>
          <a:ln>
            <a:noFill/>
          </a:ln>
        </p:spPr>
        <p:txBody>
          <a:bodyPr anchorCtr="0" anchor="t" bIns="0" lIns="0" spcFirstLastPara="1" rIns="0" wrap="square" tIns="0">
            <a:spAutoFit/>
          </a:bodyPr>
          <a:lstStyle/>
          <a:p>
            <a:pPr indent="0" lvl="0" marL="0" marR="0" rtl="0" algn="l">
              <a:lnSpc>
                <a:spcPct val="100998"/>
              </a:lnSpc>
              <a:spcBef>
                <a:spcPts val="0"/>
              </a:spcBef>
              <a:spcAft>
                <a:spcPts val="0"/>
              </a:spcAft>
              <a:buClr>
                <a:srgbClr val="000000"/>
              </a:buClr>
              <a:buSzPts val="2204"/>
              <a:buFont typeface="Arial"/>
              <a:buNone/>
            </a:pPr>
            <a:r>
              <a:rPr b="1" i="0" lang="en-US" sz="2204" u="none" cap="none" strike="noStrike">
                <a:solidFill>
                  <a:srgbClr val="343434"/>
                </a:solidFill>
                <a:latin typeface="DM Sans"/>
                <a:ea typeface="DM Sans"/>
                <a:cs typeface="DM Sans"/>
                <a:sym typeface="DM Sans"/>
              </a:rPr>
              <a:t>SISTEMAS DE BASES DE DATOS 2</a:t>
            </a:r>
            <a:endParaRPr b="0" i="0" sz="1400" u="none" cap="none" strike="noStrike">
              <a:solidFill>
                <a:srgbClr val="000000"/>
              </a:solidFill>
              <a:latin typeface="Arial"/>
              <a:ea typeface="Arial"/>
              <a:cs typeface="Arial"/>
              <a:sym typeface="Arial"/>
            </a:endParaRPr>
          </a:p>
        </p:txBody>
      </p:sp>
      <p:sp>
        <p:nvSpPr>
          <p:cNvPr id="250" name="Google Shape;250;p16"/>
          <p:cNvSpPr txBox="1"/>
          <p:nvPr/>
        </p:nvSpPr>
        <p:spPr>
          <a:xfrm>
            <a:off x="2716030" y="287991"/>
            <a:ext cx="13152747" cy="1462405"/>
          </a:xfrm>
          <a:prstGeom prst="rect">
            <a:avLst/>
          </a:prstGeom>
          <a:noFill/>
          <a:ln>
            <a:noFill/>
          </a:ln>
        </p:spPr>
        <p:txBody>
          <a:bodyPr anchorCtr="0" anchor="t" bIns="0" lIns="0" spcFirstLastPara="1" rIns="0" wrap="square" tIns="0">
            <a:spAutoFit/>
          </a:bodyPr>
          <a:lstStyle/>
          <a:p>
            <a:pPr indent="0" lvl="0" marL="0" marR="0" rtl="0" algn="ctr">
              <a:lnSpc>
                <a:spcPct val="140005"/>
              </a:lnSpc>
              <a:spcBef>
                <a:spcPts val="0"/>
              </a:spcBef>
              <a:spcAft>
                <a:spcPts val="0"/>
              </a:spcAft>
              <a:buClr>
                <a:srgbClr val="000000"/>
              </a:buClr>
              <a:buSzPts val="7299"/>
              <a:buFont typeface="Arial"/>
              <a:buNone/>
            </a:pPr>
            <a:r>
              <a:rPr b="1" i="0" lang="en-US" sz="7299" u="none" cap="none" strike="noStrike">
                <a:solidFill>
                  <a:srgbClr val="343434"/>
                </a:solidFill>
                <a:latin typeface="Arial"/>
                <a:ea typeface="Arial"/>
                <a:cs typeface="Arial"/>
                <a:sym typeface="Arial"/>
              </a:rPr>
              <a:t>Procedimientos Almacenados</a:t>
            </a:r>
            <a:endParaRPr b="0" i="0" sz="1400" u="none" cap="none" strike="noStrike">
              <a:solidFill>
                <a:srgbClr val="000000"/>
              </a:solidFill>
              <a:latin typeface="Arial"/>
              <a:ea typeface="Arial"/>
              <a:cs typeface="Arial"/>
              <a:sym typeface="Arial"/>
            </a:endParaRPr>
          </a:p>
        </p:txBody>
      </p:sp>
      <p:sp>
        <p:nvSpPr>
          <p:cNvPr id="251" name="Google Shape;251;p16"/>
          <p:cNvSpPr txBox="1"/>
          <p:nvPr/>
        </p:nvSpPr>
        <p:spPr>
          <a:xfrm>
            <a:off x="12399461" y="4953223"/>
            <a:ext cx="3469316" cy="808337"/>
          </a:xfrm>
          <a:prstGeom prst="rect">
            <a:avLst/>
          </a:prstGeom>
          <a:noFill/>
          <a:ln>
            <a:noFill/>
          </a:ln>
        </p:spPr>
        <p:txBody>
          <a:bodyPr anchorCtr="0" anchor="t" bIns="0" lIns="0" spcFirstLastPara="1" rIns="0" wrap="square" tIns="0">
            <a:spAutoFit/>
          </a:bodyPr>
          <a:lstStyle/>
          <a:p>
            <a:pPr indent="0" lvl="0" marL="0" marR="0" rtl="0" algn="l">
              <a:lnSpc>
                <a:spcPct val="100998"/>
              </a:lnSpc>
              <a:spcBef>
                <a:spcPts val="0"/>
              </a:spcBef>
              <a:spcAft>
                <a:spcPts val="0"/>
              </a:spcAft>
              <a:buClr>
                <a:srgbClr val="000000"/>
              </a:buClr>
              <a:buSzPts val="3104"/>
              <a:buFont typeface="Arial"/>
              <a:buNone/>
            </a:pPr>
            <a:r>
              <a:rPr b="1" i="0" lang="en-US" sz="3104" u="none" cap="none" strike="noStrike">
                <a:solidFill>
                  <a:srgbClr val="343434"/>
                </a:solidFill>
                <a:latin typeface="DM Sans"/>
                <a:ea typeface="DM Sans"/>
                <a:cs typeface="DM Sans"/>
                <a:sym typeface="DM Sans"/>
              </a:rPr>
              <a:t>SINTAXIS BÁSICA  CON RETORNO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5EC"/>
        </a:solidFill>
      </p:bgPr>
    </p:bg>
    <p:spTree>
      <p:nvGrpSpPr>
        <p:cNvPr id="255" name="Shape 255"/>
        <p:cNvGrpSpPr/>
        <p:nvPr/>
      </p:nvGrpSpPr>
      <p:grpSpPr>
        <a:xfrm>
          <a:off x="0" y="0"/>
          <a:ext cx="0" cy="0"/>
          <a:chOff x="0" y="0"/>
          <a:chExt cx="0" cy="0"/>
        </a:xfrm>
      </p:grpSpPr>
      <p:sp>
        <p:nvSpPr>
          <p:cNvPr id="256" name="Google Shape;256;p17"/>
          <p:cNvSpPr/>
          <p:nvPr/>
        </p:nvSpPr>
        <p:spPr>
          <a:xfrm>
            <a:off x="-485035" y="-4485535"/>
            <a:ext cx="19258069" cy="19258069"/>
          </a:xfrm>
          <a:custGeom>
            <a:rect b="b" l="l" r="r" t="t"/>
            <a:pathLst>
              <a:path extrusionOk="0" h="19258069" w="19258069">
                <a:moveTo>
                  <a:pt x="0" y="0"/>
                </a:moveTo>
                <a:lnTo>
                  <a:pt x="19258070" y="0"/>
                </a:lnTo>
                <a:lnTo>
                  <a:pt x="19258070" y="19258070"/>
                </a:lnTo>
                <a:lnTo>
                  <a:pt x="0" y="19258070"/>
                </a:lnTo>
                <a:lnTo>
                  <a:pt x="0" y="0"/>
                </a:lnTo>
                <a:close/>
              </a:path>
            </a:pathLst>
          </a:custGeom>
          <a:blipFill rotWithShape="1">
            <a:blip r:embed="rId3">
              <a:alphaModFix amt="4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7" name="Google Shape;257;p17"/>
          <p:cNvSpPr/>
          <p:nvPr/>
        </p:nvSpPr>
        <p:spPr>
          <a:xfrm>
            <a:off x="606099" y="3255689"/>
            <a:ext cx="12756972" cy="5209240"/>
          </a:xfrm>
          <a:custGeom>
            <a:rect b="b" l="l" r="r" t="t"/>
            <a:pathLst>
              <a:path extrusionOk="0" h="5209240" w="12756972">
                <a:moveTo>
                  <a:pt x="0" y="0"/>
                </a:moveTo>
                <a:lnTo>
                  <a:pt x="12756972" y="0"/>
                </a:lnTo>
                <a:lnTo>
                  <a:pt x="12756972" y="5209239"/>
                </a:lnTo>
                <a:lnTo>
                  <a:pt x="0" y="5209239"/>
                </a:lnTo>
                <a:lnTo>
                  <a:pt x="0" y="0"/>
                </a:lnTo>
                <a:close/>
              </a:path>
            </a:pathLst>
          </a:custGeom>
          <a:blipFill rotWithShape="1">
            <a:blip r:embed="rId4">
              <a:alphaModFix/>
            </a:blip>
            <a:stretch>
              <a:fillRect b="-41710" l="0" r="0" t="-38886"/>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8" name="Google Shape;258;p17"/>
          <p:cNvSpPr txBox="1"/>
          <p:nvPr/>
        </p:nvSpPr>
        <p:spPr>
          <a:xfrm>
            <a:off x="887480" y="470419"/>
            <a:ext cx="6472196" cy="300846"/>
          </a:xfrm>
          <a:prstGeom prst="rect">
            <a:avLst/>
          </a:prstGeom>
          <a:noFill/>
          <a:ln>
            <a:noFill/>
          </a:ln>
        </p:spPr>
        <p:txBody>
          <a:bodyPr anchorCtr="0" anchor="t" bIns="0" lIns="0" spcFirstLastPara="1" rIns="0" wrap="square" tIns="0">
            <a:spAutoFit/>
          </a:bodyPr>
          <a:lstStyle/>
          <a:p>
            <a:pPr indent="0" lvl="0" marL="0" marR="0" rtl="0" algn="l">
              <a:lnSpc>
                <a:spcPct val="100998"/>
              </a:lnSpc>
              <a:spcBef>
                <a:spcPts val="0"/>
              </a:spcBef>
              <a:spcAft>
                <a:spcPts val="0"/>
              </a:spcAft>
              <a:buClr>
                <a:srgbClr val="000000"/>
              </a:buClr>
              <a:buSzPts val="2204"/>
              <a:buFont typeface="Arial"/>
              <a:buNone/>
            </a:pPr>
            <a:r>
              <a:rPr b="1" i="0" lang="en-US" sz="2204" u="none" cap="none" strike="noStrike">
                <a:solidFill>
                  <a:srgbClr val="343434"/>
                </a:solidFill>
                <a:latin typeface="DM Sans"/>
                <a:ea typeface="DM Sans"/>
                <a:cs typeface="DM Sans"/>
                <a:sym typeface="DM Sans"/>
              </a:rPr>
              <a:t>SISTEMAS DE BASES DE DATOS 2</a:t>
            </a:r>
            <a:endParaRPr b="0" i="0" sz="1400" u="none" cap="none" strike="noStrike">
              <a:solidFill>
                <a:srgbClr val="000000"/>
              </a:solidFill>
              <a:latin typeface="Arial"/>
              <a:ea typeface="Arial"/>
              <a:cs typeface="Arial"/>
              <a:sym typeface="Arial"/>
            </a:endParaRPr>
          </a:p>
        </p:txBody>
      </p:sp>
      <p:sp>
        <p:nvSpPr>
          <p:cNvPr id="259" name="Google Shape;259;p17"/>
          <p:cNvSpPr txBox="1"/>
          <p:nvPr/>
        </p:nvSpPr>
        <p:spPr>
          <a:xfrm>
            <a:off x="3031950" y="359666"/>
            <a:ext cx="13152747" cy="1462405"/>
          </a:xfrm>
          <a:prstGeom prst="rect">
            <a:avLst/>
          </a:prstGeom>
          <a:noFill/>
          <a:ln>
            <a:noFill/>
          </a:ln>
        </p:spPr>
        <p:txBody>
          <a:bodyPr anchorCtr="0" anchor="t" bIns="0" lIns="0" spcFirstLastPara="1" rIns="0" wrap="square" tIns="0">
            <a:spAutoFit/>
          </a:bodyPr>
          <a:lstStyle/>
          <a:p>
            <a:pPr indent="0" lvl="0" marL="0" marR="0" rtl="0" algn="ctr">
              <a:lnSpc>
                <a:spcPct val="140005"/>
              </a:lnSpc>
              <a:spcBef>
                <a:spcPts val="0"/>
              </a:spcBef>
              <a:spcAft>
                <a:spcPts val="0"/>
              </a:spcAft>
              <a:buClr>
                <a:srgbClr val="000000"/>
              </a:buClr>
              <a:buSzPts val="7299"/>
              <a:buFont typeface="Arial"/>
              <a:buNone/>
            </a:pPr>
            <a:r>
              <a:rPr b="1" i="0" lang="en-US" sz="7299" u="none" cap="none" strike="noStrike">
                <a:solidFill>
                  <a:srgbClr val="343434"/>
                </a:solidFill>
                <a:latin typeface="Arial"/>
                <a:ea typeface="Arial"/>
                <a:cs typeface="Arial"/>
                <a:sym typeface="Arial"/>
              </a:rPr>
              <a:t>Procedimientos Almacenados</a:t>
            </a:r>
            <a:endParaRPr b="0" i="0" sz="1400" u="none" cap="none" strike="noStrike">
              <a:solidFill>
                <a:srgbClr val="000000"/>
              </a:solidFill>
              <a:latin typeface="Arial"/>
              <a:ea typeface="Arial"/>
              <a:cs typeface="Arial"/>
              <a:sym typeface="Arial"/>
            </a:endParaRPr>
          </a:p>
        </p:txBody>
      </p:sp>
      <p:sp>
        <p:nvSpPr>
          <p:cNvPr id="260" name="Google Shape;260;p17"/>
          <p:cNvSpPr txBox="1"/>
          <p:nvPr/>
        </p:nvSpPr>
        <p:spPr>
          <a:xfrm>
            <a:off x="14078704" y="5036806"/>
            <a:ext cx="3469316" cy="1198862"/>
          </a:xfrm>
          <a:prstGeom prst="rect">
            <a:avLst/>
          </a:prstGeom>
          <a:noFill/>
          <a:ln>
            <a:noFill/>
          </a:ln>
        </p:spPr>
        <p:txBody>
          <a:bodyPr anchorCtr="0" anchor="t" bIns="0" lIns="0" spcFirstLastPara="1" rIns="0" wrap="square" tIns="0">
            <a:spAutoFit/>
          </a:bodyPr>
          <a:lstStyle/>
          <a:p>
            <a:pPr indent="0" lvl="0" marL="0" marR="0" rtl="0" algn="l">
              <a:lnSpc>
                <a:spcPct val="100998"/>
              </a:lnSpc>
              <a:spcBef>
                <a:spcPts val="0"/>
              </a:spcBef>
              <a:spcAft>
                <a:spcPts val="0"/>
              </a:spcAft>
              <a:buClr>
                <a:srgbClr val="000000"/>
              </a:buClr>
              <a:buSzPts val="3104"/>
              <a:buFont typeface="Arial"/>
              <a:buNone/>
            </a:pPr>
            <a:r>
              <a:rPr b="1" i="0" lang="en-US" sz="3104" u="none" cap="none" strike="noStrike">
                <a:solidFill>
                  <a:srgbClr val="343434"/>
                </a:solidFill>
                <a:latin typeface="DM Sans"/>
                <a:ea typeface="DM Sans"/>
                <a:cs typeface="DM Sans"/>
                <a:sym typeface="DM Sans"/>
              </a:rPr>
              <a:t>SINTAXIS BÁSICA  CON PARÁMETROS DE ENTRADA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5EC"/>
        </a:solidFill>
      </p:bgPr>
    </p:bg>
    <p:spTree>
      <p:nvGrpSpPr>
        <p:cNvPr id="264" name="Shape 264"/>
        <p:cNvGrpSpPr/>
        <p:nvPr/>
      </p:nvGrpSpPr>
      <p:grpSpPr>
        <a:xfrm>
          <a:off x="0" y="0"/>
          <a:ext cx="0" cy="0"/>
          <a:chOff x="0" y="0"/>
          <a:chExt cx="0" cy="0"/>
        </a:xfrm>
      </p:grpSpPr>
      <p:sp>
        <p:nvSpPr>
          <p:cNvPr id="265" name="Google Shape;265;p18"/>
          <p:cNvSpPr/>
          <p:nvPr/>
        </p:nvSpPr>
        <p:spPr>
          <a:xfrm>
            <a:off x="-485035" y="-4485535"/>
            <a:ext cx="19258069" cy="19258069"/>
          </a:xfrm>
          <a:custGeom>
            <a:rect b="b" l="l" r="r" t="t"/>
            <a:pathLst>
              <a:path extrusionOk="0" h="19258069" w="19258069">
                <a:moveTo>
                  <a:pt x="0" y="0"/>
                </a:moveTo>
                <a:lnTo>
                  <a:pt x="19258070" y="0"/>
                </a:lnTo>
                <a:lnTo>
                  <a:pt x="19258070" y="19258070"/>
                </a:lnTo>
                <a:lnTo>
                  <a:pt x="0" y="19258070"/>
                </a:lnTo>
                <a:lnTo>
                  <a:pt x="0" y="0"/>
                </a:lnTo>
                <a:close/>
              </a:path>
            </a:pathLst>
          </a:custGeom>
          <a:blipFill rotWithShape="1">
            <a:blip r:embed="rId3">
              <a:alphaModFix amt="4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6" name="Google Shape;266;p18"/>
          <p:cNvSpPr/>
          <p:nvPr/>
        </p:nvSpPr>
        <p:spPr>
          <a:xfrm>
            <a:off x="406101" y="3384920"/>
            <a:ext cx="13907150" cy="5113191"/>
          </a:xfrm>
          <a:custGeom>
            <a:rect b="b" l="l" r="r" t="t"/>
            <a:pathLst>
              <a:path extrusionOk="0" h="5113191" w="13907150">
                <a:moveTo>
                  <a:pt x="0" y="0"/>
                </a:moveTo>
                <a:lnTo>
                  <a:pt x="13907150" y="0"/>
                </a:lnTo>
                <a:lnTo>
                  <a:pt x="13907150" y="5113191"/>
                </a:lnTo>
                <a:lnTo>
                  <a:pt x="0" y="5113191"/>
                </a:lnTo>
                <a:lnTo>
                  <a:pt x="0" y="0"/>
                </a:lnTo>
                <a:close/>
              </a:path>
            </a:pathLst>
          </a:custGeom>
          <a:blipFill rotWithShape="1">
            <a:blip r:embed="rId4">
              <a:alphaModFix/>
            </a:blip>
            <a:stretch>
              <a:fillRect b="-8883" l="0" r="0" t="-7725"/>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7" name="Google Shape;267;p18"/>
          <p:cNvSpPr txBox="1"/>
          <p:nvPr/>
        </p:nvSpPr>
        <p:spPr>
          <a:xfrm>
            <a:off x="887480" y="470419"/>
            <a:ext cx="6472196" cy="300846"/>
          </a:xfrm>
          <a:prstGeom prst="rect">
            <a:avLst/>
          </a:prstGeom>
          <a:noFill/>
          <a:ln>
            <a:noFill/>
          </a:ln>
        </p:spPr>
        <p:txBody>
          <a:bodyPr anchorCtr="0" anchor="t" bIns="0" lIns="0" spcFirstLastPara="1" rIns="0" wrap="square" tIns="0">
            <a:spAutoFit/>
          </a:bodyPr>
          <a:lstStyle/>
          <a:p>
            <a:pPr indent="0" lvl="0" marL="0" marR="0" rtl="0" algn="l">
              <a:lnSpc>
                <a:spcPct val="100998"/>
              </a:lnSpc>
              <a:spcBef>
                <a:spcPts val="0"/>
              </a:spcBef>
              <a:spcAft>
                <a:spcPts val="0"/>
              </a:spcAft>
              <a:buClr>
                <a:srgbClr val="000000"/>
              </a:buClr>
              <a:buSzPts val="2204"/>
              <a:buFont typeface="Arial"/>
              <a:buNone/>
            </a:pPr>
            <a:r>
              <a:rPr b="1" i="0" lang="en-US" sz="2204" u="none" cap="none" strike="noStrike">
                <a:solidFill>
                  <a:srgbClr val="343434"/>
                </a:solidFill>
                <a:latin typeface="DM Sans"/>
                <a:ea typeface="DM Sans"/>
                <a:cs typeface="DM Sans"/>
                <a:sym typeface="DM Sans"/>
              </a:rPr>
              <a:t>SISTEMAS DE BASES DE DATOS 2</a:t>
            </a:r>
            <a:endParaRPr b="0" i="0" sz="1400" u="none" cap="none" strike="noStrike">
              <a:solidFill>
                <a:srgbClr val="000000"/>
              </a:solidFill>
              <a:latin typeface="Arial"/>
              <a:ea typeface="Arial"/>
              <a:cs typeface="Arial"/>
              <a:sym typeface="Arial"/>
            </a:endParaRPr>
          </a:p>
        </p:txBody>
      </p:sp>
      <p:sp>
        <p:nvSpPr>
          <p:cNvPr id="268" name="Google Shape;268;p18"/>
          <p:cNvSpPr txBox="1"/>
          <p:nvPr/>
        </p:nvSpPr>
        <p:spPr>
          <a:xfrm>
            <a:off x="2567625" y="470419"/>
            <a:ext cx="13152747" cy="1462405"/>
          </a:xfrm>
          <a:prstGeom prst="rect">
            <a:avLst/>
          </a:prstGeom>
          <a:noFill/>
          <a:ln>
            <a:noFill/>
          </a:ln>
        </p:spPr>
        <p:txBody>
          <a:bodyPr anchorCtr="0" anchor="t" bIns="0" lIns="0" spcFirstLastPara="1" rIns="0" wrap="square" tIns="0">
            <a:spAutoFit/>
          </a:bodyPr>
          <a:lstStyle/>
          <a:p>
            <a:pPr indent="0" lvl="0" marL="0" marR="0" rtl="0" algn="ctr">
              <a:lnSpc>
                <a:spcPct val="140005"/>
              </a:lnSpc>
              <a:spcBef>
                <a:spcPts val="0"/>
              </a:spcBef>
              <a:spcAft>
                <a:spcPts val="0"/>
              </a:spcAft>
              <a:buClr>
                <a:srgbClr val="000000"/>
              </a:buClr>
              <a:buSzPts val="7299"/>
              <a:buFont typeface="Arial"/>
              <a:buNone/>
            </a:pPr>
            <a:r>
              <a:rPr b="1" i="0" lang="en-US" sz="7299" u="none" cap="none" strike="noStrike">
                <a:solidFill>
                  <a:srgbClr val="343434"/>
                </a:solidFill>
                <a:latin typeface="Arial"/>
                <a:ea typeface="Arial"/>
                <a:cs typeface="Arial"/>
                <a:sym typeface="Arial"/>
              </a:rPr>
              <a:t>Procedimientos Almacenados</a:t>
            </a:r>
            <a:endParaRPr b="0" i="0" sz="1400" u="none" cap="none" strike="noStrike">
              <a:solidFill>
                <a:srgbClr val="000000"/>
              </a:solidFill>
              <a:latin typeface="Arial"/>
              <a:ea typeface="Arial"/>
              <a:cs typeface="Arial"/>
              <a:sym typeface="Arial"/>
            </a:endParaRPr>
          </a:p>
        </p:txBody>
      </p:sp>
      <p:sp>
        <p:nvSpPr>
          <p:cNvPr id="269" name="Google Shape;269;p18"/>
          <p:cNvSpPr txBox="1"/>
          <p:nvPr/>
        </p:nvSpPr>
        <p:spPr>
          <a:xfrm>
            <a:off x="14530565" y="3944638"/>
            <a:ext cx="3469316" cy="1198862"/>
          </a:xfrm>
          <a:prstGeom prst="rect">
            <a:avLst/>
          </a:prstGeom>
          <a:noFill/>
          <a:ln>
            <a:noFill/>
          </a:ln>
        </p:spPr>
        <p:txBody>
          <a:bodyPr anchorCtr="0" anchor="t" bIns="0" lIns="0" spcFirstLastPara="1" rIns="0" wrap="square" tIns="0">
            <a:spAutoFit/>
          </a:bodyPr>
          <a:lstStyle/>
          <a:p>
            <a:pPr indent="0" lvl="0" marL="0" marR="0" rtl="0" algn="l">
              <a:lnSpc>
                <a:spcPct val="100998"/>
              </a:lnSpc>
              <a:spcBef>
                <a:spcPts val="0"/>
              </a:spcBef>
              <a:spcAft>
                <a:spcPts val="0"/>
              </a:spcAft>
              <a:buClr>
                <a:srgbClr val="000000"/>
              </a:buClr>
              <a:buSzPts val="3104"/>
              <a:buFont typeface="Arial"/>
              <a:buNone/>
            </a:pPr>
            <a:r>
              <a:rPr b="1" i="0" lang="en-US" sz="3104" u="none" cap="none" strike="noStrike">
                <a:solidFill>
                  <a:srgbClr val="343434"/>
                </a:solidFill>
                <a:latin typeface="DM Sans"/>
                <a:ea typeface="DM Sans"/>
                <a:cs typeface="DM Sans"/>
                <a:sym typeface="DM Sans"/>
              </a:rPr>
              <a:t>SINTAXIS BÁSICA  CON PARÁMETROS DE SALIDA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5EC"/>
        </a:solidFill>
      </p:bgPr>
    </p:bg>
    <p:spTree>
      <p:nvGrpSpPr>
        <p:cNvPr id="273" name="Shape 273"/>
        <p:cNvGrpSpPr/>
        <p:nvPr/>
      </p:nvGrpSpPr>
      <p:grpSpPr>
        <a:xfrm>
          <a:off x="0" y="0"/>
          <a:ext cx="0" cy="0"/>
          <a:chOff x="0" y="0"/>
          <a:chExt cx="0" cy="0"/>
        </a:xfrm>
      </p:grpSpPr>
      <p:sp>
        <p:nvSpPr>
          <p:cNvPr id="274" name="Google Shape;274;p19"/>
          <p:cNvSpPr/>
          <p:nvPr/>
        </p:nvSpPr>
        <p:spPr>
          <a:xfrm>
            <a:off x="-485035" y="-4485535"/>
            <a:ext cx="19258069" cy="19258069"/>
          </a:xfrm>
          <a:custGeom>
            <a:rect b="b" l="l" r="r" t="t"/>
            <a:pathLst>
              <a:path extrusionOk="0" h="19258069" w="19258069">
                <a:moveTo>
                  <a:pt x="0" y="0"/>
                </a:moveTo>
                <a:lnTo>
                  <a:pt x="19258070" y="0"/>
                </a:lnTo>
                <a:lnTo>
                  <a:pt x="19258070" y="19258070"/>
                </a:lnTo>
                <a:lnTo>
                  <a:pt x="0" y="19258070"/>
                </a:lnTo>
                <a:lnTo>
                  <a:pt x="0" y="0"/>
                </a:lnTo>
                <a:close/>
              </a:path>
            </a:pathLst>
          </a:custGeom>
          <a:blipFill rotWithShape="1">
            <a:blip r:embed="rId3">
              <a:alphaModFix amt="4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5" name="Google Shape;275;p19"/>
          <p:cNvSpPr/>
          <p:nvPr/>
        </p:nvSpPr>
        <p:spPr>
          <a:xfrm>
            <a:off x="1584917" y="2506879"/>
            <a:ext cx="11224243" cy="7374485"/>
          </a:xfrm>
          <a:custGeom>
            <a:rect b="b" l="l" r="r" t="t"/>
            <a:pathLst>
              <a:path extrusionOk="0" h="7374485" w="11224243">
                <a:moveTo>
                  <a:pt x="0" y="0"/>
                </a:moveTo>
                <a:lnTo>
                  <a:pt x="11224243" y="0"/>
                </a:lnTo>
                <a:lnTo>
                  <a:pt x="11224243" y="7374485"/>
                </a:lnTo>
                <a:lnTo>
                  <a:pt x="0" y="7374485"/>
                </a:lnTo>
                <a:lnTo>
                  <a:pt x="0" y="0"/>
                </a:lnTo>
                <a:close/>
              </a:path>
            </a:pathLst>
          </a:custGeom>
          <a:blipFill rotWithShape="1">
            <a:blip r:embed="rId4">
              <a:alphaModFix/>
            </a:blip>
            <a:stretch>
              <a:fillRect b="-8135" l="-3637" r="-4420" t="-9257"/>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6" name="Google Shape;276;p19"/>
          <p:cNvSpPr txBox="1"/>
          <p:nvPr/>
        </p:nvSpPr>
        <p:spPr>
          <a:xfrm>
            <a:off x="887480" y="470419"/>
            <a:ext cx="6472196" cy="300846"/>
          </a:xfrm>
          <a:prstGeom prst="rect">
            <a:avLst/>
          </a:prstGeom>
          <a:noFill/>
          <a:ln>
            <a:noFill/>
          </a:ln>
        </p:spPr>
        <p:txBody>
          <a:bodyPr anchorCtr="0" anchor="t" bIns="0" lIns="0" spcFirstLastPara="1" rIns="0" wrap="square" tIns="0">
            <a:spAutoFit/>
          </a:bodyPr>
          <a:lstStyle/>
          <a:p>
            <a:pPr indent="0" lvl="0" marL="0" marR="0" rtl="0" algn="l">
              <a:lnSpc>
                <a:spcPct val="100998"/>
              </a:lnSpc>
              <a:spcBef>
                <a:spcPts val="0"/>
              </a:spcBef>
              <a:spcAft>
                <a:spcPts val="0"/>
              </a:spcAft>
              <a:buClr>
                <a:srgbClr val="000000"/>
              </a:buClr>
              <a:buSzPts val="2204"/>
              <a:buFont typeface="Arial"/>
              <a:buNone/>
            </a:pPr>
            <a:r>
              <a:rPr b="1" i="0" lang="en-US" sz="2204" u="none" cap="none" strike="noStrike">
                <a:solidFill>
                  <a:srgbClr val="343434"/>
                </a:solidFill>
                <a:latin typeface="DM Sans"/>
                <a:ea typeface="DM Sans"/>
                <a:cs typeface="DM Sans"/>
                <a:sym typeface="DM Sans"/>
              </a:rPr>
              <a:t>SISTEMAS DE BASES DE DATOS 2</a:t>
            </a:r>
            <a:endParaRPr b="0" i="0" sz="1400" u="none" cap="none" strike="noStrike">
              <a:solidFill>
                <a:srgbClr val="000000"/>
              </a:solidFill>
              <a:latin typeface="Arial"/>
              <a:ea typeface="Arial"/>
              <a:cs typeface="Arial"/>
              <a:sym typeface="Arial"/>
            </a:endParaRPr>
          </a:p>
        </p:txBody>
      </p:sp>
      <p:sp>
        <p:nvSpPr>
          <p:cNvPr id="277" name="Google Shape;277;p19"/>
          <p:cNvSpPr txBox="1"/>
          <p:nvPr/>
        </p:nvSpPr>
        <p:spPr>
          <a:xfrm>
            <a:off x="3031950" y="-110361"/>
            <a:ext cx="13152747" cy="1462405"/>
          </a:xfrm>
          <a:prstGeom prst="rect">
            <a:avLst/>
          </a:prstGeom>
          <a:noFill/>
          <a:ln>
            <a:noFill/>
          </a:ln>
        </p:spPr>
        <p:txBody>
          <a:bodyPr anchorCtr="0" anchor="t" bIns="0" lIns="0" spcFirstLastPara="1" rIns="0" wrap="square" tIns="0">
            <a:spAutoFit/>
          </a:bodyPr>
          <a:lstStyle/>
          <a:p>
            <a:pPr indent="0" lvl="0" marL="0" marR="0" rtl="0" algn="ctr">
              <a:lnSpc>
                <a:spcPct val="140005"/>
              </a:lnSpc>
              <a:spcBef>
                <a:spcPts val="0"/>
              </a:spcBef>
              <a:spcAft>
                <a:spcPts val="0"/>
              </a:spcAft>
              <a:buClr>
                <a:srgbClr val="000000"/>
              </a:buClr>
              <a:buSzPts val="7299"/>
              <a:buFont typeface="Arial"/>
              <a:buNone/>
            </a:pPr>
            <a:r>
              <a:rPr b="1" i="0" lang="en-US" sz="7299" u="none" cap="none" strike="noStrike">
                <a:solidFill>
                  <a:srgbClr val="343434"/>
                </a:solidFill>
                <a:latin typeface="Arial"/>
                <a:ea typeface="Arial"/>
                <a:cs typeface="Arial"/>
                <a:sym typeface="Arial"/>
              </a:rPr>
              <a:t>Procedimientos Almacenados</a:t>
            </a:r>
            <a:endParaRPr b="0" i="0" sz="1400" u="none" cap="none" strike="noStrike">
              <a:solidFill>
                <a:srgbClr val="000000"/>
              </a:solidFill>
              <a:latin typeface="Arial"/>
              <a:ea typeface="Arial"/>
              <a:cs typeface="Arial"/>
              <a:sym typeface="Arial"/>
            </a:endParaRPr>
          </a:p>
        </p:txBody>
      </p:sp>
      <p:sp>
        <p:nvSpPr>
          <p:cNvPr id="278" name="Google Shape;278;p19"/>
          <p:cNvSpPr txBox="1"/>
          <p:nvPr/>
        </p:nvSpPr>
        <p:spPr>
          <a:xfrm>
            <a:off x="13789984" y="4567881"/>
            <a:ext cx="3469316" cy="1198862"/>
          </a:xfrm>
          <a:prstGeom prst="rect">
            <a:avLst/>
          </a:prstGeom>
          <a:noFill/>
          <a:ln>
            <a:noFill/>
          </a:ln>
        </p:spPr>
        <p:txBody>
          <a:bodyPr anchorCtr="0" anchor="t" bIns="0" lIns="0" spcFirstLastPara="1" rIns="0" wrap="square" tIns="0">
            <a:spAutoFit/>
          </a:bodyPr>
          <a:lstStyle/>
          <a:p>
            <a:pPr indent="0" lvl="0" marL="0" marR="0" rtl="0" algn="l">
              <a:lnSpc>
                <a:spcPct val="100998"/>
              </a:lnSpc>
              <a:spcBef>
                <a:spcPts val="0"/>
              </a:spcBef>
              <a:spcAft>
                <a:spcPts val="0"/>
              </a:spcAft>
              <a:buClr>
                <a:srgbClr val="000000"/>
              </a:buClr>
              <a:buSzPts val="3104"/>
              <a:buFont typeface="Arial"/>
              <a:buNone/>
            </a:pPr>
            <a:r>
              <a:rPr b="1" i="0" lang="en-US" sz="3104" u="none" cap="none" strike="noStrike">
                <a:solidFill>
                  <a:srgbClr val="343434"/>
                </a:solidFill>
                <a:latin typeface="DM Sans"/>
                <a:ea typeface="DM Sans"/>
                <a:cs typeface="DM Sans"/>
                <a:sym typeface="DM Sans"/>
              </a:rPr>
              <a:t>SINTAXIS BÁSICA  CON TRANSACCIONES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36"/>
          <p:cNvSpPr txBox="1"/>
          <p:nvPr/>
        </p:nvSpPr>
        <p:spPr>
          <a:xfrm>
            <a:off x="2507390" y="1000125"/>
            <a:ext cx="13503300" cy="10620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6900"/>
              <a:buFont typeface="Arial"/>
              <a:buNone/>
            </a:pPr>
            <a:r>
              <a:rPr b="0" i="0" lang="en-US" sz="6900" u="none" cap="none" strike="noStrike">
                <a:solidFill>
                  <a:srgbClr val="131416"/>
                </a:solidFill>
                <a:latin typeface="Impact"/>
                <a:ea typeface="Impact"/>
                <a:cs typeface="Impact"/>
                <a:sym typeface="Impact"/>
              </a:rPr>
              <a:t>CONCEPTOS CLAVE APRENDIDOS </a:t>
            </a:r>
            <a:endParaRPr b="0" i="0" sz="1400" u="none" cap="none" strike="noStrike">
              <a:solidFill>
                <a:srgbClr val="000000"/>
              </a:solidFill>
              <a:latin typeface="Impact"/>
              <a:ea typeface="Impact"/>
              <a:cs typeface="Impact"/>
              <a:sym typeface="Impact"/>
            </a:endParaRPr>
          </a:p>
        </p:txBody>
      </p:sp>
      <p:sp>
        <p:nvSpPr>
          <p:cNvPr id="284" name="Google Shape;284;p36"/>
          <p:cNvSpPr txBox="1"/>
          <p:nvPr/>
        </p:nvSpPr>
        <p:spPr>
          <a:xfrm>
            <a:off x="3839229" y="3540118"/>
            <a:ext cx="11272039" cy="4739759"/>
          </a:xfrm>
          <a:prstGeom prst="rect">
            <a:avLst/>
          </a:prstGeom>
          <a:noFill/>
          <a:ln>
            <a:noFill/>
          </a:ln>
        </p:spPr>
        <p:txBody>
          <a:bodyPr anchorCtr="0" anchor="t" bIns="0" lIns="0" spcFirstLastPara="1" rIns="0" wrap="square" tIns="0">
            <a:spAutoFit/>
          </a:bodyPr>
          <a:lstStyle/>
          <a:p>
            <a:pPr indent="0" lvl="0" marL="0" marR="0" rtl="0" algn="ctr">
              <a:lnSpc>
                <a:spcPct val="140019"/>
              </a:lnSpc>
              <a:spcBef>
                <a:spcPts val="0"/>
              </a:spcBef>
              <a:spcAft>
                <a:spcPts val="0"/>
              </a:spcAft>
              <a:buNone/>
            </a:pPr>
            <a:r>
              <a:rPr b="0" i="0" lang="en-US" sz="4400" u="none" cap="none" strike="noStrike">
                <a:solidFill>
                  <a:srgbClr val="131416"/>
                </a:solidFill>
                <a:latin typeface="Arial"/>
                <a:ea typeface="Arial"/>
                <a:cs typeface="Arial"/>
                <a:sym typeface="Arial"/>
              </a:rPr>
              <a:t>Implementa técnicas de modelado y normalización de bases de datos para optimizar la estructura de almacenamiento de información garantizando la integridad y consistencia de los datos </a:t>
            </a:r>
            <a:endParaRPr b="0" i="0" sz="2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37"/>
          <p:cNvSpPr txBox="1"/>
          <p:nvPr/>
        </p:nvSpPr>
        <p:spPr>
          <a:xfrm>
            <a:off x="2507390" y="1000125"/>
            <a:ext cx="13503300" cy="1354217"/>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8800"/>
              <a:buFont typeface="Arial"/>
              <a:buNone/>
            </a:pPr>
            <a:r>
              <a:rPr b="1" i="0" lang="en-US" sz="8800" u="none" cap="none" strike="noStrike">
                <a:solidFill>
                  <a:srgbClr val="000000"/>
                </a:solidFill>
                <a:latin typeface="Arial"/>
                <a:ea typeface="Arial"/>
                <a:cs typeface="Arial"/>
                <a:sym typeface="Arial"/>
              </a:rPr>
              <a:t>PRECISIÓN</a:t>
            </a:r>
            <a:endParaRPr/>
          </a:p>
        </p:txBody>
      </p:sp>
      <p:sp>
        <p:nvSpPr>
          <p:cNvPr id="290" name="Google Shape;290;p37"/>
          <p:cNvSpPr txBox="1"/>
          <p:nvPr/>
        </p:nvSpPr>
        <p:spPr>
          <a:xfrm>
            <a:off x="2507390" y="2848052"/>
            <a:ext cx="12442095" cy="3447098"/>
          </a:xfrm>
          <a:prstGeom prst="rect">
            <a:avLst/>
          </a:prstGeom>
          <a:noFill/>
          <a:ln>
            <a:noFill/>
          </a:ln>
        </p:spPr>
        <p:txBody>
          <a:bodyPr anchorCtr="0" anchor="t" bIns="0" lIns="0" spcFirstLastPara="1" rIns="0" wrap="square" tIns="0">
            <a:spAutoFit/>
          </a:bodyPr>
          <a:lstStyle/>
          <a:p>
            <a:pPr indent="0" lvl="0" marL="0" marR="0" rtl="0" algn="ctr">
              <a:lnSpc>
                <a:spcPct val="140019"/>
              </a:lnSpc>
              <a:spcBef>
                <a:spcPts val="0"/>
              </a:spcBef>
              <a:spcAft>
                <a:spcPts val="0"/>
              </a:spcAft>
              <a:buClr>
                <a:srgbClr val="000000"/>
              </a:buClr>
              <a:buSzPts val="3151"/>
              <a:buFont typeface="Arial"/>
              <a:buNone/>
            </a:pPr>
            <a:r>
              <a:rPr b="0" i="0" lang="en-US" sz="4000" u="none" cap="none" strike="noStrike">
                <a:solidFill>
                  <a:srgbClr val="000000"/>
                </a:solidFill>
                <a:latin typeface="Arial"/>
                <a:ea typeface="Arial"/>
                <a:cs typeface="Arial"/>
                <a:sym typeface="Arial"/>
              </a:rPr>
              <a:t>“En SQL, la PRECISIÓN se refleja en diseñar tablas normalizadas y consultas que devuelvan exactamente los datos requeridos, sin ambigüedades ni redundancias”</a:t>
            </a:r>
            <a:endParaRPr b="0" i="0" sz="1400" u="none" cap="none" strike="noStrike">
              <a:solidFill>
                <a:srgbClr val="000000"/>
              </a:solidFill>
              <a:latin typeface="Arial"/>
              <a:ea typeface="Arial"/>
              <a:cs typeface="Arial"/>
              <a:sym typeface="Arial"/>
            </a:endParaRPr>
          </a:p>
        </p:txBody>
      </p:sp>
      <p:sp>
        <p:nvSpPr>
          <p:cNvPr id="291" name="Google Shape;291;p37"/>
          <p:cNvSpPr txBox="1"/>
          <p:nvPr/>
        </p:nvSpPr>
        <p:spPr>
          <a:xfrm>
            <a:off x="2507389" y="6788860"/>
            <a:ext cx="12442095" cy="1378839"/>
          </a:xfrm>
          <a:prstGeom prst="rect">
            <a:avLst/>
          </a:prstGeom>
          <a:noFill/>
          <a:ln>
            <a:noFill/>
          </a:ln>
        </p:spPr>
        <p:txBody>
          <a:bodyPr anchorCtr="0" anchor="t" bIns="0" lIns="0" spcFirstLastPara="1" rIns="0" wrap="square" tIns="0">
            <a:spAutoFit/>
          </a:bodyPr>
          <a:lstStyle/>
          <a:p>
            <a:pPr indent="0" lvl="0" marL="0" marR="0" rtl="0" algn="ctr">
              <a:lnSpc>
                <a:spcPct val="140019"/>
              </a:lnSpc>
              <a:spcBef>
                <a:spcPts val="0"/>
              </a:spcBef>
              <a:spcAft>
                <a:spcPts val="0"/>
              </a:spcAft>
              <a:buClr>
                <a:srgbClr val="000000"/>
              </a:buClr>
              <a:buSzPts val="3151"/>
              <a:buFont typeface="Arial"/>
              <a:buNone/>
            </a:pPr>
            <a:r>
              <a:rPr b="0" i="0" lang="en-US" sz="3200" u="none" cap="none" strike="noStrike">
                <a:solidFill>
                  <a:srgbClr val="000000"/>
                </a:solidFill>
                <a:latin typeface="Arial"/>
                <a:ea typeface="Arial"/>
                <a:cs typeface="Arial"/>
                <a:sym typeface="Arial"/>
              </a:rPr>
              <a:t>Una consulta mal diseñada devuelve datos duplicados o incompletos; con precisión, obtienes exactamente lo que necesitas</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38"/>
          <p:cNvSpPr txBox="1"/>
          <p:nvPr/>
        </p:nvSpPr>
        <p:spPr>
          <a:xfrm>
            <a:off x="2507390" y="1000125"/>
            <a:ext cx="13503300" cy="10620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6900"/>
              <a:buFont typeface="Arial"/>
              <a:buNone/>
            </a:pPr>
            <a:r>
              <a:rPr b="0" i="0" lang="en-US" sz="6900" u="none" cap="none" strike="noStrike">
                <a:solidFill>
                  <a:srgbClr val="131416"/>
                </a:solidFill>
                <a:latin typeface="Impact"/>
                <a:ea typeface="Impact"/>
                <a:cs typeface="Impact"/>
                <a:sym typeface="Impact"/>
              </a:rPr>
              <a:t>REFERENCIAS </a:t>
            </a:r>
            <a:endParaRPr b="0" i="0" sz="1400" u="none" cap="none" strike="noStrike">
              <a:solidFill>
                <a:srgbClr val="000000"/>
              </a:solidFill>
              <a:latin typeface="Impact"/>
              <a:ea typeface="Impact"/>
              <a:cs typeface="Impact"/>
              <a:sym typeface="Impact"/>
            </a:endParaRPr>
          </a:p>
        </p:txBody>
      </p:sp>
      <p:pic>
        <p:nvPicPr>
          <p:cNvPr id="297" name="Google Shape;297;p38" title="Gemini_Generated_Image_k3gbyrk3gbyrk3gb.png"/>
          <p:cNvPicPr preferRelativeResize="0"/>
          <p:nvPr/>
        </p:nvPicPr>
        <p:blipFill rotWithShape="1">
          <a:blip r:embed="rId3">
            <a:alphaModFix/>
          </a:blip>
          <a:srcRect b="0" l="0" r="0" t="0"/>
          <a:stretch/>
        </p:blipFill>
        <p:spPr>
          <a:xfrm>
            <a:off x="0" y="0"/>
            <a:ext cx="7000174" cy="4361449"/>
          </a:xfrm>
          <a:prstGeom prst="rect">
            <a:avLst/>
          </a:prstGeom>
          <a:noFill/>
          <a:ln>
            <a:noFill/>
          </a:ln>
        </p:spPr>
      </p:pic>
      <p:sp>
        <p:nvSpPr>
          <p:cNvPr id="298" name="Google Shape;298;p38"/>
          <p:cNvSpPr txBox="1"/>
          <p:nvPr/>
        </p:nvSpPr>
        <p:spPr>
          <a:xfrm>
            <a:off x="962526" y="4361449"/>
            <a:ext cx="16435137" cy="3016980"/>
          </a:xfrm>
          <a:prstGeom prst="rect">
            <a:avLst/>
          </a:prstGeom>
          <a:noFill/>
          <a:ln>
            <a:noFill/>
          </a:ln>
        </p:spPr>
        <p:txBody>
          <a:bodyPr anchorCtr="0" anchor="t" bIns="0" lIns="0" spcFirstLastPara="1" rIns="0" wrap="square" tIns="0">
            <a:spAutoFit/>
          </a:bodyPr>
          <a:lstStyle/>
          <a:p>
            <a:pPr indent="0" lvl="0" marL="0" marR="0" rtl="0" algn="ctr">
              <a:lnSpc>
                <a:spcPct val="140019"/>
              </a:lnSpc>
              <a:spcBef>
                <a:spcPts val="0"/>
              </a:spcBef>
              <a:spcAft>
                <a:spcPts val="0"/>
              </a:spcAft>
              <a:buNone/>
            </a:pPr>
            <a:r>
              <a:rPr b="0" i="0" lang="en-US" sz="3151" u="sng" cap="none" strike="noStrike">
                <a:solidFill>
                  <a:srgbClr val="131416"/>
                </a:solidFill>
                <a:latin typeface="Arial"/>
                <a:ea typeface="Arial"/>
                <a:cs typeface="Arial"/>
                <a:sym typeface="Arial"/>
                <a:hlinkClick r:id="rId4">
                  <a:extLst>
                    <a:ext uri="{A12FA001-AC4F-418D-AE19-62706E023703}">
                      <ahyp:hlinkClr val="tx"/>
                    </a:ext>
                  </a:extLst>
                </a:hlinkClick>
              </a:rPr>
              <a:t>https://www.freecodecamp.org/espanol/news/normalizacion-de-base-de-datos-formas-normales-1nf-2nf-3nf-ejemplos-de-tablas/</a:t>
            </a:r>
            <a:r>
              <a:rPr b="0" i="0" lang="en-US" sz="3151" u="none" cap="none" strike="noStrike">
                <a:solidFill>
                  <a:srgbClr val="131416"/>
                </a:solidFill>
                <a:latin typeface="Arial"/>
                <a:ea typeface="Arial"/>
                <a:cs typeface="Arial"/>
                <a:sym typeface="Arial"/>
              </a:rPr>
              <a:t> </a:t>
            </a:r>
            <a:endParaRPr/>
          </a:p>
          <a:p>
            <a:pPr indent="0" lvl="0" marL="0" marR="0" rtl="0" algn="ctr">
              <a:lnSpc>
                <a:spcPct val="140019"/>
              </a:lnSpc>
              <a:spcBef>
                <a:spcPts val="0"/>
              </a:spcBef>
              <a:spcAft>
                <a:spcPts val="0"/>
              </a:spcAft>
              <a:buNone/>
            </a:pPr>
            <a:r>
              <a:t/>
            </a:r>
            <a:endParaRPr b="0" i="0" sz="3151" u="none" cap="none" strike="noStrike">
              <a:solidFill>
                <a:srgbClr val="131416"/>
              </a:solidFill>
              <a:latin typeface="Arial"/>
              <a:ea typeface="Arial"/>
              <a:cs typeface="Arial"/>
              <a:sym typeface="Arial"/>
            </a:endParaRPr>
          </a:p>
          <a:p>
            <a:pPr indent="0" lvl="0" marL="0" marR="0" rtl="0" algn="ctr">
              <a:lnSpc>
                <a:spcPct val="140019"/>
              </a:lnSpc>
              <a:spcBef>
                <a:spcPts val="0"/>
              </a:spcBef>
              <a:spcAft>
                <a:spcPts val="0"/>
              </a:spcAft>
              <a:buNone/>
            </a:pPr>
            <a:r>
              <a:rPr b="0" i="0" lang="en-US" sz="3151" u="sng" cap="none" strike="noStrike">
                <a:solidFill>
                  <a:srgbClr val="131416"/>
                </a:solidFill>
                <a:latin typeface="Arial"/>
                <a:ea typeface="Arial"/>
                <a:cs typeface="Arial"/>
                <a:sym typeface="Arial"/>
                <a:hlinkClick r:id="rId5">
                  <a:extLst>
                    <a:ext uri="{A12FA001-AC4F-418D-AE19-62706E023703}">
                      <ahyp:hlinkClr val="tx"/>
                    </a:ext>
                  </a:extLst>
                </a:hlinkClick>
              </a:rPr>
              <a:t>https://www.datacamp.com/es/tutorial/sql-stored-procedure</a:t>
            </a:r>
            <a:endParaRPr b="0" i="0" sz="3151" u="none" cap="none" strike="noStrike">
              <a:solidFill>
                <a:srgbClr val="131416"/>
              </a:solidFill>
              <a:latin typeface="Arial"/>
              <a:ea typeface="Arial"/>
              <a:cs typeface="Arial"/>
              <a:sym typeface="Arial"/>
            </a:endParaRPr>
          </a:p>
          <a:p>
            <a:pPr indent="0" lvl="0" marL="0" marR="0" rtl="0" algn="ctr">
              <a:lnSpc>
                <a:spcPct val="140019"/>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39"/>
          <p:cNvSpPr txBox="1"/>
          <p:nvPr/>
        </p:nvSpPr>
        <p:spPr>
          <a:xfrm>
            <a:off x="2148439" y="4077814"/>
            <a:ext cx="13991100" cy="938700"/>
          </a:xfrm>
          <a:prstGeom prst="rect">
            <a:avLst/>
          </a:prstGeom>
          <a:noFill/>
          <a:ln>
            <a:noFill/>
          </a:ln>
        </p:spPr>
        <p:txBody>
          <a:bodyPr anchorCtr="0" anchor="t" bIns="0" lIns="0" spcFirstLastPara="1" rIns="0" wrap="square" tIns="0">
            <a:spAutoFit/>
          </a:bodyPr>
          <a:lstStyle/>
          <a:p>
            <a:pPr indent="0" lvl="0" marL="0" marR="0" rtl="0" algn="ctr">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Ejemplo práctico</a:t>
            </a:r>
            <a:endParaRPr b="0" i="0" sz="1400" u="none" cap="none" strike="noStrike">
              <a:solidFill>
                <a:srgbClr val="000000"/>
              </a:solidFill>
              <a:latin typeface="Impact"/>
              <a:ea typeface="Impact"/>
              <a:cs typeface="Impact"/>
              <a:sym typeface="Impact"/>
            </a:endParaRPr>
          </a:p>
        </p:txBody>
      </p:sp>
      <p:pic>
        <p:nvPicPr>
          <p:cNvPr id="304" name="Google Shape;304;p39" title="Gemini_Generated_Image_u2i06ou2i06ou2i0.png"/>
          <p:cNvPicPr preferRelativeResize="0"/>
          <p:nvPr/>
        </p:nvPicPr>
        <p:blipFill rotWithShape="1">
          <a:blip r:embed="rId3">
            <a:alphaModFix/>
          </a:blip>
          <a:srcRect b="0" l="0" r="0" t="0"/>
          <a:stretch/>
        </p:blipFill>
        <p:spPr>
          <a:xfrm>
            <a:off x="0" y="3"/>
            <a:ext cx="4695574" cy="6434676"/>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40"/>
          <p:cNvSpPr txBox="1"/>
          <p:nvPr/>
        </p:nvSpPr>
        <p:spPr>
          <a:xfrm>
            <a:off x="2148439" y="4077814"/>
            <a:ext cx="13991100" cy="938700"/>
          </a:xfrm>
          <a:prstGeom prst="rect">
            <a:avLst/>
          </a:prstGeom>
          <a:noFill/>
          <a:ln>
            <a:noFill/>
          </a:ln>
        </p:spPr>
        <p:txBody>
          <a:bodyPr anchorCtr="0" anchor="t" bIns="0" lIns="0" spcFirstLastPara="1" rIns="0" wrap="square" tIns="0">
            <a:spAutoFit/>
          </a:bodyPr>
          <a:lstStyle/>
          <a:p>
            <a:pPr indent="0" lvl="0" marL="0" marR="0" rtl="0" algn="ctr">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Practiquemos lo aprendido</a:t>
            </a:r>
            <a:endParaRPr b="0" i="0" sz="1400" u="none" cap="none" strike="noStrike">
              <a:solidFill>
                <a:srgbClr val="000000"/>
              </a:solidFill>
              <a:latin typeface="Impact"/>
              <a:ea typeface="Impact"/>
              <a:cs typeface="Impact"/>
              <a:sym typeface="Impact"/>
            </a:endParaRPr>
          </a:p>
        </p:txBody>
      </p:sp>
      <p:pic>
        <p:nvPicPr>
          <p:cNvPr id="310" name="Google Shape;310;p40" title="Gemini_Generated_Image_mopnfwmopnfwmopn (1).png"/>
          <p:cNvPicPr preferRelativeResize="0"/>
          <p:nvPr/>
        </p:nvPicPr>
        <p:blipFill rotWithShape="1">
          <a:blip r:embed="rId3">
            <a:alphaModFix/>
          </a:blip>
          <a:srcRect b="0" l="0" r="0" t="0"/>
          <a:stretch/>
        </p:blipFill>
        <p:spPr>
          <a:xfrm>
            <a:off x="0" y="-5"/>
            <a:ext cx="4077824" cy="407782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pic>
        <p:nvPicPr>
          <p:cNvPr id="315" name="Google Shape;315;p41"/>
          <p:cNvPicPr preferRelativeResize="0"/>
          <p:nvPr/>
        </p:nvPicPr>
        <p:blipFill rotWithShape="1">
          <a:blip r:embed="rId3">
            <a:alphaModFix amt="62000"/>
          </a:blip>
          <a:srcRect b="0" l="0" r="0" t="0"/>
          <a:stretch/>
        </p:blipFill>
        <p:spPr>
          <a:xfrm>
            <a:off x="16902" y="0"/>
            <a:ext cx="18254198" cy="10287001"/>
          </a:xfrm>
          <a:prstGeom prst="rect">
            <a:avLst/>
          </a:prstGeom>
          <a:noFill/>
          <a:ln>
            <a:noFill/>
          </a:ln>
        </p:spPr>
      </p:pic>
      <p:graphicFrame>
        <p:nvGraphicFramePr>
          <p:cNvPr id="316" name="Google Shape;316;p41"/>
          <p:cNvGraphicFramePr/>
          <p:nvPr/>
        </p:nvGraphicFramePr>
        <p:xfrm>
          <a:off x="16900" y="1507250"/>
          <a:ext cx="3000000" cy="3000000"/>
        </p:xfrm>
        <a:graphic>
          <a:graphicData uri="http://schemas.openxmlformats.org/drawingml/2006/table">
            <a:tbl>
              <a:tblPr>
                <a:noFill/>
                <a:tableStyleId>{E7C221E5-2292-45AF-BF6C-6698CA895631}</a:tableStyleId>
              </a:tblPr>
              <a:tblGrid>
                <a:gridCol w="5533100"/>
                <a:gridCol w="4926650"/>
              </a:tblGrid>
              <a:tr h="6449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Nombre de la actividad:</a:t>
                      </a:r>
                      <a:endParaRPr b="1" sz="2800" u="none" cap="none" strike="noStrike">
                        <a:solidFill>
                          <a:schemeClr val="dk1"/>
                        </a:solidFill>
                      </a:endParaRPr>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000000"/>
                        </a:buClr>
                        <a:buSzPts val="2800"/>
                        <a:buFont typeface="Arial"/>
                        <a:buNone/>
                      </a:pPr>
                      <a:r>
                        <a:t/>
                      </a:r>
                      <a:endParaRPr sz="2800" u="none" cap="none" strike="noStrike"/>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r h="7262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Cantidad de participantes:</a:t>
                      </a:r>
                      <a:endParaRPr b="1" sz="2800" u="none" cap="none" strike="noStrike">
                        <a:solidFill>
                          <a:schemeClr val="dk1"/>
                        </a:solidFill>
                      </a:endParaRPr>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000000"/>
                        </a:buClr>
                        <a:buSzPts val="2800"/>
                        <a:buFont typeface="Arial"/>
                        <a:buNone/>
                      </a:pPr>
                      <a:r>
                        <a:t/>
                      </a:r>
                      <a:endParaRPr sz="2800" u="none" cap="none" strike="noStrike"/>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r h="6572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Doy fe que esta actividad está planificada en dtt (Sí/No):</a:t>
                      </a:r>
                      <a:endParaRPr b="1" sz="2800" u="none" cap="none" strike="noStrike">
                        <a:solidFill>
                          <a:schemeClr val="dk1"/>
                        </a:solidFill>
                      </a:endParaRPr>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000000"/>
                        </a:buClr>
                        <a:buSzPts val="2800"/>
                        <a:buFont typeface="Arial"/>
                        <a:buNone/>
                      </a:pPr>
                      <a:r>
                        <a:t/>
                      </a:r>
                      <a:endParaRPr sz="2800" u="none" cap="none" strike="noStrike"/>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bl>
          </a:graphicData>
        </a:graphic>
      </p:graphicFrame>
      <p:sp>
        <p:nvSpPr>
          <p:cNvPr id="317" name="Google Shape;317;p41"/>
          <p:cNvSpPr txBox="1"/>
          <p:nvPr/>
        </p:nvSpPr>
        <p:spPr>
          <a:xfrm>
            <a:off x="0" y="4281900"/>
            <a:ext cx="18037800" cy="800400"/>
          </a:xfrm>
          <a:prstGeom prst="rect">
            <a:avLst/>
          </a:prstGeom>
          <a:noFill/>
          <a:ln>
            <a:noFill/>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000000"/>
                </a:solidFill>
                <a:latin typeface="Arial"/>
                <a:ea typeface="Arial"/>
                <a:cs typeface="Arial"/>
                <a:sym typeface="Arial"/>
              </a:rPr>
              <a:t>Participantes: llenar las siguientes cajas de texto (tomar información del chat del meet)</a:t>
            </a:r>
            <a:endParaRPr b="1" i="0" sz="2800" u="none" cap="none" strike="noStrike">
              <a:solidFill>
                <a:srgbClr val="000000"/>
              </a:solidFill>
              <a:latin typeface="Arial"/>
              <a:ea typeface="Arial"/>
              <a:cs typeface="Arial"/>
              <a:sym typeface="Arial"/>
            </a:endParaRPr>
          </a:p>
        </p:txBody>
      </p:sp>
      <p:sp>
        <p:nvSpPr>
          <p:cNvPr id="318" name="Google Shape;318;p41"/>
          <p:cNvSpPr txBox="1"/>
          <p:nvPr/>
        </p:nvSpPr>
        <p:spPr>
          <a:xfrm>
            <a:off x="16900" y="4955800"/>
            <a:ext cx="6167400" cy="738900"/>
          </a:xfrm>
          <a:prstGeom prst="rect">
            <a:avLst/>
          </a:prstGeom>
          <a:noFill/>
          <a:ln cap="flat" cmpd="sng" w="19050">
            <a:solidFill>
              <a:schemeClr val="dk1"/>
            </a:solidFill>
            <a:prstDash val="solid"/>
            <a:round/>
            <a:headEnd len="sm" w="sm" type="none"/>
            <a:tailEnd len="sm" w="sm" type="none"/>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graphicFrame>
        <p:nvGraphicFramePr>
          <p:cNvPr id="319" name="Google Shape;319;p41"/>
          <p:cNvGraphicFramePr/>
          <p:nvPr/>
        </p:nvGraphicFramePr>
        <p:xfrm>
          <a:off x="10656400" y="1940050"/>
          <a:ext cx="3000000" cy="3000000"/>
        </p:xfrm>
        <a:graphic>
          <a:graphicData uri="http://schemas.openxmlformats.org/drawingml/2006/table">
            <a:tbl>
              <a:tblPr>
                <a:noFill/>
                <a:tableStyleId>{E7C221E5-2292-45AF-BF6C-6698CA895631}</a:tableStyleId>
              </a:tblPr>
              <a:tblGrid>
                <a:gridCol w="3036400"/>
                <a:gridCol w="4344750"/>
              </a:tblGrid>
              <a:tr h="6449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Hora de inicio:</a:t>
                      </a:r>
                      <a:endParaRPr b="1" sz="2800" u="none" cap="none" strike="noStrike">
                        <a:solidFill>
                          <a:schemeClr val="dk1"/>
                        </a:solidFill>
                      </a:endParaRPr>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000000"/>
                        </a:buClr>
                        <a:buSzPts val="2800"/>
                        <a:buFont typeface="Arial"/>
                        <a:buNone/>
                      </a:pPr>
                      <a:r>
                        <a:t/>
                      </a:r>
                      <a:endParaRPr sz="2800" u="none" cap="none" strike="noStrike"/>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r h="7262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Hora de fin:</a:t>
                      </a:r>
                      <a:endParaRPr b="1" sz="2800" u="none" cap="none" strike="noStrike">
                        <a:solidFill>
                          <a:schemeClr val="dk1"/>
                        </a:solidFill>
                      </a:endParaRPr>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000000"/>
                        </a:buClr>
                        <a:buSzPts val="2800"/>
                        <a:buFont typeface="Arial"/>
                        <a:buNone/>
                      </a:pPr>
                      <a:r>
                        <a:t/>
                      </a:r>
                      <a:endParaRPr sz="2800" u="none" cap="none" strike="noStrike"/>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r h="657200">
                <a:tc>
                  <a:txBody>
                    <a:bodyPr/>
                    <a:lstStyle/>
                    <a:p>
                      <a:pPr indent="0" lvl="0" marL="0" marR="0" rtl="0" algn="l">
                        <a:lnSpc>
                          <a:spcPct val="100000"/>
                        </a:lnSpc>
                        <a:spcBef>
                          <a:spcPts val="0"/>
                        </a:spcBef>
                        <a:spcAft>
                          <a:spcPts val="0"/>
                        </a:spcAft>
                        <a:buClr>
                          <a:schemeClr val="dk1"/>
                        </a:buClr>
                        <a:buSzPts val="2000"/>
                        <a:buFont typeface="Arial"/>
                        <a:buNone/>
                      </a:pPr>
                      <a:r>
                        <a:rPr b="1" lang="en-US" sz="2800" u="none" cap="none" strike="noStrike">
                          <a:solidFill>
                            <a:schemeClr val="dk1"/>
                          </a:solidFill>
                        </a:rPr>
                        <a:t>Duración (min):</a:t>
                      </a:r>
                      <a:endParaRPr b="1" sz="1000" u="none" cap="none" strike="noStrike"/>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000000"/>
                        </a:buClr>
                        <a:buSzPts val="2800"/>
                        <a:buFont typeface="Arial"/>
                        <a:buNone/>
                      </a:pPr>
                      <a:r>
                        <a:t/>
                      </a:r>
                      <a:endParaRPr sz="2800" u="none" cap="none" strike="noStrike"/>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bl>
          </a:graphicData>
        </a:graphic>
      </p:graphicFrame>
      <p:sp>
        <p:nvSpPr>
          <p:cNvPr id="320" name="Google Shape;320;p41"/>
          <p:cNvSpPr txBox="1"/>
          <p:nvPr/>
        </p:nvSpPr>
        <p:spPr>
          <a:xfrm>
            <a:off x="6261600" y="4955800"/>
            <a:ext cx="6167400" cy="738900"/>
          </a:xfrm>
          <a:prstGeom prst="rect">
            <a:avLst/>
          </a:prstGeom>
          <a:noFill/>
          <a:ln cap="flat" cmpd="sng" w="19050">
            <a:solidFill>
              <a:schemeClr val="dk1"/>
            </a:solidFill>
            <a:prstDash val="solid"/>
            <a:round/>
            <a:headEnd len="sm" w="sm" type="none"/>
            <a:tailEnd len="sm" w="sm" type="none"/>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21" name="Google Shape;321;p41"/>
          <p:cNvSpPr txBox="1"/>
          <p:nvPr/>
        </p:nvSpPr>
        <p:spPr>
          <a:xfrm>
            <a:off x="12506300" y="4955800"/>
            <a:ext cx="5764800" cy="738900"/>
          </a:xfrm>
          <a:prstGeom prst="rect">
            <a:avLst/>
          </a:prstGeom>
          <a:noFill/>
          <a:ln cap="flat" cmpd="sng" w="19050">
            <a:solidFill>
              <a:schemeClr val="dk1"/>
            </a:solidFill>
            <a:prstDash val="solid"/>
            <a:round/>
            <a:headEnd len="sm" w="sm" type="none"/>
            <a:tailEnd len="sm" w="sm" type="none"/>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42"/>
          <p:cNvSpPr txBox="1"/>
          <p:nvPr/>
        </p:nvSpPr>
        <p:spPr>
          <a:xfrm>
            <a:off x="5791489" y="6796953"/>
            <a:ext cx="6705000" cy="769500"/>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000000"/>
              </a:buClr>
              <a:buSzPts val="5000"/>
              <a:buFont typeface="Arial"/>
              <a:buNone/>
            </a:pPr>
            <a:r>
              <a:rPr b="0" i="0" lang="en-US" sz="5000" u="none" cap="none" strike="noStrike">
                <a:solidFill>
                  <a:srgbClr val="131416"/>
                </a:solidFill>
                <a:latin typeface="Arial"/>
                <a:ea typeface="Arial"/>
                <a:cs typeface="Arial"/>
                <a:sym typeface="Arial"/>
              </a:rPr>
              <a:t>DUDAS ¿?</a:t>
            </a:r>
            <a:endParaRPr b="0" i="0" sz="1400" u="none" cap="none" strike="noStrike">
              <a:solidFill>
                <a:srgbClr val="000000"/>
              </a:solidFill>
              <a:latin typeface="Arial"/>
              <a:ea typeface="Arial"/>
              <a:cs typeface="Arial"/>
              <a:sym typeface="Arial"/>
            </a:endParaRPr>
          </a:p>
        </p:txBody>
      </p:sp>
      <p:pic>
        <p:nvPicPr>
          <p:cNvPr id="327" name="Google Shape;327;p42" title="Gemini_Generated_Image_1od44x1od44x1od4.png"/>
          <p:cNvPicPr preferRelativeResize="0"/>
          <p:nvPr/>
        </p:nvPicPr>
        <p:blipFill rotWithShape="1">
          <a:blip r:embed="rId3">
            <a:alphaModFix/>
          </a:blip>
          <a:srcRect b="0" l="0" r="0" t="0"/>
          <a:stretch/>
        </p:blipFill>
        <p:spPr>
          <a:xfrm>
            <a:off x="4576287" y="699975"/>
            <a:ext cx="9135424" cy="5691801"/>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43"/>
          <p:cNvSpPr txBox="1"/>
          <p:nvPr/>
        </p:nvSpPr>
        <p:spPr>
          <a:xfrm>
            <a:off x="3946352" y="5143500"/>
            <a:ext cx="10395289" cy="2304605"/>
          </a:xfrm>
          <a:prstGeom prst="rect">
            <a:avLst/>
          </a:prstGeom>
          <a:noFill/>
          <a:ln>
            <a:noFill/>
          </a:ln>
        </p:spPr>
        <p:txBody>
          <a:bodyPr anchorCtr="0" anchor="t" bIns="0" lIns="0" spcFirstLastPara="1" rIns="0" wrap="square" tIns="0">
            <a:spAutoFit/>
          </a:bodyPr>
          <a:lstStyle/>
          <a:p>
            <a:pPr indent="0" lvl="0" marL="0" marR="0" rtl="0" algn="just">
              <a:lnSpc>
                <a:spcPct val="104000"/>
              </a:lnSpc>
              <a:spcBef>
                <a:spcPts val="0"/>
              </a:spcBef>
              <a:spcAft>
                <a:spcPts val="0"/>
              </a:spcAft>
              <a:buClr>
                <a:srgbClr val="000000"/>
              </a:buClr>
              <a:buSzPts val="6099"/>
              <a:buFont typeface="Arial"/>
              <a:buNone/>
            </a:pPr>
            <a:r>
              <a:rPr b="0" i="0" lang="en-US" sz="7200" u="none" cap="none" strike="noStrike">
                <a:solidFill>
                  <a:srgbClr val="131416"/>
                </a:solidFill>
                <a:latin typeface="Impact"/>
                <a:ea typeface="Impact"/>
                <a:cs typeface="Impact"/>
                <a:sym typeface="Impact"/>
              </a:rPr>
              <a:t>¡GRACIAS POR SU  ATENCIÓN!</a:t>
            </a:r>
            <a:endParaRPr b="0" i="0" sz="1800" u="none" cap="none" strike="noStrike">
              <a:solidFill>
                <a:srgbClr val="000000"/>
              </a:solidFill>
              <a:latin typeface="Impact"/>
              <a:ea typeface="Impact"/>
              <a:cs typeface="Impact"/>
              <a:sym typeface="Impact"/>
            </a:endParaRPr>
          </a:p>
          <a:p>
            <a:pPr indent="0" lvl="0" marL="0" marR="0" rtl="0" algn="just">
              <a:lnSpc>
                <a:spcPct val="104000"/>
              </a:lnSpc>
              <a:spcBef>
                <a:spcPts val="0"/>
              </a:spcBef>
              <a:spcAft>
                <a:spcPts val="0"/>
              </a:spcAft>
              <a:buClr>
                <a:srgbClr val="000000"/>
              </a:buClr>
              <a:buSzPts val="6099"/>
              <a:buFont typeface="Arial"/>
              <a:buNone/>
            </a:pPr>
            <a:r>
              <a:t/>
            </a:r>
            <a:endParaRPr b="0" i="0" sz="7200" u="none" cap="none" strike="noStrike">
              <a:solidFill>
                <a:srgbClr val="131416"/>
              </a:solidFill>
              <a:latin typeface="Impact"/>
              <a:ea typeface="Impact"/>
              <a:cs typeface="Impact"/>
              <a:sym typeface="Impact"/>
            </a:endParaRPr>
          </a:p>
        </p:txBody>
      </p:sp>
      <p:sp>
        <p:nvSpPr>
          <p:cNvPr id="333" name="Google Shape;333;p43"/>
          <p:cNvSpPr/>
          <p:nvPr/>
        </p:nvSpPr>
        <p:spPr>
          <a:xfrm>
            <a:off x="7765363" y="596600"/>
            <a:ext cx="2757268" cy="3770970"/>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4" name="Google Shape;334;p43"/>
          <p:cNvSpPr txBox="1"/>
          <p:nvPr/>
        </p:nvSpPr>
        <p:spPr>
          <a:xfrm>
            <a:off x="2050150" y="7217412"/>
            <a:ext cx="13465804" cy="1093248"/>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000000"/>
              </a:buClr>
              <a:buSzPts val="2000"/>
              <a:buFont typeface="Arial"/>
              <a:buNone/>
            </a:pPr>
            <a:r>
              <a:rPr b="0" i="0" lang="en-US" sz="2400" u="none" cap="none" strike="noStrike">
                <a:solidFill>
                  <a:srgbClr val="131416"/>
                </a:solidFill>
                <a:latin typeface="Arial"/>
                <a:ea typeface="Arial"/>
                <a:cs typeface="Arial"/>
                <a:sym typeface="Arial"/>
              </a:rPr>
              <a:t>RECUERDA QUE TENEMOS NUESTRO FORO SEMANAL DONDE PUEDES CONSULTAR CUALQUIER DUDA QUE TE SURJA EN LA SEMANA</a:t>
            </a:r>
            <a:endParaRPr b="0" i="0" sz="16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