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gQChyU3ovHNiB8Y7jm/rTI3is+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2649D7-97AA-4A39-AB76-0C16160C2E87}">
  <a:tblStyle styleId="{D62649D7-97AA-4A39-AB76-0C16160C2E8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customschemas.google.com/relationships/presentationmetadata" Target="meta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33802" y="-2"/>
            <a:ext cx="18254198" cy="10287002"/>
          </a:xfrm>
          <a:custGeom>
            <a:rect b="b" l="l" r="r" t="t"/>
            <a:pathLst>
              <a:path extrusionOk="0"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2000"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5" name="Google Shape;85;p1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{D62649D7-97AA-4A39-AB76-0C16160C2E87}</a:tableStyleId>
              </a:tblPr>
              <a:tblGrid>
                <a:gridCol w="3030175"/>
                <a:gridCol w="4335825"/>
              </a:tblGrid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79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79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"/>
          <p:cNvSpPr txBox="1"/>
          <p:nvPr/>
        </p:nvSpPr>
        <p:spPr>
          <a:xfrm>
            <a:off x="2971775" y="4512775"/>
            <a:ext cx="13401150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de Bases de Datos 2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2971775" y="5807200"/>
            <a:ext cx="109903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del Auxiliar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7786" l="0" r="0" t="7786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2"/>
          <p:cNvGrpSpPr/>
          <p:nvPr/>
        </p:nvGrpSpPr>
        <p:grpSpPr>
          <a:xfrm>
            <a:off x="0" y="-144661"/>
            <a:ext cx="18288000" cy="10431661"/>
            <a:chOff x="0" y="-38100"/>
            <a:chExt cx="4816593" cy="2747433"/>
          </a:xfrm>
        </p:grpSpPr>
        <p:sp>
          <p:nvSpPr>
            <p:cNvPr id="94" name="Google Shape;94;p2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82352"/>
              </a:srgbClr>
            </a:solidFill>
            <a:ln>
              <a:noFill/>
            </a:ln>
          </p:spPr>
        </p:sp>
        <p:sp>
          <p:nvSpPr>
            <p:cNvPr id="95" name="Google Shape;95;p2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2"/>
          <p:cNvSpPr txBox="1"/>
          <p:nvPr/>
        </p:nvSpPr>
        <p:spPr>
          <a:xfrm>
            <a:off x="5481642" y="4371352"/>
            <a:ext cx="7324716" cy="719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CLASE 11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5800373" y="8277816"/>
            <a:ext cx="7005985" cy="363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SISTEMAS DE BASES DE DATOS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/>
        </p:nvSpPr>
        <p:spPr>
          <a:xfrm>
            <a:off x="5481642" y="4371352"/>
            <a:ext cx="7324716" cy="2937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ANÁLISIS DE REDES Y RUTAS MÁS CORTAS EN NEO4J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4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09" name="Google Shape;109;p4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10" name="Google Shape;110;p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4"/>
          <p:cNvSpPr txBox="1"/>
          <p:nvPr/>
        </p:nvSpPr>
        <p:spPr>
          <a:xfrm>
            <a:off x="11750467" y="4470400"/>
            <a:ext cx="3931066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1302806" y="3579877"/>
            <a:ext cx="6036000" cy="3070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Consultas avanzadas con Cypher.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Análisis de redes y rutas más cortas en Neo4j.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Modelado de relaciones complejas en grafos.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Índices y constraints en Neo4j.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Optimización de consultas de grafos.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Integración de Neo4j con otras bases de datos.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Replicación y clustering en Neo4j.</a:t>
            </a:r>
            <a:endParaRPr/>
          </a:p>
          <a:p>
            <a:pPr indent="-800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5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Google Shape;118;p5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19" name="Google Shape;119;p5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20" name="Google Shape;120;p5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5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¿QUÉ ES EL ANÁLISIS DE REDES?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1302806" y="3579877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El análisis de redes se enfoca en: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🔗 Las conexiones entre nodos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📏 La distancia o proximidad entre entidades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🧠 Identificar nodos clave por su posición en la red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Neo4j incluye algoritmos para: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Centralidad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Detección de comunidades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Caminos más cortos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PageRank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6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" name="Google Shape;128;p6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29" name="Google Shape;129;p6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30" name="Google Shape;130;p6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" name="Google Shape;131;p6"/>
          <p:cNvSpPr txBox="1"/>
          <p:nvPr/>
        </p:nvSpPr>
        <p:spPr>
          <a:xfrm>
            <a:off x="11750467" y="4470400"/>
            <a:ext cx="3931066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CAMINOS MÁS CORTOS (SHORTEST PATH)</a:t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1560788" y="3408427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🔍 Encuentra la ruta con menos saltos entre dos nodos: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MATCH (a:Persona {nombre:'Luis'}), (b:Persona {nombre:'Ana'}),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     p = shortestPath((a)-[*..5]-(b))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RETURN p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Limita el número de saltos con [*..5]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Muy útil en redes sociales, logística y mapas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7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" name="Google Shape;138;p7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39" name="Google Shape;139;p7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40" name="Google Shape;140;p7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7"/>
          <p:cNvSpPr txBox="1"/>
          <p:nvPr/>
        </p:nvSpPr>
        <p:spPr>
          <a:xfrm>
            <a:off x="11750467" y="4689475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ANÁLISIS DE CENTRALIDAD</a:t>
            </a:r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1464045" y="3643377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Identifica los nodos más influyentes de una red: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Degree Centrality: cuántas conexiones tiene un nodo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Betweenness Centrality: cuántas rutas pasan por ese nodo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Closeness Centrality: qué tan rápido puede llegar a otros nodos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Se ejecuta con librerías de algoritmos de grafos de Neo4j.</a:t>
            </a:r>
            <a:endParaRPr/>
          </a:p>
          <a:p>
            <a:pPr indent="-800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" name="Google Shape;148;p8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49" name="Google Shape;149;p8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50" name="Google Shape;150;p8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8"/>
          <p:cNvSpPr txBox="1"/>
          <p:nvPr/>
        </p:nvSpPr>
        <p:spPr>
          <a:xfrm>
            <a:off x="11750467" y="4721225"/>
            <a:ext cx="3931066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PAGERANK</a:t>
            </a:r>
            <a:endParaRPr/>
          </a:p>
        </p:txBody>
      </p:sp>
      <p:sp>
        <p:nvSpPr>
          <p:cNvPr id="152" name="Google Shape;152;p8"/>
          <p:cNvSpPr txBox="1"/>
          <p:nvPr/>
        </p:nvSpPr>
        <p:spPr>
          <a:xfrm>
            <a:off x="1028700" y="1335152"/>
            <a:ext cx="6036000" cy="7184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🔝 Mide la importancia de un nodo basado en la importancia de los nodos que lo enlazan: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ALL gds.pageRank.stream({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 nodeProjection: 'Persona',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 relationshipProjection: {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   FOLLOWS: {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     type: 'SIGUE',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     orientation: 'NATURAL'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 }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})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YIELD nodeId, score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RETURN gds.util.asNode(nodeId).nombre AS persona, score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ORDER BY score DESC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Muy usado en motores de búsqueda y recomendaciones.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9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" name="Google Shape;158;p9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59" name="Google Shape;159;p9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60" name="Google Shape;160;p9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p9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CASOS DE USO REALES</a:t>
            </a:r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1302806" y="3579877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Redes sociales: influenciadores, conexiones indirectas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Transporte: rutas más cortas entre ubicaciones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Telecomunicaciones: identificar cuellos de botella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Sistemas de recomendación: caminos entre gustos o usuarios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Neo4j permite visualizar y consultar rutas complejas fácilmente.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/>
          <p:nvPr/>
        </p:nvSpPr>
        <p:spPr>
          <a:xfrm>
            <a:off x="5481642" y="3855388"/>
            <a:ext cx="7324716" cy="2937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MODELADO DE RELACIONES COMPLEJAS EN GRAFOS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1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" name="Google Shape;173;p11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74" name="Google Shape;174;p11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75" name="Google Shape;175;p11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1"/>
          <p:cNvSpPr txBox="1"/>
          <p:nvPr/>
        </p:nvSpPr>
        <p:spPr>
          <a:xfrm>
            <a:off x="11750467" y="4665598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¿QUÉ ES UNA RELACIÓN COMPLEJA?</a:t>
            </a:r>
            <a:endParaRPr/>
          </a:p>
        </p:txBody>
      </p:sp>
      <p:sp>
        <p:nvSpPr>
          <p:cNvPr id="177" name="Google Shape;177;p11"/>
          <p:cNvSpPr txBox="1"/>
          <p:nvPr/>
        </p:nvSpPr>
        <p:spPr>
          <a:xfrm>
            <a:off x="1302806" y="3579877"/>
            <a:ext cx="6036000" cy="4784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Relaciones que no solo conectan nodos, sino que tienen propiedades propias o representan eventos contextuales.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Ejemplos: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Una persona compró un producto en una fecha específica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Un usuario comentó en una publicación con cierto tono o reacción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Las relaciones pueden tener: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Propiedades (fecha, calificación, duración, monto)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Dirección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Peso o importancia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2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2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84" name="Google Shape;184;p12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85" name="Google Shape;185;p12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p12"/>
          <p:cNvSpPr txBox="1"/>
          <p:nvPr/>
        </p:nvSpPr>
        <p:spPr>
          <a:xfrm>
            <a:off x="11750467" y="4453529"/>
            <a:ext cx="3931066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SINTAXIS PARA RELACIONES CON PROPIEDADES</a:t>
            </a:r>
            <a:endParaRPr/>
          </a:p>
        </p:txBody>
      </p:sp>
      <p:sp>
        <p:nvSpPr>
          <p:cNvPr id="187" name="Google Shape;187;p12"/>
          <p:cNvSpPr txBox="1"/>
          <p:nvPr/>
        </p:nvSpPr>
        <p:spPr>
          <a:xfrm>
            <a:off x="1302806" y="3579877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CREATE (a:Usuario {nombre:'Ana'})-[:COMPRA {fecha:'2024-01-01', total:100}]-&gt;(b:Producto {nombre:'Libro'})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Aquí la relación :COMPRA contiene información adicional, no solo la conexión.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Esto permite consultas más precisas: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MATCH (u:Usuario)-[r:COMPRA]-&gt;(p:Producto)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WHERE r.total &gt; 50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RETURN u.nombre, p.nombre, r.fecha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3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13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194" name="Google Shape;194;p13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195" name="Google Shape;195;p13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13"/>
          <p:cNvSpPr txBox="1"/>
          <p:nvPr/>
        </p:nvSpPr>
        <p:spPr>
          <a:xfrm>
            <a:off x="11750467" y="4470400"/>
            <a:ext cx="3931066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CUÁNDO CONVERTIR RELACIONES EN NODOS</a:t>
            </a:r>
            <a:endParaRPr/>
          </a:p>
        </p:txBody>
      </p:sp>
      <p:sp>
        <p:nvSpPr>
          <p:cNvPr id="197" name="Google Shape;197;p13"/>
          <p:cNvSpPr txBox="1"/>
          <p:nvPr/>
        </p:nvSpPr>
        <p:spPr>
          <a:xfrm>
            <a:off x="1302806" y="3579877"/>
            <a:ext cx="6036000" cy="4441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🔁 Si una relación tiene demasiadas propiedades o se relaciona con otros elementos, ¡puede convertirse en un nodo intermedio!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Ejemplo: convertir :ASISTE_A en un nodo Asistencia para almacenar: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Hora de entrada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Hora de salida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Evaluación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(:Persona)-[:REALIZA]-&gt;(:Asistencia)-[:A_EVENTO]-&gt;(:Evento)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4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" name="Google Shape;203;p14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04" name="Google Shape;204;p14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05" name="Google Shape;205;p1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p14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RELACIONES MÚLTIPLES ENTRE NODOS</a:t>
            </a:r>
            <a:endParaRPr/>
          </a:p>
        </p:txBody>
      </p:sp>
      <p:sp>
        <p:nvSpPr>
          <p:cNvPr id="207" name="Google Shape;207;p14"/>
          <p:cNvSpPr txBox="1"/>
          <p:nvPr/>
        </p:nvSpPr>
        <p:spPr>
          <a:xfrm>
            <a:off x="1302806" y="3579877"/>
            <a:ext cx="6036000" cy="3755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Se pueden modelar varias relaciones entre los mismos nodos: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(:Usuario)-[:SIGUE]-&gt;(:Usuario)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(:Usuario)-[:BLOQUEA]-&gt;(:Usuario)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(:Usuario)-[:MENCIONA]-&gt;(:Usuario)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Esto refleja distintas dimensiones del vínculo y permite consultar por tipo: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MATCH (a)-[r]-&gt;(b)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WHERE type(r) = 'BLOQUEA'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RETURN a, b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15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" name="Google Shape;213;p15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14" name="Google Shape;214;p15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15" name="Google Shape;215;p15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p15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BUENAS PRÁCTICAS DE MODELADO</a:t>
            </a:r>
            <a:endParaRPr/>
          </a:p>
        </p:txBody>
      </p:sp>
      <p:sp>
        <p:nvSpPr>
          <p:cNvPr id="217" name="Google Shape;217;p15"/>
          <p:cNvSpPr txBox="1"/>
          <p:nvPr/>
        </p:nvSpPr>
        <p:spPr>
          <a:xfrm>
            <a:off x="1302806" y="3579877"/>
            <a:ext cx="6036000" cy="4441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🔷 Usa relaciones con nombre semántico (COMPRA, CALIFICA, TRABAJA_EN)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🔷 No sobrecargues nodos con muchas relaciones: considera agrupar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🔷 Si una relación tiene más de 2-3 propiedades, evalúa convertirla en nodo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🔷 Asegúrate que el modelo refleje las preguntas que harás con Cypher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Modelar bien ≠ representar todo; modelar bien = representar lo útil</a:t>
            </a:r>
            <a:endParaRPr/>
          </a:p>
          <a:p>
            <a:pPr indent="-800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"/>
          <p:cNvSpPr txBox="1"/>
          <p:nvPr/>
        </p:nvSpPr>
        <p:spPr>
          <a:xfrm>
            <a:off x="5481642" y="3855388"/>
            <a:ext cx="7324716" cy="219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ÍNDICES Y CONSTRAINTS EN NEO4J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17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17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29" name="Google Shape;229;p17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30" name="Google Shape;230;p17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" name="Google Shape;231;p17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TIPOS DE ÍNDICES</a:t>
            </a:r>
            <a:endParaRPr/>
          </a:p>
        </p:txBody>
      </p:sp>
      <p:sp>
        <p:nvSpPr>
          <p:cNvPr id="232" name="Google Shape;232;p17"/>
          <p:cNvSpPr txBox="1"/>
          <p:nvPr/>
        </p:nvSpPr>
        <p:spPr>
          <a:xfrm>
            <a:off x="1302806" y="3579877"/>
            <a:ext cx="6036000" cy="4784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Índices únicos: garantizan que una propiedad sea única para cada nodo.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CREATE CONSTRAINT ON (p:Persona) ASSERT p.dpi IS UNIQUE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 📌Índices de texto completo: útiles para búsquedas por palabras clave.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CREATE FULLTEXT INDEX miIndice FOR (n:Producto) ON EACH [n.nombre, n.descripcion]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Índices compuestos: en múltiples propiedades.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CREATE INDEX FOR (e:Empleado) ON (e.departamento, e.puesto)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8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" name="Google Shape;238;p18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39" name="Google Shape;239;p18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40" name="Google Shape;240;p18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p18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SON LOS CONSTRAINTS?</a:t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706223" y="3922777"/>
            <a:ext cx="8178254" cy="2384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🔐 Constraints (restricciones) definen reglas obligatorias sobre tus datos.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Tipos comunes: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Unicidad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Existencia obligatoria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Tipo de dato (a partir de Neo4j 5.x)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Se aplican al momento de crear/modificar nodos o relaciones.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19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p19"/>
          <p:cNvGrpSpPr/>
          <p:nvPr/>
        </p:nvGrpSpPr>
        <p:grpSpPr>
          <a:xfrm>
            <a:off x="9031133" y="-144661"/>
            <a:ext cx="9144000" cy="10431661"/>
            <a:chOff x="0" y="-38100"/>
            <a:chExt cx="2408296" cy="2747433"/>
          </a:xfrm>
        </p:grpSpPr>
        <p:sp>
          <p:nvSpPr>
            <p:cNvPr id="249" name="Google Shape;249;p19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50" name="Google Shape;250;p19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" name="Google Shape;251;p19"/>
          <p:cNvSpPr txBox="1"/>
          <p:nvPr/>
        </p:nvSpPr>
        <p:spPr>
          <a:xfrm>
            <a:off x="11750467" y="4470400"/>
            <a:ext cx="3931066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EJEMPLOS DE CONSTRAINTS</a:t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125763" y="3722752"/>
            <a:ext cx="8704481" cy="2953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19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🔸 Unicidad:</a:t>
            </a:r>
            <a:endParaRPr/>
          </a:p>
          <a:p>
            <a:pPr indent="0" lvl="0" marL="0" marR="0" rtl="0" algn="l">
              <a:lnSpc>
                <a:spcPct val="151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19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1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19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CREATE CONSTRAINT usuario_id_unico FOR (u:Usuario) REQUIRE u.id IS UNIQUE</a:t>
            </a:r>
            <a:endParaRPr/>
          </a:p>
          <a:p>
            <a:pPr indent="0" lvl="0" marL="0" marR="0" rtl="0" algn="l">
              <a:lnSpc>
                <a:spcPct val="151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19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1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19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🔸 Existencia (propiedad obligatoria):</a:t>
            </a:r>
            <a:endParaRPr/>
          </a:p>
          <a:p>
            <a:pPr indent="0" lvl="0" marL="0" marR="0" rtl="0" algn="l">
              <a:lnSpc>
                <a:spcPct val="151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19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1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19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CREATE CONSTRAINT persona_nombre_requerido FOR (p:Persona) REQUIRE p.nombre IS NOT NULL</a:t>
            </a:r>
            <a:endParaRPr/>
          </a:p>
          <a:p>
            <a:pPr indent="0" lvl="0" marL="0" marR="0" rtl="0" algn="l">
              <a:lnSpc>
                <a:spcPct val="151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19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1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19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📌 Esto evita errores lógicos, datos incompletos o duplicados.</a:t>
            </a:r>
            <a:endParaRPr/>
          </a:p>
          <a:p>
            <a:pPr indent="0" lvl="0" marL="0" marR="0" rtl="0" algn="l">
              <a:lnSpc>
                <a:spcPct val="151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19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1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19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0"/>
          <p:cNvPicPr preferRelativeResize="0"/>
          <p:nvPr/>
        </p:nvPicPr>
        <p:blipFill rotWithShape="1">
          <a:blip r:embed="rId3">
            <a:alphaModFix/>
          </a:blip>
          <a:srcRect b="0" l="20388" r="20388" t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" name="Google Shape;258;p20"/>
          <p:cNvGrpSpPr/>
          <p:nvPr/>
        </p:nvGrpSpPr>
        <p:grpSpPr>
          <a:xfrm>
            <a:off x="9144000" y="-144661"/>
            <a:ext cx="9144000" cy="10431661"/>
            <a:chOff x="0" y="-38100"/>
            <a:chExt cx="2408296" cy="2747433"/>
          </a:xfrm>
        </p:grpSpPr>
        <p:sp>
          <p:nvSpPr>
            <p:cNvPr id="259" name="Google Shape;259;p20"/>
            <p:cNvSpPr/>
            <p:nvPr/>
          </p:nvSpPr>
          <p:spPr>
            <a:xfrm>
              <a:off x="0" y="0"/>
              <a:ext cx="2408296" cy="2709333"/>
            </a:xfrm>
            <a:custGeom>
              <a:rect b="b" l="l" r="r" t="t"/>
              <a:pathLst>
                <a:path extrusionOk="0"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92852">
                <a:alpha val="66666"/>
              </a:srgbClr>
            </a:solidFill>
            <a:ln>
              <a:noFill/>
            </a:ln>
          </p:spPr>
        </p:sp>
        <p:sp>
          <p:nvSpPr>
            <p:cNvPr id="260" name="Google Shape;260;p20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p20"/>
          <p:cNvSpPr txBox="1"/>
          <p:nvPr/>
        </p:nvSpPr>
        <p:spPr>
          <a:xfrm>
            <a:off x="11750467" y="4470400"/>
            <a:ext cx="3931066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SON LOS ÍNDICES EN NEO4J?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1302806" y="3579877"/>
            <a:ext cx="6036000" cy="3412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🔎 Índices permiten encontrar nodos rápidamente por sus propiedades, como en bases SQL.</a:t>
            </a:r>
            <a:endParaRPr/>
          </a:p>
          <a:p>
            <a:pPr indent="-194313" lvl="1" marL="388628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09285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✅ Se aplican sobre etiquetas y propiedades: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CREATE INDEX FOR (u:Usuario) ON (u.email)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📘 Aceleran búsquedas con MATCH y filtros WHERE.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92852"/>
                </a:solidFill>
                <a:latin typeface="Arial"/>
                <a:ea typeface="Arial"/>
                <a:cs typeface="Arial"/>
                <a:sym typeface="Arial"/>
              </a:rPr>
              <a:t>📈 Muy útiles en grafos grandes donde hay millones de nodos.</a:t>
            </a:r>
            <a:endParaRPr/>
          </a:p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9285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2852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1"/>
          <p:cNvSpPr txBox="1"/>
          <p:nvPr/>
        </p:nvSpPr>
        <p:spPr>
          <a:xfrm>
            <a:off x="5481642" y="4741027"/>
            <a:ext cx="7324716" cy="719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MUCHAS GRACIAS!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