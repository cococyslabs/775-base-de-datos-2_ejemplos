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6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</p:sldIdLst>
  <p:sldSz cy="10287000" cx="18288000"/>
  <p:notesSz cx="6858000" cy="9144000"/>
  <p:embeddedFontLst>
    <p:embeddedFont>
      <p:font typeface="Lobster"/>
      <p:regular r:id="rId39"/>
    </p:embeddedFont>
    <p:embeddedFont>
      <p:font typeface="Pacifico"/>
      <p:regular r:id="rId40"/>
    </p:embeddedFont>
    <p:embeddedFont>
      <p:font typeface="Open Sans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5" roundtripDataSignature="AMtx7mhLV8sZ7FON/1wWlEh/2Hrn+8/JJ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3078E4E-C332-4379-9754-60D943A10E30}">
  <a:tblStyle styleId="{C3078E4E-C332-4379-9754-60D943A10E30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38D66297-82E2-4B8D-BCC8-ADB733D72E69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acifico-regular.fntdata"/><Relationship Id="rId20" Type="http://schemas.openxmlformats.org/officeDocument/2006/relationships/slide" Target="slides/slide13.xml"/><Relationship Id="rId42" Type="http://schemas.openxmlformats.org/officeDocument/2006/relationships/font" Target="fonts/OpenSans-bold.fntdata"/><Relationship Id="rId41" Type="http://schemas.openxmlformats.org/officeDocument/2006/relationships/font" Target="fonts/OpenSans-regular.fntdata"/><Relationship Id="rId22" Type="http://schemas.openxmlformats.org/officeDocument/2006/relationships/slide" Target="slides/slide15.xml"/><Relationship Id="rId44" Type="http://schemas.openxmlformats.org/officeDocument/2006/relationships/font" Target="fonts/OpenSans-boldItalic.fntdata"/><Relationship Id="rId21" Type="http://schemas.openxmlformats.org/officeDocument/2006/relationships/slide" Target="slides/slide14.xml"/><Relationship Id="rId43" Type="http://schemas.openxmlformats.org/officeDocument/2006/relationships/font" Target="fonts/OpenSans-italic.fntdata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45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schemas.openxmlformats.org/officeDocument/2006/relationships/slide" Target="slides/slide28.xml"/><Relationship Id="rId12" Type="http://schemas.openxmlformats.org/officeDocument/2006/relationships/slide" Target="slides/slide5.xml"/><Relationship Id="rId34" Type="http://schemas.openxmlformats.org/officeDocument/2006/relationships/slide" Target="slides/slide27.xml"/><Relationship Id="rId15" Type="http://schemas.openxmlformats.org/officeDocument/2006/relationships/slide" Target="slides/slide8.xml"/><Relationship Id="rId37" Type="http://schemas.openxmlformats.org/officeDocument/2006/relationships/slide" Target="slides/slide30.xml"/><Relationship Id="rId14" Type="http://schemas.openxmlformats.org/officeDocument/2006/relationships/slide" Target="slides/slide7.xml"/><Relationship Id="rId36" Type="http://schemas.openxmlformats.org/officeDocument/2006/relationships/slide" Target="slides/slide29.xml"/><Relationship Id="rId17" Type="http://schemas.openxmlformats.org/officeDocument/2006/relationships/slide" Target="slides/slide10.xml"/><Relationship Id="rId39" Type="http://schemas.openxmlformats.org/officeDocument/2006/relationships/font" Target="fonts/Lobster-regular.fntdata"/><Relationship Id="rId16" Type="http://schemas.openxmlformats.org/officeDocument/2006/relationships/slide" Target="slides/slide9.xml"/><Relationship Id="rId38" Type="http://schemas.openxmlformats.org/officeDocument/2006/relationships/slide" Target="slides/slide31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" name="Google Shape;16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8" name="Google Shape;168;p4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8" name="Google Shape;178;p4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4" name="Google Shape;21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4" name="Google Shape;22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4" name="Google Shape;23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4" name="Google Shape;24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4" name="Google Shape;25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4" name="Google Shape;26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9" name="Google Shape;26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9" name="Google Shape;27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9" name="Google Shape;28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9" name="Google Shape;29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9" name="Google Shape;309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4" name="Google Shape;314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4" name="Google Shape;324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4" name="Google Shape;334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4" name="Google Shape;344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4" name="Google Shape;354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9" name="Google Shape;359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9" name="Google Shape;369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9" name="Google Shape;379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9" name="Google Shape;389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9" name="Google Shape;399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9" name="Google Shape;409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4" name="Google Shape;414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4" name="Google Shape;424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4" name="Google Shape;434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4" name="Google Shape;444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4" name="Google Shape;454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4" name="Google Shape;464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4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4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4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5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5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5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5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5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5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5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5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5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5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5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5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5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5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5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5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5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5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57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5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5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5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5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5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5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5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9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82" name="Google Shape;82;p59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83" name="Google Shape;83;p59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3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7" name="Google Shape;97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3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3" name="Google Shape;103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3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9" name="Google Shape;109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3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5" name="Google Shape;115;p3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6" name="Google Shape;116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3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2" name="Google Shape;122;p3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23" name="Google Shape;123;p3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4" name="Google Shape;124;p3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25" name="Google Shape;125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4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6" name="Google Shape;136;p4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37" name="Google Shape;137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4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4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44" name="Google Shape;144;p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4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0" name="Google Shape;150;p4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4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4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4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4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6" name="Google Shape;156;p4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4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4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2" Type="http://schemas.openxmlformats.org/officeDocument/2006/relationships/theme" Target="../theme/theme3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4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4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4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4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6" name="Google Shape;86;p3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9" name="Google Shape;89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"/>
          <p:cNvSpPr/>
          <p:nvPr/>
        </p:nvSpPr>
        <p:spPr>
          <a:xfrm>
            <a:off x="3598050" y="5988675"/>
            <a:ext cx="7365000" cy="7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NOMBRE DEL TUTOR</a:t>
            </a:r>
            <a:endParaRPr b="0" i="0" sz="2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"/>
          <p:cNvSpPr/>
          <p:nvPr/>
        </p:nvSpPr>
        <p:spPr>
          <a:xfrm>
            <a:off x="2338755" y="4781250"/>
            <a:ext cx="10142100" cy="7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en-US" sz="3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BASES DE DATOS 2</a:t>
            </a:r>
            <a:endParaRPr b="0" i="0" sz="3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5" name="Google Shape;165;p1"/>
          <p:cNvGraphicFramePr/>
          <p:nvPr/>
        </p:nvGraphicFramePr>
        <p:xfrm>
          <a:off x="11734800" y="20193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{C3078E4E-C332-4379-9754-60D943A10E30}</a:tableStyleId>
              </a:tblPr>
              <a:tblGrid>
                <a:gridCol w="2362200"/>
                <a:gridCol w="3733800"/>
              </a:tblGrid>
              <a:tr h="685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solidFill>
                            <a:schemeClr val="dk1"/>
                          </a:solidFill>
                        </a:rPr>
                        <a:t>Día, Fecha: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800" u="none" cap="none" strike="noStrike">
                          <a:solidFill>
                            <a:schemeClr val="dk1"/>
                          </a:solidFill>
                        </a:rPr>
                        <a:t>Miércoles 01/01/2026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Hora Inicio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800" u="none" cap="none" strike="noStrike">
                          <a:solidFill>
                            <a:schemeClr val="dk1"/>
                          </a:solidFill>
                        </a:rPr>
                        <a:t>17:30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5"/>
          <p:cNvSpPr txBox="1"/>
          <p:nvPr/>
        </p:nvSpPr>
        <p:spPr>
          <a:xfrm>
            <a:off x="890249" y="7555025"/>
            <a:ext cx="8526600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BASES DE DATOS 2</a:t>
            </a:r>
            <a:endParaRPr b="1" i="0" sz="50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1" name="Google Shape;171;p45"/>
          <p:cNvSpPr txBox="1"/>
          <p:nvPr/>
        </p:nvSpPr>
        <p:spPr>
          <a:xfrm>
            <a:off x="2591255" y="2167474"/>
            <a:ext cx="12375000" cy="42473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00"/>
              <a:buFont typeface="Arial"/>
              <a:buNone/>
            </a:pPr>
            <a:r>
              <a:rPr b="1" i="0" lang="en-US" sz="92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Unidad No. 2: Sistemas Distribuidos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45"/>
          <p:cNvSpPr txBox="1"/>
          <p:nvPr/>
        </p:nvSpPr>
        <p:spPr>
          <a:xfrm>
            <a:off x="1063303" y="8745251"/>
            <a:ext cx="6981379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Ingenieria de Ciencias Y Sistemas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3" name="Google Shape;173;p45"/>
          <p:cNvSpPr txBox="1"/>
          <p:nvPr/>
        </p:nvSpPr>
        <p:spPr>
          <a:xfrm>
            <a:off x="1063303" y="9162739"/>
            <a:ext cx="6667500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Ingenieria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4" name="Google Shape;174;p45"/>
          <p:cNvSpPr txBox="1"/>
          <p:nvPr/>
        </p:nvSpPr>
        <p:spPr>
          <a:xfrm>
            <a:off x="1028700" y="9568828"/>
            <a:ext cx="8115300" cy="5384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5" name="Google Shape;175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44675" y="0"/>
            <a:ext cx="10243325" cy="10670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0" name="Google Shape;180;p46"/>
          <p:cNvGrpSpPr/>
          <p:nvPr/>
        </p:nvGrpSpPr>
        <p:grpSpPr>
          <a:xfrm>
            <a:off x="176619" y="4520484"/>
            <a:ext cx="4613551" cy="845385"/>
            <a:chOff x="0" y="-76200"/>
            <a:chExt cx="1964221" cy="359923"/>
          </a:xfrm>
        </p:grpSpPr>
        <p:sp>
          <p:nvSpPr>
            <p:cNvPr id="181" name="Google Shape;181;p46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46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TEMA 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3" name="Google Shape;183;p46"/>
          <p:cNvSpPr/>
          <p:nvPr/>
        </p:nvSpPr>
        <p:spPr>
          <a:xfrm>
            <a:off x="878654" y="4740441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4" name="Google Shape;184;p46"/>
          <p:cNvGrpSpPr/>
          <p:nvPr/>
        </p:nvGrpSpPr>
        <p:grpSpPr>
          <a:xfrm>
            <a:off x="1866989" y="3013983"/>
            <a:ext cx="4115190" cy="1556484"/>
            <a:chOff x="0" y="-76200"/>
            <a:chExt cx="1083836" cy="409938"/>
          </a:xfrm>
        </p:grpSpPr>
        <p:sp>
          <p:nvSpPr>
            <p:cNvPr id="185" name="Google Shape;185;p46"/>
            <p:cNvSpPr/>
            <p:nvPr/>
          </p:nvSpPr>
          <p:spPr>
            <a:xfrm>
              <a:off x="0" y="0"/>
              <a:ext cx="1083836" cy="333738"/>
            </a:xfrm>
            <a:custGeom>
              <a:rect b="b" l="l" r="r" t="t"/>
              <a:pathLst>
                <a:path extrusionOk="0" h="333738" w="1083836">
                  <a:moveTo>
                    <a:pt x="880636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880636" y="333738"/>
                  </a:lnTo>
                  <a:lnTo>
                    <a:pt x="1083836" y="166869"/>
                  </a:lnTo>
                  <a:lnTo>
                    <a:pt x="880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46"/>
            <p:cNvSpPr txBox="1"/>
            <p:nvPr/>
          </p:nvSpPr>
          <p:spPr>
            <a:xfrm>
              <a:off x="0" y="-76200"/>
              <a:ext cx="969536" cy="409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RECORDATORIOS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7" name="Google Shape;187;p46"/>
          <p:cNvSpPr/>
          <p:nvPr/>
        </p:nvSpPr>
        <p:spPr>
          <a:xfrm>
            <a:off x="651754" y="3429735"/>
            <a:ext cx="753892" cy="872928"/>
          </a:xfrm>
          <a:custGeom>
            <a:rect b="b" l="l" r="r" t="t"/>
            <a:pathLst>
              <a:path extrusionOk="0" h="872928" w="753892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46"/>
          <p:cNvSpPr txBox="1"/>
          <p:nvPr/>
        </p:nvSpPr>
        <p:spPr>
          <a:xfrm>
            <a:off x="651749" y="490900"/>
            <a:ext cx="7710301" cy="2308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Pacifico"/>
                <a:ea typeface="Pacifico"/>
                <a:cs typeface="Pacifico"/>
                <a:sym typeface="Pacifico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Pacifico"/>
              <a:ea typeface="Pacifico"/>
              <a:cs typeface="Pacifico"/>
              <a:sym typeface="Pacifico"/>
            </a:endParaRPr>
          </a:p>
        </p:txBody>
      </p:sp>
      <p:sp>
        <p:nvSpPr>
          <p:cNvPr id="189" name="Google Shape;189;p46"/>
          <p:cNvSpPr txBox="1"/>
          <p:nvPr/>
        </p:nvSpPr>
        <p:spPr>
          <a:xfrm>
            <a:off x="10105990" y="390767"/>
            <a:ext cx="84168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Lobster"/>
                <a:ea typeface="Lobster"/>
                <a:cs typeface="Lobster"/>
                <a:sym typeface="Lobster"/>
              </a:rPr>
              <a:t>Recursos</a:t>
            </a:r>
            <a:endParaRPr b="0" i="0" sz="1400" u="none" cap="none" strike="noStrike">
              <a:solidFill>
                <a:srgbClr val="000000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grpSp>
        <p:nvGrpSpPr>
          <p:cNvPr id="190" name="Google Shape;190;p46"/>
          <p:cNvGrpSpPr/>
          <p:nvPr/>
        </p:nvGrpSpPr>
        <p:grpSpPr>
          <a:xfrm>
            <a:off x="11739805" y="2798634"/>
            <a:ext cx="5353646" cy="1701145"/>
            <a:chOff x="0" y="-114300"/>
            <a:chExt cx="1410014" cy="448038"/>
          </a:xfrm>
        </p:grpSpPr>
        <p:sp>
          <p:nvSpPr>
            <p:cNvPr id="191" name="Google Shape;191;p46"/>
            <p:cNvSpPr/>
            <p:nvPr/>
          </p:nvSpPr>
          <p:spPr>
            <a:xfrm>
              <a:off x="0" y="0"/>
              <a:ext cx="1410014" cy="333738"/>
            </a:xfrm>
            <a:custGeom>
              <a:rect b="b" l="l" r="r" t="t"/>
              <a:pathLst>
                <a:path extrusionOk="0" h="333738" w="1410014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46"/>
            <p:cNvSpPr txBox="1"/>
            <p:nvPr/>
          </p:nvSpPr>
          <p:spPr>
            <a:xfrm>
              <a:off x="0" y="-114300"/>
              <a:ext cx="1295714" cy="4480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99"/>
                <a:buFont typeface="Arial"/>
                <a:buNone/>
              </a:pPr>
              <a:r>
                <a:rPr b="0" i="0" lang="en-US" sz="44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Link del Video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3" name="Google Shape;193;p46"/>
          <p:cNvGrpSpPr/>
          <p:nvPr/>
        </p:nvGrpSpPr>
        <p:grpSpPr>
          <a:xfrm>
            <a:off x="11739805" y="4598683"/>
            <a:ext cx="5353646" cy="1701145"/>
            <a:chOff x="0" y="-114300"/>
            <a:chExt cx="1410014" cy="448038"/>
          </a:xfrm>
        </p:grpSpPr>
        <p:sp>
          <p:nvSpPr>
            <p:cNvPr id="194" name="Google Shape;194;p46"/>
            <p:cNvSpPr/>
            <p:nvPr/>
          </p:nvSpPr>
          <p:spPr>
            <a:xfrm>
              <a:off x="0" y="0"/>
              <a:ext cx="1410014" cy="333738"/>
            </a:xfrm>
            <a:custGeom>
              <a:rect b="b" l="l" r="r" t="t"/>
              <a:pathLst>
                <a:path extrusionOk="0" h="333738" w="1410014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46"/>
            <p:cNvSpPr txBox="1"/>
            <p:nvPr/>
          </p:nvSpPr>
          <p:spPr>
            <a:xfrm>
              <a:off x="0" y="-114300"/>
              <a:ext cx="1295714" cy="4480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99"/>
                <a:buFont typeface="Arial"/>
                <a:buNone/>
              </a:pPr>
              <a:r>
                <a:rPr b="0" i="0" lang="en-US" sz="44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Link de Quizziz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6" name="Google Shape;196;p46"/>
          <p:cNvGrpSpPr/>
          <p:nvPr/>
        </p:nvGrpSpPr>
        <p:grpSpPr>
          <a:xfrm>
            <a:off x="176619" y="5444302"/>
            <a:ext cx="4613551" cy="845385"/>
            <a:chOff x="0" y="-76200"/>
            <a:chExt cx="1964221" cy="359923"/>
          </a:xfrm>
        </p:grpSpPr>
        <p:sp>
          <p:nvSpPr>
            <p:cNvPr id="197" name="Google Shape;197;p46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46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TEMA 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9" name="Google Shape;199;p46"/>
          <p:cNvGrpSpPr/>
          <p:nvPr/>
        </p:nvGrpSpPr>
        <p:grpSpPr>
          <a:xfrm>
            <a:off x="176619" y="6425875"/>
            <a:ext cx="4613551" cy="845385"/>
            <a:chOff x="0" y="-76200"/>
            <a:chExt cx="1964221" cy="359923"/>
          </a:xfrm>
        </p:grpSpPr>
        <p:sp>
          <p:nvSpPr>
            <p:cNvPr id="200" name="Google Shape;200;p46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46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TEMA 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2" name="Google Shape;202;p46"/>
          <p:cNvGrpSpPr/>
          <p:nvPr/>
        </p:nvGrpSpPr>
        <p:grpSpPr>
          <a:xfrm>
            <a:off x="176619" y="7349457"/>
            <a:ext cx="4613551" cy="845385"/>
            <a:chOff x="0" y="-76200"/>
            <a:chExt cx="1964221" cy="359923"/>
          </a:xfrm>
        </p:grpSpPr>
        <p:sp>
          <p:nvSpPr>
            <p:cNvPr id="203" name="Google Shape;203;p46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46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TEMA 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5" name="Google Shape;205;p46"/>
          <p:cNvGrpSpPr/>
          <p:nvPr/>
        </p:nvGrpSpPr>
        <p:grpSpPr>
          <a:xfrm>
            <a:off x="176619" y="8412915"/>
            <a:ext cx="4613551" cy="845385"/>
            <a:chOff x="0" y="-76200"/>
            <a:chExt cx="1964221" cy="359923"/>
          </a:xfrm>
        </p:grpSpPr>
        <p:sp>
          <p:nvSpPr>
            <p:cNvPr id="206" name="Google Shape;206;p46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46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TEMA 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8" name="Google Shape;208;p46"/>
          <p:cNvSpPr/>
          <p:nvPr/>
        </p:nvSpPr>
        <p:spPr>
          <a:xfrm>
            <a:off x="878654" y="562328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46"/>
          <p:cNvSpPr/>
          <p:nvPr/>
        </p:nvSpPr>
        <p:spPr>
          <a:xfrm>
            <a:off x="878654" y="6604853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46"/>
          <p:cNvSpPr/>
          <p:nvPr/>
        </p:nvSpPr>
        <p:spPr>
          <a:xfrm>
            <a:off x="878654" y="7604635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46"/>
          <p:cNvSpPr/>
          <p:nvPr/>
        </p:nvSpPr>
        <p:spPr>
          <a:xfrm>
            <a:off x="878654" y="860554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5"/>
                </a:lnTo>
                <a:lnTo>
                  <a:pt x="0" y="5500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5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7" name="Google Shape;217;p5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218" name="Google Shape;218;p5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274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5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0" name="Google Shape;220;p5"/>
          <p:cNvSpPr txBox="1"/>
          <p:nvPr/>
        </p:nvSpPr>
        <p:spPr>
          <a:xfrm>
            <a:off x="11750467" y="4470400"/>
            <a:ext cx="3931066" cy="1298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¿QUÉ SIGNIFICA NOSQL?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5"/>
          <p:cNvSpPr txBox="1"/>
          <p:nvPr/>
        </p:nvSpPr>
        <p:spPr>
          <a:xfrm>
            <a:off x="1302806" y="3579877"/>
            <a:ext cx="6036000" cy="3755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NoSQL = Not Only SQL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No utilizan el modelo relacional tradicional.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Son bases de datos diseñadas para: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Altos volúmenes de datos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Estructuras no tabulares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Alta disponibilidad y distribución horizontal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📘 Nacieron como respuesta a las limitaciones de las bases SQL en sistemas modernos.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6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7" name="Google Shape;227;p6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228" name="Google Shape;228;p6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274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6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0" name="Google Shape;230;p6"/>
          <p:cNvSpPr txBox="1"/>
          <p:nvPr/>
        </p:nvSpPr>
        <p:spPr>
          <a:xfrm>
            <a:off x="11750467" y="4470400"/>
            <a:ext cx="3931066" cy="860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¿POR QUÉ SURGIÓ NOSQL?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6"/>
          <p:cNvSpPr txBox="1"/>
          <p:nvPr/>
        </p:nvSpPr>
        <p:spPr>
          <a:xfrm>
            <a:off x="1302806" y="3579877"/>
            <a:ext cx="6036000" cy="34129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Crecimiento de Big Data y datos no estructurados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Necesidad de escalar horizontalmente (más servidores, no más potentes)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Aplicaciones en tiempo real y globales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Flexibilidad en el esquema de datos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📌 Google, Amazon, Facebook y Twitter ayudaron a popularizar este enfoque.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0012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7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7" name="Google Shape;237;p7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238" name="Google Shape;238;p7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274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7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240" name="Google Shape;240;p7"/>
          <p:cNvGraphicFramePr/>
          <p:nvPr/>
        </p:nvGraphicFramePr>
        <p:xfrm>
          <a:off x="915833" y="161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{38D66297-82E2-4B8D-BCC8-ADB733D72E69}</a:tableStyleId>
              </a:tblPr>
              <a:tblGrid>
                <a:gridCol w="2438400"/>
                <a:gridCol w="2438400"/>
                <a:gridCol w="2438400"/>
              </a:tblGrid>
              <a:tr h="1025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Característica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SQL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NoSQL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89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Modelo de datos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Tablas (relacional)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Documentos, grafos, clave-valor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72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Lenguaje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SQL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Varia (propio de cada motor)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72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Esquema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Fijo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Flexible o sin esquema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25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Escalabilidad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Vertical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Horizontal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25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Transacciones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ACID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Eventual o BASE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41" name="Google Shape;241;p7"/>
          <p:cNvSpPr txBox="1"/>
          <p:nvPr/>
        </p:nvSpPr>
        <p:spPr>
          <a:xfrm>
            <a:off x="11750467" y="4470400"/>
            <a:ext cx="3931066" cy="860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DIFERENCIAS CLAVE CON SQL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8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7" name="Google Shape;247;p8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248" name="Google Shape;248;p8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274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8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0" name="Google Shape;250;p8"/>
          <p:cNvSpPr txBox="1"/>
          <p:nvPr/>
        </p:nvSpPr>
        <p:spPr>
          <a:xfrm>
            <a:off x="11750467" y="4470400"/>
            <a:ext cx="3931066" cy="860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VENTAJAS DE NOSQL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8"/>
          <p:cNvSpPr txBox="1"/>
          <p:nvPr/>
        </p:nvSpPr>
        <p:spPr>
          <a:xfrm>
            <a:off x="1335054" y="3938652"/>
            <a:ext cx="6036000" cy="2727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Alta velocidad de lectura/escritura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Escalabilidad simple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Ideal para datos semi o no estructurados (JSON, XML, etc.)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Diseño orientado a consultas específicas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📘 Menor rigidez que las bases tradicionales, ideal para sistemas ágiles.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p9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7" name="Google Shape;257;p9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258" name="Google Shape;258;p9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274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9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0" name="Google Shape;260;p9"/>
          <p:cNvSpPr txBox="1"/>
          <p:nvPr/>
        </p:nvSpPr>
        <p:spPr>
          <a:xfrm>
            <a:off x="11750467" y="4470400"/>
            <a:ext cx="3931066" cy="860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¿CUÁNDO USAR NOSQL?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9"/>
          <p:cNvSpPr txBox="1"/>
          <p:nvPr/>
        </p:nvSpPr>
        <p:spPr>
          <a:xfrm>
            <a:off x="1335054" y="3938652"/>
            <a:ext cx="6036000" cy="30700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📌 Casos típicos: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Sistemas con millones de usuarios activos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Apps móviles y webs en tiempo real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Datos en constante evolución (sin esquema fijo)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IoT, registros de sensores, logs distribuidos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Sistemas de recomendación y personalización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📘 Ejemplos: MongoDB, Cassandra, Redis, CouchDB, Neo4j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2852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0"/>
          <p:cNvSpPr txBox="1"/>
          <p:nvPr/>
        </p:nvSpPr>
        <p:spPr>
          <a:xfrm>
            <a:off x="5481642" y="4371352"/>
            <a:ext cx="7324716" cy="1458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67"/>
              <a:buFont typeface="Arial"/>
              <a:buNone/>
            </a:pPr>
            <a:r>
              <a:rPr b="1" i="0" lang="en-US" sz="416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TIPOS DE BASES DE DATOS NOSQL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11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2" name="Google Shape;272;p11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273" name="Google Shape;273;p11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274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11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5" name="Google Shape;275;p11"/>
          <p:cNvSpPr txBox="1"/>
          <p:nvPr/>
        </p:nvSpPr>
        <p:spPr>
          <a:xfrm>
            <a:off x="11750467" y="4470400"/>
            <a:ext cx="3931066" cy="1298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BASES DE DATOS CLAVE-VALOR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1"/>
          <p:cNvSpPr txBox="1"/>
          <p:nvPr/>
        </p:nvSpPr>
        <p:spPr>
          <a:xfrm>
            <a:off x="1335054" y="3938652"/>
            <a:ext cx="6036000" cy="3755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🔑 Cada valor se asocia a una clave única (como un mapa o diccionario).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📘 Ejemplos: Redis, Riak, DynamoDB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Muy rápidas y simples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Escalables horizontalmente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❌ No son ideales para consultas complejas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📌 Usos: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Almacenamiento de sesiones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Configuración de aplicaciones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Cachés distribuidas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p12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2" name="Google Shape;282;p12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283" name="Google Shape;283;p12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274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12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5" name="Google Shape;285;p12"/>
          <p:cNvSpPr txBox="1"/>
          <p:nvPr/>
        </p:nvSpPr>
        <p:spPr>
          <a:xfrm>
            <a:off x="11750467" y="4470400"/>
            <a:ext cx="3931066" cy="1298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BASES DE DATOS DOCUMENTALES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2"/>
          <p:cNvSpPr txBox="1"/>
          <p:nvPr/>
        </p:nvSpPr>
        <p:spPr>
          <a:xfrm>
            <a:off x="1222186" y="3862452"/>
            <a:ext cx="6036000" cy="40987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📄 Almacenan estructuras tipo JSON o BSON completas.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📘 Ejemplos: MongoDB, CouchDB, ArangoDB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Esquema flexible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Ideal para objetos anidados o complejos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❌ Puede ser inconsistente si no se diseña con cuidado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📌 Usos: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Aplicaciones web/móvil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Inventarios y productos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APIs RESTful con objetos ricos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" name="Google Shape;291;p13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2" name="Google Shape;292;p13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293" name="Google Shape;293;p13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274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13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5" name="Google Shape;295;p13"/>
          <p:cNvSpPr txBox="1"/>
          <p:nvPr/>
        </p:nvSpPr>
        <p:spPr>
          <a:xfrm>
            <a:off x="11750467" y="4470400"/>
            <a:ext cx="3931066" cy="1298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BASES DE DATOS COLUMNARES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3"/>
          <p:cNvSpPr txBox="1"/>
          <p:nvPr/>
        </p:nvSpPr>
        <p:spPr>
          <a:xfrm>
            <a:off x="1222186" y="3862452"/>
            <a:ext cx="6036000" cy="40987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📊 Organizadas por familias de columnas, no por filas completas.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📘 Ejemplos: Apache Cassandra, HBase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Excelente para lectura de columnas específicas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Muy eficientes en big 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❌ No aptas para relaciones complejas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📌 Usos: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Análisis de logs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Históricos y series de tiempo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Motores de recomendación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Google Shape;301;p14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2" name="Google Shape;302;p14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303" name="Google Shape;303;p14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274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14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5" name="Google Shape;305;p14"/>
          <p:cNvSpPr txBox="1"/>
          <p:nvPr/>
        </p:nvSpPr>
        <p:spPr>
          <a:xfrm>
            <a:off x="11750467" y="4470400"/>
            <a:ext cx="3931066" cy="1298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BASES DE DATOS DE GRAFOS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14"/>
          <p:cNvSpPr txBox="1"/>
          <p:nvPr/>
        </p:nvSpPr>
        <p:spPr>
          <a:xfrm>
            <a:off x="1222186" y="3862452"/>
            <a:ext cx="6036000" cy="40987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🔗 Diseñadas para representar entidades y relaciones entre ellas (nodos y aristas).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📘 Ejemplos: Neo4j, Amazon Neptune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Muy buenas para relaciones complejas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Consultas de caminos y patrones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❌ Más lentas en operaciones masivas sin relaciones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📌 Usos: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Redes sociales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Sistemas de recomendación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Rutas de logística y tráfico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2852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5"/>
          <p:cNvSpPr txBox="1"/>
          <p:nvPr/>
        </p:nvSpPr>
        <p:spPr>
          <a:xfrm>
            <a:off x="5481642" y="4371352"/>
            <a:ext cx="7324716" cy="219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67"/>
              <a:buFont typeface="Arial"/>
              <a:buNone/>
            </a:pPr>
            <a:r>
              <a:rPr b="1" i="0" lang="en-US" sz="416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CASOS DE USO COMPARATIVOS: NOSQL VS. SQL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16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7" name="Google Shape;317;p16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318" name="Google Shape;318;p16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274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16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0" name="Google Shape;320;p16"/>
          <p:cNvSpPr txBox="1"/>
          <p:nvPr/>
        </p:nvSpPr>
        <p:spPr>
          <a:xfrm>
            <a:off x="11750467" y="4470400"/>
            <a:ext cx="3931066" cy="1298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¿POR QUÉ COMPARAR SQL Y NOSQL?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6"/>
          <p:cNvSpPr txBox="1"/>
          <p:nvPr/>
        </p:nvSpPr>
        <p:spPr>
          <a:xfrm>
            <a:off x="1335054" y="3938652"/>
            <a:ext cx="6036000" cy="34129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Ambos modelos resuelven diferentes tipos de problemas.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La elección correcta depende de: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Tipo de datos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Escalabilidad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Reglas de negocio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Necesidad de integridad o flexibilidad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📘 No es una competencia: es una decisión de arquitectura.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6" name="Google Shape;326;p17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7" name="Google Shape;327;p17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328" name="Google Shape;328;p17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274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17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0" name="Google Shape;330;p17"/>
          <p:cNvSpPr txBox="1"/>
          <p:nvPr/>
        </p:nvSpPr>
        <p:spPr>
          <a:xfrm>
            <a:off x="11750467" y="4470400"/>
            <a:ext cx="3931066" cy="1298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CUÁNDO USAR SQL (BASES RELACIONALES)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7"/>
          <p:cNvSpPr txBox="1"/>
          <p:nvPr/>
        </p:nvSpPr>
        <p:spPr>
          <a:xfrm>
            <a:off x="1335054" y="3938652"/>
            <a:ext cx="6036000" cy="30700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Reglas estrictas, integridad, estructura fija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📌 Casos ideales: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Sistemas bancarios o contables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ERPs empresariales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Inventarios y facturación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Datos con relaciones complejas y normalización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📘 Bases comunes: SQL Server, PostgreSQL, MySQL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18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7" name="Google Shape;337;p18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338" name="Google Shape;338;p18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274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18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0" name="Google Shape;340;p18"/>
          <p:cNvSpPr txBox="1"/>
          <p:nvPr/>
        </p:nvSpPr>
        <p:spPr>
          <a:xfrm>
            <a:off x="11750467" y="4470400"/>
            <a:ext cx="3931066" cy="860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CUÁNDO USAR NOSQL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18"/>
          <p:cNvSpPr txBox="1"/>
          <p:nvPr/>
        </p:nvSpPr>
        <p:spPr>
          <a:xfrm>
            <a:off x="1335054" y="3938652"/>
            <a:ext cx="6036000" cy="34129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Flexibilidad, alta disponibilidad, escalabilidad horizontal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📌 Casos ideales: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Redes sociales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Big Data y eventos en tiempo real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Catálogos en línea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Aplicaciones móviles o web de rápida evolución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📘 Bases comunes: MongoDB, Cassandra, Redis, Neo4j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6" name="Google Shape;346;p19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7" name="Google Shape;347;p19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348" name="Google Shape;348;p19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274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19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0" name="Google Shape;350;p19"/>
          <p:cNvSpPr txBox="1"/>
          <p:nvPr/>
        </p:nvSpPr>
        <p:spPr>
          <a:xfrm>
            <a:off x="11750467" y="4470400"/>
            <a:ext cx="3931066" cy="1298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¿QUÉ PASA CON SISTEMAS HÍBRIDOS?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9"/>
          <p:cNvSpPr txBox="1"/>
          <p:nvPr/>
        </p:nvSpPr>
        <p:spPr>
          <a:xfrm>
            <a:off x="1335054" y="3938652"/>
            <a:ext cx="6036000" cy="2727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📌 Algunas arquitecturas modernas usan ambos modelos: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SQL para módulos financieros o administrativos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NoSQL para analítica, recomendaciones, almacenamiento rápido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🧠 Conectores, ETL y microservicios permiten esta convivencia eficiente.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2852"/>
        </a:solidFill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0"/>
          <p:cNvSpPr txBox="1"/>
          <p:nvPr/>
        </p:nvSpPr>
        <p:spPr>
          <a:xfrm>
            <a:off x="5481642" y="4371352"/>
            <a:ext cx="7324716" cy="1458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67"/>
              <a:buFont typeface="Arial"/>
              <a:buNone/>
            </a:pPr>
            <a:r>
              <a:rPr b="1" i="0" lang="en-US" sz="416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: ¿POR QUÉ USAR NOSQL?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1" name="Google Shape;361;p21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2" name="Google Shape;362;p21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363" name="Google Shape;363;p21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274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p21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5" name="Google Shape;365;p21"/>
          <p:cNvSpPr txBox="1"/>
          <p:nvPr/>
        </p:nvSpPr>
        <p:spPr>
          <a:xfrm>
            <a:off x="11750467" y="4470400"/>
            <a:ext cx="3931066" cy="1298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¿QUÉ PASA CON SISTEMAS HÍBRIDOS?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21"/>
          <p:cNvSpPr txBox="1"/>
          <p:nvPr/>
        </p:nvSpPr>
        <p:spPr>
          <a:xfrm>
            <a:off x="1335054" y="3938652"/>
            <a:ext cx="6036000" cy="30700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NoSQL fue diseñado para superar limitaciones del modelo relacional en entornos modernos: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Gran volumen de datos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Alta concurrencia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Datos no estructurados o en evolución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Escalabilidad global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📘 Se adapta a sistemas ágiles, distribuidos y de alta demanda.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1" name="Google Shape;371;p22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2" name="Google Shape;372;p22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373" name="Google Shape;373;p22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274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p22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5" name="Google Shape;375;p22"/>
          <p:cNvSpPr txBox="1"/>
          <p:nvPr/>
        </p:nvSpPr>
        <p:spPr>
          <a:xfrm>
            <a:off x="11750467" y="4470400"/>
            <a:ext cx="3931066" cy="860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VENTAJAS DE NOSQL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22"/>
          <p:cNvSpPr txBox="1"/>
          <p:nvPr/>
        </p:nvSpPr>
        <p:spPr>
          <a:xfrm>
            <a:off x="1335054" y="3938652"/>
            <a:ext cx="6036000" cy="40987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Escalabilidad horizontal: añade más nodos, no más potencia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Esquema flexible: sin estructura fija, ideal para datos cambiantes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Rendimiento optimizado: para escritura masiva y lecturas rápidas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Diversidad de modelos: clave-valor, documentos, grafos, columnas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Alta disponibilidad y replicación integradas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📌 MongoDB, Cassandra, Redis y Neo4j destacan por estas cualidades.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23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2" name="Google Shape;382;p23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383" name="Google Shape;383;p23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274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23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5" name="Google Shape;385;p23"/>
          <p:cNvSpPr txBox="1"/>
          <p:nvPr/>
        </p:nvSpPr>
        <p:spPr>
          <a:xfrm>
            <a:off x="11750467" y="4470400"/>
            <a:ext cx="3931066" cy="860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MÁS VENTAJAS CONCRETAS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23"/>
          <p:cNvSpPr txBox="1"/>
          <p:nvPr/>
        </p:nvSpPr>
        <p:spPr>
          <a:xfrm>
            <a:off x="1335054" y="3938652"/>
            <a:ext cx="6036000" cy="30700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Ideal para Big Data, IoT, redes sociales, apps móviles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Fáciles de integrar con microservicios y sistemas cloud-native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Mejor desempeño en estructuras anidadas (listas, arrays, JSON)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📘 Usos comunes: logs, sesiones, perfiles, catálogos, recomendaciones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1" name="Google Shape;391;p24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2" name="Google Shape;392;p24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393" name="Google Shape;393;p24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274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p24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5" name="Google Shape;395;p24"/>
          <p:cNvSpPr txBox="1"/>
          <p:nvPr/>
        </p:nvSpPr>
        <p:spPr>
          <a:xfrm>
            <a:off x="11750467" y="4470400"/>
            <a:ext cx="3931066" cy="860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DESVENTAJAS DE NOSQL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24"/>
          <p:cNvSpPr txBox="1"/>
          <p:nvPr/>
        </p:nvSpPr>
        <p:spPr>
          <a:xfrm>
            <a:off x="1335054" y="3938652"/>
            <a:ext cx="6036000" cy="3755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🔴 No sigue ACID completo (aunque algunos lo permiten parcialmente)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🔴 Menor soporte de integridad referencial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🔴 Lenguaje de consulta no estándar (no siempre es SQL)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🔴 Requiere mayor esfuerzo de modelado correcto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🔴 Curva de aprendizaje según el motor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📌 Una mala implementación puede derivar en inconsistencias graves.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25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2" name="Google Shape;402;p25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403" name="Google Shape;403;p25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274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p25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5" name="Google Shape;405;p25"/>
          <p:cNvSpPr txBox="1"/>
          <p:nvPr/>
        </p:nvSpPr>
        <p:spPr>
          <a:xfrm>
            <a:off x="11750467" y="4470400"/>
            <a:ext cx="3931066" cy="860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¿CUÁNDO EVITAR NOSQL?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25"/>
          <p:cNvSpPr txBox="1"/>
          <p:nvPr/>
        </p:nvSpPr>
        <p:spPr>
          <a:xfrm>
            <a:off x="1335054" y="3938652"/>
            <a:ext cx="6036000" cy="2727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❌ Cuando el sistema requiere: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Transacciones complejas y seguras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Fuertes relaciones entre datos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Validación estricta de integridad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Historiales auditables o trazabilidad legal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📘 En estos casos, una base relacional es más segura y madura.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2852"/>
        </a:solidFill>
      </p:bgPr>
    </p:bg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26"/>
          <p:cNvSpPr txBox="1"/>
          <p:nvPr/>
        </p:nvSpPr>
        <p:spPr>
          <a:xfrm>
            <a:off x="5481642" y="4371352"/>
            <a:ext cx="7324716" cy="1458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67"/>
              <a:buFont typeface="Arial"/>
              <a:buNone/>
            </a:pPr>
            <a:r>
              <a:rPr b="1" i="0" lang="en-US" sz="416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ESCALABILIDAD EN NOSQL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27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7" name="Google Shape;417;p27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418" name="Google Shape;418;p27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274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p27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0" name="Google Shape;420;p27"/>
          <p:cNvSpPr txBox="1"/>
          <p:nvPr/>
        </p:nvSpPr>
        <p:spPr>
          <a:xfrm>
            <a:off x="11750467" y="4470400"/>
            <a:ext cx="3931066" cy="860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ESCALABILIDAD EN NOSQL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27"/>
          <p:cNvSpPr txBox="1"/>
          <p:nvPr/>
        </p:nvSpPr>
        <p:spPr>
          <a:xfrm>
            <a:off x="1335054" y="3938652"/>
            <a:ext cx="6036000" cy="40987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Distribución automática de datos en múltiples nodos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Sin punto único de falla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Alta disponibilidad integrada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Lecturas/escrituras en paralelo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📌 Ejemplos: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Cassandra: arquitecturas de múltiples nodos activos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MongoDB: sharding para dividir datos entre servidores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Redis Cluster: fragmentación por clave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6" name="Google Shape;426;p28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27" name="Google Shape;427;p28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428" name="Google Shape;428;p28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274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p28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30" name="Google Shape;430;p28"/>
          <p:cNvSpPr txBox="1"/>
          <p:nvPr/>
        </p:nvSpPr>
        <p:spPr>
          <a:xfrm>
            <a:off x="11750467" y="4470400"/>
            <a:ext cx="3931066" cy="1298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¿QUÉ ES LA FLEXIBILIDAD DE ESQUEMA?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28"/>
          <p:cNvSpPr txBox="1"/>
          <p:nvPr/>
        </p:nvSpPr>
        <p:spPr>
          <a:xfrm>
            <a:off x="1335054" y="3938652"/>
            <a:ext cx="6036000" cy="3755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📄 A diferencia de SQL, NoSQL no requiere definir previamente la estructura de los datos.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Puedes almacenar: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Documentos JSON con distintos campos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Registros incompletos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Datos dinámicos según contexto o usuario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📘 Muy útil para desarrollos ágiles, MVPs y cambios frecuentes.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6" name="Google Shape;436;p29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7" name="Google Shape;437;p29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438" name="Google Shape;438;p29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274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29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0" name="Google Shape;440;p29"/>
          <p:cNvSpPr txBox="1"/>
          <p:nvPr/>
        </p:nvSpPr>
        <p:spPr>
          <a:xfrm>
            <a:off x="11750467" y="4470400"/>
            <a:ext cx="3931066" cy="173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BENEFICIOS REALES DE LA ESCALABILIDAD Y FLEXIBILIDAD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29"/>
          <p:cNvSpPr txBox="1"/>
          <p:nvPr/>
        </p:nvSpPr>
        <p:spPr>
          <a:xfrm>
            <a:off x="1335054" y="3938652"/>
            <a:ext cx="6036000" cy="40987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📌 Ejemplos: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Una app crece de 100 a 10 millones de usuarios sin rediseñar la base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El backend móvil acepta nuevos campos sin migraciones masivas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Los logs y eventos se almacenan en tiempo real desde múltiples fuentes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NoSQL permite crecer y evolucionar sin fricciones.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6" name="Google Shape;446;p30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7" name="Google Shape;447;p30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448" name="Google Shape;448;p30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274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p30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50" name="Google Shape;450;p30"/>
          <p:cNvSpPr txBox="1"/>
          <p:nvPr/>
        </p:nvSpPr>
        <p:spPr>
          <a:xfrm>
            <a:off x="11750467" y="4470400"/>
            <a:ext cx="3931066" cy="1298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CONSIDERACIONES IMPORTANTES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30"/>
          <p:cNvSpPr txBox="1"/>
          <p:nvPr/>
        </p:nvSpPr>
        <p:spPr>
          <a:xfrm>
            <a:off x="1335054" y="3938652"/>
            <a:ext cx="6036000" cy="34129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⚠️ Escalabilidad ≠ simplicidad: requiere planeación (replicas, particionamiento, consistencia)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⚠️ Flexibilidad mal gestionada puede derivar en: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Datos mal estructurados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Redundancia o inconsistencia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Dificultades en análisis posteriores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📘 Las ventajas deben usarse con diseño consciente.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6" name="Google Shape;456;p31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57" name="Google Shape;457;p31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458" name="Google Shape;458;p31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274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459;p31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60" name="Google Shape;460;p31"/>
          <p:cNvSpPr txBox="1"/>
          <p:nvPr/>
        </p:nvSpPr>
        <p:spPr>
          <a:xfrm>
            <a:off x="11750467" y="4470400"/>
            <a:ext cx="3931066" cy="1298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CONSIDERACIONES IMPORTANTES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31"/>
          <p:cNvSpPr txBox="1"/>
          <p:nvPr/>
        </p:nvSpPr>
        <p:spPr>
          <a:xfrm>
            <a:off x="1335054" y="3938652"/>
            <a:ext cx="6036000" cy="34129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⚠️ Escalabilidad ≠ simplicidad: requiere planeación (replicas, particionamiento, consistencia)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⚠️ Flexibilidad mal gestionada puede derivar en: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Datos mal estructurados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Redundancia o inconsistencia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Dificultades en análisis posteriores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📘 Las ventajas deben usarse con diseño consciente.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2852"/>
        </a:solidFill>
      </p:bgPr>
    </p:bg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32"/>
          <p:cNvSpPr txBox="1"/>
          <p:nvPr/>
        </p:nvSpPr>
        <p:spPr>
          <a:xfrm>
            <a:off x="5481642" y="4741027"/>
            <a:ext cx="7324716" cy="7192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67"/>
              <a:buFont typeface="Arial"/>
              <a:buNone/>
            </a:pPr>
            <a:r>
              <a:rPr b="1" i="0" lang="en-US" sz="416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MUCHAS GRACIAS!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