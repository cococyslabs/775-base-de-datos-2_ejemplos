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8229600" cx="14630400"/>
  <p:notesSz cx="8229600" cy="14630400"/>
  <p:embeddedFontLst>
    <p:embeddedFont>
      <p:font typeface="Lobster"/>
      <p:regular r:id="rId25"/>
    </p:embeddedFont>
    <p:embeddedFont>
      <p:font typeface="PT Serif"/>
      <p:regular r:id="rId26"/>
      <p:bold r:id="rId27"/>
      <p:italic r:id="rId28"/>
      <p:boldItalic r:id="rId29"/>
    </p:embeddedFont>
    <p:embeddedFont>
      <p:font typeface="Pacifico"/>
      <p:regular r:id="rId30"/>
    </p:embeddedFont>
    <p:embeddedFont>
      <p:font typeface="DM Sans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XcZ7132yx3/I0uMAh8W8yIRJU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04D47E-9B69-44FB-ADAB-2618A6A655BE}">
  <a:tblStyle styleId="{B604D47E-9B69-44FB-ADAB-2618A6A655B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TSerif-regular.fntdata"/><Relationship Id="rId25" Type="http://schemas.openxmlformats.org/officeDocument/2006/relationships/font" Target="fonts/Lobster-regular.fntdata"/><Relationship Id="rId28" Type="http://schemas.openxmlformats.org/officeDocument/2006/relationships/font" Target="fonts/PTSerif-italic.fntdata"/><Relationship Id="rId27" Type="http://schemas.openxmlformats.org/officeDocument/2006/relationships/font" Target="fonts/PTSerif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TSerif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regular.fntdata"/><Relationship Id="rId30" Type="http://schemas.openxmlformats.org/officeDocument/2006/relationships/font" Target="fonts/Pacifico-regular.fntdata"/><Relationship Id="rId11" Type="http://schemas.openxmlformats.org/officeDocument/2006/relationships/slide" Target="slides/slide5.xml"/><Relationship Id="rId33" Type="http://schemas.openxmlformats.org/officeDocument/2006/relationships/font" Target="fonts/DMSans-italic.fntdata"/><Relationship Id="rId10" Type="http://schemas.openxmlformats.org/officeDocument/2006/relationships/slide" Target="slides/slide4.xml"/><Relationship Id="rId32" Type="http://schemas.openxmlformats.org/officeDocument/2006/relationships/font" Target="fonts/DMSans-bold.fntdata"/><Relationship Id="rId13" Type="http://schemas.openxmlformats.org/officeDocument/2006/relationships/slide" Target="slides/slide7.xml"/><Relationship Id="rId35" Type="http://schemas.openxmlformats.org/officeDocument/2006/relationships/font" Target="fonts/OpenSans-regular.fntdata"/><Relationship Id="rId12" Type="http://schemas.openxmlformats.org/officeDocument/2006/relationships/slide" Target="slides/slide6.xml"/><Relationship Id="rId34" Type="http://schemas.openxmlformats.org/officeDocument/2006/relationships/font" Target="fonts/DMSans-boldItalic.fntdata"/><Relationship Id="rId15" Type="http://schemas.openxmlformats.org/officeDocument/2006/relationships/slide" Target="slides/slide9.xml"/><Relationship Id="rId37" Type="http://schemas.openxmlformats.org/officeDocument/2006/relationships/font" Target="fonts/OpenSans-italic.fntdata"/><Relationship Id="rId14" Type="http://schemas.openxmlformats.org/officeDocument/2006/relationships/slide" Target="slides/slide8.xml"/><Relationship Id="rId36" Type="http://schemas.openxmlformats.org/officeDocument/2006/relationships/font" Target="fonts/OpenSans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7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8"/>
          <p:cNvSpPr txBox="1"/>
          <p:nvPr>
            <p:ph type="ctrTitle"/>
          </p:nvPr>
        </p:nvSpPr>
        <p:spPr>
          <a:xfrm>
            <a:off x="548640" y="1704340"/>
            <a:ext cx="6217920" cy="1176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" type="subTitle"/>
          </p:nvPr>
        </p:nvSpPr>
        <p:spPr>
          <a:xfrm>
            <a:off x="1097280" y="3108960"/>
            <a:ext cx="5120640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12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8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9"/>
          <p:cNvSpPr txBox="1"/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" type="body"/>
          </p:nvPr>
        </p:nvSpPr>
        <p:spPr>
          <a:xfrm>
            <a:off x="365760" y="1280161"/>
            <a:ext cx="6583680" cy="3620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/>
          <p:nvPr>
            <p:ph type="title"/>
          </p:nvPr>
        </p:nvSpPr>
        <p:spPr>
          <a:xfrm>
            <a:off x="577850" y="3525520"/>
            <a:ext cx="6217920" cy="108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" type="body"/>
          </p:nvPr>
        </p:nvSpPr>
        <p:spPr>
          <a:xfrm>
            <a:off x="577850" y="2325371"/>
            <a:ext cx="621792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44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8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0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1"/>
          <p:cNvSpPr txBox="1"/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1" type="body"/>
          </p:nvPr>
        </p:nvSpPr>
        <p:spPr>
          <a:xfrm>
            <a:off x="365760" y="1280161"/>
            <a:ext cx="3230880" cy="3620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240"/>
            </a:lvl1pPr>
            <a:lvl2pPr indent="-381000" lvl="1" marL="9144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920"/>
            </a:lvl2pPr>
            <a:lvl3pPr indent="-355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3pPr>
            <a:lvl4pPr indent="-342900" lvl="3" marL="18288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440"/>
            </a:lvl4pPr>
            <a:lvl5pPr indent="-342900" lvl="4" marL="22860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440"/>
            </a:lvl5pPr>
            <a:lvl6pPr indent="-342900" lvl="5" marL="27432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6pPr>
            <a:lvl7pPr indent="-342900" lvl="6" marL="32004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7pPr>
            <a:lvl8pPr indent="-342900" lvl="7" marL="3657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8pPr>
            <a:lvl9pPr indent="-342900" lvl="8" marL="41148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9pPr>
          </a:lstStyle>
          <a:p/>
        </p:txBody>
      </p:sp>
      <p:sp>
        <p:nvSpPr>
          <p:cNvPr id="40" name="Google Shape;40;p41"/>
          <p:cNvSpPr txBox="1"/>
          <p:nvPr>
            <p:ph idx="2" type="body"/>
          </p:nvPr>
        </p:nvSpPr>
        <p:spPr>
          <a:xfrm>
            <a:off x="3718560" y="1280161"/>
            <a:ext cx="3230880" cy="3620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240"/>
            </a:lvl1pPr>
            <a:lvl2pPr indent="-381000" lvl="1" marL="9144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920"/>
            </a:lvl2pPr>
            <a:lvl3pPr indent="-355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3pPr>
            <a:lvl4pPr indent="-342900" lvl="3" marL="18288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440"/>
            </a:lvl4pPr>
            <a:lvl5pPr indent="-342900" lvl="4" marL="22860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440"/>
            </a:lvl5pPr>
            <a:lvl6pPr indent="-342900" lvl="5" marL="27432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6pPr>
            <a:lvl7pPr indent="-342900" lvl="6" marL="32004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7pPr>
            <a:lvl8pPr indent="-342900" lvl="7" marL="3657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8pPr>
            <a:lvl9pPr indent="-342900" lvl="8" marL="41148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9pPr>
          </a:lstStyle>
          <a:p/>
        </p:txBody>
      </p:sp>
      <p:sp>
        <p:nvSpPr>
          <p:cNvPr id="41" name="Google Shape;41;p41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 txBox="1"/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2"/>
          <p:cNvSpPr txBox="1"/>
          <p:nvPr>
            <p:ph idx="1" type="body"/>
          </p:nvPr>
        </p:nvSpPr>
        <p:spPr>
          <a:xfrm>
            <a:off x="365760" y="1228090"/>
            <a:ext cx="3232150" cy="5118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92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1600"/>
            </a:lvl2pPr>
            <a:lvl3pPr indent="-228600" lvl="2" marL="1371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440"/>
            </a:lvl3pPr>
            <a:lvl4pPr indent="-228600" lvl="3" marL="18288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4pPr>
            <a:lvl5pPr indent="-228600" lvl="4" marL="22860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5pPr>
            <a:lvl6pPr indent="-228600" lvl="5" marL="27432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6pPr>
            <a:lvl7pPr indent="-228600" lvl="6" marL="3200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7pPr>
            <a:lvl8pPr indent="-228600" lvl="7" marL="36576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8pPr>
            <a:lvl9pPr indent="-228600" lvl="8" marL="41148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9pPr>
          </a:lstStyle>
          <a:p/>
        </p:txBody>
      </p:sp>
      <p:sp>
        <p:nvSpPr>
          <p:cNvPr id="47" name="Google Shape;47;p42"/>
          <p:cNvSpPr txBox="1"/>
          <p:nvPr>
            <p:ph idx="2" type="body"/>
          </p:nvPr>
        </p:nvSpPr>
        <p:spPr>
          <a:xfrm>
            <a:off x="365760" y="1739900"/>
            <a:ext cx="3232150" cy="316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920"/>
            </a:lvl1pPr>
            <a:lvl2pPr indent="-355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600"/>
            </a:lvl2pPr>
            <a:lvl3pPr indent="-342900" lvl="2" marL="1371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3pPr>
            <a:lvl4pPr indent="-330200" lvl="3" marL="18288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280"/>
            </a:lvl4pPr>
            <a:lvl5pPr indent="-330200" lvl="4" marL="22860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280"/>
            </a:lvl5pPr>
            <a:lvl6pPr indent="-330200" lvl="5" marL="27432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6pPr>
            <a:lvl7pPr indent="-330200" lvl="6" marL="3200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7pPr>
            <a:lvl8pPr indent="-330200" lvl="7" marL="36576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8pPr>
            <a:lvl9pPr indent="-330200" lvl="8" marL="41148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9pPr>
          </a:lstStyle>
          <a:p/>
        </p:txBody>
      </p:sp>
      <p:sp>
        <p:nvSpPr>
          <p:cNvPr id="48" name="Google Shape;48;p42"/>
          <p:cNvSpPr txBox="1"/>
          <p:nvPr>
            <p:ph idx="3" type="body"/>
          </p:nvPr>
        </p:nvSpPr>
        <p:spPr>
          <a:xfrm>
            <a:off x="3716020" y="1228090"/>
            <a:ext cx="3233420" cy="5118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92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1600"/>
            </a:lvl2pPr>
            <a:lvl3pPr indent="-228600" lvl="2" marL="1371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440"/>
            </a:lvl3pPr>
            <a:lvl4pPr indent="-228600" lvl="3" marL="18288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4pPr>
            <a:lvl5pPr indent="-228600" lvl="4" marL="22860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5pPr>
            <a:lvl6pPr indent="-228600" lvl="5" marL="27432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6pPr>
            <a:lvl7pPr indent="-228600" lvl="6" marL="3200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7pPr>
            <a:lvl8pPr indent="-228600" lvl="7" marL="36576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8pPr>
            <a:lvl9pPr indent="-228600" lvl="8" marL="41148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280"/>
            </a:lvl9pPr>
          </a:lstStyle>
          <a:p/>
        </p:txBody>
      </p:sp>
      <p:sp>
        <p:nvSpPr>
          <p:cNvPr id="49" name="Google Shape;49;p42"/>
          <p:cNvSpPr txBox="1"/>
          <p:nvPr>
            <p:ph idx="4" type="body"/>
          </p:nvPr>
        </p:nvSpPr>
        <p:spPr>
          <a:xfrm>
            <a:off x="3716020" y="1739900"/>
            <a:ext cx="3233420" cy="316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920"/>
            </a:lvl1pPr>
            <a:lvl2pPr indent="-355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600"/>
            </a:lvl2pPr>
            <a:lvl3pPr indent="-342900" lvl="2" marL="1371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3pPr>
            <a:lvl4pPr indent="-330200" lvl="3" marL="18288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280"/>
            </a:lvl4pPr>
            <a:lvl5pPr indent="-330200" lvl="4" marL="22860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280"/>
            </a:lvl5pPr>
            <a:lvl6pPr indent="-330200" lvl="5" marL="27432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6pPr>
            <a:lvl7pPr indent="-330200" lvl="6" marL="3200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7pPr>
            <a:lvl8pPr indent="-330200" lvl="7" marL="36576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8pPr>
            <a:lvl9pPr indent="-330200" lvl="8" marL="41148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9pPr>
          </a:lstStyle>
          <a:p/>
        </p:txBody>
      </p:sp>
      <p:sp>
        <p:nvSpPr>
          <p:cNvPr id="50" name="Google Shape;50;p42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3"/>
          <p:cNvSpPr txBox="1"/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3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4"/>
          <p:cNvSpPr txBox="1"/>
          <p:nvPr>
            <p:ph type="title"/>
          </p:nvPr>
        </p:nvSpPr>
        <p:spPr>
          <a:xfrm>
            <a:off x="365761" y="218440"/>
            <a:ext cx="2406650" cy="929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" type="body"/>
          </p:nvPr>
        </p:nvSpPr>
        <p:spPr>
          <a:xfrm>
            <a:off x="2860040" y="218441"/>
            <a:ext cx="4089400" cy="4682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560"/>
            </a:lvl1pPr>
            <a:lvl2pPr indent="-406400" lvl="1" marL="91440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240"/>
            </a:lvl2pPr>
            <a:lvl3pPr indent="-381000" lvl="2" marL="1371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920"/>
            </a:lvl3pPr>
            <a:lvl4pPr indent="-355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600"/>
            </a:lvl4pPr>
            <a:lvl5pPr indent="-355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600"/>
            </a:lvl5pPr>
            <a:lvl6pPr indent="-355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6pPr>
            <a:lvl7pPr indent="-355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7pPr>
            <a:lvl8pPr indent="-355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8pPr>
            <a:lvl9pPr indent="-355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9pPr>
          </a:lstStyle>
          <a:p/>
        </p:txBody>
      </p:sp>
      <p:sp>
        <p:nvSpPr>
          <p:cNvPr id="61" name="Google Shape;61;p44"/>
          <p:cNvSpPr txBox="1"/>
          <p:nvPr>
            <p:ph idx="2" type="body"/>
          </p:nvPr>
        </p:nvSpPr>
        <p:spPr>
          <a:xfrm>
            <a:off x="365761" y="1148081"/>
            <a:ext cx="2406650" cy="37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20"/>
            </a:lvl1pPr>
            <a:lvl2pPr indent="-228600" lvl="1" marL="9144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60"/>
            </a:lvl2pPr>
            <a:lvl3pPr indent="-228600" lvl="2" marL="1371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4pPr>
            <a:lvl5pPr indent="-228600" lvl="4" marL="22860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5pPr>
            <a:lvl6pPr indent="-228600" lvl="5" marL="27432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6pPr>
            <a:lvl7pPr indent="-228600" lvl="6" marL="32004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7pPr>
            <a:lvl8pPr indent="-228600" lvl="7" marL="36576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8pPr>
            <a:lvl9pPr indent="-228600" lvl="8" marL="41148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9pPr>
          </a:lstStyle>
          <a:p/>
        </p:txBody>
      </p:sp>
      <p:sp>
        <p:nvSpPr>
          <p:cNvPr id="62" name="Google Shape;62;p44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/>
          <p:nvPr>
            <p:ph type="title"/>
          </p:nvPr>
        </p:nvSpPr>
        <p:spPr>
          <a:xfrm>
            <a:off x="1433830" y="3840480"/>
            <a:ext cx="4389120" cy="4533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/>
          <p:nvPr>
            <p:ph idx="2" type="pic"/>
          </p:nvPr>
        </p:nvSpPr>
        <p:spPr>
          <a:xfrm>
            <a:off x="1433830" y="490220"/>
            <a:ext cx="4389120" cy="32918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5"/>
          <p:cNvSpPr txBox="1"/>
          <p:nvPr>
            <p:ph idx="1" type="body"/>
          </p:nvPr>
        </p:nvSpPr>
        <p:spPr>
          <a:xfrm>
            <a:off x="1433830" y="4293870"/>
            <a:ext cx="4389120" cy="643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20"/>
            </a:lvl1pPr>
            <a:lvl2pPr indent="-228600" lvl="1" marL="9144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60"/>
            </a:lvl2pPr>
            <a:lvl3pPr indent="-228600" lvl="2" marL="1371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4pPr>
            <a:lvl5pPr indent="-228600" lvl="4" marL="22860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5pPr>
            <a:lvl6pPr indent="-228600" lvl="5" marL="27432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6pPr>
            <a:lvl7pPr indent="-228600" lvl="6" marL="32004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7pPr>
            <a:lvl8pPr indent="-228600" lvl="7" marL="36576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8pPr>
            <a:lvl9pPr indent="-228600" lvl="8" marL="411480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9pPr>
          </a:lstStyle>
          <a:p/>
        </p:txBody>
      </p:sp>
      <p:sp>
        <p:nvSpPr>
          <p:cNvPr id="69" name="Google Shape;69;p45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/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" type="body"/>
          </p:nvPr>
        </p:nvSpPr>
        <p:spPr>
          <a:xfrm rot="5400000">
            <a:off x="1847216" y="-201294"/>
            <a:ext cx="3620770" cy="65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6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/>
          <p:nvPr>
            <p:ph type="title"/>
          </p:nvPr>
        </p:nvSpPr>
        <p:spPr>
          <a:xfrm rot="5400000">
            <a:off x="3785871" y="1737361"/>
            <a:ext cx="46812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7"/>
          <p:cNvSpPr txBox="1"/>
          <p:nvPr>
            <p:ph idx="1" type="body"/>
          </p:nvPr>
        </p:nvSpPr>
        <p:spPr>
          <a:xfrm rot="5400000">
            <a:off x="433071" y="152400"/>
            <a:ext cx="4681220" cy="481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8"/>
          <p:cNvSpPr txBox="1"/>
          <p:nvPr>
            <p:ph type="title"/>
          </p:nvPr>
        </p:nvSpPr>
        <p:spPr>
          <a:xfrm>
            <a:off x="498720" y="712040"/>
            <a:ext cx="13632960" cy="9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6" name="Google Shape;86;p48"/>
          <p:cNvSpPr txBox="1"/>
          <p:nvPr>
            <p:ph idx="1" type="body"/>
          </p:nvPr>
        </p:nvSpPr>
        <p:spPr>
          <a:xfrm>
            <a:off x="498720" y="1843960"/>
            <a:ext cx="13632960" cy="5466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7" name="Google Shape;87;p48"/>
          <p:cNvSpPr txBox="1"/>
          <p:nvPr>
            <p:ph idx="12" type="sldNum"/>
          </p:nvPr>
        </p:nvSpPr>
        <p:spPr>
          <a:xfrm>
            <a:off x="13555933" y="7461147"/>
            <a:ext cx="877920" cy="62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365760" y="1280161"/>
            <a:ext cx="6583680" cy="3620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30.png"/><Relationship Id="rId7" Type="http://schemas.openxmlformats.org/officeDocument/2006/relationships/image" Target="../media/image39.png"/><Relationship Id="rId8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37.png"/><Relationship Id="rId6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/>
          <p:nvPr/>
        </p:nvSpPr>
        <p:spPr>
          <a:xfrm>
            <a:off x="2878440" y="4790940"/>
            <a:ext cx="5892000" cy="57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25" lIns="73125" spcFirstLastPara="1" rIns="73125" wrap="square" tIns="73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0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3"/>
          <p:cNvSpPr/>
          <p:nvPr/>
        </p:nvSpPr>
        <p:spPr>
          <a:xfrm>
            <a:off x="1871004" y="3825000"/>
            <a:ext cx="8113680" cy="57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25" lIns="73125" spcFirstLastPara="1" rIns="73125" wrap="square" tIns="73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BASES DE DATOS 2</a:t>
            </a:r>
            <a:endParaRPr b="0" i="0" sz="24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33"/>
          <p:cNvGraphicFramePr/>
          <p:nvPr/>
        </p:nvGraphicFramePr>
        <p:xfrm>
          <a:off x="9538015" y="16464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{B604D47E-9B69-44FB-ADAB-2618A6A655BE}</a:tableStyleId>
              </a:tblPr>
              <a:tblGrid>
                <a:gridCol w="1889750"/>
                <a:gridCol w="29870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36575" marB="3657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200" u="none" cap="none" strike="noStrike">
                          <a:solidFill>
                            <a:schemeClr val="dk1"/>
                          </a:solidFill>
                        </a:rPr>
                        <a:t>Miércoles 01/01/2026</a:t>
                      </a:r>
                      <a:endParaRPr/>
                    </a:p>
                  </a:txBody>
                  <a:tcPr marT="36575" marB="3657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Hora Inicio</a:t>
                      </a:r>
                      <a:endParaRPr/>
                    </a:p>
                  </a:txBody>
                  <a:tcPr marT="36575" marB="3657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200" u="none" cap="none" strike="noStrike">
                          <a:solidFill>
                            <a:schemeClr val="dk1"/>
                          </a:solidFill>
                        </a:rPr>
                        <a:t>17:30</a:t>
                      </a:r>
                      <a:endParaRPr/>
                    </a:p>
                  </a:txBody>
                  <a:tcPr marT="36575" marB="3657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/>
          <p:nvPr/>
        </p:nvSpPr>
        <p:spPr>
          <a:xfrm>
            <a:off x="10033047" y="4817502"/>
            <a:ext cx="3328147" cy="329184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4"/>
          <p:cNvSpPr txBox="1"/>
          <p:nvPr/>
        </p:nvSpPr>
        <p:spPr>
          <a:xfrm>
            <a:off x="712199" y="6044020"/>
            <a:ext cx="682128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BASES DE DATOS 2</a:t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34"/>
          <p:cNvSpPr txBox="1"/>
          <p:nvPr/>
        </p:nvSpPr>
        <p:spPr>
          <a:xfrm>
            <a:off x="2073004" y="1733979"/>
            <a:ext cx="9900000" cy="3397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6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Unidad No. 2: Sistemas Distribuidos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4"/>
          <p:cNvSpPr txBox="1"/>
          <p:nvPr/>
        </p:nvSpPr>
        <p:spPr>
          <a:xfrm>
            <a:off x="850643" y="6996201"/>
            <a:ext cx="5585103" cy="43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19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850642" y="7330192"/>
            <a:ext cx="5334000" cy="43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19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34"/>
          <p:cNvSpPr txBox="1"/>
          <p:nvPr/>
        </p:nvSpPr>
        <p:spPr>
          <a:xfrm>
            <a:off x="822960" y="7655063"/>
            <a:ext cx="6492240" cy="43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4"/>
          <p:cNvSpPr txBox="1"/>
          <p:nvPr/>
        </p:nvSpPr>
        <p:spPr>
          <a:xfrm>
            <a:off x="10383266" y="5940831"/>
            <a:ext cx="2627760" cy="1722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Puedes usar el 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diseño que desees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conserva la estructura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5740" y="1"/>
            <a:ext cx="8194660" cy="853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35"/>
          <p:cNvGrpSpPr/>
          <p:nvPr/>
        </p:nvGrpSpPr>
        <p:grpSpPr>
          <a:xfrm>
            <a:off x="141296" y="3616388"/>
            <a:ext cx="6411904" cy="676308"/>
            <a:chOff x="0" y="-76200"/>
            <a:chExt cx="1964221" cy="359923"/>
          </a:xfrm>
        </p:grpSpPr>
        <p:sp>
          <p:nvSpPr>
            <p:cNvPr id="159" name="Google Shape;159;p3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5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40625" spcFirstLastPara="1" rIns="40625" wrap="square" tIns="4062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3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Réplicas en Bases de Datos</a:t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35"/>
          <p:cNvSpPr/>
          <p:nvPr/>
        </p:nvSpPr>
        <p:spPr>
          <a:xfrm>
            <a:off x="702923" y="3792353"/>
            <a:ext cx="362686" cy="440075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35"/>
          <p:cNvGrpSpPr/>
          <p:nvPr/>
        </p:nvGrpSpPr>
        <p:grpSpPr>
          <a:xfrm>
            <a:off x="1493591" y="2411187"/>
            <a:ext cx="3292152" cy="1245187"/>
            <a:chOff x="0" y="-76200"/>
            <a:chExt cx="1083836" cy="409938"/>
          </a:xfrm>
        </p:grpSpPr>
        <p:sp>
          <p:nvSpPr>
            <p:cNvPr id="163" name="Google Shape;163;p35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5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40625" spcFirstLastPara="1" rIns="40625" wrap="square" tIns="4062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3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p35"/>
          <p:cNvSpPr/>
          <p:nvPr/>
        </p:nvSpPr>
        <p:spPr>
          <a:xfrm>
            <a:off x="521403" y="2743788"/>
            <a:ext cx="603114" cy="698342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5"/>
          <p:cNvSpPr txBox="1"/>
          <p:nvPr/>
        </p:nvSpPr>
        <p:spPr>
          <a:xfrm>
            <a:off x="521400" y="392720"/>
            <a:ext cx="6168241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12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67" name="Google Shape;167;p35"/>
          <p:cNvSpPr txBox="1"/>
          <p:nvPr/>
        </p:nvSpPr>
        <p:spPr>
          <a:xfrm>
            <a:off x="8084792" y="312614"/>
            <a:ext cx="6733440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12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68" name="Google Shape;168;p35"/>
          <p:cNvGrpSpPr/>
          <p:nvPr/>
        </p:nvGrpSpPr>
        <p:grpSpPr>
          <a:xfrm>
            <a:off x="9391844" y="2238908"/>
            <a:ext cx="4282917" cy="1360916"/>
            <a:chOff x="0" y="-114300"/>
            <a:chExt cx="1410014" cy="448038"/>
          </a:xfrm>
        </p:grpSpPr>
        <p:sp>
          <p:nvSpPr>
            <p:cNvPr id="169" name="Google Shape;169;p35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5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40625" spcFirstLastPara="1" rIns="40625" wrap="square" tIns="40625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" name="Google Shape;171;p35"/>
          <p:cNvGrpSpPr/>
          <p:nvPr/>
        </p:nvGrpSpPr>
        <p:grpSpPr>
          <a:xfrm>
            <a:off x="9391844" y="3678947"/>
            <a:ext cx="4282917" cy="1360916"/>
            <a:chOff x="0" y="-114300"/>
            <a:chExt cx="1410014" cy="448038"/>
          </a:xfrm>
        </p:grpSpPr>
        <p:sp>
          <p:nvSpPr>
            <p:cNvPr id="172" name="Google Shape;172;p35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5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40625" spcFirstLastPara="1" rIns="40625" wrap="square" tIns="40625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</a:t>
              </a:r>
              <a:r>
                <a:rPr lang="en-US" sz="3599"/>
                <a:t>Quizz</a:t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35"/>
          <p:cNvGrpSpPr/>
          <p:nvPr/>
        </p:nvGrpSpPr>
        <p:grpSpPr>
          <a:xfrm>
            <a:off x="141296" y="4355442"/>
            <a:ext cx="6038789" cy="676308"/>
            <a:chOff x="0" y="-76200"/>
            <a:chExt cx="1964221" cy="359923"/>
          </a:xfrm>
        </p:grpSpPr>
        <p:sp>
          <p:nvSpPr>
            <p:cNvPr id="175" name="Google Shape;175;p3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5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40625" spcFirstLastPara="1" rIns="40625" wrap="square" tIns="4062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3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Ejemplo </a:t>
              </a:r>
              <a:r>
                <a:rPr lang="en-US" sz="2239"/>
                <a:t>Práctico</a:t>
              </a:r>
              <a:r>
                <a:rPr b="0" i="0" lang="en-US" sz="223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MYSQL</a:t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35"/>
          <p:cNvGrpSpPr/>
          <p:nvPr/>
        </p:nvGrpSpPr>
        <p:grpSpPr>
          <a:xfrm>
            <a:off x="141296" y="5149198"/>
            <a:ext cx="6548345" cy="676308"/>
            <a:chOff x="0" y="-76200"/>
            <a:chExt cx="1964221" cy="359923"/>
          </a:xfrm>
        </p:grpSpPr>
        <p:sp>
          <p:nvSpPr>
            <p:cNvPr id="178" name="Google Shape;178;p3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5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40625" spcFirstLastPara="1" rIns="40625" wrap="square" tIns="4062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3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Ejemplo </a:t>
              </a:r>
              <a:r>
                <a:rPr lang="en-US" sz="2239"/>
                <a:t>Práctico</a:t>
              </a:r>
              <a:r>
                <a:rPr b="0" i="0" lang="en-US" sz="223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PostgreSQL</a:t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35"/>
          <p:cNvGrpSpPr/>
          <p:nvPr/>
        </p:nvGrpSpPr>
        <p:grpSpPr>
          <a:xfrm>
            <a:off x="141296" y="5879566"/>
            <a:ext cx="3690841" cy="676308"/>
            <a:chOff x="0" y="-76200"/>
            <a:chExt cx="1964221" cy="359923"/>
          </a:xfrm>
        </p:grpSpPr>
        <p:sp>
          <p:nvSpPr>
            <p:cNvPr id="181" name="Google Shape;181;p3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5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40625" spcFirstLastPara="1" rIns="40625" wrap="square" tIns="4062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3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35"/>
          <p:cNvGrpSpPr/>
          <p:nvPr/>
        </p:nvGrpSpPr>
        <p:grpSpPr>
          <a:xfrm>
            <a:off x="141296" y="6730332"/>
            <a:ext cx="3690841" cy="676308"/>
            <a:chOff x="0" y="-76200"/>
            <a:chExt cx="1964221" cy="359923"/>
          </a:xfrm>
        </p:grpSpPr>
        <p:sp>
          <p:nvSpPr>
            <p:cNvPr id="184" name="Google Shape;184;p3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5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40625" spcFirstLastPara="1" rIns="40625" wrap="square" tIns="4062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3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" name="Google Shape;186;p35"/>
          <p:cNvSpPr/>
          <p:nvPr/>
        </p:nvSpPr>
        <p:spPr>
          <a:xfrm>
            <a:off x="702923" y="4498624"/>
            <a:ext cx="362686" cy="440075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5"/>
          <p:cNvSpPr/>
          <p:nvPr/>
        </p:nvSpPr>
        <p:spPr>
          <a:xfrm>
            <a:off x="702923" y="5283883"/>
            <a:ext cx="362686" cy="440075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5"/>
          <p:cNvSpPr/>
          <p:nvPr/>
        </p:nvSpPr>
        <p:spPr>
          <a:xfrm>
            <a:off x="702923" y="6083708"/>
            <a:ext cx="362686" cy="440075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5"/>
          <p:cNvSpPr/>
          <p:nvPr/>
        </p:nvSpPr>
        <p:spPr>
          <a:xfrm>
            <a:off x="702923" y="6884432"/>
            <a:ext cx="362686" cy="440075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" name="Google Shape;1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708672"/>
            <a:ext cx="4919305" cy="281225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"/>
          <p:cNvSpPr/>
          <p:nvPr/>
        </p:nvSpPr>
        <p:spPr>
          <a:xfrm>
            <a:off x="793790" y="1776532"/>
            <a:ext cx="7556421" cy="2232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Implementación de Réplicas en Bases de Datos Distribuidas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"/>
          <p:cNvSpPr/>
          <p:nvPr/>
        </p:nvSpPr>
        <p:spPr>
          <a:xfrm>
            <a:off x="793790" y="4349472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Exploramos</a:t>
            </a: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los conceptos clave de la replicación de bases de datos, incluyendo tipos, casos de uso, técnicas de integridad de datos y su aplicación práctica en sistemas de gestión de bases de datos como MySQL y PostgreSQL.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4" name="Google Shape;2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607" y="2796778"/>
            <a:ext cx="4919186" cy="26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"/>
          <p:cNvSpPr/>
          <p:nvPr/>
        </p:nvSpPr>
        <p:spPr>
          <a:xfrm>
            <a:off x="6280190" y="699849"/>
            <a:ext cx="6056709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¿Qué es la replicación?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6280190" y="203942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6440091" y="2115860"/>
            <a:ext cx="190381" cy="357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erif"/>
              <a:buNone/>
            </a:pPr>
            <a:r>
              <a:rPr b="0" i="0" lang="en-US" sz="28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"/>
          <p:cNvSpPr/>
          <p:nvPr/>
        </p:nvSpPr>
        <p:spPr>
          <a:xfrm>
            <a:off x="7017306" y="2039422"/>
            <a:ext cx="292774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Definición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"/>
          <p:cNvSpPr/>
          <p:nvPr/>
        </p:nvSpPr>
        <p:spPr>
          <a:xfrm>
            <a:off x="7017306" y="2547580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es el proceso de mantener múltiples copias sincronizadas de datos en diferentes ubicaciones o servidores.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/>
          <p:nvPr/>
        </p:nvSpPr>
        <p:spPr>
          <a:xfrm>
            <a:off x="10171867" y="203942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"/>
          <p:cNvSpPr/>
          <p:nvPr/>
        </p:nvSpPr>
        <p:spPr>
          <a:xfrm>
            <a:off x="10331768" y="2115860"/>
            <a:ext cx="190381" cy="357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erif"/>
              <a:buNone/>
            </a:pPr>
            <a:r>
              <a:rPr b="0" i="0" lang="en-US" sz="28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"/>
          <p:cNvSpPr/>
          <p:nvPr/>
        </p:nvSpPr>
        <p:spPr>
          <a:xfrm>
            <a:off x="10908983" y="2039422"/>
            <a:ext cx="292774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Objetivo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"/>
          <p:cNvSpPr/>
          <p:nvPr/>
        </p:nvSpPr>
        <p:spPr>
          <a:xfrm>
            <a:off x="10908983" y="2547580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Su propósito principal es aumentar la disponibilidad, escalabilidad y tolerancia a fallas de los sistemas de bases de datos.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6280190" y="484405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6440091" y="4920496"/>
            <a:ext cx="190381" cy="357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erif"/>
              <a:buNone/>
            </a:pPr>
            <a:r>
              <a:rPr b="0" i="0" lang="en-US" sz="28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7017306" y="4844058"/>
            <a:ext cx="292774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Componentes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7017306" y="5352217"/>
            <a:ext cx="2927747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Incluye un servidor principal (maestro) y uno o más servidores secundarios (esclavos) que reciben actualizaciones del maestro.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10171867" y="484405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"/>
          <p:cNvSpPr/>
          <p:nvPr/>
        </p:nvSpPr>
        <p:spPr>
          <a:xfrm>
            <a:off x="10331768" y="4920496"/>
            <a:ext cx="190381" cy="357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erif"/>
              <a:buNone/>
            </a:pPr>
            <a:r>
              <a:rPr b="0" i="0" lang="en-US" sz="28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"/>
          <p:cNvSpPr/>
          <p:nvPr/>
        </p:nvSpPr>
        <p:spPr>
          <a:xfrm>
            <a:off x="10908983" y="4844058"/>
            <a:ext cx="292774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Ventajas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"/>
          <p:cNvSpPr/>
          <p:nvPr/>
        </p:nvSpPr>
        <p:spPr>
          <a:xfrm>
            <a:off x="10908983" y="5352217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Mejora el rendimiento, la alta disponibilidad y la redundancia de los datos, lo que es crucial para aplicaciones críticas.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"/>
          <p:cNvSpPr/>
          <p:nvPr/>
        </p:nvSpPr>
        <p:spPr>
          <a:xfrm>
            <a:off x="793790" y="939284"/>
            <a:ext cx="12449770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Tipos de replicación: Sincrónica vs Asincrónica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9" name="Google Shape;2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37172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"/>
          <p:cNvSpPr/>
          <p:nvPr/>
        </p:nvSpPr>
        <p:spPr>
          <a:xfrm>
            <a:off x="793790" y="4967407"/>
            <a:ext cx="301025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Replicación Sincrónica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793790" y="5475565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sincrónica implica que las actualizaciones se aplican inmediatamente a todas las réplicas, garantizando la consistencia de los datos en todo momento.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2" name="Google Shape;2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137172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"/>
          <p:cNvSpPr/>
          <p:nvPr/>
        </p:nvSpPr>
        <p:spPr>
          <a:xfrm>
            <a:off x="5254704" y="4967526"/>
            <a:ext cx="3177183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Replicación Asincrónica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5254704" y="5475684"/>
            <a:ext cx="412087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 la replicación asincrónica, las actualizaciones se envían a las réplicas de manera diferida, lo que permite mayor escalabilidad pero conlleva el riesgo de inconsistencia temporal.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5" name="Google Shape;23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137172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/>
          <p:nvPr/>
        </p:nvSpPr>
        <p:spPr>
          <a:xfrm>
            <a:off x="9715738" y="4967407"/>
            <a:ext cx="3009662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Ventajas y Desventajas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9715738" y="5475565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sincrónica ofrece mayor consistencia, mientras que la asincrónica permite mejor rendimiento y tolerancia a fallos. La elección depende de los requisitos del sistema.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3" name="Google Shape;2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4150" y="2276237"/>
            <a:ext cx="4986099" cy="367700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"/>
          <p:cNvSpPr/>
          <p:nvPr/>
        </p:nvSpPr>
        <p:spPr>
          <a:xfrm>
            <a:off x="700207" y="743188"/>
            <a:ext cx="6933605" cy="656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100"/>
              <a:buFont typeface="PT Serif"/>
              <a:buNone/>
            </a:pPr>
            <a:r>
              <a:rPr b="0" i="0" lang="en-US" sz="41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Casos de uso de la replicación</a:t>
            </a:r>
            <a:endParaRPr b="0" i="0" sz="4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6" name="Google Shape;2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207" y="1699617"/>
            <a:ext cx="500182" cy="50018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"/>
          <p:cNvSpPr/>
          <p:nvPr/>
        </p:nvSpPr>
        <p:spPr>
          <a:xfrm>
            <a:off x="700207" y="2399824"/>
            <a:ext cx="3358872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Redundancia y Recuperación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700207" y="2848094"/>
            <a:ext cx="3721775" cy="1280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permite tener múltiples copias de los datos para asegurar la disponibilidad y facilitar la recuperación en caso de fallas o desastres.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9" name="Google Shape;24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2019" y="1699617"/>
            <a:ext cx="500182" cy="50018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"/>
          <p:cNvSpPr/>
          <p:nvPr/>
        </p:nvSpPr>
        <p:spPr>
          <a:xfrm>
            <a:off x="4722019" y="2399824"/>
            <a:ext cx="3721775" cy="656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Escalabilidad y Balanceo de Carga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4722019" y="3176349"/>
            <a:ext cx="3721775" cy="1280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 distribuir la carga entre múltiples servidores, la replicación mejora el rendimiento y la escalabilidad de los sistemas.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2" name="Google Shape;25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0207" y="5057180"/>
            <a:ext cx="500182" cy="50018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"/>
          <p:cNvSpPr/>
          <p:nvPr/>
        </p:nvSpPr>
        <p:spPr>
          <a:xfrm>
            <a:off x="700207" y="5757386"/>
            <a:ext cx="2660809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Proximidad Geográfica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700207" y="6205657"/>
            <a:ext cx="3721775" cy="1280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Mantener réplicas en diferentes ubicaciones geográficas reduce la latencia y mejora la experiencia de los usuarios finales.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5" name="Google Shape;25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2019" y="5057180"/>
            <a:ext cx="500182" cy="50018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"/>
          <p:cNvSpPr/>
          <p:nvPr/>
        </p:nvSpPr>
        <p:spPr>
          <a:xfrm>
            <a:off x="4722019" y="5757386"/>
            <a:ext cx="2626043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Análisis de Datos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4722019" y="6205657"/>
            <a:ext cx="3721775" cy="960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Las réplicas dedicadas permiten realizar análisis complejos sin afectar la operación transaccional principal.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3" name="Google Shape;2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7962" y="2461974"/>
            <a:ext cx="4958477" cy="330565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5"/>
          <p:cNvSpPr/>
          <p:nvPr/>
        </p:nvSpPr>
        <p:spPr>
          <a:xfrm>
            <a:off x="739140" y="919520"/>
            <a:ext cx="6732151" cy="692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350"/>
              <a:buFont typeface="PT Serif"/>
              <a:buNone/>
            </a:pPr>
            <a:r>
              <a:rPr b="0" i="0" lang="en-US" sz="43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Beneficios de la replicación</a:t>
            </a:r>
            <a:endParaRPr b="0" i="0" sz="4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739140" y="1929170"/>
            <a:ext cx="3727371" cy="2584847"/>
          </a:xfrm>
          <a:prstGeom prst="roundRect">
            <a:avLst>
              <a:gd fmla="val 1226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950238" y="2140267"/>
            <a:ext cx="2771775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T Serif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Alta Disponibilidad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950238" y="2613422"/>
            <a:ext cx="3305175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permite mantener copias de datos en múltiples servidores, asegurando la continuidad del servicio ante fallas en un nodo.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4677608" y="1929170"/>
            <a:ext cx="3727371" cy="2584847"/>
          </a:xfrm>
          <a:prstGeom prst="roundRect">
            <a:avLst>
              <a:gd fmla="val 1226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4888706" y="2140267"/>
            <a:ext cx="2771775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T Serif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Escalabilidad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4888706" y="2613422"/>
            <a:ext cx="3305175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 distribuir cargas de trabajo entre réplicas, se puede aumentar la capacidad de procesamiento y respuesta a solicitudes de usuarios.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739140" y="4725114"/>
            <a:ext cx="3727371" cy="2584847"/>
          </a:xfrm>
          <a:prstGeom prst="roundRect">
            <a:avLst>
              <a:gd fmla="val 1226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950238" y="4936212"/>
            <a:ext cx="2771775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T Serif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Tolerancia a Fallos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950238" y="5409367"/>
            <a:ext cx="3305175" cy="1351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Si un servidor falla, las demás réplicas pueden asumir sus tareas, minimizando el impacto en los usuarios finales.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4677608" y="4725114"/>
            <a:ext cx="3727371" cy="2584847"/>
          </a:xfrm>
          <a:prstGeom prst="roundRect">
            <a:avLst>
              <a:gd fmla="val 1226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4888706" y="4936212"/>
            <a:ext cx="2881432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T Serif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Mejora de Rendimiento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4888706" y="5409367"/>
            <a:ext cx="3305175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Las réplicas pueden especializarse en determinadas tareas, optimizando el flujo de trabajo y mejorando los tiempos de respuesta.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"/>
          <p:cNvSpPr/>
          <p:nvPr/>
        </p:nvSpPr>
        <p:spPr>
          <a:xfrm>
            <a:off x="793790" y="1238607"/>
            <a:ext cx="5959673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Retos de la replicación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793790" y="2549843"/>
            <a:ext cx="2845594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Complejidad de Configuración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793790" y="3520797"/>
            <a:ext cx="2845594" cy="3266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configuración de la replicación en los sistemas de bases de datos puede ser técnicamente compleja y requiere de un profundo conocimiento de la arquitectura y las herramientas de administración.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4200406" y="2549843"/>
            <a:ext cx="2845594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Latencia y Sincronización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4200406" y="3520797"/>
            <a:ext cx="2845594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Mantener la sincronización de datos entre múltiples réplicas y minimizar la latencia en la propagación de cambios es fundamental para garantizar la integridad de la información.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7607022" y="2549843"/>
            <a:ext cx="2845594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Resolución de Conflictos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7607022" y="3520797"/>
            <a:ext cx="2845594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Cuando ocurren actualizaciones conflictivas entre réplicas, es necesario implementar mecanismos robustos para detectar y resolver estos conflictos de manera efectiva.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11013638" y="2549843"/>
            <a:ext cx="2845594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Carga y Desempeño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11013638" y="3148727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puede agregar carga adicional a los sistemas de bases de datos, lo que impacta el rendimiento general y requiere de un cuidadoso diseño y monitoreo.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7" name="Google Shape;2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4582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8" name="Google Shape;2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1798" y="245745"/>
            <a:ext cx="4906685" cy="196679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/>
          <p:nvPr/>
        </p:nvSpPr>
        <p:spPr>
          <a:xfrm>
            <a:off x="688300" y="2999065"/>
            <a:ext cx="10547271" cy="64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050"/>
              <a:buFont typeface="PT Serif"/>
              <a:buNone/>
            </a:pPr>
            <a:r>
              <a:rPr b="0" i="0" lang="en-US" sz="40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Técnicas para mantener la integridad de datos</a:t>
            </a:r>
            <a:endParaRPr b="0" i="0" sz="4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7303770" y="3939302"/>
            <a:ext cx="22860" cy="3752374"/>
          </a:xfrm>
          <a:prstGeom prst="roundRect">
            <a:avLst>
              <a:gd fmla="val 129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428542" y="4370308"/>
            <a:ext cx="688300" cy="22860"/>
          </a:xfrm>
          <a:prstGeom prst="roundRect">
            <a:avLst>
              <a:gd fmla="val 129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7093982" y="4160520"/>
            <a:ext cx="442436" cy="442436"/>
          </a:xfrm>
          <a:prstGeom prst="roundRect">
            <a:avLst>
              <a:gd fmla="val 666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7232690" y="4226838"/>
            <a:ext cx="165021" cy="309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400"/>
              <a:buFont typeface="PT Serif"/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3652480" y="4135874"/>
            <a:ext cx="2581156" cy="32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00"/>
              <a:buFont typeface="PT Serif"/>
              <a:buNone/>
            </a:pPr>
            <a:r>
              <a:rPr b="0" i="0" lang="en-US" sz="20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Replicación síncrona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688300" y="4576524"/>
            <a:ext cx="5545336" cy="94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replicación síncrona asegura que los cambios se reflejen inmediatamente en todas las réplicas, manteniendo la coherencia de los datos.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7513558" y="5353526"/>
            <a:ext cx="688300" cy="22860"/>
          </a:xfrm>
          <a:prstGeom prst="roundRect">
            <a:avLst>
              <a:gd fmla="val 129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7093982" y="5143738"/>
            <a:ext cx="442436" cy="442436"/>
          </a:xfrm>
          <a:prstGeom prst="roundRect">
            <a:avLst>
              <a:gd fmla="val 666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7232690" y="5210056"/>
            <a:ext cx="165021" cy="309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400"/>
              <a:buFont typeface="PT Serif"/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8396764" y="5119092"/>
            <a:ext cx="2905482" cy="32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00"/>
              <a:buFont typeface="PT Serif"/>
              <a:buNone/>
            </a:pPr>
            <a:r>
              <a:rPr b="0" i="0" lang="en-US" sz="20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Verificación de checksum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8396764" y="5559743"/>
            <a:ext cx="5545336" cy="94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Realizar verificaciones de integridad de los datos a través de checksums ayuda a detectar y prevenir la corrupción de los mismos.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6428542" y="6344722"/>
            <a:ext cx="688300" cy="22860"/>
          </a:xfrm>
          <a:prstGeom prst="roundRect">
            <a:avLst>
              <a:gd fmla="val 129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7093982" y="6134933"/>
            <a:ext cx="442436" cy="442436"/>
          </a:xfrm>
          <a:prstGeom prst="roundRect">
            <a:avLst>
              <a:gd fmla="val 666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7232690" y="6201251"/>
            <a:ext cx="165021" cy="309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400"/>
              <a:buFont typeface="PT Serif"/>
              <a:buNone/>
            </a:pPr>
            <a:r>
              <a:rPr b="0" i="0" lang="en-US" sz="24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3446859" y="6110288"/>
            <a:ext cx="2786777" cy="32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00"/>
              <a:buFont typeface="PT Serif"/>
              <a:buNone/>
            </a:pPr>
            <a:r>
              <a:rPr b="0" i="0" lang="en-US" sz="20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Resolución de conflictos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688300" y="6550938"/>
            <a:ext cx="5545336" cy="94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Establecer políticas claras para resolver conflictos entre réplicas, como priorizar ciertos nodos o usar reglas de resolución predefinidas.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1" name="Google Shape;3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0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2" name="Google Shape;32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743" y="2227183"/>
            <a:ext cx="5034915" cy="377618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8"/>
          <p:cNvSpPr/>
          <p:nvPr/>
        </p:nvSpPr>
        <p:spPr>
          <a:xfrm>
            <a:off x="6118622" y="496729"/>
            <a:ext cx="7879556" cy="1185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3700"/>
              <a:buFont typeface="PT Serif"/>
              <a:buNone/>
            </a:pPr>
            <a:r>
              <a:rPr b="0" i="0" lang="en-US" sz="37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Configuración de replicación en MySQL</a:t>
            </a:r>
            <a:endParaRPr b="0" i="0" sz="3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4" name="Google Shape;32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8622" y="1953101"/>
            <a:ext cx="903208" cy="144518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8"/>
          <p:cNvSpPr/>
          <p:nvPr/>
        </p:nvSpPr>
        <p:spPr>
          <a:xfrm>
            <a:off x="7292816" y="2133719"/>
            <a:ext cx="2992874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Configurar Servidor Maestro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7292816" y="2538532"/>
            <a:ext cx="6705362" cy="577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Habilitar el registro binario y definir un servidor de replicación maestro con un ID único.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7" name="Google Shape;32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8622" y="3398282"/>
            <a:ext cx="903208" cy="144518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8"/>
          <p:cNvSpPr/>
          <p:nvPr/>
        </p:nvSpPr>
        <p:spPr>
          <a:xfrm>
            <a:off x="7292816" y="3578900"/>
            <a:ext cx="3082885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Crear Cuentas de Replicación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7292816" y="3983712"/>
            <a:ext cx="6705362" cy="577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Crear usuarios con permisos de replicación en el maestro y establecer contraseñas seguras.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0" name="Google Shape;33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8622" y="4843463"/>
            <a:ext cx="903208" cy="144518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8"/>
          <p:cNvSpPr/>
          <p:nvPr/>
        </p:nvSpPr>
        <p:spPr>
          <a:xfrm>
            <a:off x="7292816" y="5024080"/>
            <a:ext cx="3249335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Configurar Servidores Esclavos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7292816" y="5428893"/>
            <a:ext cx="6705362" cy="577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Configurar los servidores esclavos para que se conecten y repliquen del maestro.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3" name="Google Shape;33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18622" y="6288643"/>
            <a:ext cx="903208" cy="144518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8"/>
          <p:cNvSpPr/>
          <p:nvPr/>
        </p:nvSpPr>
        <p:spPr>
          <a:xfrm>
            <a:off x="7292816" y="6469261"/>
            <a:ext cx="2473047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Monitorear Replicación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7292816" y="6874073"/>
            <a:ext cx="6705362" cy="577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Verificar el estado de la replicación y resolver posibles conflictos entre maestro y esclavo.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"/>
          <p:cNvSpPr/>
          <p:nvPr/>
        </p:nvSpPr>
        <p:spPr>
          <a:xfrm>
            <a:off x="631627" y="496253"/>
            <a:ext cx="9255204" cy="592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3700"/>
              <a:buFont typeface="PT Serif"/>
              <a:buNone/>
            </a:pPr>
            <a:r>
              <a:rPr b="0" i="0" lang="en-US" sz="37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Configuración de replicación en PostgreSQL</a:t>
            </a:r>
            <a:endParaRPr b="0" i="0" sz="3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2" name="Google Shape;3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6227" y="1449229"/>
            <a:ext cx="1654135" cy="134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9"/>
          <p:cNvSpPr/>
          <p:nvPr/>
        </p:nvSpPr>
        <p:spPr>
          <a:xfrm>
            <a:off x="3913108" y="2114312"/>
            <a:ext cx="120253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T Serif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4980742" y="1773912"/>
            <a:ext cx="2368748" cy="2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Establecer conexión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4980742" y="2178248"/>
            <a:ext cx="6323648" cy="288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Configurar la conexión entre el servidor principal y los servidores de réplica.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4845368" y="2804755"/>
            <a:ext cx="9108400" cy="11430"/>
          </a:xfrm>
          <a:prstGeom prst="roundRect">
            <a:avLst>
              <a:gd fmla="val 236857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7" name="Google Shape;3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9218" y="2836783"/>
            <a:ext cx="3308271" cy="134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9"/>
          <p:cNvSpPr/>
          <p:nvPr/>
        </p:nvSpPr>
        <p:spPr>
          <a:xfrm>
            <a:off x="3913108" y="3327559"/>
            <a:ext cx="120253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T Serif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5807869" y="3161467"/>
            <a:ext cx="2368748" cy="2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Definir roles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5807869" y="3565803"/>
            <a:ext cx="7599045" cy="288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Establecer el servidor principal como "maestro" y los servidores de réplica como "esclavos".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5672495" y="4192310"/>
            <a:ext cx="8281273" cy="11430"/>
          </a:xfrm>
          <a:prstGeom prst="roundRect">
            <a:avLst>
              <a:gd fmla="val 236857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2" name="Google Shape;35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2091" y="4224338"/>
            <a:ext cx="4962525" cy="134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9"/>
          <p:cNvSpPr/>
          <p:nvPr/>
        </p:nvSpPr>
        <p:spPr>
          <a:xfrm>
            <a:off x="3913108" y="4715113"/>
            <a:ext cx="120253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T Serif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6634996" y="4404717"/>
            <a:ext cx="2368748" cy="2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Habilitar replicación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6634996" y="4809053"/>
            <a:ext cx="7183398" cy="577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Activar los mecanismos de replicación en el servidor principal y los servidores esclavos.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6499622" y="5579864"/>
            <a:ext cx="7454146" cy="11430"/>
          </a:xfrm>
          <a:prstGeom prst="roundRect">
            <a:avLst>
              <a:gd fmla="val 236857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7" name="Google Shape;35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964" y="5611892"/>
            <a:ext cx="6616660" cy="134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9"/>
          <p:cNvSpPr/>
          <p:nvPr/>
        </p:nvSpPr>
        <p:spPr>
          <a:xfrm>
            <a:off x="3913108" y="6102668"/>
            <a:ext cx="120253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T Serif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7462004" y="5792272"/>
            <a:ext cx="2368748" cy="2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50"/>
              <a:buFont typeface="PT Serif"/>
              <a:buNone/>
            </a:pPr>
            <a:r>
              <a:rPr b="0" i="0" lang="en-US" sz="18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Monitorear procesos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7462004" y="6196608"/>
            <a:ext cx="6356390" cy="577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Revisar que la replicación esté funcionando correctamente y resolver posibles problemas.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631627" y="7157442"/>
            <a:ext cx="13367147" cy="577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configuración de replicación en PostgreSQL implica establecer una conexión entre el servidor principal y los servidores de réplica, definir los roles de cada uno, habilitar los mecanismos de replicación y monitorear constantemente los procesos para garantizar la integridad de los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7" name="Google Shape;3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8" name="Google Shape;36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7127" y="1240869"/>
            <a:ext cx="4980027" cy="574786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0"/>
          <p:cNvSpPr/>
          <p:nvPr/>
        </p:nvSpPr>
        <p:spPr>
          <a:xfrm>
            <a:off x="708779" y="718542"/>
            <a:ext cx="7726442" cy="132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150"/>
              <a:buFont typeface="PT Serif"/>
              <a:buNone/>
            </a:pPr>
            <a:r>
              <a:rPr b="0" i="0" lang="en-US" sz="41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Manejo de conflictos en sistemas replicados</a:t>
            </a:r>
            <a:endParaRPr b="0" i="0" sz="4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708779" y="2351246"/>
            <a:ext cx="3762018" cy="2802612"/>
          </a:xfrm>
          <a:prstGeom prst="roundRect">
            <a:avLst>
              <a:gd fmla="val 108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911304" y="2553772"/>
            <a:ext cx="2751058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Detección de conflictos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911304" y="3007519"/>
            <a:ext cx="3356967" cy="1943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Es fundamental contar con mecanismos para identificar y notificar cuando se presentan conflictos entre las réplicas, como cambios concurrentes en la misma información.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4673322" y="2351246"/>
            <a:ext cx="3762018" cy="2802612"/>
          </a:xfrm>
          <a:prstGeom prst="roundRect">
            <a:avLst>
              <a:gd fmla="val 108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875848" y="2553772"/>
            <a:ext cx="2658308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Políticas de resolución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875848" y="3007519"/>
            <a:ext cx="3356967" cy="1619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Definir políticas claras para resolver automáticamente los conflictos detectados, como priorizar la última actualización o aplicar reglas personalizadas.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708779" y="5356384"/>
            <a:ext cx="3762018" cy="2154674"/>
          </a:xfrm>
          <a:prstGeom prst="roundRect">
            <a:avLst>
              <a:gd fmla="val 141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911304" y="5558909"/>
            <a:ext cx="2658189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Intervención manual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911304" y="6012656"/>
            <a:ext cx="3356967" cy="1295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 casos complejos, puede ser necesaria la intervención humana para analizar el conflicto y decidir manualmente la mejor solución.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4673322" y="5356384"/>
            <a:ext cx="3762018" cy="2154674"/>
          </a:xfrm>
          <a:prstGeom prst="roundRect">
            <a:avLst>
              <a:gd fmla="val 141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875848" y="5558909"/>
            <a:ext cx="2658189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050"/>
              <a:buFont typeface="PT Serif"/>
              <a:buNone/>
            </a:pPr>
            <a:r>
              <a:rPr b="0" i="0" lang="en-US" sz="20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Auditoría y monitoreo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875848" y="6012656"/>
            <a:ext cx="3356967" cy="1295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550"/>
              <a:buFont typeface="DM Sans"/>
              <a:buNone/>
            </a:pPr>
            <a:r>
              <a:rPr b="0" i="0" lang="en-US" sz="15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Mantener registros de los conflictos detectados y las acciones tomadas facilita el análisis y la mejora continua del proceso.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7" name="Google Shape;3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8" name="Google Shape;3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175" y="2716411"/>
            <a:ext cx="4972050" cy="279677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1"/>
          <p:cNvSpPr/>
          <p:nvPr/>
        </p:nvSpPr>
        <p:spPr>
          <a:xfrm>
            <a:off x="6206490" y="671751"/>
            <a:ext cx="7703820" cy="1350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250"/>
              <a:buFont typeface="PT Serif"/>
              <a:buNone/>
            </a:pPr>
            <a:r>
              <a:rPr b="0" i="0" lang="en-US" sz="42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Estrategias para resolver conflictos</a:t>
            </a:r>
            <a:endParaRPr b="0" i="0" sz="4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6206490" y="2561987"/>
            <a:ext cx="462915" cy="462915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6351508" y="2631400"/>
            <a:ext cx="172760" cy="32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550"/>
              <a:buFont typeface="PT Serif"/>
              <a:buNone/>
            </a:pPr>
            <a:r>
              <a:rPr b="0" i="0" lang="en-US" sz="25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6875145" y="2561987"/>
            <a:ext cx="3080385" cy="675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Detección temprana de conflictos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6875145" y="3360420"/>
            <a:ext cx="3080385" cy="131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Monitorear constantemente los sistemas replicados para identificar y solucionar conflictos de manera proactiva.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10161270" y="2561987"/>
            <a:ext cx="462915" cy="462915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10306288" y="2631400"/>
            <a:ext cx="172760" cy="32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550"/>
              <a:buFont typeface="PT Serif"/>
              <a:buNone/>
            </a:pPr>
            <a:r>
              <a:rPr b="0" i="0" lang="en-US" sz="25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10829925" y="2561987"/>
            <a:ext cx="2700338" cy="33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Políticas de resolución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10829925" y="3022878"/>
            <a:ext cx="3080385" cy="131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Establecer políticas claras sobre cómo resolver conflictos, definiendo prioridades y procedimientos estandarizados.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6206490" y="5113973"/>
            <a:ext cx="462915" cy="462915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6351508" y="5183386"/>
            <a:ext cx="172760" cy="32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550"/>
              <a:buFont typeface="PT Serif"/>
              <a:buNone/>
            </a:pPr>
            <a:r>
              <a:rPr b="0" i="0" lang="en-US" sz="25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6875145" y="5113973"/>
            <a:ext cx="3080385" cy="675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Automatización de la resolución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6875145" y="5912406"/>
            <a:ext cx="3080385" cy="164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Implementar procesos automatizados que puedan detectar y resolver conflictos comunes sin intervención manual.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10161270" y="5113973"/>
            <a:ext cx="462915" cy="462915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10306288" y="5183386"/>
            <a:ext cx="172760" cy="32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550"/>
              <a:buFont typeface="PT Serif"/>
              <a:buNone/>
            </a:pPr>
            <a:r>
              <a:rPr b="0" i="0" lang="en-US" sz="255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10829925" y="5113973"/>
            <a:ext cx="2700338" cy="33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Informes y auditoría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10829925" y="5574863"/>
            <a:ext cx="3080385" cy="164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Generar reportes detallados sobre conflictos y sus resoluciones para analizar tendencias y mejorar los procesos.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1" name="Google Shape;4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2" name="Google Shape;4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731175"/>
            <a:ext cx="4919305" cy="276713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2"/>
          <p:cNvSpPr/>
          <p:nvPr/>
        </p:nvSpPr>
        <p:spPr>
          <a:xfrm>
            <a:off x="793790" y="1621274"/>
            <a:ext cx="7556421" cy="1488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Ejemplo práctico de replicación en MySQL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793790" y="3449955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 este ejemplo, demostraremos cómo configurar la replicación sincrónica en MySQL. Configuraremos un servidor maestro y un servidor esclavo, donde todas las operaciones realizadas en el maestro se reflejarán en tiempo real en el esclavo.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793790" y="5156716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Seguiremos los pasos clave como: habilitar el registro binario, configurar las credenciales de replicación, inicializar el esclavo y verificar el estado de la replicación. Esto permitirá entender los conceptos fundamentales de la replicación en MySQL.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/>
          <p:nvPr/>
        </p:nvSpPr>
        <p:spPr>
          <a:xfrm>
            <a:off x="793790" y="1451967"/>
            <a:ext cx="12334875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Ejemplo práctico de replicación en PostgreSQL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793790" y="2740462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 este ejemplo, configuraremos una replicación asincrónica maestro-esclavo en PostgreSQL. Esto permitirá mantener una copia de seguridad en vivo de la base de datos principal, mejorando la disponibilidad y escalabilidad del sistema.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793790" y="4759047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Primero, configuraremos el servidor maestro para habilitar la replicación. Luego, crearemos un servidor esclavo que se sincronizará automáticamente con el maestro. Finalmente, demostraremos cómo realizar actualizaciones en el maestro y observar los cambios en el esclavo.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4" name="Google Shape;4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9521" y="2791539"/>
            <a:ext cx="6244709" cy="351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4"/>
          <p:cNvSpPr/>
          <p:nvPr/>
        </p:nvSpPr>
        <p:spPr>
          <a:xfrm>
            <a:off x="793790" y="1424583"/>
            <a:ext cx="5954197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0" i="0" lang="en-US" sz="46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Lecciones aprendidas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793790" y="2735818"/>
            <a:ext cx="2845594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Planificación clave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793790" y="3334703"/>
            <a:ext cx="2845594" cy="3266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Una planificación exhaustiva es fundamental para implementar exitosamente un sistema de replicación. Se deben considerar todos los escenarios posibles y tener planes de contingencia.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4200406" y="2735818"/>
            <a:ext cx="2845594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Monitoreo constante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4200406" y="3334703"/>
            <a:ext cx="2845594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El monitoreo continuo del sistema replicado es crucial para detectar y resolver problemas de manera oportuna. Se deben establecer indicadores clave de rendimiento (KPIs).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7607022" y="2735818"/>
            <a:ext cx="2845594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Formación del equipo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7607022" y="3706773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Contar con un equipo capacitado en las técnicas de replicación y resolución de conflictos es esencial para mantener la integridad de los datos.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11013638" y="2735818"/>
            <a:ext cx="2845594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300"/>
              <a:buFont typeface="PT Serif"/>
              <a:buNone/>
            </a:pPr>
            <a:r>
              <a:rPr b="0" i="0" lang="en-US" sz="230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Pruebas exhaustivas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11013638" y="3334703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Es importante realizar pruebas exhaustivas en entornos de laboratorio antes de implementar la replicación en producción, para identificar y mitigar posibles fallas.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"/>
          <p:cNvSpPr/>
          <p:nvPr/>
        </p:nvSpPr>
        <p:spPr>
          <a:xfrm>
            <a:off x="721638" y="761167"/>
            <a:ext cx="7940754" cy="676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250"/>
              <a:buFont typeface="PT Serif"/>
              <a:buNone/>
            </a:pPr>
            <a:r>
              <a:rPr b="0" i="0" lang="en-US" sz="42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Conclusiones y recomendaciones</a:t>
            </a:r>
            <a:endParaRPr b="0" i="0" sz="4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5" name="Google Shape;4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638" y="1849993"/>
            <a:ext cx="4189571" cy="2589252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5"/>
          <p:cNvSpPr/>
          <p:nvPr/>
        </p:nvSpPr>
        <p:spPr>
          <a:xfrm>
            <a:off x="721638" y="4696897"/>
            <a:ext cx="2706410" cy="338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Conclusiones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721638" y="5158859"/>
            <a:ext cx="4189571" cy="230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implementación exitosa de sistemas de replicación de bases de datos distribuidas ofrece importantes beneficios, como mayor disponibilidad, escalabilidad y tolerancia a fallos. Sin embargo, también conlleva retos en cuanto a la gestión de conflictos y el mantenimiento de la integridad de datos.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8" name="Google Shape;44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0414" y="1849993"/>
            <a:ext cx="4189571" cy="2589252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5"/>
          <p:cNvSpPr/>
          <p:nvPr/>
        </p:nvSpPr>
        <p:spPr>
          <a:xfrm>
            <a:off x="5220414" y="4696897"/>
            <a:ext cx="2706410" cy="338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Recomendaciones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5220414" y="5158859"/>
            <a:ext cx="4189571" cy="230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 recomienda evaluar cuidadosamente los requisitos del sistema y seleccionar el modelo de replicación más adecuado (sincrónico o asincrónico). Además, es crucial implementar estrategias robustas para la resolución de conflictos y el monitoreo constante del sistema replicado.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1" name="Google Shape;45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9191" y="1849993"/>
            <a:ext cx="4189571" cy="2589252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5"/>
          <p:cNvSpPr/>
          <p:nvPr/>
        </p:nvSpPr>
        <p:spPr>
          <a:xfrm>
            <a:off x="9719191" y="4696897"/>
            <a:ext cx="2706410" cy="338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00"/>
              <a:buFont typeface="PT Serif"/>
              <a:buNone/>
            </a:pPr>
            <a:r>
              <a:rPr b="0" i="0" lang="en-US" sz="2100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Lecciones Aprendidas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9719191" y="5158859"/>
            <a:ext cx="4189571" cy="230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La implementación de sistemas replicados requiere una planeación exhaustiva, conocimiento técnico sólido y un trabajo colaborativo entre el equipo de administración de bases de datos. Estas lecciones servirán para mejorar futuros proyectos de replicación.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2024-11-05T14:04:54Z</dcterms:created>
  <dc:creator>PptxGenJS</dc:creator>
</cp:coreProperties>
</file>