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nton" charset="1" panose="00000500000000000000"/>
      <p:regular r:id="rId26"/>
    </p:embeddedFont>
    <p:embeddedFont>
      <p:font typeface="Raleway" charset="1" panose="00000000000000000000"/>
      <p:regular r:id="rId27"/>
    </p:embeddedFont>
    <p:embeddedFont>
      <p:font typeface="Raleway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2591" y="1077887"/>
            <a:ext cx="9782585" cy="8229600"/>
          </a:xfrm>
          <a:custGeom>
            <a:avLst/>
            <a:gdLst/>
            <a:ahLst/>
            <a:cxnLst/>
            <a:rect r="r" b="b" t="t" l="l"/>
            <a:pathLst>
              <a:path h="8229600" w="9782585">
                <a:moveTo>
                  <a:pt x="0" y="0"/>
                </a:moveTo>
                <a:lnTo>
                  <a:pt x="9782586" y="0"/>
                </a:lnTo>
                <a:lnTo>
                  <a:pt x="97825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61270" y="1923600"/>
            <a:ext cx="10505229" cy="5608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26"/>
              </a:lnSpc>
              <a:spcBef>
                <a:spcPct val="0"/>
              </a:spcBef>
            </a:pPr>
            <a:r>
              <a:rPr lang="en-US" sz="160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SISTEMAS DISTRIBUIDOS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98823" y="4506706"/>
            <a:ext cx="5630123" cy="63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5"/>
              </a:lnSpc>
              <a:spcBef>
                <a:spcPct val="0"/>
              </a:spcBef>
            </a:pPr>
            <a:r>
              <a:rPr lang="en-US" sz="3660" spc="19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SEMANA 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12582" y="1077887"/>
            <a:ext cx="9782585" cy="8229600"/>
          </a:xfrm>
          <a:custGeom>
            <a:avLst/>
            <a:gdLst/>
            <a:ahLst/>
            <a:cxnLst/>
            <a:rect r="r" b="b" t="t" l="l"/>
            <a:pathLst>
              <a:path h="8229600" w="9782585">
                <a:moveTo>
                  <a:pt x="0" y="0"/>
                </a:moveTo>
                <a:lnTo>
                  <a:pt x="9782586" y="0"/>
                </a:lnTo>
                <a:lnTo>
                  <a:pt x="97825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7892" y="2950019"/>
            <a:ext cx="3868413" cy="3942331"/>
          </a:xfrm>
          <a:custGeom>
            <a:avLst/>
            <a:gdLst/>
            <a:ahLst/>
            <a:cxnLst/>
            <a:rect r="r" b="b" t="t" l="l"/>
            <a:pathLst>
              <a:path h="3942331" w="3868413">
                <a:moveTo>
                  <a:pt x="0" y="0"/>
                </a:moveTo>
                <a:lnTo>
                  <a:pt x="3868413" y="0"/>
                </a:lnTo>
                <a:lnTo>
                  <a:pt x="3868413" y="3942331"/>
                </a:lnTo>
                <a:lnTo>
                  <a:pt x="0" y="3942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4972" y="3125495"/>
            <a:ext cx="7248488" cy="391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0"/>
              </a:lnSpc>
              <a:spcBef>
                <a:spcPct val="0"/>
              </a:spcBef>
            </a:pPr>
            <a:r>
              <a:rPr lang="en-US" sz="1122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SISTEMA DISTRIBUIDO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4578" y="3328620"/>
            <a:ext cx="8098594" cy="368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 un conjunto de computadoras independientes que se presentan ante los usuarios como un sistema unificado y coherente. Estas máquinas cooperan entre sí para lograr un objetivo común, comunicándose a través de una red.</a:t>
            </a:r>
          </a:p>
          <a:p>
            <a:pPr algn="l">
              <a:lnSpc>
                <a:spcPts val="3289"/>
              </a:lnSpc>
              <a:spcBef>
                <a:spcPct val="0"/>
              </a:spcBef>
            </a:pPr>
          </a:p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Ejemplo:</a:t>
            </a:r>
          </a:p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Google Search funciona sobre miles de nodos en centros de datos distribuidos globalmente, ofreciendo un servicio consistente, tolerante a fallos y de baja latencia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8701" y="1268003"/>
            <a:ext cx="11589850" cy="2119101"/>
          </a:xfrm>
          <a:custGeom>
            <a:avLst/>
            <a:gdLst/>
            <a:ahLst/>
            <a:cxnLst/>
            <a:rect r="r" b="b" t="t" l="l"/>
            <a:pathLst>
              <a:path h="2119101" w="11589850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95" y="3127487"/>
            <a:ext cx="1471528" cy="1454974"/>
          </a:xfrm>
          <a:custGeom>
            <a:avLst/>
            <a:gdLst/>
            <a:ahLst/>
            <a:cxnLst/>
            <a:rect r="r" b="b" t="t" l="l"/>
            <a:pathLst>
              <a:path h="1454974" w="1471528">
                <a:moveTo>
                  <a:pt x="0" y="0"/>
                </a:moveTo>
                <a:lnTo>
                  <a:pt x="1471528" y="0"/>
                </a:lnTo>
                <a:lnTo>
                  <a:pt x="1471528" y="1454974"/>
                </a:lnTo>
                <a:lnTo>
                  <a:pt x="0" y="1454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7349" y="1548942"/>
            <a:ext cx="10132737" cy="96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686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SISTEMA DISTRIBUIDO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380085" y="1268003"/>
            <a:ext cx="1471528" cy="1454974"/>
          </a:xfrm>
          <a:custGeom>
            <a:avLst/>
            <a:gdLst/>
            <a:ahLst/>
            <a:cxnLst/>
            <a:rect r="r" b="b" t="t" l="l"/>
            <a:pathLst>
              <a:path h="1454974" w="1471528">
                <a:moveTo>
                  <a:pt x="0" y="0"/>
                </a:moveTo>
                <a:lnTo>
                  <a:pt x="1471529" y="0"/>
                </a:lnTo>
                <a:lnTo>
                  <a:pt x="1471529" y="1454973"/>
                </a:lnTo>
                <a:lnTo>
                  <a:pt x="0" y="14549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51614" y="7343434"/>
            <a:ext cx="3829732" cy="3829732"/>
          </a:xfrm>
          <a:custGeom>
            <a:avLst/>
            <a:gdLst/>
            <a:ahLst/>
            <a:cxnLst/>
            <a:rect r="r" b="b" t="t" l="l"/>
            <a:pathLst>
              <a:path h="3829732" w="3829732">
                <a:moveTo>
                  <a:pt x="0" y="0"/>
                </a:moveTo>
                <a:lnTo>
                  <a:pt x="3829732" y="0"/>
                </a:lnTo>
                <a:lnTo>
                  <a:pt x="3829732" y="3829732"/>
                </a:lnTo>
                <a:lnTo>
                  <a:pt x="0" y="3829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9662" y="3807349"/>
            <a:ext cx="12968677" cy="531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9"/>
              </a:lnSpc>
            </a:pPr>
            <a:r>
              <a:rPr lang="en-US" b="true" sz="23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Transparencia</a:t>
            </a: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507261" indent="-253630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Transparencia de acceso: el usuario no necesita saber dónde reside el recurso.</a:t>
            </a:r>
          </a:p>
          <a:p>
            <a:pPr algn="just" marL="507261" indent="-253630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Transparencia de ubicación: acceso a recursos sin conocer su ubicación física.</a:t>
            </a:r>
          </a:p>
          <a:p>
            <a:pPr algn="just" marL="507261" indent="-253630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Transparencia de replicación: el sistema puede replicar datos sin que el usuario lo perciba.</a:t>
            </a:r>
          </a:p>
          <a:p>
            <a:pPr algn="just">
              <a:lnSpc>
                <a:spcPts val="3289"/>
              </a:lnSpc>
            </a:pPr>
            <a:r>
              <a:rPr lang="en-US" b="true" sz="23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Escalabilidad</a:t>
            </a: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507261" indent="-253630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Soporta crecimiento horizontal (más nodos) sin degradar el rendimiento significativamente.</a:t>
            </a:r>
          </a:p>
          <a:p>
            <a:pPr algn="just">
              <a:lnSpc>
                <a:spcPts val="3289"/>
              </a:lnSpc>
            </a:pPr>
            <a:r>
              <a:rPr lang="en-US" b="true" sz="23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Tolerancia a fallos</a:t>
            </a: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507261" indent="-253630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 sistema continúa funcionando (aunque de forma degradada) incluso si una parte falla.</a:t>
            </a:r>
          </a:p>
          <a:p>
            <a:pPr algn="just">
              <a:lnSpc>
                <a:spcPts val="3289"/>
              </a:lnSpc>
            </a:pPr>
            <a:r>
              <a:rPr lang="en-US" b="true" sz="23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Concurrencia</a:t>
            </a: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507261" indent="-253630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Múltiples procesos pueden ejecutarse simultáneamente sin interferencia crítica.</a:t>
            </a:r>
          </a:p>
          <a:p>
            <a:pPr algn="just">
              <a:lnSpc>
                <a:spcPts val="3289"/>
              </a:lnSpc>
            </a:pPr>
            <a:r>
              <a:rPr lang="en-US" b="true" sz="23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Heterogeneidad</a:t>
            </a: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507261" indent="-253630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Capacidad de operar sobre plataformas de hardware y software distintas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886166" y="1940108"/>
            <a:ext cx="3829732" cy="3829732"/>
          </a:xfrm>
          <a:custGeom>
            <a:avLst/>
            <a:gdLst/>
            <a:ahLst/>
            <a:cxnLst/>
            <a:rect r="r" b="b" t="t" l="l"/>
            <a:pathLst>
              <a:path h="3829732" w="3829732">
                <a:moveTo>
                  <a:pt x="0" y="0"/>
                </a:moveTo>
                <a:lnTo>
                  <a:pt x="3829732" y="0"/>
                </a:lnTo>
                <a:lnTo>
                  <a:pt x="3829732" y="3829732"/>
                </a:lnTo>
                <a:lnTo>
                  <a:pt x="0" y="3829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47349" y="2751551"/>
            <a:ext cx="101327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CARACTERÍSTICAS CLAVE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29874" y="1181714"/>
            <a:ext cx="12628253" cy="764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50"/>
              </a:lnSpc>
              <a:spcBef>
                <a:spcPct val="0"/>
              </a:spcBef>
            </a:pPr>
            <a:r>
              <a:rPr lang="en-US" sz="145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TIPOS DE ARQUITECTURA DISTRIBUIDA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27342" y="4888183"/>
            <a:ext cx="3969987" cy="7855302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gradFill rotWithShape="true">
              <a:gsLst>
                <a:gs pos="0">
                  <a:srgbClr val="050D18">
                    <a:alpha val="100000"/>
                  </a:srgbClr>
                </a:gs>
                <a:gs pos="100000">
                  <a:srgbClr val="38093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40207" t="0" r="-8505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778548" y="2529385"/>
            <a:ext cx="2359620" cy="1778702"/>
            <a:chOff x="0" y="0"/>
            <a:chExt cx="621464" cy="4684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1464" cy="468465"/>
            </a:xfrm>
            <a:custGeom>
              <a:avLst/>
              <a:gdLst/>
              <a:ahLst/>
              <a:cxnLst/>
              <a:rect r="r" b="b" t="t" l="l"/>
              <a:pathLst>
                <a:path h="468465" w="621464">
                  <a:moveTo>
                    <a:pt x="0" y="0"/>
                  </a:moveTo>
                  <a:lnTo>
                    <a:pt x="621464" y="0"/>
                  </a:lnTo>
                  <a:lnTo>
                    <a:pt x="621464" y="468465"/>
                  </a:lnTo>
                  <a:lnTo>
                    <a:pt x="0" y="468465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21464" cy="506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78548" y="4493172"/>
            <a:ext cx="2359620" cy="1778702"/>
            <a:chOff x="0" y="0"/>
            <a:chExt cx="621464" cy="4684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464" cy="468465"/>
            </a:xfrm>
            <a:custGeom>
              <a:avLst/>
              <a:gdLst/>
              <a:ahLst/>
              <a:cxnLst/>
              <a:rect r="r" b="b" t="t" l="l"/>
              <a:pathLst>
                <a:path h="468465" w="621464">
                  <a:moveTo>
                    <a:pt x="0" y="0"/>
                  </a:moveTo>
                  <a:lnTo>
                    <a:pt x="621464" y="0"/>
                  </a:lnTo>
                  <a:lnTo>
                    <a:pt x="621464" y="468465"/>
                  </a:lnTo>
                  <a:lnTo>
                    <a:pt x="0" y="468465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21464" cy="506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778548" y="6452849"/>
            <a:ext cx="2359620" cy="1778702"/>
            <a:chOff x="0" y="0"/>
            <a:chExt cx="621464" cy="4684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464" cy="468465"/>
            </a:xfrm>
            <a:custGeom>
              <a:avLst/>
              <a:gdLst/>
              <a:ahLst/>
              <a:cxnLst/>
              <a:rect r="r" b="b" t="t" l="l"/>
              <a:pathLst>
                <a:path h="468465" w="621464">
                  <a:moveTo>
                    <a:pt x="0" y="0"/>
                  </a:moveTo>
                  <a:lnTo>
                    <a:pt x="621464" y="0"/>
                  </a:lnTo>
                  <a:lnTo>
                    <a:pt x="621464" y="468465"/>
                  </a:lnTo>
                  <a:lnTo>
                    <a:pt x="0" y="468465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21464" cy="506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37726" y="2388563"/>
            <a:ext cx="281644" cy="28164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02566" y="2474288"/>
            <a:ext cx="6887964" cy="112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8"/>
              </a:lnSpc>
            </a:pPr>
            <a:r>
              <a:rPr lang="en-US" sz="79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CLIENTE-SERVIDOR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43914" y="3287438"/>
            <a:ext cx="1985126" cy="300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155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Descripción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18487" y="4872743"/>
            <a:ext cx="5418091" cy="97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532" indent="-200766" lvl="1">
              <a:lnSpc>
                <a:spcPts val="2603"/>
              </a:lnSpc>
              <a:buFont typeface="Arial"/>
              <a:buChar char="•"/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Centralización del control.</a:t>
            </a:r>
          </a:p>
          <a:p>
            <a:pPr algn="l" marL="401532" indent="-200766" lvl="1">
              <a:lnSpc>
                <a:spcPts val="2603"/>
              </a:lnSpc>
              <a:buFont typeface="Arial"/>
              <a:buChar char="•"/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Arquitectura común en web, bases de datos, correo electrónico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015838" y="5197074"/>
            <a:ext cx="188504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2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Características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18487" y="6951676"/>
            <a:ext cx="5418091" cy="97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532" indent="-200766" lvl="1">
              <a:lnSpc>
                <a:spcPts val="2603"/>
              </a:lnSpc>
              <a:buFont typeface="Arial"/>
              <a:buChar char="•"/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Punto único de fallo (single point of failure).</a:t>
            </a:r>
          </a:p>
          <a:p>
            <a:pPr algn="l" marL="401532" indent="-200766" lvl="1">
              <a:lnSpc>
                <a:spcPts val="2603"/>
              </a:lnSpc>
              <a:spcBef>
                <a:spcPct val="0"/>
              </a:spcBef>
              <a:buFont typeface="Arial"/>
              <a:buChar char="•"/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Limitada escalabilidad sin replicación o balanceo.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15838" y="7285532"/>
            <a:ext cx="1885040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Desventajas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18487" y="3119757"/>
            <a:ext cx="5418091" cy="64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  <a:spcBef>
                <a:spcPct val="0"/>
              </a:spcBef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 nodo (cliente) solicita servicios y otro nodo (servidor) los proporciona.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637726" y="4420706"/>
            <a:ext cx="281644" cy="28164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637726" y="6407901"/>
            <a:ext cx="281644" cy="28164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211" y="5143500"/>
            <a:ext cx="5530509" cy="4460088"/>
          </a:xfrm>
          <a:custGeom>
            <a:avLst/>
            <a:gdLst/>
            <a:ahLst/>
            <a:cxnLst/>
            <a:rect r="r" b="b" t="t" l="l"/>
            <a:pathLst>
              <a:path h="4460088" w="5530509">
                <a:moveTo>
                  <a:pt x="0" y="0"/>
                </a:moveTo>
                <a:lnTo>
                  <a:pt x="5530509" y="0"/>
                </a:lnTo>
                <a:lnTo>
                  <a:pt x="5530509" y="4460088"/>
                </a:lnTo>
                <a:lnTo>
                  <a:pt x="0" y="4460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6773" y="2199227"/>
            <a:ext cx="5333579" cy="221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8"/>
              </a:lnSpc>
            </a:pPr>
            <a:r>
              <a:rPr lang="en-US" sz="79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PEER-TO-PEER</a:t>
            </a:r>
          </a:p>
          <a:p>
            <a:pPr algn="l">
              <a:lnSpc>
                <a:spcPts val="8688"/>
              </a:lnSpc>
            </a:pPr>
            <a:r>
              <a:rPr lang="en-US" sz="79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     </a:t>
            </a:r>
            <a:r>
              <a:rPr lang="en-US" sz="79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(P2P)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78548" y="2227104"/>
            <a:ext cx="2359620" cy="334471"/>
            <a:chOff x="0" y="0"/>
            <a:chExt cx="621464" cy="880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464" cy="88091"/>
            </a:xfrm>
            <a:custGeom>
              <a:avLst/>
              <a:gdLst/>
              <a:ahLst/>
              <a:cxnLst/>
              <a:rect r="r" b="b" t="t" l="l"/>
              <a:pathLst>
                <a:path h="88091" w="621464">
                  <a:moveTo>
                    <a:pt x="0" y="0"/>
                  </a:moveTo>
                  <a:lnTo>
                    <a:pt x="621464" y="0"/>
                  </a:lnTo>
                  <a:lnTo>
                    <a:pt x="621464" y="88091"/>
                  </a:lnTo>
                  <a:lnTo>
                    <a:pt x="0" y="88091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21464" cy="126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032631" y="3131654"/>
            <a:ext cx="1851454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Descripción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25223" y="2906252"/>
            <a:ext cx="5964118" cy="75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  <a:spcBef>
                <a:spcPct val="0"/>
              </a:spcBef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Todos los nodos actúan como cliente y servidor simultáneamente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78548" y="4415607"/>
            <a:ext cx="2359620" cy="334471"/>
            <a:chOff x="0" y="0"/>
            <a:chExt cx="621464" cy="880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1464" cy="88091"/>
            </a:xfrm>
            <a:custGeom>
              <a:avLst/>
              <a:gdLst/>
              <a:ahLst/>
              <a:cxnLst/>
              <a:rect r="r" b="b" t="t" l="l"/>
              <a:pathLst>
                <a:path h="88091" w="621464">
                  <a:moveTo>
                    <a:pt x="0" y="0"/>
                  </a:moveTo>
                  <a:lnTo>
                    <a:pt x="621464" y="0"/>
                  </a:lnTo>
                  <a:lnTo>
                    <a:pt x="621464" y="88091"/>
                  </a:lnTo>
                  <a:lnTo>
                    <a:pt x="0" y="88091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21464" cy="126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032631" y="5527551"/>
            <a:ext cx="1851454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2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Características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66588" y="5263007"/>
            <a:ext cx="5964118" cy="113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Descentralización total o parcial.</a:t>
            </a:r>
          </a:p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Escalabilidad alta.</a:t>
            </a:r>
          </a:p>
          <a:p>
            <a:pPr algn="l" marL="464082" indent="-232041" lvl="1">
              <a:lnSpc>
                <a:spcPts val="3009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Tolerancia a fallos mejorada.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778548" y="6604110"/>
            <a:ext cx="2359620" cy="334471"/>
            <a:chOff x="0" y="0"/>
            <a:chExt cx="621464" cy="880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1464" cy="88091"/>
            </a:xfrm>
            <a:custGeom>
              <a:avLst/>
              <a:gdLst/>
              <a:ahLst/>
              <a:cxnLst/>
              <a:rect r="r" b="b" t="t" l="l"/>
              <a:pathLst>
                <a:path h="88091" w="621464">
                  <a:moveTo>
                    <a:pt x="0" y="0"/>
                  </a:moveTo>
                  <a:lnTo>
                    <a:pt x="621464" y="0"/>
                  </a:lnTo>
                  <a:lnTo>
                    <a:pt x="621464" y="88091"/>
                  </a:lnTo>
                  <a:lnTo>
                    <a:pt x="0" y="88091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21464" cy="126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24995" y="7510081"/>
            <a:ext cx="1666726" cy="70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Ejemplo real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66588" y="7265629"/>
            <a:ext cx="5964118" cy="113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  <a:spcBef>
                <a:spcPct val="0"/>
              </a:spcBef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BitTorrent, donde usuarios comparten y descargan archivos desde otros usuarios, no desde un servidor central.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281" y="3950750"/>
            <a:ext cx="4929188" cy="4923026"/>
          </a:xfrm>
          <a:custGeom>
            <a:avLst/>
            <a:gdLst/>
            <a:ahLst/>
            <a:cxnLst/>
            <a:rect r="r" b="b" t="t" l="l"/>
            <a:pathLst>
              <a:path h="4923026" w="4929188">
                <a:moveTo>
                  <a:pt x="0" y="0"/>
                </a:moveTo>
                <a:lnTo>
                  <a:pt x="4929188" y="0"/>
                </a:lnTo>
                <a:lnTo>
                  <a:pt x="4929188" y="4923026"/>
                </a:lnTo>
                <a:lnTo>
                  <a:pt x="0" y="4923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83898" y="1843389"/>
            <a:ext cx="10855512" cy="6276460"/>
          </a:xfrm>
          <a:custGeom>
            <a:avLst/>
            <a:gdLst/>
            <a:ahLst/>
            <a:cxnLst/>
            <a:rect r="r" b="b" t="t" l="l"/>
            <a:pathLst>
              <a:path h="6276460" w="10855512">
                <a:moveTo>
                  <a:pt x="0" y="0"/>
                </a:moveTo>
                <a:lnTo>
                  <a:pt x="10855512" y="0"/>
                </a:lnTo>
                <a:lnTo>
                  <a:pt x="10855512" y="6276460"/>
                </a:lnTo>
                <a:lnTo>
                  <a:pt x="0" y="6276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515603" y="3950750"/>
            <a:ext cx="3086100" cy="3101262"/>
            <a:chOff x="0" y="0"/>
            <a:chExt cx="812800" cy="8167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6793"/>
            </a:xfrm>
            <a:custGeom>
              <a:avLst/>
              <a:gdLst/>
              <a:ahLst/>
              <a:cxnLst/>
              <a:rect r="r" b="b" t="t" l="l"/>
              <a:pathLst>
                <a:path h="8167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6793"/>
                  </a:lnTo>
                  <a:lnTo>
                    <a:pt x="0" y="816793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34000"/>
                  </a:srgbClr>
                </a:gs>
                <a:gs pos="100000">
                  <a:srgbClr val="AF2BA5">
                    <a:alpha val="34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4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44914" y="4057617"/>
            <a:ext cx="5267534" cy="159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39"/>
              </a:lnSpc>
            </a:pPr>
            <a:r>
              <a:rPr lang="en-US" sz="1122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VENTAJAS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15603" y="2752384"/>
            <a:ext cx="3086100" cy="1198366"/>
            <a:chOff x="0" y="0"/>
            <a:chExt cx="812800" cy="3156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5619"/>
            </a:xfrm>
            <a:custGeom>
              <a:avLst/>
              <a:gdLst/>
              <a:ahLst/>
              <a:cxnLst/>
              <a:rect r="r" b="b" t="t" l="l"/>
              <a:pathLst>
                <a:path h="31561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5619"/>
                  </a:lnTo>
                  <a:lnTo>
                    <a:pt x="0" y="315619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353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772585" y="3160778"/>
            <a:ext cx="2573569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Escalabilidad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74779" y="3943317"/>
            <a:ext cx="3086100" cy="3101262"/>
            <a:chOff x="0" y="0"/>
            <a:chExt cx="812800" cy="8167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6793"/>
            </a:xfrm>
            <a:custGeom>
              <a:avLst/>
              <a:gdLst/>
              <a:ahLst/>
              <a:cxnLst/>
              <a:rect r="r" b="b" t="t" l="l"/>
              <a:pathLst>
                <a:path h="8167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6793"/>
                  </a:lnTo>
                  <a:lnTo>
                    <a:pt x="0" y="816793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34000"/>
                  </a:srgbClr>
                </a:gs>
                <a:gs pos="100000">
                  <a:srgbClr val="AF2BA5">
                    <a:alpha val="34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854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74779" y="2744952"/>
            <a:ext cx="3086100" cy="1198366"/>
            <a:chOff x="0" y="0"/>
            <a:chExt cx="812800" cy="3156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315619"/>
            </a:xfrm>
            <a:custGeom>
              <a:avLst/>
              <a:gdLst/>
              <a:ahLst/>
              <a:cxnLst/>
              <a:rect r="r" b="b" t="t" l="l"/>
              <a:pathLst>
                <a:path h="31561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5619"/>
                  </a:lnTo>
                  <a:lnTo>
                    <a:pt x="0" y="315619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353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902912" y="3160778"/>
            <a:ext cx="2829835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Disponibilidad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033956" y="3935885"/>
            <a:ext cx="3086100" cy="3101262"/>
            <a:chOff x="0" y="0"/>
            <a:chExt cx="812800" cy="8167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6793"/>
            </a:xfrm>
            <a:custGeom>
              <a:avLst/>
              <a:gdLst/>
              <a:ahLst/>
              <a:cxnLst/>
              <a:rect r="r" b="b" t="t" l="l"/>
              <a:pathLst>
                <a:path h="8167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6793"/>
                  </a:lnTo>
                  <a:lnTo>
                    <a:pt x="0" y="816793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34000"/>
                  </a:srgbClr>
                </a:gs>
                <a:gs pos="100000">
                  <a:srgbClr val="AF2BA5">
                    <a:alpha val="34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854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033956" y="2737520"/>
            <a:ext cx="3086100" cy="1198366"/>
            <a:chOff x="0" y="0"/>
            <a:chExt cx="812800" cy="3156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315619"/>
            </a:xfrm>
            <a:custGeom>
              <a:avLst/>
              <a:gdLst/>
              <a:ahLst/>
              <a:cxnLst/>
              <a:rect r="r" b="b" t="t" l="l"/>
              <a:pathLst>
                <a:path h="31561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5619"/>
                  </a:lnTo>
                  <a:lnTo>
                    <a:pt x="0" y="315619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2800" cy="353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290222" y="3160778"/>
            <a:ext cx="2573569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Ubicuidad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53333" y="4633720"/>
            <a:ext cx="2492822" cy="64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3"/>
              </a:lnSpc>
              <a:spcBef>
                <a:spcPct val="0"/>
              </a:spcBef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Fácilmente ampliables con nuevos nodos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11792" y="4322512"/>
            <a:ext cx="2412074" cy="129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3"/>
              </a:lnSpc>
              <a:spcBef>
                <a:spcPct val="0"/>
              </a:spcBef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 distribuir la carga, los fallos de un nodo no afectan el sistema completo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70969" y="4322512"/>
            <a:ext cx="2412074" cy="97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3"/>
              </a:lnSpc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Posibilidad de tener recursos cerca del usuario final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775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281" y="3950750"/>
            <a:ext cx="4929188" cy="4923026"/>
          </a:xfrm>
          <a:custGeom>
            <a:avLst/>
            <a:gdLst/>
            <a:ahLst/>
            <a:cxnLst/>
            <a:rect r="r" b="b" t="t" l="l"/>
            <a:pathLst>
              <a:path h="4923026" w="4929188">
                <a:moveTo>
                  <a:pt x="0" y="0"/>
                </a:moveTo>
                <a:lnTo>
                  <a:pt x="4929188" y="0"/>
                </a:lnTo>
                <a:lnTo>
                  <a:pt x="4929188" y="4923026"/>
                </a:lnTo>
                <a:lnTo>
                  <a:pt x="0" y="4923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83898" y="1843389"/>
            <a:ext cx="10855512" cy="6276460"/>
          </a:xfrm>
          <a:custGeom>
            <a:avLst/>
            <a:gdLst/>
            <a:ahLst/>
            <a:cxnLst/>
            <a:rect r="r" b="b" t="t" l="l"/>
            <a:pathLst>
              <a:path h="6276460" w="10855512">
                <a:moveTo>
                  <a:pt x="0" y="0"/>
                </a:moveTo>
                <a:lnTo>
                  <a:pt x="10855512" y="0"/>
                </a:lnTo>
                <a:lnTo>
                  <a:pt x="10855512" y="6276460"/>
                </a:lnTo>
                <a:lnTo>
                  <a:pt x="0" y="6276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515603" y="3950750"/>
            <a:ext cx="3086100" cy="3101262"/>
            <a:chOff x="0" y="0"/>
            <a:chExt cx="812800" cy="8167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6793"/>
            </a:xfrm>
            <a:custGeom>
              <a:avLst/>
              <a:gdLst/>
              <a:ahLst/>
              <a:cxnLst/>
              <a:rect r="r" b="b" t="t" l="l"/>
              <a:pathLst>
                <a:path h="8167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6793"/>
                  </a:lnTo>
                  <a:lnTo>
                    <a:pt x="0" y="816793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34000"/>
                  </a:srgbClr>
                </a:gs>
                <a:gs pos="100000">
                  <a:srgbClr val="AF2BA5">
                    <a:alpha val="34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4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44914" y="4057617"/>
            <a:ext cx="5267534" cy="159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39"/>
              </a:lnSpc>
            </a:pPr>
            <a:r>
              <a:rPr lang="en-US" sz="1122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DESAFÍOS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15603" y="2752384"/>
            <a:ext cx="3086100" cy="1198366"/>
            <a:chOff x="0" y="0"/>
            <a:chExt cx="812800" cy="3156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5619"/>
            </a:xfrm>
            <a:custGeom>
              <a:avLst/>
              <a:gdLst/>
              <a:ahLst/>
              <a:cxnLst/>
              <a:rect r="r" b="b" t="t" l="l"/>
              <a:pathLst>
                <a:path h="31561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5619"/>
                  </a:lnTo>
                  <a:lnTo>
                    <a:pt x="0" y="315619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353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772585" y="3160778"/>
            <a:ext cx="2573569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Complejidad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74779" y="3943317"/>
            <a:ext cx="3086100" cy="3101262"/>
            <a:chOff x="0" y="0"/>
            <a:chExt cx="812800" cy="8167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6793"/>
            </a:xfrm>
            <a:custGeom>
              <a:avLst/>
              <a:gdLst/>
              <a:ahLst/>
              <a:cxnLst/>
              <a:rect r="r" b="b" t="t" l="l"/>
              <a:pathLst>
                <a:path h="8167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6793"/>
                  </a:lnTo>
                  <a:lnTo>
                    <a:pt x="0" y="816793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34000"/>
                  </a:srgbClr>
                </a:gs>
                <a:gs pos="100000">
                  <a:srgbClr val="AF2BA5">
                    <a:alpha val="34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854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74779" y="2744952"/>
            <a:ext cx="3086100" cy="1198366"/>
            <a:chOff x="0" y="0"/>
            <a:chExt cx="812800" cy="3156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315619"/>
            </a:xfrm>
            <a:custGeom>
              <a:avLst/>
              <a:gdLst/>
              <a:ahLst/>
              <a:cxnLst/>
              <a:rect r="r" b="b" t="t" l="l"/>
              <a:pathLst>
                <a:path h="31561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5619"/>
                  </a:lnTo>
                  <a:lnTo>
                    <a:pt x="0" y="315619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353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902912" y="3004193"/>
            <a:ext cx="2829835" cy="70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Consistencia de datos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033956" y="3935885"/>
            <a:ext cx="3086100" cy="3101262"/>
            <a:chOff x="0" y="0"/>
            <a:chExt cx="812800" cy="8167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6793"/>
            </a:xfrm>
            <a:custGeom>
              <a:avLst/>
              <a:gdLst/>
              <a:ahLst/>
              <a:cxnLst/>
              <a:rect r="r" b="b" t="t" l="l"/>
              <a:pathLst>
                <a:path h="8167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6793"/>
                  </a:lnTo>
                  <a:lnTo>
                    <a:pt x="0" y="816793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34000"/>
                  </a:srgbClr>
                </a:gs>
                <a:gs pos="100000">
                  <a:srgbClr val="AF2BA5">
                    <a:alpha val="34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854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033956" y="2737520"/>
            <a:ext cx="3086100" cy="1198366"/>
            <a:chOff x="0" y="0"/>
            <a:chExt cx="812800" cy="3156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315619"/>
            </a:xfrm>
            <a:custGeom>
              <a:avLst/>
              <a:gdLst/>
              <a:ahLst/>
              <a:cxnLst/>
              <a:rect r="r" b="b" t="t" l="l"/>
              <a:pathLst>
                <a:path h="31561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5619"/>
                  </a:lnTo>
                  <a:lnTo>
                    <a:pt x="0" y="315619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2800" cy="353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290222" y="3160778"/>
            <a:ext cx="2573569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Latencia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53333" y="4633720"/>
            <a:ext cx="2492822" cy="129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  <a:spcBef>
                <a:spcPct val="0"/>
              </a:spcBef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Requiere control de concurrencia, sincronización, seguridad, etc.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11792" y="4471795"/>
            <a:ext cx="2412074" cy="161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3"/>
              </a:lnSpc>
              <a:spcBef>
                <a:spcPct val="0"/>
              </a:spcBef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Dificultad para mantener datos coherentes sin sacrificar disponibilidad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75229" y="4471795"/>
            <a:ext cx="2412074" cy="97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3"/>
              </a:lnSpc>
            </a:pPr>
            <a:r>
              <a:rPr lang="en-US" sz="1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La comunicación entre nodos añade retardo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99083" y="1104900"/>
            <a:ext cx="8957576" cy="96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5"/>
              </a:lnSpc>
            </a:pPr>
            <a:r>
              <a:rPr lang="en-US" sz="686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MODELOS DE CONSISTENCIA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89149" y="2343823"/>
            <a:ext cx="7153125" cy="6255802"/>
          </a:xfrm>
          <a:custGeom>
            <a:avLst/>
            <a:gdLst/>
            <a:ahLst/>
            <a:cxnLst/>
            <a:rect r="r" b="b" t="t" l="l"/>
            <a:pathLst>
              <a:path h="6255802" w="7153125">
                <a:moveTo>
                  <a:pt x="0" y="0"/>
                </a:moveTo>
                <a:lnTo>
                  <a:pt x="7153125" y="0"/>
                </a:lnTo>
                <a:lnTo>
                  <a:pt x="7153125" y="6255802"/>
                </a:lnTo>
                <a:lnTo>
                  <a:pt x="0" y="6255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499083" y="3632812"/>
            <a:ext cx="3447196" cy="1284773"/>
            <a:chOff x="0" y="0"/>
            <a:chExt cx="907903" cy="3383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7903" cy="338376"/>
            </a:xfrm>
            <a:custGeom>
              <a:avLst/>
              <a:gdLst/>
              <a:ahLst/>
              <a:cxnLst/>
              <a:rect r="r" b="b" t="t" l="l"/>
              <a:pathLst>
                <a:path h="338376" w="907903">
                  <a:moveTo>
                    <a:pt x="0" y="0"/>
                  </a:moveTo>
                  <a:lnTo>
                    <a:pt x="907903" y="0"/>
                  </a:lnTo>
                  <a:lnTo>
                    <a:pt x="907903" y="338376"/>
                  </a:lnTo>
                  <a:lnTo>
                    <a:pt x="0" y="338376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07903" cy="376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935897" y="3871026"/>
            <a:ext cx="2573569" cy="70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Consistencia fuerte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51104" y="3585187"/>
            <a:ext cx="6585473" cy="121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Cada lectura devuelve el valor más reciente. Ejemplo: bases de datos tradicionales (PostgreSQL).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99083" y="5165236"/>
            <a:ext cx="3447196" cy="1284773"/>
            <a:chOff x="0" y="0"/>
            <a:chExt cx="907903" cy="338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7903" cy="338376"/>
            </a:xfrm>
            <a:custGeom>
              <a:avLst/>
              <a:gdLst/>
              <a:ahLst/>
              <a:cxnLst/>
              <a:rect r="r" b="b" t="t" l="l"/>
              <a:pathLst>
                <a:path h="338376" w="907903">
                  <a:moveTo>
                    <a:pt x="0" y="0"/>
                  </a:moveTo>
                  <a:lnTo>
                    <a:pt x="907903" y="0"/>
                  </a:lnTo>
                  <a:lnTo>
                    <a:pt x="907903" y="338376"/>
                  </a:lnTo>
                  <a:lnTo>
                    <a:pt x="0" y="338376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22000"/>
                  </a:srgbClr>
                </a:gs>
                <a:gs pos="100000">
                  <a:srgbClr val="AF2BA5">
                    <a:alpha val="22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07903" cy="376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35897" y="5459986"/>
            <a:ext cx="2573569" cy="70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Consistencia eventual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51104" y="5355742"/>
            <a:ext cx="6585473" cy="80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Los nodos convergerán hacia el mismo valor con el tiempo. Ejemplo: Amazon DynamoDB.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99083" y="6697659"/>
            <a:ext cx="3447196" cy="1284773"/>
            <a:chOff x="0" y="0"/>
            <a:chExt cx="907903" cy="3383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7903" cy="338376"/>
            </a:xfrm>
            <a:custGeom>
              <a:avLst/>
              <a:gdLst/>
              <a:ahLst/>
              <a:cxnLst/>
              <a:rect r="r" b="b" t="t" l="l"/>
              <a:pathLst>
                <a:path h="338376" w="907903">
                  <a:moveTo>
                    <a:pt x="0" y="0"/>
                  </a:moveTo>
                  <a:lnTo>
                    <a:pt x="907903" y="0"/>
                  </a:lnTo>
                  <a:lnTo>
                    <a:pt x="907903" y="338376"/>
                  </a:lnTo>
                  <a:lnTo>
                    <a:pt x="0" y="338376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07903" cy="376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35897" y="6992671"/>
            <a:ext cx="2573569" cy="70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Consistencia causal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51104" y="6755074"/>
            <a:ext cx="6585473" cy="80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 una operación depende de otra, esta relación debe respetarse en la propagación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499083" y="8230082"/>
            <a:ext cx="3447196" cy="1284773"/>
            <a:chOff x="0" y="0"/>
            <a:chExt cx="907903" cy="338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7903" cy="338376"/>
            </a:xfrm>
            <a:custGeom>
              <a:avLst/>
              <a:gdLst/>
              <a:ahLst/>
              <a:cxnLst/>
              <a:rect r="r" b="b" t="t" l="l"/>
              <a:pathLst>
                <a:path h="338376" w="907903">
                  <a:moveTo>
                    <a:pt x="0" y="0"/>
                  </a:moveTo>
                  <a:lnTo>
                    <a:pt x="907903" y="0"/>
                  </a:lnTo>
                  <a:lnTo>
                    <a:pt x="907903" y="338376"/>
                  </a:lnTo>
                  <a:lnTo>
                    <a:pt x="0" y="338376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22000"/>
                  </a:srgbClr>
                </a:gs>
                <a:gs pos="100000">
                  <a:srgbClr val="AF2BA5">
                    <a:alpha val="22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07903" cy="376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935897" y="8496782"/>
            <a:ext cx="2573569" cy="70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Consistencia secuencial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51104" y="8392538"/>
            <a:ext cx="6585473" cy="80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Todas las operaciones aparecen en el mismo orden, aunque no estrictamente actualizadas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99083" y="2224221"/>
            <a:ext cx="10197249" cy="80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La consistencia define cómo las actualizaciones de datos se ven reflejadas en todos los nodos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9324" y="2105297"/>
            <a:ext cx="7554676" cy="6355371"/>
          </a:xfrm>
          <a:custGeom>
            <a:avLst/>
            <a:gdLst/>
            <a:ahLst/>
            <a:cxnLst/>
            <a:rect r="r" b="b" t="t" l="l"/>
            <a:pathLst>
              <a:path h="6355371" w="7554676">
                <a:moveTo>
                  <a:pt x="0" y="0"/>
                </a:moveTo>
                <a:lnTo>
                  <a:pt x="7554676" y="0"/>
                </a:lnTo>
                <a:lnTo>
                  <a:pt x="7554676" y="6355371"/>
                </a:lnTo>
                <a:lnTo>
                  <a:pt x="0" y="6355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9492" y="2789009"/>
            <a:ext cx="7524508" cy="4776155"/>
            <a:chOff x="0" y="0"/>
            <a:chExt cx="1165743" cy="739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5743" cy="739951"/>
            </a:xfrm>
            <a:custGeom>
              <a:avLst/>
              <a:gdLst/>
              <a:ahLst/>
              <a:cxnLst/>
              <a:rect r="r" b="b" t="t" l="l"/>
              <a:pathLst>
                <a:path h="739951" w="1165743">
                  <a:moveTo>
                    <a:pt x="0" y="0"/>
                  </a:moveTo>
                  <a:lnTo>
                    <a:pt x="1165743" y="0"/>
                  </a:lnTo>
                  <a:lnTo>
                    <a:pt x="1165743" y="739951"/>
                  </a:lnTo>
                  <a:lnTo>
                    <a:pt x="0" y="739951"/>
                  </a:lnTo>
                  <a:close/>
                </a:path>
              </a:pathLst>
            </a:custGeom>
            <a:blipFill>
              <a:blip r:embed="rId3"/>
              <a:stretch>
                <a:fillRect l="0" t="-2514" r="0" b="-2514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47933" y="2455075"/>
            <a:ext cx="6778939" cy="194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ALGORITMOS DE CONSENSO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47933" y="4447401"/>
            <a:ext cx="7188645" cy="39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 un sistema distribuido, no hay una memoria compartida ni un reloj global.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Por eso, cuando múltiples nodos deben tomar una decisión común (por ejemplo, quién es el líder, cuál es el valor actual de una clave, o cómo ejecutar una transacción), necesitan un mecanismo de consenso que garantice que todos tengan la misma “versión de la verdad”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813855" y="0"/>
            <a:ext cx="2471566" cy="2840881"/>
          </a:xfrm>
          <a:custGeom>
            <a:avLst/>
            <a:gdLst/>
            <a:ahLst/>
            <a:cxnLst/>
            <a:rect r="r" b="b" t="t" l="l"/>
            <a:pathLst>
              <a:path h="2840881" w="2471566">
                <a:moveTo>
                  <a:pt x="0" y="0"/>
                </a:moveTo>
                <a:lnTo>
                  <a:pt x="2471567" y="0"/>
                </a:lnTo>
                <a:lnTo>
                  <a:pt x="2471567" y="2840881"/>
                </a:lnTo>
                <a:lnTo>
                  <a:pt x="0" y="2840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99083" y="1104900"/>
            <a:ext cx="8957576" cy="96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5"/>
              </a:lnSpc>
            </a:pPr>
            <a:r>
              <a:rPr lang="en-US" sz="686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ALGORITMOS DE CONSENSO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89149" y="2343823"/>
            <a:ext cx="7153125" cy="6255802"/>
          </a:xfrm>
          <a:custGeom>
            <a:avLst/>
            <a:gdLst/>
            <a:ahLst/>
            <a:cxnLst/>
            <a:rect r="r" b="b" t="t" l="l"/>
            <a:pathLst>
              <a:path h="6255802" w="7153125">
                <a:moveTo>
                  <a:pt x="0" y="0"/>
                </a:moveTo>
                <a:lnTo>
                  <a:pt x="7153125" y="0"/>
                </a:lnTo>
                <a:lnTo>
                  <a:pt x="7153125" y="6255802"/>
                </a:lnTo>
                <a:lnTo>
                  <a:pt x="0" y="6255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499083" y="3632812"/>
            <a:ext cx="3447196" cy="1284773"/>
            <a:chOff x="0" y="0"/>
            <a:chExt cx="907903" cy="3383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7903" cy="338376"/>
            </a:xfrm>
            <a:custGeom>
              <a:avLst/>
              <a:gdLst/>
              <a:ahLst/>
              <a:cxnLst/>
              <a:rect r="r" b="b" t="t" l="l"/>
              <a:pathLst>
                <a:path h="338376" w="907903">
                  <a:moveTo>
                    <a:pt x="0" y="0"/>
                  </a:moveTo>
                  <a:lnTo>
                    <a:pt x="907903" y="0"/>
                  </a:lnTo>
                  <a:lnTo>
                    <a:pt x="907903" y="338376"/>
                  </a:lnTo>
                  <a:lnTo>
                    <a:pt x="0" y="338376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07903" cy="376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935897" y="4064965"/>
            <a:ext cx="2573569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Paxos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51104" y="3585187"/>
            <a:ext cx="6585473" cy="121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Muy robusto pero difícil de implementar. Garantiza seguridad ante fallos bizantinos no arbitrarios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99083" y="5165236"/>
            <a:ext cx="3447196" cy="1284773"/>
            <a:chOff x="0" y="0"/>
            <a:chExt cx="907903" cy="338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7903" cy="338376"/>
            </a:xfrm>
            <a:custGeom>
              <a:avLst/>
              <a:gdLst/>
              <a:ahLst/>
              <a:cxnLst/>
              <a:rect r="r" b="b" t="t" l="l"/>
              <a:pathLst>
                <a:path h="338376" w="907903">
                  <a:moveTo>
                    <a:pt x="0" y="0"/>
                  </a:moveTo>
                  <a:lnTo>
                    <a:pt x="907903" y="0"/>
                  </a:lnTo>
                  <a:lnTo>
                    <a:pt x="907903" y="338376"/>
                  </a:lnTo>
                  <a:lnTo>
                    <a:pt x="0" y="338376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22000"/>
                  </a:srgbClr>
                </a:gs>
                <a:gs pos="100000">
                  <a:srgbClr val="AF2BA5">
                    <a:alpha val="22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07903" cy="376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35897" y="5631698"/>
            <a:ext cx="2573569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Raft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51104" y="5236808"/>
            <a:ext cx="6585473" cy="121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Más comprensible. Divide el consenso en: líder elección, replicación de logs, y seguridad del término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99083" y="6697659"/>
            <a:ext cx="3447196" cy="1284773"/>
            <a:chOff x="0" y="0"/>
            <a:chExt cx="907903" cy="3383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7903" cy="338376"/>
            </a:xfrm>
            <a:custGeom>
              <a:avLst/>
              <a:gdLst/>
              <a:ahLst/>
              <a:cxnLst/>
              <a:rect r="r" b="b" t="t" l="l"/>
              <a:pathLst>
                <a:path h="338376" w="907903">
                  <a:moveTo>
                    <a:pt x="0" y="0"/>
                  </a:moveTo>
                  <a:lnTo>
                    <a:pt x="907903" y="0"/>
                  </a:lnTo>
                  <a:lnTo>
                    <a:pt x="907903" y="338376"/>
                  </a:lnTo>
                  <a:lnTo>
                    <a:pt x="0" y="338376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07903" cy="376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35897" y="6992671"/>
            <a:ext cx="2573569" cy="70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</a:pPr>
            <a:r>
              <a:rPr lang="en-US" b="true" sz="244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Byzantine Fault Tolerance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51104" y="6888428"/>
            <a:ext cx="6585473" cy="80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Capaz de tolerar nodos maliciosos (como en blockchain)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99083" y="2224221"/>
            <a:ext cx="10197249" cy="80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 consenso distribuido busca que múltiples nodos acuerden un único valor, aún con fallos o mensajes retrasados.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99083" y="585442"/>
            <a:ext cx="10088896" cy="96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686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PAXOS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89149" y="2343823"/>
            <a:ext cx="7153125" cy="6255802"/>
          </a:xfrm>
          <a:custGeom>
            <a:avLst/>
            <a:gdLst/>
            <a:ahLst/>
            <a:cxnLst/>
            <a:rect r="r" b="b" t="t" l="l"/>
            <a:pathLst>
              <a:path h="6255802" w="7153125">
                <a:moveTo>
                  <a:pt x="0" y="0"/>
                </a:moveTo>
                <a:lnTo>
                  <a:pt x="7153125" y="0"/>
                </a:lnTo>
                <a:lnTo>
                  <a:pt x="7153125" y="6255802"/>
                </a:lnTo>
                <a:lnTo>
                  <a:pt x="0" y="6255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90730" y="1715884"/>
            <a:ext cx="10197249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Paxos es el algoritmo de consenso más antiguo y formalmente probado. Diseñado por Leslie Lamport, garantiza que múltiples procesos puedan decidir un mismo valor de forma segura, aún en presencia de fallos de red o nodos.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90730" y="3227924"/>
            <a:ext cx="10197249" cy="545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Ventajas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Altamente resistente a fallos (mientras haya mayoría disponible).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Garantiza seguridad y consistencia incluso bajo condiciones adversas.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Base teórica sólida; muchos algoritmos derivados lo usan (e.g., Zab, Multi-Paxos).</a:t>
            </a:r>
          </a:p>
          <a:p>
            <a:pPr algn="just">
              <a:lnSpc>
                <a:spcPts val="3080"/>
              </a:lnSpc>
            </a:pPr>
          </a:p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Conceptos clave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Tiene roles como proposer, acceptor y learner.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Necesita múltiples fases de votación para lograr consenso.</a:t>
            </a:r>
          </a:p>
          <a:p>
            <a:pPr algn="just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Puede extenderse a Multi-Paxos para múltiples decisiones en secuencia.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Desventajas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 complejo de entender y difícil de implementar correctamente.</a:t>
            </a:r>
          </a:p>
          <a:p>
            <a:pPr algn="just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Mayor latencia que Raft.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99083" y="585442"/>
            <a:ext cx="10088896" cy="96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686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RAFT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89149" y="2343823"/>
            <a:ext cx="7153125" cy="6255802"/>
          </a:xfrm>
          <a:custGeom>
            <a:avLst/>
            <a:gdLst/>
            <a:ahLst/>
            <a:cxnLst/>
            <a:rect r="r" b="b" t="t" l="l"/>
            <a:pathLst>
              <a:path h="6255802" w="7153125">
                <a:moveTo>
                  <a:pt x="0" y="0"/>
                </a:moveTo>
                <a:lnTo>
                  <a:pt x="7153125" y="0"/>
                </a:lnTo>
                <a:lnTo>
                  <a:pt x="7153125" y="6255802"/>
                </a:lnTo>
                <a:lnTo>
                  <a:pt x="0" y="6255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90730" y="1715884"/>
            <a:ext cx="10197249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Raft es un algoritmo de consenso diseñado para ser entendible, práctico y seguro. Divide el consenso en tareas simples: elección de líder, replicación de logs y seguridad de los datos.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90730" y="3227924"/>
            <a:ext cx="10197249" cy="584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Ventajas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Más fácil de implementar y razonar que Paxos.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roporciona consistencia fuerte.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Divide el sistema en líder y seguidores para simplificar decisiones.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Bien documentado, con implementaciones robustas</a:t>
            </a:r>
          </a:p>
          <a:p>
            <a:pPr algn="just">
              <a:lnSpc>
                <a:spcPts val="3080"/>
              </a:lnSpc>
            </a:pPr>
          </a:p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Conceptos clave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Los líderes manejan todas las operaciones escritas.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 consenso se logra cuando una mayoría replica una entrada.</a:t>
            </a:r>
          </a:p>
          <a:p>
            <a:pPr algn="just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Usa p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eriodos de tiempo llamados términos.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Conceptos clave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Tiene roles como proposer, acceptor y learner.</a:t>
            </a:r>
          </a:p>
          <a:p>
            <a:pPr algn="just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Necesita múltiples fases de votación para lograr consenso.</a:t>
            </a:r>
          </a:p>
          <a:p>
            <a:pPr algn="just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Puede extenderse a Multi-Paxos para múltiples decisiones en secuencia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99083" y="585442"/>
            <a:ext cx="10088896" cy="96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686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BYZANTINE FAULT TOLERANCE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89149" y="2343823"/>
            <a:ext cx="7153125" cy="6255802"/>
          </a:xfrm>
          <a:custGeom>
            <a:avLst/>
            <a:gdLst/>
            <a:ahLst/>
            <a:cxnLst/>
            <a:rect r="r" b="b" t="t" l="l"/>
            <a:pathLst>
              <a:path h="6255802" w="7153125">
                <a:moveTo>
                  <a:pt x="0" y="0"/>
                </a:moveTo>
                <a:lnTo>
                  <a:pt x="7153125" y="0"/>
                </a:lnTo>
                <a:lnTo>
                  <a:pt x="7153125" y="6255802"/>
                </a:lnTo>
                <a:lnTo>
                  <a:pt x="0" y="6255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90730" y="1715884"/>
            <a:ext cx="10197249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 algoritmo BFT permite lograr consenso aun cuando algunos nodos se comportan de manera maliciosa o arbitraria (fallos bizantinos). Esto va más allá de los fallos “honestos” que Raft y Paxos manejan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90730" y="3227924"/>
            <a:ext cx="10197249" cy="584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Ventajas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Seguridad frente a fallos intencionados (hacks, corrupción, nodos maliciosos).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Impresc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indible para sistemas sin confianza entre nodos (blockchain).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Proporciona alta integridad en ambientes críticos.</a:t>
            </a:r>
          </a:p>
          <a:p>
            <a:pPr algn="just">
              <a:lnSpc>
                <a:spcPts val="3080"/>
              </a:lnSpc>
            </a:pPr>
          </a:p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Conceptos clave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Generalmente requiere al menos 3f + 1 nodos para tolerar f nodos maliciosos.</a:t>
            </a:r>
          </a:p>
          <a:p>
            <a:pPr algn="just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Usa mú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ltiples fases de confirmación (pre-prepare, prepare, commit).</a:t>
            </a:r>
          </a:p>
          <a:p>
            <a:pPr algn="just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Alto v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olumen de mensajes entre nodos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Desventajas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just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</a:t>
            </a: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la escalabilidad para sistemas con muchos nodos.</a:t>
            </a:r>
          </a:p>
          <a:p>
            <a:pPr algn="just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Complejidad computacional y de red mayor que Raft o Paxos.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57078" y="4942164"/>
            <a:ext cx="7898243" cy="4979327"/>
          </a:xfrm>
          <a:custGeom>
            <a:avLst/>
            <a:gdLst/>
            <a:ahLst/>
            <a:cxnLst/>
            <a:rect r="r" b="b" t="t" l="l"/>
            <a:pathLst>
              <a:path h="4979327" w="7898243">
                <a:moveTo>
                  <a:pt x="0" y="0"/>
                </a:moveTo>
                <a:lnTo>
                  <a:pt x="7898243" y="0"/>
                </a:lnTo>
                <a:lnTo>
                  <a:pt x="7898243" y="4979327"/>
                </a:lnTo>
                <a:lnTo>
                  <a:pt x="0" y="4979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2182" y="3374890"/>
            <a:ext cx="5267534" cy="470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39"/>
              </a:lnSpc>
            </a:pPr>
            <a:r>
              <a:rPr lang="en-US" sz="1122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GESTIÓN DE FALLOS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22708" y="1536272"/>
            <a:ext cx="8690359" cy="713798"/>
            <a:chOff x="0" y="0"/>
            <a:chExt cx="2288819" cy="1879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8819" cy="187996"/>
            </a:xfrm>
            <a:custGeom>
              <a:avLst/>
              <a:gdLst/>
              <a:ahLst/>
              <a:cxnLst/>
              <a:rect r="r" b="b" t="t" l="l"/>
              <a:pathLst>
                <a:path h="187996" w="2288819">
                  <a:moveTo>
                    <a:pt x="0" y="0"/>
                  </a:moveTo>
                  <a:lnTo>
                    <a:pt x="2288819" y="0"/>
                  </a:lnTo>
                  <a:lnTo>
                    <a:pt x="2288819" y="187996"/>
                  </a:lnTo>
                  <a:lnTo>
                    <a:pt x="0" y="187996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8819" cy="22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25897" y="3051810"/>
            <a:ext cx="8062362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Fallo de nodo: el hardware deja de responder.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Fallo de red: interrupciones o alta latencia.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Fallo de software: bugs, errores lógicos.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Fallo bizantino: comportamiento arbitrario o malicioso.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72947" y="1717247"/>
            <a:ext cx="8189880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Tipos de fallos comunes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57078" y="4942164"/>
            <a:ext cx="7898243" cy="4979327"/>
          </a:xfrm>
          <a:custGeom>
            <a:avLst/>
            <a:gdLst/>
            <a:ahLst/>
            <a:cxnLst/>
            <a:rect r="r" b="b" t="t" l="l"/>
            <a:pathLst>
              <a:path h="4979327" w="7898243">
                <a:moveTo>
                  <a:pt x="0" y="0"/>
                </a:moveTo>
                <a:lnTo>
                  <a:pt x="7898243" y="0"/>
                </a:lnTo>
                <a:lnTo>
                  <a:pt x="7898243" y="4979327"/>
                </a:lnTo>
                <a:lnTo>
                  <a:pt x="0" y="4979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2182" y="3374890"/>
            <a:ext cx="5267534" cy="470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39"/>
              </a:lnSpc>
            </a:pPr>
            <a:r>
              <a:rPr lang="en-US" sz="1122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GESTIÓN DE FALLOS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22708" y="1536272"/>
            <a:ext cx="8690359" cy="713798"/>
            <a:chOff x="0" y="0"/>
            <a:chExt cx="2288819" cy="1879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8819" cy="187996"/>
            </a:xfrm>
            <a:custGeom>
              <a:avLst/>
              <a:gdLst/>
              <a:ahLst/>
              <a:cxnLst/>
              <a:rect r="r" b="b" t="t" l="l"/>
              <a:pathLst>
                <a:path h="187996" w="2288819">
                  <a:moveTo>
                    <a:pt x="0" y="0"/>
                  </a:moveTo>
                  <a:lnTo>
                    <a:pt x="2288819" y="0"/>
                  </a:lnTo>
                  <a:lnTo>
                    <a:pt x="2288819" y="187996"/>
                  </a:lnTo>
                  <a:lnTo>
                    <a:pt x="0" y="187996"/>
                  </a:lnTo>
                  <a:close/>
                </a:path>
              </a:pathLst>
            </a:custGeom>
            <a:gradFill rotWithShape="true">
              <a:gsLst>
                <a:gs pos="0">
                  <a:srgbClr val="365E93">
                    <a:alpha val="56000"/>
                  </a:srgbClr>
                </a:gs>
                <a:gs pos="100000">
                  <a:srgbClr val="AF2BA5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8819" cy="22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25897" y="2654515"/>
            <a:ext cx="8062362" cy="418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Heartbeat y detección de fallos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Los nodos envían señales periódicas para confirmar su disponibilidad.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Replicación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Copiar datos en múltiples nodos para mejorar disponibilidad. Ejemplo: HDFS en Hadoop.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Reintentos y timeouts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Polític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as de reintento inteligente, con "backoff exponencial".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Le</a:t>
            </a:r>
            <a:r>
              <a:rPr lang="en-US" b="true" sz="2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ader election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Redis Sentinel elige un nuevo líder si el nodo maestro cae.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</a:t>
            </a:r>
            <a:r>
              <a:rPr lang="en-US" b="true" sz="2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ogs de eventos y replay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Kafka permite reproducir eventos para restaurar estado.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72947" y="1717247"/>
            <a:ext cx="8189880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Técnicas de manejo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99245" y="2738234"/>
            <a:ext cx="8160055" cy="4717995"/>
          </a:xfrm>
          <a:custGeom>
            <a:avLst/>
            <a:gdLst/>
            <a:ahLst/>
            <a:cxnLst/>
            <a:rect r="r" b="b" t="t" l="l"/>
            <a:pathLst>
              <a:path h="4717995" w="8160055">
                <a:moveTo>
                  <a:pt x="0" y="0"/>
                </a:moveTo>
                <a:lnTo>
                  <a:pt x="8160055" y="0"/>
                </a:lnTo>
                <a:lnTo>
                  <a:pt x="8160055" y="4717995"/>
                </a:lnTo>
                <a:lnTo>
                  <a:pt x="0" y="4717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28372" y="6754800"/>
            <a:ext cx="3415513" cy="3206312"/>
          </a:xfrm>
          <a:custGeom>
            <a:avLst/>
            <a:gdLst/>
            <a:ahLst/>
            <a:cxnLst/>
            <a:rect r="r" b="b" t="t" l="l"/>
            <a:pathLst>
              <a:path h="3206312" w="3415513">
                <a:moveTo>
                  <a:pt x="0" y="0"/>
                </a:moveTo>
                <a:lnTo>
                  <a:pt x="3415512" y="0"/>
                </a:lnTo>
                <a:lnTo>
                  <a:pt x="3415512" y="3206312"/>
                </a:lnTo>
                <a:lnTo>
                  <a:pt x="0" y="3206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44619" y="5687058"/>
            <a:ext cx="6420174" cy="2439666"/>
          </a:xfrm>
          <a:custGeom>
            <a:avLst/>
            <a:gdLst/>
            <a:ahLst/>
            <a:cxnLst/>
            <a:rect r="r" b="b" t="t" l="l"/>
            <a:pathLst>
              <a:path h="2439666" w="6420174">
                <a:moveTo>
                  <a:pt x="0" y="0"/>
                </a:moveTo>
                <a:lnTo>
                  <a:pt x="6420174" y="0"/>
                </a:lnTo>
                <a:lnTo>
                  <a:pt x="6420174" y="2439666"/>
                </a:lnTo>
                <a:lnTo>
                  <a:pt x="0" y="24396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8594" y="3861556"/>
            <a:ext cx="7615188" cy="159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39"/>
              </a:lnSpc>
            </a:pPr>
            <a:r>
              <a:rPr lang="en-US" sz="1122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COCKROACHDB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72731" y="3282626"/>
            <a:ext cx="7013083" cy="367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9"/>
              </a:lnSpc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CockroachDB es una base de datos SQL distribuida, transaccional, replicada y tolerante a fallos, diseñada para operar en clústeres de múltiples nodos y ubicaciones geográficas. </a:t>
            </a:r>
          </a:p>
          <a:p>
            <a:pPr algn="just">
              <a:lnSpc>
                <a:spcPts val="3289"/>
              </a:lnSpc>
            </a:pPr>
          </a:p>
          <a:p>
            <a:pPr algn="just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Fue creada por ex-ingenieros de Google con el objetivo de llevar al mundo abierto muchas de las propiedades de Spanner, la base de datos global de Google.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1072" y="1698503"/>
            <a:ext cx="9812235" cy="112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8"/>
              </a:lnSpc>
            </a:pPr>
            <a:r>
              <a:rPr lang="en-US" sz="79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CARACTERÍSTICAS CLAVE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4071" y="3449506"/>
            <a:ext cx="5025404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Compatibilidad SQL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98347"/>
            <a:ext cx="7954015" cy="1517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Usa lenguaje SQL estándar, muy similar a PostgreSQL.</a:t>
            </a:r>
          </a:p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Soporta JOIN, INDEX, ACID, funciones agregadas, vistas, JSONB, etc.</a:t>
            </a:r>
          </a:p>
          <a:p>
            <a:pPr algn="l" marL="464082" indent="-232041" lvl="1">
              <a:lnSpc>
                <a:spcPts val="3009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Compatible con drivers de PostgreSQL.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29792" y="3449506"/>
            <a:ext cx="6433997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Distribución y replicación automática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3085" y="3998347"/>
            <a:ext cx="7954015" cy="189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Distribuye automáticamente rangos (fragmentos del conjunto de datos) entre nodos del clúster.</a:t>
            </a:r>
          </a:p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Cada rango tiene 3 o más réplicas en nodos distintos.</a:t>
            </a:r>
          </a:p>
          <a:p>
            <a:pPr algn="l" marL="464082" indent="-232041" lvl="1">
              <a:lnSpc>
                <a:spcPts val="3009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Cada rango tiene un leaseholder (líder Raft) que responde a lecturas/escrituras.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4071" y="6315475"/>
            <a:ext cx="5025404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Consenso con Raft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4071" y="7004050"/>
            <a:ext cx="7954015" cy="1517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CockroachDB usa el algoritmo Raft para:</a:t>
            </a:r>
          </a:p>
          <a:p>
            <a:pPr algn="l" marL="928164" indent="-309388" lvl="2">
              <a:lnSpc>
                <a:spcPts val="3009"/>
              </a:lnSpc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Elegir líderes (leaseholders)</a:t>
            </a:r>
          </a:p>
          <a:p>
            <a:pPr algn="l" marL="928164" indent="-309388" lvl="2">
              <a:lnSpc>
                <a:spcPts val="3009"/>
              </a:lnSpc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Replicar datos de forma consistente</a:t>
            </a:r>
          </a:p>
          <a:p>
            <a:pPr algn="l" marL="928164" indent="-309388" lvl="2">
              <a:lnSpc>
                <a:spcPts val="3009"/>
              </a:lnSpc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Ga</a:t>
            </a: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rantizar consenso y recuperación ante fallos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29792" y="6500924"/>
            <a:ext cx="5025404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Alta disponibilidad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13085" y="7004050"/>
            <a:ext cx="7954015" cy="189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 un nodo falla, otros continúan procesando datos gracias a la replicación.</a:t>
            </a:r>
          </a:p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No requiere reinicios manuales ni recuperación de backups.</a:t>
            </a:r>
          </a:p>
          <a:p>
            <a:pPr algn="l" marL="464082" indent="-232041" lvl="1">
              <a:lnSpc>
                <a:spcPts val="3009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Soporta rebalanceo automático de carga y datos.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1072" y="1698503"/>
            <a:ext cx="9812235" cy="112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8"/>
              </a:lnSpc>
            </a:pPr>
            <a:r>
              <a:rPr lang="en-US" sz="79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CARACTERÍSTICAS CLAVE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4071" y="3449506"/>
            <a:ext cx="5025404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Transacciones distribuidas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98347"/>
            <a:ext cx="7954015" cy="227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Soporta transacciones ACID incluso a través de múltiples nodos.</a:t>
            </a:r>
          </a:p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</a:t>
            </a: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 un timestamp-based MVCC (Multiversion Concurrency Control).</a:t>
            </a:r>
          </a:p>
          <a:p>
            <a:pPr algn="l" marL="464082" indent="-232041" lvl="1">
              <a:lnSpc>
                <a:spcPts val="3009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mplementa un hybrid logical clock (HLC) para orden temporal distribuido.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29792" y="3449506"/>
            <a:ext cx="6433997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Escalabilidad horizontal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3085" y="3998347"/>
            <a:ext cx="7954015" cy="1517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Puedes agregar nodos fácilmente, y el sistema redistribuye los datos sin tiempo de inactividad.</a:t>
            </a:r>
          </a:p>
          <a:p>
            <a:pPr algn="l" marL="464082" indent="-232041" lvl="1">
              <a:lnSpc>
                <a:spcPts val="3009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Esc</a:t>
            </a: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ala tanto en lectura como en escritura, sin perder coherencia.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4071" y="6674050"/>
            <a:ext cx="5025404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Operación geodistribuida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4071" y="7385050"/>
            <a:ext cx="7954015" cy="1517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Permite clústeres con nodos en diferentes regiones o países.</a:t>
            </a:r>
          </a:p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Puedes definir zonas de prioridad (data locality) por t</a:t>
            </a: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abl</a:t>
            </a: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 o por rango.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29792" y="6488601"/>
            <a:ext cx="5025404" cy="36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44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Herramientas de monitoreo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13085" y="7040474"/>
            <a:ext cx="7954015" cy="266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UI Web integrada en http://localhost:8080</a:t>
            </a:r>
          </a:p>
          <a:p>
            <a:pPr algn="l" marL="464082" indent="-232041" lvl="1">
              <a:lnSpc>
                <a:spcPts val="300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Puedes ver:</a:t>
            </a:r>
          </a:p>
          <a:p>
            <a:pPr algn="l" marL="928164" indent="-309388" lvl="2">
              <a:lnSpc>
                <a:spcPts val="3009"/>
              </a:lnSpc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Nodos activos</a:t>
            </a:r>
          </a:p>
          <a:p>
            <a:pPr algn="l" marL="928164" indent="-309388" lvl="2">
              <a:lnSpc>
                <a:spcPts val="3009"/>
              </a:lnSpc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Replicación de rangos</a:t>
            </a:r>
          </a:p>
          <a:p>
            <a:pPr algn="l" marL="928164" indent="-309388" lvl="2">
              <a:lnSpc>
                <a:spcPts val="3009"/>
              </a:lnSpc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Líderes Raft</a:t>
            </a:r>
          </a:p>
          <a:p>
            <a:pPr algn="l" marL="928164" indent="-309388" lvl="2">
              <a:lnSpc>
                <a:spcPts val="3009"/>
              </a:lnSpc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Estadísticas de queries</a:t>
            </a:r>
          </a:p>
          <a:p>
            <a:pPr algn="l" marL="928164" indent="-309388" lvl="2">
              <a:lnSpc>
                <a:spcPts val="3009"/>
              </a:lnSpc>
              <a:spcBef>
                <a:spcPct val="0"/>
              </a:spcBef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Tiem</a:t>
            </a:r>
            <a:r>
              <a:rPr lang="en-US" sz="21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pos de respuesta y carga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8032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27342" y="3980122"/>
            <a:ext cx="12327182" cy="2326756"/>
          </a:xfrm>
          <a:custGeom>
            <a:avLst/>
            <a:gdLst/>
            <a:ahLst/>
            <a:cxnLst/>
            <a:rect r="r" b="b" t="t" l="l"/>
            <a:pathLst>
              <a:path h="2326756" w="12327182">
                <a:moveTo>
                  <a:pt x="0" y="0"/>
                </a:moveTo>
                <a:lnTo>
                  <a:pt x="12327182" y="0"/>
                </a:lnTo>
                <a:lnTo>
                  <a:pt x="12327182" y="2326756"/>
                </a:lnTo>
                <a:lnTo>
                  <a:pt x="0" y="2326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98743" y="3761826"/>
            <a:ext cx="9490515" cy="248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50"/>
              </a:lnSpc>
              <a:spcBef>
                <a:spcPct val="0"/>
              </a:spcBef>
            </a:pPr>
            <a:r>
              <a:rPr lang="en-US" sz="145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GRACIAS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10369"/>
            <a:ext cx="4758550" cy="2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  <a:spcBef>
                <a:spcPct val="0"/>
              </a:spcBef>
            </a:pPr>
            <a:r>
              <a:rPr lang="en-US" sz="1166" spc="6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SISTEMAS DE BASES DE DATOS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DAGulP-HnAU</dc:identifier>
  <dcterms:modified xsi:type="dcterms:W3CDTF">2011-08-01T06:04:30Z</dcterms:modified>
  <cp:revision>1</cp:revision>
  <dc:title>Semana 5</dc:title>
</cp:coreProperties>
</file>