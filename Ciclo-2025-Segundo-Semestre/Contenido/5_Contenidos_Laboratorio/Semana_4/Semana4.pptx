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76" r:id="rId2"/>
    <p:sldId id="279" r:id="rId3"/>
    <p:sldId id="287" r:id="rId4"/>
    <p:sldId id="27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</p:sldIdLst>
  <p:sldSz cx="18288000" cy="10287000"/>
  <p:notesSz cx="6858000" cy="9144000"/>
  <p:embeddedFontLst>
    <p:embeddedFont>
      <p:font typeface="Arian" panose="020B0604020202020204" charset="0"/>
      <p:regular r:id="rId24"/>
    </p:embeddedFont>
    <p:embeddedFont>
      <p:font typeface="Arian Bold" panose="020B0604020202020204" charset="0"/>
      <p:regular r:id="rId25"/>
    </p:embeddedFont>
    <p:embeddedFont>
      <p:font typeface="DM Sans" pitchFamily="2" charset="0"/>
      <p:regular r:id="rId26"/>
      <p:bold r:id="rId27"/>
      <p:italic r:id="rId28"/>
      <p:boldItalic r:id="rId29"/>
    </p:embeddedFont>
    <p:embeddedFont>
      <p:font typeface="Impact" panose="020B0806030902050204" pitchFamily="34" charset="0"/>
      <p:regular r:id="rId30"/>
    </p:embeddedFont>
    <p:embeddedFont>
      <p:font typeface="Lobster" panose="00000500000000000000" pitchFamily="2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Pacifico" panose="00000500000000000000" pitchFamily="2" charset="0"/>
      <p:regular r:id="rId36"/>
    </p:embeddedFont>
    <p:embeddedFont>
      <p:font typeface="TT Hoves" panose="020B0604020202020204" charset="0"/>
      <p:regular r:id="rId37"/>
    </p:embeddedFont>
    <p:embeddedFont>
      <p:font typeface="TT Hoves Bold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zGr1fy4M52vzx4a9oop33maZq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F7F655-7023-4593-93E4-76ED9151A7D6}">
  <a:tblStyle styleId="{13F7F655-7023-4593-93E4-76ED9151A7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4f26217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4f26217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afea4f6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64afea4f6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919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digofacilito.com/articulos/realizar-respaldo-base-de-datos" TargetMode="External"/><Relationship Id="rId4" Type="http://schemas.openxmlformats.org/officeDocument/2006/relationships/hyperlink" Target="https://www.computerweekly.com/es/consejo/Completa-vs-incremental-vs-diferencial-Comparamos-los-tipos-de-respald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-GT" sz="3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</a:t>
            </a:r>
            <a:r>
              <a:rPr lang="es-GT" sz="3100" dirty="0">
                <a:latin typeface="Calibri"/>
                <a:ea typeface="Calibri"/>
                <a:cs typeface="Calibri"/>
                <a:sym typeface="Calibri"/>
              </a:rPr>
              <a:t>EMAS DE BASES DE DATOS 2 </a:t>
            </a:r>
            <a:endParaRPr sz="3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9;g364afea4f63_0_0">
            <a:extLst>
              <a:ext uri="{FF2B5EF4-FFF2-40B4-BE49-F238E27FC236}">
                <a16:creationId xmlns:a16="http://schemas.microsoft.com/office/drawing/2014/main" id="{AAAE2C5C-D868-833B-3D36-0A115E427168}"/>
              </a:ext>
            </a:extLst>
          </p:cNvPr>
          <p:cNvSpPr/>
          <p:nvPr/>
        </p:nvSpPr>
        <p:spPr>
          <a:xfrm>
            <a:off x="15565479" y="2125642"/>
            <a:ext cx="1904374" cy="4009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0/0/26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90248" y="7555025"/>
            <a:ext cx="933659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 de Bases de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endParaRPr sz="5000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Ingenieria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9;p1">
            <a:extLst>
              <a:ext uri="{FF2B5EF4-FFF2-40B4-BE49-F238E27FC236}">
                <a16:creationId xmlns:a16="http://schemas.microsoft.com/office/drawing/2014/main" id="{BC3A80FC-73C6-2EF7-9C62-AA023B19C22C}"/>
              </a:ext>
            </a:extLst>
          </p:cNvPr>
          <p:cNvSpPr txBox="1"/>
          <p:nvPr/>
        </p:nvSpPr>
        <p:spPr>
          <a:xfrm>
            <a:off x="1922924" y="4148259"/>
            <a:ext cx="16607834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7"/>
              </a:lnSpc>
            </a:pPr>
            <a:r>
              <a:rPr lang="en-US" sz="8800" dirty="0" err="1">
                <a:solidFill>
                  <a:srgbClr val="343434"/>
                </a:solidFill>
              </a:rPr>
              <a:t>SQL:Estrategias</a:t>
            </a:r>
            <a:r>
              <a:rPr lang="en-US" sz="8800" dirty="0">
                <a:solidFill>
                  <a:srgbClr val="343434"/>
                </a:solidFill>
              </a:rPr>
              <a:t> de </a:t>
            </a:r>
            <a:r>
              <a:rPr lang="en-US" sz="8800" dirty="0" err="1">
                <a:solidFill>
                  <a:srgbClr val="343434"/>
                </a:solidFill>
              </a:rPr>
              <a:t>Respaldos</a:t>
            </a:r>
            <a:endParaRPr lang="en-US" sz="8800" b="0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8;p1">
            <a:extLst>
              <a:ext uri="{FF2B5EF4-FFF2-40B4-BE49-F238E27FC236}">
                <a16:creationId xmlns:a16="http://schemas.microsoft.com/office/drawing/2014/main" id="{02273682-A286-BD3F-5635-473A181DACC4}"/>
              </a:ext>
            </a:extLst>
          </p:cNvPr>
          <p:cNvSpPr txBox="1"/>
          <p:nvPr/>
        </p:nvSpPr>
        <p:spPr>
          <a:xfrm>
            <a:off x="5686960" y="1654757"/>
            <a:ext cx="9904619" cy="258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13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SEMANA </a:t>
            </a:r>
            <a:r>
              <a:rPr lang="en-US" sz="12013" b="1" dirty="0">
                <a:solidFill>
                  <a:srgbClr val="343434"/>
                </a:solidFill>
              </a:rPr>
              <a:t>4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389270" y="3232617"/>
            <a:ext cx="13262934" cy="845385"/>
            <a:chOff x="0" y="-76200"/>
            <a:chExt cx="5646699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5646699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Estrategias de respaldo según el tamaño y uso de la base de datos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091305" y="3452574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 dirty="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 dirty="0" err="1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 dirty="0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1739805" y="5032666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389270" y="4156435"/>
            <a:ext cx="14538841" cy="845385"/>
            <a:chOff x="0" y="-76200"/>
            <a:chExt cx="6189917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6189917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Herramientas de respaldo: ventajas y desventajas de diferentes soluciones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389270" y="5138008"/>
            <a:ext cx="15899808" cy="845385"/>
            <a:chOff x="0" y="-76200"/>
            <a:chExt cx="6769349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0" y="-76200"/>
              <a:ext cx="6769349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Automatización de respaldos: creación de scripts para realizar respaldos regulares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389270" y="6061590"/>
            <a:ext cx="11561726" cy="845385"/>
            <a:chOff x="0" y="-76200"/>
            <a:chExt cx="4922409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4922409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Recuperación a partir de diferentes tipos de respaldos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389270" y="7125048"/>
            <a:ext cx="11350534" cy="845385"/>
            <a:chOff x="0" y="-76200"/>
            <a:chExt cx="4832494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4832494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Uso de pandas con </a:t>
              </a:r>
              <a:r>
                <a:rPr lang="es-ES" sz="2799" dirty="0" err="1"/>
                <a:t>python</a:t>
              </a:r>
              <a:r>
                <a:rPr lang="es-ES" sz="2799" dirty="0"/>
                <a:t> para la limpieza de datos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1091305" y="433541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Google Shape;136;p2"/>
          <p:cNvSpPr/>
          <p:nvPr/>
        </p:nvSpPr>
        <p:spPr>
          <a:xfrm>
            <a:off x="1091305" y="5316986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Google Shape;137;p2"/>
          <p:cNvSpPr/>
          <p:nvPr/>
        </p:nvSpPr>
        <p:spPr>
          <a:xfrm>
            <a:off x="1091305" y="6316768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p2"/>
          <p:cNvSpPr/>
          <p:nvPr/>
        </p:nvSpPr>
        <p:spPr>
          <a:xfrm>
            <a:off x="1091305" y="731767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872853" y="2476570"/>
            <a:ext cx="12748840" cy="66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44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 y automatiza estrategias de respaldo y recuperación de bases de datos, seleccionando adecuadamente el tipo de respaldo (completo, incremental y diferencial) y las herramientas más convenientes según el tamaño, uso y criticidad de la información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Google Shape;104;p3"/>
          <p:cNvSpPr txBox="1"/>
          <p:nvPr/>
        </p:nvSpPr>
        <p:spPr>
          <a:xfrm>
            <a:off x="2342130" y="1184350"/>
            <a:ext cx="12941400" cy="1831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RESPALDO COMPLETO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787336" y="54466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595423" y="3176614"/>
            <a:ext cx="17692577" cy="666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Concepto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Es una copia total y exacta de todos los datos seleccionados para respaldo en un punto en el tiempo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Incluye todo: estructura de la base, datos, y a veces configuración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Crea un punto de restauración autónomo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Ventajas</a:t>
            </a:r>
          </a:p>
          <a:p>
            <a:pPr marL="342900" marR="0" lvl="0" indent="-34290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Sencillo de restaurar</a:t>
            </a:r>
          </a:p>
          <a:p>
            <a:pPr marL="342900" marR="0" lvl="0" indent="-34290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No requiere otras copias para restaurar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Desventajas</a:t>
            </a:r>
          </a:p>
          <a:p>
            <a:pPr marL="342900" marR="0" lvl="0" indent="-34290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Consume más espacio y tiempo</a:t>
            </a:r>
          </a:p>
          <a:p>
            <a:pPr marL="342900" marR="0" lvl="0" indent="-34290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Poco eficiente si los datos cambian poco entre respaldos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-218281" y="-4272591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Google Shape;114;p4"/>
          <p:cNvSpPr txBox="1"/>
          <p:nvPr/>
        </p:nvSpPr>
        <p:spPr>
          <a:xfrm>
            <a:off x="2800842" y="1039905"/>
            <a:ext cx="13219825" cy="30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RESPALDO INCREMENTAL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7100" b="1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787336" y="55532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E826825F-5698-81CC-D00C-28767BE4C5D3}"/>
              </a:ext>
            </a:extLst>
          </p:cNvPr>
          <p:cNvSpPr txBox="1"/>
          <p:nvPr/>
        </p:nvSpPr>
        <p:spPr>
          <a:xfrm>
            <a:off x="2800842" y="2835176"/>
            <a:ext cx="12892813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b="1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Concepto</a:t>
            </a:r>
            <a:endParaRPr lang="en-US" sz="28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/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Copia solo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los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datos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modificados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desde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último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(sea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completo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o incremental)</a:t>
            </a:r>
          </a:p>
          <a:p>
            <a:pPr algn="just"/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/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/>
            <a:r>
              <a:rPr lang="en-US" sz="2800" b="1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Funcionamiento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b="1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técnico</a:t>
            </a:r>
            <a:endParaRPr lang="en-US" sz="28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88618" lvl="1" indent="-194309" algn="just">
              <a:buFont typeface="Arial"/>
              <a:buChar char="•"/>
            </a:pP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Requiere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mantener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un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registro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(log, snapshot, WAL) de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los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cambios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.</a:t>
            </a:r>
          </a:p>
          <a:p>
            <a:pPr marL="388618" lvl="1" indent="-194309" algn="just">
              <a:buFont typeface="Arial"/>
              <a:buChar char="•"/>
            </a:pP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Cada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incremental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depende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del anterior</a:t>
            </a:r>
          </a:p>
          <a:p>
            <a:pPr algn="just"/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/>
            <a:r>
              <a:rPr lang="en-US" sz="2800" b="1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Ventajas</a:t>
            </a:r>
            <a:endParaRPr lang="en-US" sz="28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88618" lvl="1" indent="-194309" algn="just">
              <a:buFont typeface="Arial"/>
              <a:buChar char="•"/>
            </a:pP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Muy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eficiente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en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almacenamiento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y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tiempo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.</a:t>
            </a:r>
          </a:p>
          <a:p>
            <a:pPr marL="388618" lvl="1" indent="-194309" algn="just">
              <a:buFont typeface="Arial"/>
              <a:buChar char="•"/>
            </a:pP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Ideal para bases de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datos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de gran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volumen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o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alta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frecuencia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de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cambio</a:t>
            </a:r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/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/>
            <a:r>
              <a:rPr lang="en-US" sz="2800" b="1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Desventajas</a:t>
            </a:r>
            <a:endParaRPr lang="en-US" sz="28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88618" lvl="1" indent="-194309" algn="just">
              <a:buFont typeface="Arial"/>
              <a:buChar char="•"/>
            </a:pP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Restaurar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puede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requerir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encadenar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múltiples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(full + n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incrementales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).</a:t>
            </a:r>
          </a:p>
          <a:p>
            <a:pPr marL="388618" lvl="1" indent="-194309" algn="just">
              <a:buFont typeface="Arial"/>
              <a:buChar char="•"/>
            </a:pP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Alta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complejidad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en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la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recuperación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si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falta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un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800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intermedio</a:t>
            </a:r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marL="0" lvl="0" indent="0" algn="just">
              <a:spcBef>
                <a:spcPct val="0"/>
              </a:spcBef>
            </a:pPr>
            <a:endParaRPr lang="en-US" sz="28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-265453" y="-4187531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Google Shape;122;p5"/>
          <p:cNvSpPr txBox="1"/>
          <p:nvPr/>
        </p:nvSpPr>
        <p:spPr>
          <a:xfrm>
            <a:off x="3478800" y="856172"/>
            <a:ext cx="11330400" cy="30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RESPALDO DIFERENCIAL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7100" b="1" i="0" u="none" strike="noStrike" cap="none" dirty="0" err="1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787336" y="55532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5570A8E-9E83-D88F-8A99-D764FF0645A7}"/>
              </a:ext>
            </a:extLst>
          </p:cNvPr>
          <p:cNvSpPr txBox="1"/>
          <p:nvPr/>
        </p:nvSpPr>
        <p:spPr>
          <a:xfrm>
            <a:off x="3137271" y="2575888"/>
            <a:ext cx="12577651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2400" b="1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Concepto</a:t>
            </a:r>
            <a:endParaRPr lang="en-U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0" lvl="0" indent="0" algn="just">
              <a:spcBef>
                <a:spcPct val="0"/>
              </a:spcBef>
            </a:pP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Copia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todos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los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datos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que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han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cambiado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desde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último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completo</a:t>
            </a: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marL="0" lvl="0" indent="0" algn="just">
              <a:spcBef>
                <a:spcPct val="0"/>
              </a:spcBef>
            </a:pP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marL="0" lvl="0" indent="0" algn="just">
              <a:spcBef>
                <a:spcPct val="0"/>
              </a:spcBef>
            </a:pPr>
            <a:r>
              <a:rPr lang="en-US" sz="2400" b="1" u="none" strike="noStrike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Funcionamiento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b="1" u="none" strike="noStrike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técnico</a:t>
            </a:r>
            <a:endParaRPr lang="en-US" sz="2400" b="1" u="none" strike="noStrike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88618" lvl="1" indent="-194309" algn="just"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No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reinicia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contador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de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cambios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incremental.</a:t>
            </a:r>
          </a:p>
          <a:p>
            <a:pPr marL="388618" lvl="1" indent="-194309" algn="just"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Acumula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cambios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hasta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que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se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haga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un nuevo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completo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.</a:t>
            </a:r>
          </a:p>
          <a:p>
            <a:pPr marL="0" lvl="0" indent="0" algn="just">
              <a:spcBef>
                <a:spcPct val="0"/>
              </a:spcBef>
            </a:pP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marL="0" lvl="0" indent="0" algn="just">
              <a:spcBef>
                <a:spcPct val="0"/>
              </a:spcBef>
            </a:pP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marL="0" lvl="0" indent="0" algn="just">
              <a:spcBef>
                <a:spcPct val="0"/>
              </a:spcBef>
            </a:pPr>
            <a:r>
              <a:rPr lang="en-US" sz="2400" b="1" u="none" strike="noStrike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Ventajas</a:t>
            </a:r>
            <a:endParaRPr lang="en-US" sz="2400" b="1" u="none" strike="noStrike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88618" lvl="1" indent="-194309" algn="just"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Restauración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más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rápida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que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incremental (solo se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necesita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completo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+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diferencial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más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reciente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).</a:t>
            </a:r>
          </a:p>
          <a:p>
            <a:pPr marL="388618" lvl="1" indent="-194309" algn="just"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Más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sencillo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de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gestionar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que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una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cadena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larga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de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incrementales</a:t>
            </a: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>
              <a:spcBef>
                <a:spcPct val="0"/>
              </a:spcBef>
            </a:pP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>
              <a:spcBef>
                <a:spcPct val="0"/>
              </a:spcBef>
            </a:pP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algn="just">
              <a:spcBef>
                <a:spcPct val="0"/>
              </a:spcBef>
            </a:pPr>
            <a:r>
              <a:rPr lang="en-US" sz="2400" b="1" u="none" strike="noStrike" spc="-70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Desventajas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:</a:t>
            </a:r>
          </a:p>
          <a:p>
            <a:pPr marL="388618" lvl="1" indent="-194309" algn="just"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Tamaño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creciente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con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tiempo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.</a:t>
            </a:r>
          </a:p>
          <a:p>
            <a:pPr marL="388618" lvl="1" indent="-194309" algn="just"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Más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espacio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que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los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incrementales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si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no se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refresca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el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respaldo</a:t>
            </a:r>
            <a:r>
              <a:rPr lang="en-US" sz="2400" u="none" strike="noStrike" spc="-70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400" u="none" strike="noStrike" spc="-70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completo</a:t>
            </a: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  <a:p>
            <a:pPr marL="0" lvl="0" indent="0" algn="just">
              <a:spcBef>
                <a:spcPct val="0"/>
              </a:spcBef>
            </a:pP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Google Shape;129;p6"/>
          <p:cNvSpPr txBox="1"/>
          <p:nvPr/>
        </p:nvSpPr>
        <p:spPr>
          <a:xfrm>
            <a:off x="2339163" y="1932300"/>
            <a:ext cx="14290158" cy="152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ESTRATEGIAS DE RESPALDO </a:t>
            </a:r>
          </a:p>
        </p:txBody>
      </p:sp>
      <p:sp>
        <p:nvSpPr>
          <p:cNvPr id="130" name="Google Shape;130;p6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1028700" y="4132695"/>
            <a:ext cx="16585413" cy="487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7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Las estrategias de respaldo no deben ser iguales para todas las bases de datos. Deben adaptarse en función de diversos factores como:</a:t>
            </a:r>
          </a:p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307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Tamaño de la base de datos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Frecuencia de cambios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Nivel de criticidad de la información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Regulaciones del sector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Recursos disponibles (espacio, red, tiempo, personal)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Google Shape;139;p7"/>
          <p:cNvSpPr txBox="1"/>
          <p:nvPr/>
        </p:nvSpPr>
        <p:spPr>
          <a:xfrm>
            <a:off x="2173546" y="1817887"/>
            <a:ext cx="14586116" cy="33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CLASIFICACIÓN POR TAMAÑO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7100" b="1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7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FE972B6D-16DD-333F-D4C0-48FCB55F1C93}"/>
              </a:ext>
            </a:extLst>
          </p:cNvPr>
          <p:cNvGrpSpPr/>
          <p:nvPr/>
        </p:nvGrpSpPr>
        <p:grpSpPr>
          <a:xfrm>
            <a:off x="1528338" y="4176838"/>
            <a:ext cx="4577600" cy="3421773"/>
            <a:chOff x="0" y="0"/>
            <a:chExt cx="1205623" cy="901208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360D46D-27F8-894E-B082-831C022DBEAA}"/>
                </a:ext>
              </a:extLst>
            </p:cNvPr>
            <p:cNvSpPr/>
            <p:nvPr/>
          </p:nvSpPr>
          <p:spPr>
            <a:xfrm>
              <a:off x="0" y="0"/>
              <a:ext cx="1205623" cy="901208"/>
            </a:xfrm>
            <a:custGeom>
              <a:avLst/>
              <a:gdLst/>
              <a:ahLst/>
              <a:cxnLst/>
              <a:rect l="l" t="t" r="r" b="b"/>
              <a:pathLst>
                <a:path w="1205623" h="901208">
                  <a:moveTo>
                    <a:pt x="40590" y="0"/>
                  </a:moveTo>
                  <a:lnTo>
                    <a:pt x="1165033" y="0"/>
                  </a:lnTo>
                  <a:cubicBezTo>
                    <a:pt x="1175798" y="0"/>
                    <a:pt x="1186122" y="4276"/>
                    <a:pt x="1193735" y="11889"/>
                  </a:cubicBezTo>
                  <a:cubicBezTo>
                    <a:pt x="1201347" y="19501"/>
                    <a:pt x="1205623" y="29825"/>
                    <a:pt x="1205623" y="40590"/>
                  </a:cubicBezTo>
                  <a:lnTo>
                    <a:pt x="1205623" y="860617"/>
                  </a:lnTo>
                  <a:cubicBezTo>
                    <a:pt x="1205623" y="871383"/>
                    <a:pt x="1201347" y="881707"/>
                    <a:pt x="1193735" y="889319"/>
                  </a:cubicBezTo>
                  <a:cubicBezTo>
                    <a:pt x="1186122" y="896931"/>
                    <a:pt x="1175798" y="901208"/>
                    <a:pt x="1165033" y="901208"/>
                  </a:cubicBezTo>
                  <a:lnTo>
                    <a:pt x="40590" y="901208"/>
                  </a:lnTo>
                  <a:cubicBezTo>
                    <a:pt x="29825" y="901208"/>
                    <a:pt x="19501" y="896931"/>
                    <a:pt x="11889" y="889319"/>
                  </a:cubicBezTo>
                  <a:cubicBezTo>
                    <a:pt x="4276" y="881707"/>
                    <a:pt x="0" y="871383"/>
                    <a:pt x="0" y="860617"/>
                  </a:cubicBezTo>
                  <a:lnTo>
                    <a:pt x="0" y="40590"/>
                  </a:lnTo>
                  <a:cubicBezTo>
                    <a:pt x="0" y="29825"/>
                    <a:pt x="4276" y="19501"/>
                    <a:pt x="11889" y="11889"/>
                  </a:cubicBezTo>
                  <a:cubicBezTo>
                    <a:pt x="19501" y="4276"/>
                    <a:pt x="29825" y="0"/>
                    <a:pt x="40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E0798045-C588-A450-CA70-C7BD41AC35E7}"/>
                </a:ext>
              </a:extLst>
            </p:cNvPr>
            <p:cNvSpPr txBox="1"/>
            <p:nvPr/>
          </p:nvSpPr>
          <p:spPr>
            <a:xfrm>
              <a:off x="0" y="-76200"/>
              <a:ext cx="1205623" cy="977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D73C3922-AC0F-86C7-235B-F0CA56A70096}"/>
              </a:ext>
            </a:extLst>
          </p:cNvPr>
          <p:cNvGrpSpPr/>
          <p:nvPr/>
        </p:nvGrpSpPr>
        <p:grpSpPr>
          <a:xfrm>
            <a:off x="6576761" y="4176838"/>
            <a:ext cx="4577600" cy="3421773"/>
            <a:chOff x="0" y="0"/>
            <a:chExt cx="1205623" cy="901208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342E9C5C-35BC-651A-C954-3248C23642F5}"/>
                </a:ext>
              </a:extLst>
            </p:cNvPr>
            <p:cNvSpPr/>
            <p:nvPr/>
          </p:nvSpPr>
          <p:spPr>
            <a:xfrm>
              <a:off x="0" y="0"/>
              <a:ext cx="1205623" cy="901208"/>
            </a:xfrm>
            <a:custGeom>
              <a:avLst/>
              <a:gdLst/>
              <a:ahLst/>
              <a:cxnLst/>
              <a:rect l="l" t="t" r="r" b="b"/>
              <a:pathLst>
                <a:path w="1205623" h="901208">
                  <a:moveTo>
                    <a:pt x="40590" y="0"/>
                  </a:moveTo>
                  <a:lnTo>
                    <a:pt x="1165033" y="0"/>
                  </a:lnTo>
                  <a:cubicBezTo>
                    <a:pt x="1175798" y="0"/>
                    <a:pt x="1186122" y="4276"/>
                    <a:pt x="1193735" y="11889"/>
                  </a:cubicBezTo>
                  <a:cubicBezTo>
                    <a:pt x="1201347" y="19501"/>
                    <a:pt x="1205623" y="29825"/>
                    <a:pt x="1205623" y="40590"/>
                  </a:cubicBezTo>
                  <a:lnTo>
                    <a:pt x="1205623" y="860617"/>
                  </a:lnTo>
                  <a:cubicBezTo>
                    <a:pt x="1205623" y="871383"/>
                    <a:pt x="1201347" y="881707"/>
                    <a:pt x="1193735" y="889319"/>
                  </a:cubicBezTo>
                  <a:cubicBezTo>
                    <a:pt x="1186122" y="896931"/>
                    <a:pt x="1175798" y="901208"/>
                    <a:pt x="1165033" y="901208"/>
                  </a:cubicBezTo>
                  <a:lnTo>
                    <a:pt x="40590" y="901208"/>
                  </a:lnTo>
                  <a:cubicBezTo>
                    <a:pt x="29825" y="901208"/>
                    <a:pt x="19501" y="896931"/>
                    <a:pt x="11889" y="889319"/>
                  </a:cubicBezTo>
                  <a:cubicBezTo>
                    <a:pt x="4276" y="881707"/>
                    <a:pt x="0" y="871383"/>
                    <a:pt x="0" y="860617"/>
                  </a:cubicBezTo>
                  <a:lnTo>
                    <a:pt x="0" y="40590"/>
                  </a:lnTo>
                  <a:cubicBezTo>
                    <a:pt x="0" y="29825"/>
                    <a:pt x="4276" y="19501"/>
                    <a:pt x="11889" y="11889"/>
                  </a:cubicBezTo>
                  <a:cubicBezTo>
                    <a:pt x="19501" y="4276"/>
                    <a:pt x="29825" y="0"/>
                    <a:pt x="40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174A6263-51D9-9F34-6E5B-8CA8665550B1}"/>
                </a:ext>
              </a:extLst>
            </p:cNvPr>
            <p:cNvSpPr txBox="1"/>
            <p:nvPr/>
          </p:nvSpPr>
          <p:spPr>
            <a:xfrm>
              <a:off x="0" y="-76200"/>
              <a:ext cx="1205623" cy="977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3DB3204F-3761-3D31-E6C5-0E7F0BCF5F44}"/>
              </a:ext>
            </a:extLst>
          </p:cNvPr>
          <p:cNvGrpSpPr/>
          <p:nvPr/>
        </p:nvGrpSpPr>
        <p:grpSpPr>
          <a:xfrm>
            <a:off x="11625184" y="4176838"/>
            <a:ext cx="4577600" cy="3421773"/>
            <a:chOff x="0" y="0"/>
            <a:chExt cx="1205623" cy="901208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AAFCD05-51A9-CD07-3768-3B928C1C82A0}"/>
                </a:ext>
              </a:extLst>
            </p:cNvPr>
            <p:cNvSpPr/>
            <p:nvPr/>
          </p:nvSpPr>
          <p:spPr>
            <a:xfrm>
              <a:off x="0" y="0"/>
              <a:ext cx="1205623" cy="901208"/>
            </a:xfrm>
            <a:custGeom>
              <a:avLst/>
              <a:gdLst/>
              <a:ahLst/>
              <a:cxnLst/>
              <a:rect l="l" t="t" r="r" b="b"/>
              <a:pathLst>
                <a:path w="1205623" h="901208">
                  <a:moveTo>
                    <a:pt x="40590" y="0"/>
                  </a:moveTo>
                  <a:lnTo>
                    <a:pt x="1165033" y="0"/>
                  </a:lnTo>
                  <a:cubicBezTo>
                    <a:pt x="1175798" y="0"/>
                    <a:pt x="1186122" y="4276"/>
                    <a:pt x="1193735" y="11889"/>
                  </a:cubicBezTo>
                  <a:cubicBezTo>
                    <a:pt x="1201347" y="19501"/>
                    <a:pt x="1205623" y="29825"/>
                    <a:pt x="1205623" y="40590"/>
                  </a:cubicBezTo>
                  <a:lnTo>
                    <a:pt x="1205623" y="860617"/>
                  </a:lnTo>
                  <a:cubicBezTo>
                    <a:pt x="1205623" y="871383"/>
                    <a:pt x="1201347" y="881707"/>
                    <a:pt x="1193735" y="889319"/>
                  </a:cubicBezTo>
                  <a:cubicBezTo>
                    <a:pt x="1186122" y="896931"/>
                    <a:pt x="1175798" y="901208"/>
                    <a:pt x="1165033" y="901208"/>
                  </a:cubicBezTo>
                  <a:lnTo>
                    <a:pt x="40590" y="901208"/>
                  </a:lnTo>
                  <a:cubicBezTo>
                    <a:pt x="29825" y="901208"/>
                    <a:pt x="19501" y="896931"/>
                    <a:pt x="11889" y="889319"/>
                  </a:cubicBezTo>
                  <a:cubicBezTo>
                    <a:pt x="4276" y="881707"/>
                    <a:pt x="0" y="871383"/>
                    <a:pt x="0" y="860617"/>
                  </a:cubicBezTo>
                  <a:lnTo>
                    <a:pt x="0" y="40590"/>
                  </a:lnTo>
                  <a:cubicBezTo>
                    <a:pt x="0" y="29825"/>
                    <a:pt x="4276" y="19501"/>
                    <a:pt x="11889" y="11889"/>
                  </a:cubicBezTo>
                  <a:cubicBezTo>
                    <a:pt x="19501" y="4276"/>
                    <a:pt x="29825" y="0"/>
                    <a:pt x="40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CE3D13F4-E787-1F2E-E49D-00DE9B6CCFB5}"/>
                </a:ext>
              </a:extLst>
            </p:cNvPr>
            <p:cNvSpPr txBox="1"/>
            <p:nvPr/>
          </p:nvSpPr>
          <p:spPr>
            <a:xfrm>
              <a:off x="0" y="-76200"/>
              <a:ext cx="1205623" cy="977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9">
            <a:extLst>
              <a:ext uri="{FF2B5EF4-FFF2-40B4-BE49-F238E27FC236}">
                <a16:creationId xmlns:a16="http://schemas.microsoft.com/office/drawing/2014/main" id="{1582E48F-B39B-0B96-EC93-591FFE8DB7E2}"/>
              </a:ext>
            </a:extLst>
          </p:cNvPr>
          <p:cNvSpPr txBox="1"/>
          <p:nvPr/>
        </p:nvSpPr>
        <p:spPr>
          <a:xfrm>
            <a:off x="1795045" y="5503540"/>
            <a:ext cx="4048291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G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eneralmente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caben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en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un solo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respaldo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completo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.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Estrategia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típica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: </a:t>
            </a:r>
            <a:r>
              <a:rPr lang="en-US" sz="1799" b="1" u="none" strike="noStrike" spc="-70" dirty="0" err="1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respaldo</a:t>
            </a:r>
            <a:r>
              <a:rPr lang="en-US" sz="1799" b="1" u="none" strike="noStrike" spc="-70" dirty="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1799" b="1" u="none" strike="noStrike" spc="-70" dirty="0" err="1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completo</a:t>
            </a:r>
            <a:r>
              <a:rPr lang="en-US" sz="1799" b="1" u="none" strike="noStrike" spc="-70" dirty="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1799" b="1" u="none" strike="noStrike" spc="-70" dirty="0" err="1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diario</a:t>
            </a:r>
            <a:r>
              <a:rPr lang="en-US" sz="1799" b="1" u="none" strike="noStrike" spc="-70" dirty="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.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Medio de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almacenamiento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: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puede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ser local +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nube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.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9F13462E-8808-DA80-DB28-ACB4740C0030}"/>
              </a:ext>
            </a:extLst>
          </p:cNvPr>
          <p:cNvSpPr txBox="1"/>
          <p:nvPr/>
        </p:nvSpPr>
        <p:spPr>
          <a:xfrm>
            <a:off x="1738099" y="5087869"/>
            <a:ext cx="4158078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1"/>
              </a:lnSpc>
              <a:spcBef>
                <a:spcPct val="0"/>
              </a:spcBef>
            </a:pPr>
            <a:r>
              <a:rPr lang="en-US" sz="1799" b="1" spc="-7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PEQUEÑAS (HASTA 1–5 GB)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9304D2C7-5D7A-4FC3-42B5-16D6366FD84B}"/>
              </a:ext>
            </a:extLst>
          </p:cNvPr>
          <p:cNvSpPr txBox="1"/>
          <p:nvPr/>
        </p:nvSpPr>
        <p:spPr>
          <a:xfrm>
            <a:off x="6841416" y="5422975"/>
            <a:ext cx="4048291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Tiem</a:t>
            </a: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po de copia empieza a ser significativo.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Estrategia recomendada: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Respaldo completo semanal (domingo)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Diferencial diario (lunes a sábado) o incremental diario si el cambio es alto.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Medio: almacenamiento dedicado + copia externa en nube.</a:t>
            </a:r>
          </a:p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endParaRPr lang="en-US" sz="1799" u="none" strike="noStrike" spc="-70">
              <a:solidFill>
                <a:schemeClr val="tx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4CD266D3-E152-3B5D-A3F6-F8A0FB8BF6FB}"/>
              </a:ext>
            </a:extLst>
          </p:cNvPr>
          <p:cNvSpPr txBox="1"/>
          <p:nvPr/>
        </p:nvSpPr>
        <p:spPr>
          <a:xfrm>
            <a:off x="6786522" y="5087869"/>
            <a:ext cx="4158078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1"/>
              </a:lnSpc>
              <a:spcBef>
                <a:spcPct val="0"/>
              </a:spcBef>
            </a:pPr>
            <a:r>
              <a:rPr lang="en-US" sz="1799" b="1" spc="-7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MEDIANAS (5 GB – 100 GB)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DCACB742-02E4-A933-6DD9-E30FEF6DDA53}"/>
              </a:ext>
            </a:extLst>
          </p:cNvPr>
          <p:cNvSpPr txBox="1"/>
          <p:nvPr/>
        </p:nvSpPr>
        <p:spPr>
          <a:xfrm>
            <a:off x="11889839" y="5422975"/>
            <a:ext cx="4048291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Estrategia típica:</a:t>
            </a:r>
          </a:p>
          <a:p>
            <a:pPr marL="777237" lvl="2" indent="-259079" algn="just">
              <a:lnSpc>
                <a:spcPts val="1961"/>
              </a:lnSpc>
              <a:spcBef>
                <a:spcPct val="0"/>
              </a:spcBef>
              <a:buFont typeface="Arial"/>
              <a:buChar char="⚬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Respaldo completo mensual</a:t>
            </a:r>
          </a:p>
          <a:p>
            <a:pPr marL="777237" lvl="2" indent="-259079" algn="just">
              <a:lnSpc>
                <a:spcPts val="1961"/>
              </a:lnSpc>
              <a:spcBef>
                <a:spcPct val="0"/>
              </a:spcBef>
              <a:buFont typeface="Arial"/>
              <a:buChar char="⚬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Incrementales diarios</a:t>
            </a:r>
          </a:p>
          <a:p>
            <a:pPr marL="777237" lvl="2" indent="-259079" algn="just">
              <a:lnSpc>
                <a:spcPts val="1961"/>
              </a:lnSpc>
              <a:spcBef>
                <a:spcPct val="0"/>
              </a:spcBef>
              <a:buFont typeface="Arial"/>
              <a:buChar char="⚬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Respaldo lógico o por tabla para objetos críticos</a:t>
            </a:r>
          </a:p>
          <a:p>
            <a:pPr marL="388618" lvl="1" indent="-194309" algn="just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Requieren backup en caliente y sin downtime</a:t>
            </a:r>
          </a:p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endParaRPr lang="en-US" sz="1799" u="none" strike="noStrike" spc="-70">
              <a:solidFill>
                <a:schemeClr val="tx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30EB63-9E39-5F32-314B-6FDEF2E66404}"/>
              </a:ext>
            </a:extLst>
          </p:cNvPr>
          <p:cNvSpPr/>
          <p:nvPr/>
        </p:nvSpPr>
        <p:spPr>
          <a:xfrm>
            <a:off x="3358896" y="4291584"/>
            <a:ext cx="1030224" cy="743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E25353A8-9520-4E6F-3C36-88949239402C}"/>
              </a:ext>
            </a:extLst>
          </p:cNvPr>
          <p:cNvSpPr txBox="1"/>
          <p:nvPr/>
        </p:nvSpPr>
        <p:spPr>
          <a:xfrm>
            <a:off x="11834945" y="5087869"/>
            <a:ext cx="4158078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1"/>
              </a:lnSpc>
              <a:spcBef>
                <a:spcPct val="0"/>
              </a:spcBef>
            </a:pPr>
            <a:r>
              <a:rPr lang="en-US" sz="1799" b="1" spc="-7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GRANDES (&gt;100 GB)</a:t>
            </a:r>
          </a:p>
        </p:txBody>
      </p:sp>
      <p:sp>
        <p:nvSpPr>
          <p:cNvPr id="23" name="Freeform 25">
            <a:extLst>
              <a:ext uri="{FF2B5EF4-FFF2-40B4-BE49-F238E27FC236}">
                <a16:creationId xmlns:a16="http://schemas.microsoft.com/office/drawing/2014/main" id="{7CAE1D3E-6367-221F-532A-4C4C8C11A899}"/>
              </a:ext>
            </a:extLst>
          </p:cNvPr>
          <p:cNvSpPr/>
          <p:nvPr/>
        </p:nvSpPr>
        <p:spPr>
          <a:xfrm>
            <a:off x="3600407" y="4370637"/>
            <a:ext cx="595028" cy="564054"/>
          </a:xfrm>
          <a:custGeom>
            <a:avLst/>
            <a:gdLst/>
            <a:ahLst/>
            <a:cxnLst/>
            <a:rect l="l" t="t" r="r" b="b"/>
            <a:pathLst>
              <a:path w="595028" h="564054">
                <a:moveTo>
                  <a:pt x="0" y="0"/>
                </a:moveTo>
                <a:lnTo>
                  <a:pt x="595028" y="0"/>
                </a:lnTo>
                <a:lnTo>
                  <a:pt x="595028" y="564053"/>
                </a:lnTo>
                <a:lnTo>
                  <a:pt x="0" y="56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A316-475A-8C4C-DD80-A495FC1E4078}"/>
              </a:ext>
            </a:extLst>
          </p:cNvPr>
          <p:cNvSpPr/>
          <p:nvPr/>
        </p:nvSpPr>
        <p:spPr>
          <a:xfrm>
            <a:off x="8350449" y="4352061"/>
            <a:ext cx="1030224" cy="743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6">
            <a:extLst>
              <a:ext uri="{FF2B5EF4-FFF2-40B4-BE49-F238E27FC236}">
                <a16:creationId xmlns:a16="http://schemas.microsoft.com/office/drawing/2014/main" id="{5A390191-77D6-EDF3-17F1-3AE1B6C46065}"/>
              </a:ext>
            </a:extLst>
          </p:cNvPr>
          <p:cNvSpPr/>
          <p:nvPr/>
        </p:nvSpPr>
        <p:spPr>
          <a:xfrm>
            <a:off x="8639300" y="4370637"/>
            <a:ext cx="452522" cy="577609"/>
          </a:xfrm>
          <a:custGeom>
            <a:avLst/>
            <a:gdLst/>
            <a:ahLst/>
            <a:cxnLst/>
            <a:rect l="l" t="t" r="r" b="b"/>
            <a:pathLst>
              <a:path w="452522" h="577609">
                <a:moveTo>
                  <a:pt x="0" y="0"/>
                </a:moveTo>
                <a:lnTo>
                  <a:pt x="452522" y="0"/>
                </a:lnTo>
                <a:lnTo>
                  <a:pt x="452522" y="577609"/>
                </a:lnTo>
                <a:lnTo>
                  <a:pt x="0" y="577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A2EDC0-57B5-3A18-E407-6D9D467C4013}"/>
              </a:ext>
            </a:extLst>
          </p:cNvPr>
          <p:cNvSpPr/>
          <p:nvPr/>
        </p:nvSpPr>
        <p:spPr>
          <a:xfrm>
            <a:off x="13333476" y="4315760"/>
            <a:ext cx="1030224" cy="743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7">
            <a:extLst>
              <a:ext uri="{FF2B5EF4-FFF2-40B4-BE49-F238E27FC236}">
                <a16:creationId xmlns:a16="http://schemas.microsoft.com/office/drawing/2014/main" id="{8570A2A6-2767-75C3-0053-5E716818F761}"/>
              </a:ext>
            </a:extLst>
          </p:cNvPr>
          <p:cNvSpPr/>
          <p:nvPr/>
        </p:nvSpPr>
        <p:spPr>
          <a:xfrm>
            <a:off x="13624561" y="4357081"/>
            <a:ext cx="578847" cy="577609"/>
          </a:xfrm>
          <a:custGeom>
            <a:avLst/>
            <a:gdLst/>
            <a:ahLst/>
            <a:cxnLst/>
            <a:rect l="l" t="t" r="r" b="b"/>
            <a:pathLst>
              <a:path w="578847" h="577609">
                <a:moveTo>
                  <a:pt x="0" y="0"/>
                </a:moveTo>
                <a:lnTo>
                  <a:pt x="578847" y="0"/>
                </a:lnTo>
                <a:lnTo>
                  <a:pt x="578847" y="577609"/>
                </a:lnTo>
                <a:lnTo>
                  <a:pt x="0" y="577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8"/>
          <p:cNvSpPr txBox="1"/>
          <p:nvPr/>
        </p:nvSpPr>
        <p:spPr>
          <a:xfrm>
            <a:off x="5222546" y="1194425"/>
            <a:ext cx="9216300" cy="152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HERRAMIENTAS</a:t>
            </a:r>
            <a:endParaRPr dirty="0"/>
          </a:p>
        </p:txBody>
      </p:sp>
      <p:sp>
        <p:nvSpPr>
          <p:cNvPr id="154" name="Google Shape;154;p8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47575019-A51E-FBBD-0338-DBBD43403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512848"/>
              </p:ext>
            </p:extLst>
          </p:nvPr>
        </p:nvGraphicFramePr>
        <p:xfrm>
          <a:off x="888358" y="2598624"/>
          <a:ext cx="11640691" cy="7263257"/>
        </p:xfrm>
        <a:graphic>
          <a:graphicData uri="http://schemas.openxmlformats.org/drawingml/2006/table">
            <a:tbl>
              <a:tblPr>
                <a:tableStyleId>{13F7F655-7023-4593-93E4-76ED9151A7D6}</a:tableStyleId>
              </a:tblPr>
              <a:tblGrid>
                <a:gridCol w="370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7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6485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 b="1">
                          <a:solidFill>
                            <a:schemeClr val="tx1"/>
                          </a:solidFill>
                          <a:sym typeface="Arian Bold"/>
                        </a:rPr>
                        <a:t>Herramienta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 b="1">
                          <a:solidFill>
                            <a:schemeClr val="tx1"/>
                          </a:solidFill>
                          <a:sym typeface="Arian Bold"/>
                        </a:rPr>
                        <a:t>Ventajas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 b="1" dirty="0" err="1">
                          <a:solidFill>
                            <a:schemeClr val="tx1"/>
                          </a:solidFill>
                          <a:sym typeface="Arian Bold"/>
                        </a:rPr>
                        <a:t>Desventajas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553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pg_dump (PostgreSQL)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Fácil de usar, copia lógica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Lento para bases grandes, no incluye configuraciones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553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pg_basebackup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Copia física, rápida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Requiere acceso al sistema de archivos, no granular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6553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SQL Server Management Studio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GUI intuitiva, diferencial incluido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Solo funciona con SQL Server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532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Barman (PostgreSQL)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Gestión de múltiples servidores, point-in-time recovery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Curva de aprendizaje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6553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rsync + snapshots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Versátil, útil en sistemas de archivos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riesgo de inconsistencia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8707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Servicios en la nube (AWS RDS Snapshots, GCP Cloud SQL backups)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>
                          <a:solidFill>
                            <a:schemeClr val="tx1"/>
                          </a:solidFill>
                          <a:sym typeface="Arian"/>
                        </a:rPr>
                        <a:t>Automatización, escalabilidad, alta disponibilidad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1865" dirty="0" err="1">
                          <a:solidFill>
                            <a:schemeClr val="tx1"/>
                          </a:solidFill>
                          <a:sym typeface="Arian"/>
                        </a:rPr>
                        <a:t>Dependencia</a:t>
                      </a:r>
                      <a:r>
                        <a:rPr lang="en-US" sz="1865" dirty="0">
                          <a:solidFill>
                            <a:schemeClr val="tx1"/>
                          </a:solidFill>
                          <a:sym typeface="Arian"/>
                        </a:rPr>
                        <a:t> del </a:t>
                      </a:r>
                      <a:r>
                        <a:rPr lang="en-US" sz="1865" dirty="0" err="1">
                          <a:solidFill>
                            <a:schemeClr val="tx1"/>
                          </a:solidFill>
                          <a:sym typeface="Arian"/>
                        </a:rPr>
                        <a:t>proveedor</a:t>
                      </a:r>
                      <a:r>
                        <a:rPr lang="en-US" sz="1865" dirty="0">
                          <a:solidFill>
                            <a:schemeClr val="tx1"/>
                          </a:solidFill>
                          <a:sym typeface="Arian"/>
                        </a:rPr>
                        <a:t>, </a:t>
                      </a:r>
                      <a:r>
                        <a:rPr lang="en-US" sz="1865" dirty="0" err="1">
                          <a:solidFill>
                            <a:schemeClr val="tx1"/>
                          </a:solidFill>
                          <a:sym typeface="Arian"/>
                        </a:rPr>
                        <a:t>costo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C6F4E138-3225-B97D-BB01-4122799F3DA8}"/>
              </a:ext>
            </a:extLst>
          </p:cNvPr>
          <p:cNvSpPr txBox="1"/>
          <p:nvPr/>
        </p:nvSpPr>
        <p:spPr>
          <a:xfrm>
            <a:off x="13411003" y="1959250"/>
            <a:ext cx="3988639" cy="3544977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612"/>
              </a:lnSpc>
            </a:pPr>
            <a:endParaRPr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53F242A-24DC-F01E-6261-4BF324AD6827}"/>
              </a:ext>
            </a:extLst>
          </p:cNvPr>
          <p:cNvGrpSpPr/>
          <p:nvPr/>
        </p:nvGrpSpPr>
        <p:grpSpPr>
          <a:xfrm>
            <a:off x="13314112" y="2206730"/>
            <a:ext cx="3988639" cy="3255655"/>
            <a:chOff x="0" y="0"/>
            <a:chExt cx="1050506" cy="85745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AFA7E0D-AE75-6A02-E7DC-278085018939}"/>
                </a:ext>
              </a:extLst>
            </p:cNvPr>
            <p:cNvSpPr/>
            <p:nvPr/>
          </p:nvSpPr>
          <p:spPr>
            <a:xfrm>
              <a:off x="0" y="0"/>
              <a:ext cx="1050506" cy="857457"/>
            </a:xfrm>
            <a:custGeom>
              <a:avLst/>
              <a:gdLst/>
              <a:ahLst/>
              <a:cxnLst/>
              <a:rect l="l" t="t" r="r" b="b"/>
              <a:pathLst>
                <a:path w="1050506" h="857457">
                  <a:moveTo>
                    <a:pt x="46584" y="0"/>
                  </a:moveTo>
                  <a:lnTo>
                    <a:pt x="1003922" y="0"/>
                  </a:lnTo>
                  <a:cubicBezTo>
                    <a:pt x="1016277" y="0"/>
                    <a:pt x="1028126" y="4908"/>
                    <a:pt x="1036862" y="13644"/>
                  </a:cubicBezTo>
                  <a:cubicBezTo>
                    <a:pt x="1045598" y="22380"/>
                    <a:pt x="1050506" y="34229"/>
                    <a:pt x="1050506" y="46584"/>
                  </a:cubicBezTo>
                  <a:lnTo>
                    <a:pt x="1050506" y="810873"/>
                  </a:lnTo>
                  <a:cubicBezTo>
                    <a:pt x="1050506" y="823228"/>
                    <a:pt x="1045598" y="835076"/>
                    <a:pt x="1036862" y="843812"/>
                  </a:cubicBezTo>
                  <a:cubicBezTo>
                    <a:pt x="1028126" y="852549"/>
                    <a:pt x="1016277" y="857457"/>
                    <a:pt x="1003922" y="857457"/>
                  </a:cubicBezTo>
                  <a:lnTo>
                    <a:pt x="46584" y="857457"/>
                  </a:lnTo>
                  <a:cubicBezTo>
                    <a:pt x="34229" y="857457"/>
                    <a:pt x="22380" y="852549"/>
                    <a:pt x="13644" y="843812"/>
                  </a:cubicBezTo>
                  <a:cubicBezTo>
                    <a:pt x="4908" y="835076"/>
                    <a:pt x="0" y="823228"/>
                    <a:pt x="0" y="810873"/>
                  </a:cubicBezTo>
                  <a:lnTo>
                    <a:pt x="0" y="46584"/>
                  </a:lnTo>
                  <a:cubicBezTo>
                    <a:pt x="0" y="34229"/>
                    <a:pt x="4908" y="22380"/>
                    <a:pt x="13644" y="13644"/>
                  </a:cubicBezTo>
                  <a:cubicBezTo>
                    <a:pt x="22380" y="4908"/>
                    <a:pt x="34229" y="0"/>
                    <a:pt x="465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E16AE5F-6BE3-1916-6098-7C2D3ADB9B49}"/>
                </a:ext>
              </a:extLst>
            </p:cNvPr>
            <p:cNvSpPr txBox="1"/>
            <p:nvPr/>
          </p:nvSpPr>
          <p:spPr>
            <a:xfrm>
              <a:off x="0" y="-76200"/>
              <a:ext cx="1050506" cy="9336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B518BA5-4CF4-76BC-B18A-BFB462EAEA50}"/>
              </a:ext>
            </a:extLst>
          </p:cNvPr>
          <p:cNvGrpSpPr/>
          <p:nvPr/>
        </p:nvGrpSpPr>
        <p:grpSpPr>
          <a:xfrm>
            <a:off x="13314112" y="6269052"/>
            <a:ext cx="3905580" cy="3029132"/>
            <a:chOff x="0" y="0"/>
            <a:chExt cx="1028630" cy="79779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C4A3AA0-81A5-A456-FDEB-789498ED574E}"/>
                </a:ext>
              </a:extLst>
            </p:cNvPr>
            <p:cNvSpPr/>
            <p:nvPr/>
          </p:nvSpPr>
          <p:spPr>
            <a:xfrm>
              <a:off x="0" y="0"/>
              <a:ext cx="1028630" cy="797796"/>
            </a:xfrm>
            <a:custGeom>
              <a:avLst/>
              <a:gdLst/>
              <a:ahLst/>
              <a:cxnLst/>
              <a:rect l="l" t="t" r="r" b="b"/>
              <a:pathLst>
                <a:path w="1028630" h="797796">
                  <a:moveTo>
                    <a:pt x="47575" y="0"/>
                  </a:moveTo>
                  <a:lnTo>
                    <a:pt x="981056" y="0"/>
                  </a:lnTo>
                  <a:cubicBezTo>
                    <a:pt x="993673" y="0"/>
                    <a:pt x="1005774" y="5012"/>
                    <a:pt x="1014696" y="13934"/>
                  </a:cubicBezTo>
                  <a:cubicBezTo>
                    <a:pt x="1023618" y="22856"/>
                    <a:pt x="1028630" y="34957"/>
                    <a:pt x="1028630" y="47575"/>
                  </a:cubicBezTo>
                  <a:lnTo>
                    <a:pt x="1028630" y="750222"/>
                  </a:lnTo>
                  <a:cubicBezTo>
                    <a:pt x="1028630" y="762839"/>
                    <a:pt x="1023618" y="774940"/>
                    <a:pt x="1014696" y="783862"/>
                  </a:cubicBezTo>
                  <a:cubicBezTo>
                    <a:pt x="1005774" y="792784"/>
                    <a:pt x="993673" y="797796"/>
                    <a:pt x="981056" y="797796"/>
                  </a:cubicBezTo>
                  <a:lnTo>
                    <a:pt x="47575" y="797796"/>
                  </a:lnTo>
                  <a:cubicBezTo>
                    <a:pt x="21300" y="797796"/>
                    <a:pt x="0" y="776496"/>
                    <a:pt x="0" y="750222"/>
                  </a:cubicBezTo>
                  <a:lnTo>
                    <a:pt x="0" y="47575"/>
                  </a:lnTo>
                  <a:cubicBezTo>
                    <a:pt x="0" y="34957"/>
                    <a:pt x="5012" y="22856"/>
                    <a:pt x="13934" y="13934"/>
                  </a:cubicBezTo>
                  <a:cubicBezTo>
                    <a:pt x="22856" y="5012"/>
                    <a:pt x="34957" y="0"/>
                    <a:pt x="475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271A4D0-16E1-E249-9488-785FD90B9C77}"/>
                </a:ext>
              </a:extLst>
            </p:cNvPr>
            <p:cNvSpPr txBox="1"/>
            <p:nvPr/>
          </p:nvSpPr>
          <p:spPr>
            <a:xfrm>
              <a:off x="0" y="-76200"/>
              <a:ext cx="1028630" cy="8739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1CAB6B6-1BCB-9686-AC45-A80C2837907B}"/>
              </a:ext>
            </a:extLst>
          </p:cNvPr>
          <p:cNvSpPr txBox="1"/>
          <p:nvPr/>
        </p:nvSpPr>
        <p:spPr>
          <a:xfrm>
            <a:off x="13528744" y="2886104"/>
            <a:ext cx="3690949" cy="22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1"/>
              </a:lnSpc>
              <a:spcBef>
                <a:spcPct val="0"/>
              </a:spcBef>
            </a:pPr>
            <a:r>
              <a:rPr lang="en-US" sz="1597" b="1" spc="-62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COPIA LÓGICA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DDA23C2-5C4F-D71A-6ED9-1E2C7BEEBFCA}"/>
              </a:ext>
            </a:extLst>
          </p:cNvPr>
          <p:cNvSpPr txBox="1"/>
          <p:nvPr/>
        </p:nvSpPr>
        <p:spPr>
          <a:xfrm>
            <a:off x="13462957" y="6889404"/>
            <a:ext cx="3690949" cy="22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1"/>
              </a:lnSpc>
              <a:spcBef>
                <a:spcPct val="0"/>
              </a:spcBef>
            </a:pPr>
            <a:r>
              <a:rPr lang="en-US" sz="1597" b="1" spc="-62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COPIA FÍSICA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FF4FC9-2762-6998-5F2D-BAC07F2A4AC1}"/>
              </a:ext>
            </a:extLst>
          </p:cNvPr>
          <p:cNvSpPr txBox="1"/>
          <p:nvPr/>
        </p:nvSpPr>
        <p:spPr>
          <a:xfrm>
            <a:off x="13462957" y="3377359"/>
            <a:ext cx="3690949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r>
              <a:rPr lang="en-US" sz="1799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Una </a:t>
            </a:r>
            <a:r>
              <a:rPr lang="en-US" sz="1799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copi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lógica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extrae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y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guarda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la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estructura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(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esquemas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tablas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índices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funciones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, etc.) y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contenido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(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registros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) de la base de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datos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en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un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formato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legible o portable (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ej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. SQL, JSON, CSV, etc.).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12B16B8-FCE3-0948-73D3-6F94D9FB4B1E}"/>
              </a:ext>
            </a:extLst>
          </p:cNvPr>
          <p:cNvSpPr txBox="1"/>
          <p:nvPr/>
        </p:nvSpPr>
        <p:spPr>
          <a:xfrm>
            <a:off x="13397171" y="7379204"/>
            <a:ext cx="3690949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r>
              <a:rPr lang="en-US" sz="1799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Una copi</a:t>
            </a: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a física replica los archivos binarios reales del sistema de almacenamiento que constituyen la base de datos: bloques de datos, archivos de control, transacciones activas,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-633891" y="-3953907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Google Shape;166;p9"/>
          <p:cNvSpPr txBox="1"/>
          <p:nvPr/>
        </p:nvSpPr>
        <p:spPr>
          <a:xfrm>
            <a:off x="858579" y="1276820"/>
            <a:ext cx="17429421" cy="33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AUTOMATIZACIÓN DE RESPALDOS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7100" b="1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9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1028700" y="3534462"/>
            <a:ext cx="16230600" cy="304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7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Ventajas de automatizar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Reducción de errores humanos.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Cumplimiento de políticas de retención.</a:t>
            </a:r>
          </a:p>
          <a:p>
            <a:pPr marL="457200" marR="0" lvl="0" indent="-45720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07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Fácil integración con cron </a:t>
            </a:r>
            <a:r>
              <a:rPr lang="es-ES" sz="307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jobs</a:t>
            </a:r>
            <a:r>
              <a:rPr lang="es-ES" sz="307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o herramientas de orquestación</a:t>
            </a:r>
          </a:p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307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830992" y="57251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22A0547-D119-7197-8DAC-7FAEEC17F97B}"/>
              </a:ext>
            </a:extLst>
          </p:cNvPr>
          <p:cNvSpPr/>
          <p:nvPr/>
        </p:nvSpPr>
        <p:spPr>
          <a:xfrm>
            <a:off x="830992" y="1581351"/>
            <a:ext cx="16840320" cy="5903969"/>
          </a:xfrm>
          <a:custGeom>
            <a:avLst/>
            <a:gdLst/>
            <a:ahLst/>
            <a:cxnLst/>
            <a:rect l="l" t="t" r="r" b="b"/>
            <a:pathLst>
              <a:path w="14190588" h="5742438">
                <a:moveTo>
                  <a:pt x="0" y="0"/>
                </a:moveTo>
                <a:lnTo>
                  <a:pt x="14190588" y="0"/>
                </a:lnTo>
                <a:lnTo>
                  <a:pt x="14190588" y="5742438"/>
                </a:lnTo>
                <a:lnTo>
                  <a:pt x="0" y="574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88" t="-12623" r="-5001" b="-94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9022D5D-9D3A-C065-5927-93B5AD189DE4}"/>
              </a:ext>
            </a:extLst>
          </p:cNvPr>
          <p:cNvSpPr txBox="1"/>
          <p:nvPr/>
        </p:nvSpPr>
        <p:spPr>
          <a:xfrm>
            <a:off x="1134306" y="8193313"/>
            <a:ext cx="1419058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7"/>
              </a:lnSpc>
            </a:pPr>
            <a:r>
              <a:rPr lang="en-US" sz="2199" b="1" spc="-85" dirty="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Cron</a:t>
            </a:r>
            <a:r>
              <a:rPr lang="en-US" sz="2199" spc="-85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</a:p>
          <a:p>
            <a:pPr marL="0" lvl="0" indent="0" algn="just">
              <a:lnSpc>
                <a:spcPts val="2397"/>
              </a:lnSpc>
              <a:spcBef>
                <a:spcPct val="0"/>
              </a:spcBef>
            </a:pPr>
            <a:r>
              <a:rPr lang="en-US" sz="2199" spc="-85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0</a:t>
            </a:r>
            <a:r>
              <a:rPr lang="en-US" sz="2199" u="none" strike="noStrike" spc="-85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2 * * * /home/user/scripts/script.sh &gt;&gt; /var/log/db_backup.log 2&gt;&amp;1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/>
        </p:nvSpPr>
        <p:spPr>
          <a:xfrm>
            <a:off x="915724" y="53014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2308794" y="1182387"/>
            <a:ext cx="15362517" cy="31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99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PLANIFICACIÓN DE RESPALDOS</a:t>
            </a:r>
          </a:p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7299" b="1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57B9E149-1A27-8089-4EAE-A065D5DE1EDF}"/>
              </a:ext>
            </a:extLst>
          </p:cNvPr>
          <p:cNvGrpSpPr/>
          <p:nvPr/>
        </p:nvGrpSpPr>
        <p:grpSpPr>
          <a:xfrm>
            <a:off x="6301408" y="3646152"/>
            <a:ext cx="5685183" cy="1007800"/>
            <a:chOff x="0" y="0"/>
            <a:chExt cx="1497332" cy="26542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7777839C-6C99-E2FB-7252-2A8AD10A680B}"/>
                </a:ext>
              </a:extLst>
            </p:cNvPr>
            <p:cNvSpPr/>
            <p:nvPr/>
          </p:nvSpPr>
          <p:spPr>
            <a:xfrm>
              <a:off x="0" y="0"/>
              <a:ext cx="1497332" cy="265429"/>
            </a:xfrm>
            <a:custGeom>
              <a:avLst/>
              <a:gdLst/>
              <a:ahLst/>
              <a:cxnLst/>
              <a:rect l="l" t="t" r="r" b="b"/>
              <a:pathLst>
                <a:path w="1497332" h="265429">
                  <a:moveTo>
                    <a:pt x="32683" y="0"/>
                  </a:moveTo>
                  <a:lnTo>
                    <a:pt x="1464650" y="0"/>
                  </a:lnTo>
                  <a:cubicBezTo>
                    <a:pt x="1482700" y="0"/>
                    <a:pt x="1497332" y="14632"/>
                    <a:pt x="1497332" y="32683"/>
                  </a:cubicBezTo>
                  <a:lnTo>
                    <a:pt x="1497332" y="232746"/>
                  </a:lnTo>
                  <a:cubicBezTo>
                    <a:pt x="1497332" y="241414"/>
                    <a:pt x="1493889" y="249727"/>
                    <a:pt x="1487760" y="255856"/>
                  </a:cubicBezTo>
                  <a:cubicBezTo>
                    <a:pt x="1481630" y="261986"/>
                    <a:pt x="1473318" y="265429"/>
                    <a:pt x="1464650" y="265429"/>
                  </a:cubicBezTo>
                  <a:lnTo>
                    <a:pt x="32683" y="265429"/>
                  </a:lnTo>
                  <a:cubicBezTo>
                    <a:pt x="14632" y="265429"/>
                    <a:pt x="0" y="250796"/>
                    <a:pt x="0" y="232746"/>
                  </a:cubicBezTo>
                  <a:lnTo>
                    <a:pt x="0" y="32683"/>
                  </a:lnTo>
                  <a:cubicBezTo>
                    <a:pt x="0" y="14632"/>
                    <a:pt x="14632" y="0"/>
                    <a:pt x="326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95BEAEA6-27C7-CF76-38B5-5FD7BEB5255E}"/>
                </a:ext>
              </a:extLst>
            </p:cNvPr>
            <p:cNvSpPr txBox="1"/>
            <p:nvPr/>
          </p:nvSpPr>
          <p:spPr>
            <a:xfrm>
              <a:off x="0" y="-76200"/>
              <a:ext cx="1497332" cy="3416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D00B1BF4-9CB0-E034-F946-A15BE95EFCB1}"/>
              </a:ext>
            </a:extLst>
          </p:cNvPr>
          <p:cNvGrpSpPr/>
          <p:nvPr/>
        </p:nvGrpSpPr>
        <p:grpSpPr>
          <a:xfrm>
            <a:off x="6301408" y="5093523"/>
            <a:ext cx="5685183" cy="1158656"/>
            <a:chOff x="0" y="0"/>
            <a:chExt cx="1497332" cy="305160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B040B5AC-6022-7658-D418-9A95972FD8AF}"/>
                </a:ext>
              </a:extLst>
            </p:cNvPr>
            <p:cNvSpPr/>
            <p:nvPr/>
          </p:nvSpPr>
          <p:spPr>
            <a:xfrm>
              <a:off x="0" y="0"/>
              <a:ext cx="1497332" cy="305160"/>
            </a:xfrm>
            <a:custGeom>
              <a:avLst/>
              <a:gdLst/>
              <a:ahLst/>
              <a:cxnLst/>
              <a:rect l="l" t="t" r="r" b="b"/>
              <a:pathLst>
                <a:path w="1497332" h="305160">
                  <a:moveTo>
                    <a:pt x="32683" y="0"/>
                  </a:moveTo>
                  <a:lnTo>
                    <a:pt x="1464650" y="0"/>
                  </a:lnTo>
                  <a:cubicBezTo>
                    <a:pt x="1482700" y="0"/>
                    <a:pt x="1497332" y="14632"/>
                    <a:pt x="1497332" y="32683"/>
                  </a:cubicBezTo>
                  <a:lnTo>
                    <a:pt x="1497332" y="272478"/>
                  </a:lnTo>
                  <a:cubicBezTo>
                    <a:pt x="1497332" y="290528"/>
                    <a:pt x="1482700" y="305160"/>
                    <a:pt x="1464650" y="305160"/>
                  </a:cubicBezTo>
                  <a:lnTo>
                    <a:pt x="32683" y="305160"/>
                  </a:lnTo>
                  <a:cubicBezTo>
                    <a:pt x="24015" y="305160"/>
                    <a:pt x="15702" y="301717"/>
                    <a:pt x="9572" y="295588"/>
                  </a:cubicBezTo>
                  <a:cubicBezTo>
                    <a:pt x="3443" y="289459"/>
                    <a:pt x="0" y="281146"/>
                    <a:pt x="0" y="272478"/>
                  </a:cubicBezTo>
                  <a:lnTo>
                    <a:pt x="0" y="32683"/>
                  </a:lnTo>
                  <a:cubicBezTo>
                    <a:pt x="0" y="14632"/>
                    <a:pt x="14632" y="0"/>
                    <a:pt x="326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0D8F562E-392E-BD5C-0048-FC07BA1100F3}"/>
                </a:ext>
              </a:extLst>
            </p:cNvPr>
            <p:cNvSpPr txBox="1"/>
            <p:nvPr/>
          </p:nvSpPr>
          <p:spPr>
            <a:xfrm>
              <a:off x="0" y="-76200"/>
              <a:ext cx="1497332" cy="38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13">
            <a:extLst>
              <a:ext uri="{FF2B5EF4-FFF2-40B4-BE49-F238E27FC236}">
                <a16:creationId xmlns:a16="http://schemas.microsoft.com/office/drawing/2014/main" id="{0D21BDFA-8CC2-1A99-B250-FAE037336FD6}"/>
              </a:ext>
            </a:extLst>
          </p:cNvPr>
          <p:cNvSpPr txBox="1"/>
          <p:nvPr/>
        </p:nvSpPr>
        <p:spPr>
          <a:xfrm>
            <a:off x="6599099" y="4242008"/>
            <a:ext cx="5089802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cuánto tiempo puede estar inactivo el sistema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715266B-2A7B-51F1-12A6-83BC14E33A8F}"/>
              </a:ext>
            </a:extLst>
          </p:cNvPr>
          <p:cNvSpPr txBox="1"/>
          <p:nvPr/>
        </p:nvSpPr>
        <p:spPr>
          <a:xfrm>
            <a:off x="7064961" y="3864675"/>
            <a:ext cx="4158078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1"/>
              </a:lnSpc>
              <a:spcBef>
                <a:spcPct val="0"/>
              </a:spcBef>
            </a:pPr>
            <a:r>
              <a:rPr lang="en-US" sz="1799" b="1" spc="-7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RTO (Recovery Time Objective)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D077314-F1CC-F073-C2F2-4BF05103B467}"/>
              </a:ext>
            </a:extLst>
          </p:cNvPr>
          <p:cNvSpPr txBox="1"/>
          <p:nvPr/>
        </p:nvSpPr>
        <p:spPr>
          <a:xfrm>
            <a:off x="6599099" y="5785185"/>
            <a:ext cx="5089802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r>
              <a:rPr lang="en-US" sz="1799" u="none" strike="noStrike" spc="-7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cuánto tiempo de datos se puede perder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2AEA529A-3370-EBA1-143F-A271BE960E51}"/>
              </a:ext>
            </a:extLst>
          </p:cNvPr>
          <p:cNvSpPr txBox="1"/>
          <p:nvPr/>
        </p:nvSpPr>
        <p:spPr>
          <a:xfrm>
            <a:off x="7064961" y="5358012"/>
            <a:ext cx="4158078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1"/>
              </a:lnSpc>
              <a:spcBef>
                <a:spcPct val="0"/>
              </a:spcBef>
            </a:pPr>
            <a:r>
              <a:rPr lang="en-US" sz="1799" b="1" spc="-7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RPO (Recovery Point Objective)</a:t>
            </a:r>
          </a:p>
        </p:txBody>
      </p:sp>
      <p:grpSp>
        <p:nvGrpSpPr>
          <p:cNvPr id="12" name="Group 18">
            <a:extLst>
              <a:ext uri="{FF2B5EF4-FFF2-40B4-BE49-F238E27FC236}">
                <a16:creationId xmlns:a16="http://schemas.microsoft.com/office/drawing/2014/main" id="{913D0468-7456-5E4A-E6E2-4ECE55BB42C2}"/>
              </a:ext>
            </a:extLst>
          </p:cNvPr>
          <p:cNvGrpSpPr/>
          <p:nvPr/>
        </p:nvGrpSpPr>
        <p:grpSpPr>
          <a:xfrm>
            <a:off x="6301408" y="6625877"/>
            <a:ext cx="5685183" cy="1324773"/>
            <a:chOff x="0" y="0"/>
            <a:chExt cx="1497332" cy="348911"/>
          </a:xfrm>
        </p:grpSpPr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B462C0B6-1E15-AA84-83C4-B7BB186A059C}"/>
                </a:ext>
              </a:extLst>
            </p:cNvPr>
            <p:cNvSpPr/>
            <p:nvPr/>
          </p:nvSpPr>
          <p:spPr>
            <a:xfrm>
              <a:off x="0" y="0"/>
              <a:ext cx="1497332" cy="348911"/>
            </a:xfrm>
            <a:custGeom>
              <a:avLst/>
              <a:gdLst/>
              <a:ahLst/>
              <a:cxnLst/>
              <a:rect l="l" t="t" r="r" b="b"/>
              <a:pathLst>
                <a:path w="1497332" h="348911">
                  <a:moveTo>
                    <a:pt x="32683" y="0"/>
                  </a:moveTo>
                  <a:lnTo>
                    <a:pt x="1464650" y="0"/>
                  </a:lnTo>
                  <a:cubicBezTo>
                    <a:pt x="1482700" y="0"/>
                    <a:pt x="1497332" y="14632"/>
                    <a:pt x="1497332" y="32683"/>
                  </a:cubicBezTo>
                  <a:lnTo>
                    <a:pt x="1497332" y="316229"/>
                  </a:lnTo>
                  <a:cubicBezTo>
                    <a:pt x="1497332" y="324897"/>
                    <a:pt x="1493889" y="333210"/>
                    <a:pt x="1487760" y="339339"/>
                  </a:cubicBezTo>
                  <a:cubicBezTo>
                    <a:pt x="1481630" y="345468"/>
                    <a:pt x="1473318" y="348911"/>
                    <a:pt x="1464650" y="348911"/>
                  </a:cubicBezTo>
                  <a:lnTo>
                    <a:pt x="32683" y="348911"/>
                  </a:lnTo>
                  <a:cubicBezTo>
                    <a:pt x="14632" y="348911"/>
                    <a:pt x="0" y="334279"/>
                    <a:pt x="0" y="316229"/>
                  </a:cubicBezTo>
                  <a:lnTo>
                    <a:pt x="0" y="32683"/>
                  </a:lnTo>
                  <a:cubicBezTo>
                    <a:pt x="0" y="14632"/>
                    <a:pt x="14632" y="0"/>
                    <a:pt x="326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EA393D7D-4B14-B68E-CE84-F3C8BFE76EEF}"/>
                </a:ext>
              </a:extLst>
            </p:cNvPr>
            <p:cNvSpPr txBox="1"/>
            <p:nvPr/>
          </p:nvSpPr>
          <p:spPr>
            <a:xfrm>
              <a:off x="0" y="-76200"/>
              <a:ext cx="1497332" cy="425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21">
            <a:extLst>
              <a:ext uri="{FF2B5EF4-FFF2-40B4-BE49-F238E27FC236}">
                <a16:creationId xmlns:a16="http://schemas.microsoft.com/office/drawing/2014/main" id="{472DD4BD-A5FB-AE2D-A2E1-FF9F6F98C038}"/>
              </a:ext>
            </a:extLst>
          </p:cNvPr>
          <p:cNvSpPr txBox="1"/>
          <p:nvPr/>
        </p:nvSpPr>
        <p:spPr>
          <a:xfrm>
            <a:off x="7064961" y="6852254"/>
            <a:ext cx="4158078" cy="2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1"/>
              </a:lnSpc>
              <a:spcBef>
                <a:spcPct val="0"/>
              </a:spcBef>
            </a:pPr>
            <a:r>
              <a:rPr lang="en-US" sz="1799" b="1" spc="-70">
                <a:solidFill>
                  <a:schemeClr val="tx1"/>
                </a:solidFill>
                <a:latin typeface="TT Hoves Bold"/>
                <a:ea typeface="TT Hoves Bold"/>
                <a:cs typeface="TT Hoves Bold"/>
                <a:sym typeface="TT Hoves Bold"/>
              </a:rPr>
              <a:t>Tasa de cambio de datos</a:t>
            </a: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6E6A4CF4-C5C6-69CC-3D6A-2697C6B34679}"/>
              </a:ext>
            </a:extLst>
          </p:cNvPr>
          <p:cNvSpPr txBox="1"/>
          <p:nvPr/>
        </p:nvSpPr>
        <p:spPr>
          <a:xfrm>
            <a:off x="6599099" y="7229825"/>
            <a:ext cx="5089802" cy="51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61"/>
              </a:lnSpc>
              <a:spcBef>
                <a:spcPct val="0"/>
              </a:spcBef>
            </a:pPr>
            <a:r>
              <a:rPr lang="en-US" sz="1799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sis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temas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con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alta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frecuencia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de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actualización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necesitan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respaldos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más</a:t>
            </a:r>
            <a:r>
              <a:rPr lang="en-US" sz="1799" u="none" strike="noStrike" spc="-70" dirty="0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799" u="none" strike="noStrike" spc="-70" dirty="0" err="1">
                <a:solidFill>
                  <a:schemeClr val="tx1"/>
                </a:solidFill>
                <a:latin typeface="TT Hoves"/>
                <a:ea typeface="TT Hoves"/>
                <a:cs typeface="TT Hoves"/>
                <a:sym typeface="TT Hoves"/>
              </a:rPr>
              <a:t>frecuentes</a:t>
            </a:r>
            <a:endParaRPr lang="en-US" sz="1799" u="none" strike="noStrike" spc="-70" dirty="0">
              <a:solidFill>
                <a:schemeClr val="tx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3775434" y="2651212"/>
            <a:ext cx="11272039" cy="66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44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 y automatiza estrategias de respaldo y recuperación de bases de datos, seleccionando adecuadamente el tipo de respaldo (completo, incremental y diferencial) y las herramientas más convenientes según el tamaño, uso y criticidad de la información</a:t>
            </a:r>
            <a:endParaRPr lang="es-E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507390" y="1000125"/>
            <a:ext cx="135033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None/>
            </a:pPr>
            <a:r>
              <a:rPr lang="en-US" sz="8800" b="1" i="0" dirty="0">
                <a:effectLst/>
                <a:latin typeface="fkGrotesk"/>
              </a:rPr>
              <a:t>RESPONSABILIDAD</a:t>
            </a:r>
          </a:p>
        </p:txBody>
      </p:sp>
      <p:sp>
        <p:nvSpPr>
          <p:cNvPr id="3" name="Google Shape;171;p7">
            <a:extLst>
              <a:ext uri="{FF2B5EF4-FFF2-40B4-BE49-F238E27FC236}">
                <a16:creationId xmlns:a16="http://schemas.microsoft.com/office/drawing/2014/main" id="{E93ED446-D29E-F061-D7B9-4B31C430624D}"/>
              </a:ext>
            </a:extLst>
          </p:cNvPr>
          <p:cNvSpPr txBox="1"/>
          <p:nvPr/>
        </p:nvSpPr>
        <p:spPr>
          <a:xfrm>
            <a:off x="2507389" y="2479988"/>
            <a:ext cx="12442095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s-ES" sz="4000" b="0" dirty="0">
                <a:effectLst/>
                <a:latin typeface="+mj-lt"/>
              </a:rPr>
              <a:t>“La RESPONSABILIDAD en respaldos significa proteger activamente los datos organizacionales mediante estrategias planificadas y automatizadas, asegurando que siempre haya una copia segura y recuperable"</a:t>
            </a:r>
            <a:endParaRPr sz="1400" b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1;p7">
            <a:extLst>
              <a:ext uri="{FF2B5EF4-FFF2-40B4-BE49-F238E27FC236}">
                <a16:creationId xmlns:a16="http://schemas.microsoft.com/office/drawing/2014/main" id="{5E187018-7A84-3C15-39D4-3DD811377B94}"/>
              </a:ext>
            </a:extLst>
          </p:cNvPr>
          <p:cNvSpPr txBox="1"/>
          <p:nvPr/>
        </p:nvSpPr>
        <p:spPr>
          <a:xfrm>
            <a:off x="2507388" y="7384283"/>
            <a:ext cx="12442095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s-ES" sz="3200" b="0" dirty="0">
                <a:effectLst/>
                <a:latin typeface="+mj-lt"/>
              </a:rPr>
              <a:t>Si no hay respaldos y el servidor falla, la empresa pierde años de datos valiosos</a:t>
            </a:r>
            <a:endParaRPr sz="1100" b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4" name="Google Shape;184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1;p8">
            <a:extLst>
              <a:ext uri="{FF2B5EF4-FFF2-40B4-BE49-F238E27FC236}">
                <a16:creationId xmlns:a16="http://schemas.microsoft.com/office/drawing/2014/main" id="{E09DCDFF-15ED-CD08-EE5C-518965EDA413}"/>
              </a:ext>
            </a:extLst>
          </p:cNvPr>
          <p:cNvSpPr txBox="1"/>
          <p:nvPr/>
        </p:nvSpPr>
        <p:spPr>
          <a:xfrm>
            <a:off x="962526" y="4361449"/>
            <a:ext cx="16435137" cy="301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9"/>
              </a:lnSpc>
              <a:buSzPts val="3151"/>
            </a:pPr>
            <a:r>
              <a:rPr lang="en-US" sz="3151" dirty="0">
                <a:solidFill>
                  <a:srgbClr val="131416"/>
                </a:solidFill>
                <a:hlinkClick r:id="rId4"/>
              </a:rPr>
              <a:t>https://www.computerweekly.com/es/consejo/Completa-vs-incremental-vs-diferencial-Comparamos-los-tipos-de-respaldo</a:t>
            </a:r>
            <a:endParaRPr lang="en-US" sz="3151" dirty="0">
              <a:solidFill>
                <a:srgbClr val="131416"/>
              </a:solidFill>
            </a:endParaRPr>
          </a:p>
          <a:p>
            <a:pPr lvl="0" algn="ctr">
              <a:lnSpc>
                <a:spcPct val="140019"/>
              </a:lnSpc>
              <a:buSzPts val="3151"/>
            </a:pPr>
            <a:endParaRPr lang="en-US" sz="3151" dirty="0">
              <a:solidFill>
                <a:srgbClr val="131416"/>
              </a:solidFill>
            </a:endParaRPr>
          </a:p>
          <a:p>
            <a:pPr lvl="0" algn="ctr">
              <a:lnSpc>
                <a:spcPct val="140019"/>
              </a:lnSpc>
              <a:buSzPts val="3151"/>
            </a:pPr>
            <a:r>
              <a:rPr lang="en-US" sz="3151" dirty="0">
                <a:solidFill>
                  <a:srgbClr val="131416"/>
                </a:solidFill>
                <a:hlinkClick r:id="rId5"/>
              </a:rPr>
              <a:t>https://codigofacilito.com/articulos/realizar-respaldo-base-de-datos</a:t>
            </a:r>
            <a:endParaRPr lang="en-US" sz="3151" dirty="0">
              <a:solidFill>
                <a:srgbClr val="131416"/>
              </a:solidFill>
            </a:endParaRPr>
          </a:p>
          <a:p>
            <a:pPr lvl="0" algn="ctr">
              <a:lnSpc>
                <a:spcPct val="140019"/>
              </a:lnSpc>
              <a:buSzPts val="3151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262177b_0_2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2" name="Google Shape;192;g364f262177b_0_2" title="Gemini_Generated_Image_u2i06ou2i06ou2i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4afea4f63_0_14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3946352" y="5143500"/>
            <a:ext cx="10395289" cy="230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7200" b="0" i="0" u="none" strike="noStrike" cap="none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9"/>
          <p:cNvSpPr txBox="1"/>
          <p:nvPr/>
        </p:nvSpPr>
        <p:spPr>
          <a:xfrm>
            <a:off x="2050150" y="7217412"/>
            <a:ext cx="13465804" cy="109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1085</Words>
  <Application>Microsoft Office PowerPoint</Application>
  <PresentationFormat>Custom</PresentationFormat>
  <Paragraphs>161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DM Sans</vt:lpstr>
      <vt:lpstr>Calibri</vt:lpstr>
      <vt:lpstr>fkGrotesk</vt:lpstr>
      <vt:lpstr>Impact</vt:lpstr>
      <vt:lpstr>Arian</vt:lpstr>
      <vt:lpstr>Arial</vt:lpstr>
      <vt:lpstr>Open Sans</vt:lpstr>
      <vt:lpstr>Arian Bold</vt:lpstr>
      <vt:lpstr>TT Hoves</vt:lpstr>
      <vt:lpstr>Lobster</vt:lpstr>
      <vt:lpstr>Pacifico</vt:lpstr>
      <vt:lpstr>TT Hoves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joshua vasquez</dc:creator>
  <cp:lastModifiedBy>Joshua Vasquez</cp:lastModifiedBy>
  <cp:revision>7</cp:revision>
  <dcterms:created xsi:type="dcterms:W3CDTF">2006-08-16T00:00:00Z</dcterms:created>
  <dcterms:modified xsi:type="dcterms:W3CDTF">2025-12-14T02:22:51Z</dcterms:modified>
</cp:coreProperties>
</file>