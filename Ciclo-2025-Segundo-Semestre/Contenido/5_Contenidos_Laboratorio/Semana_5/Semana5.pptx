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embeddedFontLst>
    <p:embeddedFont>
      <p:font typeface="Lobster"/>
      <p:regular r:id="rId32"/>
    </p:embeddedFont>
    <p:embeddedFont>
      <p:font typeface="Pacifico"/>
      <p:regular r:id="rId33"/>
    </p:embeddedFont>
    <p:embeddedFont>
      <p:font typeface="DM Sans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hw/ykTzDEOjQgItiFqgSBEdGve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233DD2-D522-4B32-85B0-6BDA7BC3BDE9}">
  <a:tblStyle styleId="{C4233DD2-D522-4B32-85B0-6BDA7BC3BDE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6682626E-E580-470A-9FAC-9BD58406914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acifico-regular.fntdata"/><Relationship Id="rId10" Type="http://schemas.openxmlformats.org/officeDocument/2006/relationships/slide" Target="slides/slide4.xml"/><Relationship Id="rId32" Type="http://schemas.openxmlformats.org/officeDocument/2006/relationships/font" Target="fonts/Lobster-regular.fntdata"/><Relationship Id="rId13" Type="http://schemas.openxmlformats.org/officeDocument/2006/relationships/slide" Target="slides/slide7.xml"/><Relationship Id="rId35" Type="http://schemas.openxmlformats.org/officeDocument/2006/relationships/font" Target="fonts/DMSans-bold.fntdata"/><Relationship Id="rId12" Type="http://schemas.openxmlformats.org/officeDocument/2006/relationships/slide" Target="slides/slide6.xml"/><Relationship Id="rId34" Type="http://schemas.openxmlformats.org/officeDocument/2006/relationships/font" Target="fonts/DMSans-regular.fntdata"/><Relationship Id="rId15" Type="http://schemas.openxmlformats.org/officeDocument/2006/relationships/slide" Target="slides/slide9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8.xml"/><Relationship Id="rId36" Type="http://schemas.openxmlformats.org/officeDocument/2006/relationships/font" Target="fonts/DMSans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hyperlink" Target="https://www.acronis.com/es/blog/posts/incremental-differential-backups/" TargetMode="External"/><Relationship Id="rId5" Type="http://schemas.openxmlformats.org/officeDocument/2006/relationships/hyperlink" Target="https://www.purestorage.com/es/knowledge/what-is-mysqldump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3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Emiliano Velasquez Najera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DE BASES DE DATOS 2 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15565479" y="2125642"/>
            <a:ext cx="1904374" cy="40098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02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/26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4"/>
          <p:cNvSpPr txBox="1"/>
          <p:nvPr/>
        </p:nvSpPr>
        <p:spPr>
          <a:xfrm>
            <a:off x="890248" y="7555025"/>
            <a:ext cx="933659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 de Bases de datos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34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34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34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4"/>
          <p:cNvSpPr txBox="1"/>
          <p:nvPr/>
        </p:nvSpPr>
        <p:spPr>
          <a:xfrm>
            <a:off x="3740559" y="4003027"/>
            <a:ext cx="12132289" cy="1895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Recuperación de Datos</a:t>
            </a:r>
            <a:endParaRPr b="0" i="0" sz="8800" u="none" cap="none" strike="noStrike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4"/>
          <p:cNvSpPr txBox="1"/>
          <p:nvPr/>
        </p:nvSpPr>
        <p:spPr>
          <a:xfrm>
            <a:off x="5686960" y="1654757"/>
            <a:ext cx="9904619" cy="2588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13"/>
              <a:buFont typeface="Arial"/>
              <a:buNone/>
            </a:pPr>
            <a:r>
              <a:rPr b="1" i="0" lang="en-US" sz="12013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SEMANA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5"/>
          <p:cNvGrpSpPr/>
          <p:nvPr/>
        </p:nvGrpSpPr>
        <p:grpSpPr>
          <a:xfrm>
            <a:off x="389270" y="3232617"/>
            <a:ext cx="13262934" cy="845385"/>
            <a:chOff x="0" y="-76200"/>
            <a:chExt cx="5646699" cy="359923"/>
          </a:xfrm>
        </p:grpSpPr>
        <p:sp>
          <p:nvSpPr>
            <p:cNvPr id="108" name="Google Shape;108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5"/>
            <p:cNvSpPr txBox="1"/>
            <p:nvPr/>
          </p:nvSpPr>
          <p:spPr>
            <a:xfrm>
              <a:off x="0" y="-76200"/>
              <a:ext cx="564669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las estrategias de recuperación de datos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35"/>
          <p:cNvSpPr/>
          <p:nvPr/>
        </p:nvSpPr>
        <p:spPr>
          <a:xfrm>
            <a:off x="1091305" y="34525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5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35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3" name="Google Shape;113;p35"/>
          <p:cNvGrpSpPr/>
          <p:nvPr/>
        </p:nvGrpSpPr>
        <p:grpSpPr>
          <a:xfrm>
            <a:off x="389270" y="4156435"/>
            <a:ext cx="13262934" cy="845385"/>
            <a:chOff x="0" y="-76200"/>
            <a:chExt cx="5646699" cy="359923"/>
          </a:xfrm>
        </p:grpSpPr>
        <p:sp>
          <p:nvSpPr>
            <p:cNvPr id="114" name="Google Shape;114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5"/>
            <p:cNvSpPr txBox="1"/>
            <p:nvPr/>
          </p:nvSpPr>
          <p:spPr>
            <a:xfrm>
              <a:off x="0" y="-76200"/>
              <a:ext cx="564669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Recuperación de bases de datos utilizando respaldos completos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35"/>
          <p:cNvGrpSpPr/>
          <p:nvPr/>
        </p:nvGrpSpPr>
        <p:grpSpPr>
          <a:xfrm>
            <a:off x="389270" y="5138008"/>
            <a:ext cx="14005155" cy="845385"/>
            <a:chOff x="0" y="-76200"/>
            <a:chExt cx="5962700" cy="359923"/>
          </a:xfrm>
        </p:grpSpPr>
        <p:sp>
          <p:nvSpPr>
            <p:cNvPr id="117" name="Google Shape;117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5"/>
            <p:cNvSpPr txBox="1"/>
            <p:nvPr/>
          </p:nvSpPr>
          <p:spPr>
            <a:xfrm>
              <a:off x="0" y="-76200"/>
              <a:ext cx="596270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Recuperación con respaldos incrementales y diferenciales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35"/>
          <p:cNvGrpSpPr/>
          <p:nvPr/>
        </p:nvGrpSpPr>
        <p:grpSpPr>
          <a:xfrm>
            <a:off x="389270" y="6061590"/>
            <a:ext cx="12309091" cy="845385"/>
            <a:chOff x="0" y="-76200"/>
            <a:chExt cx="5240600" cy="359923"/>
          </a:xfrm>
        </p:grpSpPr>
        <p:sp>
          <p:nvSpPr>
            <p:cNvPr id="120" name="Google Shape;120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5"/>
            <p:cNvSpPr txBox="1"/>
            <p:nvPr/>
          </p:nvSpPr>
          <p:spPr>
            <a:xfrm>
              <a:off x="0" y="-76200"/>
              <a:ext cx="524060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Técnicas avanzadas de recuperación de datos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35"/>
          <p:cNvGrpSpPr/>
          <p:nvPr/>
        </p:nvGrpSpPr>
        <p:grpSpPr>
          <a:xfrm>
            <a:off x="389270" y="7125048"/>
            <a:ext cx="14963802" cy="845385"/>
            <a:chOff x="0" y="-76200"/>
            <a:chExt cx="6370844" cy="359923"/>
          </a:xfrm>
        </p:grpSpPr>
        <p:sp>
          <p:nvSpPr>
            <p:cNvPr id="123" name="Google Shape;123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5"/>
            <p:cNvSpPr txBox="1"/>
            <p:nvPr/>
          </p:nvSpPr>
          <p:spPr>
            <a:xfrm>
              <a:off x="0" y="-76200"/>
              <a:ext cx="637084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 y utilidades para la recuperación de bases de datos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35"/>
          <p:cNvSpPr/>
          <p:nvPr/>
        </p:nvSpPr>
        <p:spPr>
          <a:xfrm>
            <a:off x="1091305" y="433541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5"/>
          <p:cNvSpPr/>
          <p:nvPr/>
        </p:nvSpPr>
        <p:spPr>
          <a:xfrm>
            <a:off x="1091305" y="531698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5"/>
          <p:cNvSpPr/>
          <p:nvPr/>
        </p:nvSpPr>
        <p:spPr>
          <a:xfrm>
            <a:off x="1091305" y="63167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5"/>
          <p:cNvSpPr/>
          <p:nvPr/>
        </p:nvSpPr>
        <p:spPr>
          <a:xfrm>
            <a:off x="1091305" y="73176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5"/>
          <p:cNvSpPr/>
          <p:nvPr/>
        </p:nvSpPr>
        <p:spPr>
          <a:xfrm>
            <a:off x="1102136" y="835497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35"/>
          <p:cNvGrpSpPr/>
          <p:nvPr/>
        </p:nvGrpSpPr>
        <p:grpSpPr>
          <a:xfrm>
            <a:off x="1555494" y="8059685"/>
            <a:ext cx="14476004" cy="845385"/>
            <a:chOff x="-109249" y="-76200"/>
            <a:chExt cx="6027966" cy="359923"/>
          </a:xfrm>
        </p:grpSpPr>
        <p:sp>
          <p:nvSpPr>
            <p:cNvPr id="131" name="Google Shape;131;p3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5"/>
            <p:cNvSpPr txBox="1"/>
            <p:nvPr/>
          </p:nvSpPr>
          <p:spPr>
            <a:xfrm>
              <a:off x="-109249" y="-76200"/>
              <a:ext cx="6027966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Uso de python para lectura y limpieza de datos con conexión a base de datos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8" name="Google Shape;138;p36"/>
          <p:cNvSpPr txBox="1"/>
          <p:nvPr/>
        </p:nvSpPr>
        <p:spPr>
          <a:xfrm>
            <a:off x="5389046" y="2358583"/>
            <a:ext cx="12748840" cy="6980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diseña e implementa estrategias completas de recuperación de datos en bases de datos SQL, seleccionando técnicas apropiadas (respaldos completos, incrementales, diferenciales y PITR) según RTO/RPO de la organización. Utiliza herramientas nativas y de terceros para ejecutar recuperaciones y aplica Python para validar integridad y limpiar datos recuperados, garantizando disponibilidad y confiabilidad del negocio ante desastres.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6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/>
        </p:nvSpPr>
        <p:spPr>
          <a:xfrm>
            <a:off x="943897" y="1986019"/>
            <a:ext cx="16400206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Recuperación de Datos en Bases de Datos SQL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7"/>
          <p:cNvSpPr txBox="1"/>
          <p:nvPr/>
        </p:nvSpPr>
        <p:spPr>
          <a:xfrm>
            <a:off x="787336" y="54466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7"/>
          <p:cNvSpPr txBox="1"/>
          <p:nvPr/>
        </p:nvSpPr>
        <p:spPr>
          <a:xfrm>
            <a:off x="1185359" y="6096794"/>
            <a:ext cx="16601196" cy="1429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SQL Avanzado - Estrategias, herramientas y técnicas para restaurar datos y garantizar continuidad del negocio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929148" y="1184350"/>
            <a:ext cx="1697539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Introducción a Estrategias de Recuperación de Datos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787336" y="54466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929148" y="2424446"/>
            <a:ext cx="16031497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¿Por qué es crítica la recuperación de datos?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Cuando ocurren desastres (fallos del servidor, errores de usuario, ataques cibernéticos), la capacidad de recuperar datos rápidamente determina la supervivencia del negocio.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Escenarios comunes de pérdida de datos: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Fallos de hardware (disco duro corrupto)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Eliminación accidental de registros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Corrupción de bases de datos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Ataques ransomware o sabotaje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Fallos de software o versiones incompatibles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Objetivos de una estrategia de recuperación: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RPO (Recovery Point Objective): Máximo tiempo de datos que se puede perder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RTO (Recovery Time Objective): Máximo tiempo para restaurar la BD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Integridad: Garantizar que los datos recuperados sean correctos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Disponibilidad: Restaurar rápidamente la continuidad del negocio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-247778" y="-4213597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2461629" y="1263976"/>
            <a:ext cx="14366281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Recuperación con Respaldos Completos</a:t>
            </a:r>
            <a:endParaRPr b="1" i="0" sz="5400" u="none" cap="none" strike="noStrike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787336" y="55532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787336" y="2640426"/>
            <a:ext cx="9403799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un Respaldo Completo?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 exacta de toda la base de datos en un momento específico. Incluye todos los datos, tablas, índices y configuraciones.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Recuperación simple y rápida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requiere logs de transacciones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Garantiza integridad total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Desventajas: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Ocupa mucho espacio en almacenamiento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Tarda mucho tiempo en realizarse (impacta rendimiento)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se corrompe el respaldo, no hay alternativa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8684913" y="4231508"/>
            <a:ext cx="9110719" cy="440120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-- SQL Server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RESTORE DATABASE miBaseDatos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DISK = 'C:\Respaldos\miBaseDatos_completo.bak'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REPLACE;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-- MySQL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-u root -p miBaseDatos &lt; respaldo_completo.sql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-- PostgreSQL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pg_restore -d miBaseDatos respaldo_completo.dump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>
            <a:off x="-265453" y="-4187531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188436" y="1063138"/>
            <a:ext cx="1635029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Recuperación con Respaldos Incrementales</a:t>
            </a:r>
            <a:endParaRPr b="1" i="0" sz="6000" u="none" cap="none" strike="noStrike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787336" y="55532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1188437" y="2671514"/>
            <a:ext cx="7955564" cy="5847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un Respaldo Incremental?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 solo los datos que cambiaron desde el último respaldo (completo o incremental anterior).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funciona?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Día 1: Respaldo completo (100 GB)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Día 2: Respaldo incremental (5 GB) - solo cambios del día 2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Día 3: Respaldo incremental (3 GB) - solo cambios del día 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Recuperación requiere: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Restaurar respaldo completo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Restaurar incrementales en orden: Día 2 → Día 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5"/>
          <p:cNvGraphicFramePr/>
          <p:nvPr/>
        </p:nvGraphicFramePr>
        <p:xfrm>
          <a:off x="9571703" y="394519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{C4233DD2-D522-4B32-85B0-6BDA7BC3BDE9}</a:tableStyleId>
              </a:tblPr>
              <a:tblGrid>
                <a:gridCol w="4114800"/>
                <a:gridCol w="41148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Ventaja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Desventaja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Usa poco almacenamiento</a:t>
                      </a:r>
                      <a:endParaRPr sz="32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Recuperación más lenta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Respaldos rápidos</a:t>
                      </a:r>
                      <a:endParaRPr sz="32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Requiere múltiples archivos</a:t>
                      </a:r>
                      <a:endParaRPr sz="32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Menos carga en BD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Si uno falla, pierdes datos</a:t>
                      </a:r>
                      <a:endParaRPr sz="32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-485035" y="-4485535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2176327" y="1278611"/>
            <a:ext cx="14290158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Recuperación con Respaldos Diferenciales</a:t>
            </a:r>
            <a:endParaRPr b="1" i="0" sz="5400" u="none" cap="none" strike="noStrike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220430" y="2442006"/>
            <a:ext cx="16448138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¿Qué es un Respaldo Diferencial?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Copia solo los datos que cambiaron desde el último respaldo completo (no desde el último respaldo de cualquier tipo).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¿Cómo funciona?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Día 1: Respaldo completo (100 GB)</a:t>
            </a:r>
            <a:endParaRPr/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Día 2: Respaldo diferencial (5 GB) - cambios desde Día 1</a:t>
            </a:r>
            <a:endParaRPr/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Día 3: Respaldo diferencial (8 GB) - cambios desde Día 1 (acumula Día 2 + Día 3)</a:t>
            </a:r>
            <a:endParaRPr/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Día 4: Respaldo diferencial (12 GB) - cambios desde Día 1 (acumula Día 2 + Día 3 + Día 4)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Recuperación requiere: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Restaurar respaldo completo</a:t>
            </a:r>
            <a:endParaRPr/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Restaurar solo el último respaldo diferencia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/>
          <p:nvPr/>
        </p:nvSpPr>
        <p:spPr>
          <a:xfrm>
            <a:off x="-485035" y="-4485535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8"/>
          <p:cNvSpPr txBox="1"/>
          <p:nvPr/>
        </p:nvSpPr>
        <p:spPr>
          <a:xfrm>
            <a:off x="2176327" y="1278611"/>
            <a:ext cx="14290158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Comparación: Incremental vs Diferencial</a:t>
            </a:r>
            <a:endParaRPr b="1" i="0" sz="5400" u="none" cap="none" strike="noStrike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8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38"/>
          <p:cNvGraphicFramePr/>
          <p:nvPr/>
        </p:nvGraphicFramePr>
        <p:xfrm>
          <a:off x="2389238" y="296164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{C4233DD2-D522-4B32-85B0-6BDA7BC3BDE9}</a:tableStyleId>
              </a:tblPr>
              <a:tblGrid>
                <a:gridCol w="4414675"/>
                <a:gridCol w="4414675"/>
                <a:gridCol w="4414675"/>
              </a:tblGrid>
              <a:tr h="9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Aspecto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Incremental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Diferencial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Cambios desde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Último respaldo</a:t>
                      </a:r>
                      <a:endParaRPr sz="36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Respaldo completo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Tamaño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Decrece con tiempo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Crece con tiempo</a:t>
                      </a:r>
                      <a:endParaRPr sz="36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Recuperación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Necesita todos los archivos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Solo necesita el último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Confiabilidad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Más riesgo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Menos riesgo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Velocidad de backup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Muy rápido</a:t>
                      </a:r>
                      <a:endParaRPr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Rápido</a:t>
                      </a:r>
                      <a:endParaRPr sz="36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2291533" y="959770"/>
            <a:ext cx="14586116" cy="2326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Técnicas Avanzadas de Recuperación - Point-in-Time Recovery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447983" y="3394813"/>
            <a:ext cx="8415798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¿Qué es Point-in-Time Recovery (PITR)?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Recuperar la base de datos al estado exacto que tenía en un momento específico del pasado, utilizando respaldos + logs de transacciones.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Proceso PITR: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Restaurar último respaldo completo anterior al momento deseado</a:t>
            </a:r>
            <a:endParaRPr/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Reproducir logs de transacciones hasta la hora específica</a:t>
            </a:r>
            <a:endParaRPr/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Omitir transacciones después de esa hora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0555545" y="4200207"/>
            <a:ext cx="6641074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Respaldo completo: Lunes 08:00 (100 GB)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Cambios: Lunes 08:00 a Martes 16:30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Usuario borra datos por error el Martes 14:00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Queremos recuperar al estado de Martes 13:59 (1 minuto antes del error)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PITR: Restaurar completo + reproducir logs hasta Martes 13:59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13013609" y="3558718"/>
            <a:ext cx="17249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/>
        </p:nvSpPr>
        <p:spPr>
          <a:xfrm>
            <a:off x="5152720" y="1352209"/>
            <a:ext cx="8990983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Otras técnicas avanzadas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9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3" name="Google Shape;203;p39"/>
          <p:cNvGraphicFramePr/>
          <p:nvPr/>
        </p:nvGraphicFramePr>
        <p:xfrm>
          <a:off x="1563329" y="251560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{C4233DD2-D522-4B32-85B0-6BDA7BC3BDE9}</a:tableStyleId>
              </a:tblPr>
              <a:tblGrid>
                <a:gridCol w="5019375"/>
                <a:gridCol w="5019375"/>
                <a:gridCol w="5019375"/>
              </a:tblGrid>
              <a:tr h="86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Técnica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Descripción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Ventaja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86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PITR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Recuperar a momento exacto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Mínima pérdida de datos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42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Bare Metal Recovery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Recuperar SO + BD + aplicaciones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Recuperación total del servidor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42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Replicación (Mirroring)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Copia sincronizada en tiempo real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Alta disponibilidad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42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Failover automático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Cambio automático a servidor standby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Sin intervención manual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2291533" y="959770"/>
            <a:ext cx="14586116" cy="2326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Herramientas y Utilidades para Recuperación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809827" y="3394813"/>
            <a:ext cx="8415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Herramientas nativas SQL:</a:t>
            </a:r>
            <a:endParaRPr b="0" i="0" sz="24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11" name="Google Shape;211;p8"/>
          <p:cNvGraphicFramePr/>
          <p:nvPr/>
        </p:nvGraphicFramePr>
        <p:xfrm>
          <a:off x="1578077" y="410005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{C4233DD2-D522-4B32-85B0-6BDA7BC3BDE9}</a:tableStyleId>
              </a:tblPr>
              <a:tblGrid>
                <a:gridCol w="7801900"/>
                <a:gridCol w="7801900"/>
              </a:tblGrid>
              <a:tr h="66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Motor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Herramientas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51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SQL Server</a:t>
                      </a:r>
                      <a:endParaRPr sz="28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RESTORE DATABASE, Recovery Model (Full/Bulk/Simple), SQL Server Management Studio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0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MySQL</a:t>
                      </a:r>
                      <a:endParaRPr sz="28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mysql (restaurar SQL), mysqldump (crear respaldos), mysqlbinlog (logs de transacciones)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0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PostgreSQL</a:t>
                      </a:r>
                      <a:endParaRPr sz="28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pg_restore, psql, pg_dump, WAL (Write-Ahead Logging)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0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Oracle</a:t>
                      </a:r>
                      <a:endParaRPr sz="28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RMAN (Recovery Manager), Archive Mode, Flashback Database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/>
          <p:nvPr/>
        </p:nvSpPr>
        <p:spPr>
          <a:xfrm>
            <a:off x="-678136" y="-3953907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0"/>
          <p:cNvSpPr txBox="1"/>
          <p:nvPr/>
        </p:nvSpPr>
        <p:spPr>
          <a:xfrm>
            <a:off x="858579" y="550672"/>
            <a:ext cx="11500569" cy="152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0"/>
              <a:buFont typeface="Arial"/>
              <a:buNone/>
            </a:pPr>
            <a:r>
              <a:rPr b="1" i="0" lang="en-US" sz="71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Herramientas de terceros: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0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961818" y="1981808"/>
            <a:ext cx="8624634" cy="8125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1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Veeam Backup &amp; Replication</a:t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Respaldos automatizados y recuperación rápida</a:t>
            </a:r>
            <a:endParaRPr/>
          </a:p>
          <a:p>
            <a:pPr indent="-2032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Recuperación granular (tablas específicas)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 startAt="2"/>
            </a:pPr>
            <a:r>
              <a:rPr b="1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Nakivo Backup</a:t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Interfaz simple, automatización</a:t>
            </a:r>
            <a:endParaRPr/>
          </a:p>
          <a:p>
            <a:pPr indent="-2032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Múltiples destinos (local, cloud)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 startAt="3"/>
            </a:pPr>
            <a:r>
              <a:rPr b="1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Bacula</a:t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Open source, flexible</a:t>
            </a:r>
            <a:endParaRPr/>
          </a:p>
          <a:p>
            <a:pPr indent="-2032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Recuperación granular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 startAt="4"/>
            </a:pPr>
            <a:r>
              <a:rPr b="1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CloudBerry Backup</a:t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Respaldos a la nube</a:t>
            </a:r>
            <a:endParaRPr/>
          </a:p>
          <a:p>
            <a:pPr indent="-2032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Recuperación desde cloud storage</a:t>
            </a:r>
            <a:endParaRPr b="0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8950898" y="4123945"/>
            <a:ext cx="7454595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Recomendación: </a:t>
            </a:r>
            <a:r>
              <a:rPr b="0" i="0" lang="en-US" sz="32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Usar herramientas nativas para recuperación crítica, terceros para automatización y respaldos a la nube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-655156" y="-4031403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858579" y="1276820"/>
            <a:ext cx="17429421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Uso de Python para Lectura y Limpieza de Datos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858578" y="2440215"/>
            <a:ext cx="17193447" cy="16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¿Por qué Python para recuperación de datos?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Después de recuperar, frecuentemente los datos necesitan validación y limpieza antes de usar en producción.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858579" y="4272873"/>
            <a:ext cx="7036315" cy="555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Conexión a base de datos con Python:</a:t>
            </a:r>
            <a:endParaRPr b="0" i="0" sz="2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427703" y="5183586"/>
            <a:ext cx="9144000" cy="4494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pandas as pd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sqlalchemy import create_engine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Conectar a la base de datos recuperada</a:t>
            </a:r>
            <a:endParaRPr b="1" i="0" sz="22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 = create_engine('mysql://usuario:contraseña@localhost/miBaseDatos')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Leer datos recuperados</a:t>
            </a:r>
            <a:endParaRPr b="1" i="0" sz="22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 = pd.read_sql_query('SELECT * FROM clientes', con=engine)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print(df.head())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print(df.info())  # Ver tipos de datos y valores nulos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10567934" y="3717015"/>
            <a:ext cx="7036315" cy="555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Limpieza de datos recuperados:</a:t>
            </a:r>
            <a:endParaRPr b="0" i="0" sz="2800" u="none" cap="none" strike="noStrik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9855786" y="4471485"/>
            <a:ext cx="7973100" cy="5356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Eliminar valores nulos</a:t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 = df.dropna()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Eliminar duplicados</a:t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 = df.drop_duplicates(subset=['id'])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Validar tipos de datos</a:t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df['fecha'] = pd.to_datetime(df['fecha'])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Detectar y corregir outliers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 = df[df['edad'] &gt; 0]  # Edades negativas son errores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Rellenar valores faltantes</a:t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df['ciudad'].fillna('Desconocida', inplace=True)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294BB"/>
                </a:solidFill>
                <a:latin typeface="Arial"/>
                <a:ea typeface="Arial"/>
                <a:cs typeface="Arial"/>
                <a:sym typeface="Arial"/>
              </a:rPr>
              <a:t># Guardar datos limpios</a:t>
            </a:r>
            <a:endParaRPr b="1" i="0" sz="1900" u="none" cap="none" strike="noStrike">
              <a:solidFill>
                <a:srgbClr val="B294B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df.to_sql('clientes_limpios', con=engine, if_exists='replace', index=False)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/>
          <p:nvPr/>
        </p:nvSpPr>
        <p:spPr>
          <a:xfrm>
            <a:off x="-655156" y="-4012901"/>
            <a:ext cx="19258069" cy="19258069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858578" y="872998"/>
            <a:ext cx="11589060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Flujo Completo de Recuperación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 txBox="1"/>
          <p:nvPr/>
        </p:nvSpPr>
        <p:spPr>
          <a:xfrm>
            <a:off x="858578" y="2440215"/>
            <a:ext cx="7326777" cy="7146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1. DETECTAR FALLO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2. EVALUAR IMPACTO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¿Qué datos faltán?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¿Cuánto tiempo inactivo es aceptable?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3. SELECCIONAR RESPALDO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Respaldo completo vs incremental vs diferencial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Verificar integridad del respaldo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4. PREPARAR AMBIENTE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Espacio en disco suficiente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Acceso a archivos de respaldo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Base de datos vacía o nueva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</p:txBody>
      </p:sp>
      <p:sp>
        <p:nvSpPr>
          <p:cNvPr id="241" name="Google Shape;241;p41"/>
          <p:cNvSpPr txBox="1"/>
          <p:nvPr/>
        </p:nvSpPr>
        <p:spPr>
          <a:xfrm>
            <a:off x="9144000" y="2816818"/>
            <a:ext cx="7326777" cy="6193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5. EJECUTAR RESTAURACIÓN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Restaurar respaldo completo primero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Luego respaldos incrementales/diferenciales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Aplicar logs de transacciones si es necesario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6. VALIDAR RECUPERACIÓN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Verificar integridad de datos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Limpiar datos corruptos con Python/pandas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Comprobar que aplicaciones funcionan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7. DOCUMENTAR Y APRENDER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Registrar qué salió bien/mal</a:t>
            </a:r>
            <a:endParaRPr/>
          </a:p>
          <a:p>
            <a:pPr indent="0" lvl="0" marL="0" marR="0" rtl="0" algn="just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- Actualizar estrategia de respaldos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/>
        </p:nvSpPr>
        <p:spPr>
          <a:xfrm>
            <a:off x="915724" y="53014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4"/>
              <a:buFont typeface="Arial"/>
              <a:buNone/>
            </a:pPr>
            <a:r>
              <a:rPr b="1" i="0" lang="en-US" sz="2204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7603466" y="1142672"/>
            <a:ext cx="5079126" cy="1572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99"/>
              <a:buFont typeface="Arial"/>
              <a:buNone/>
            </a:pPr>
            <a:r>
              <a:rPr b="1" i="0" lang="en-US" sz="7299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 b="1" i="0" sz="7299" u="none" cap="none" strike="noStrike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" name="Google Shape;248;p11"/>
          <p:cNvGraphicFramePr/>
          <p:nvPr/>
        </p:nvGraphicFramePr>
        <p:xfrm>
          <a:off x="1061883" y="289068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{C4233DD2-D522-4B32-85B0-6BDA7BC3BDE9}</a:tableStyleId>
              </a:tblPr>
              <a:tblGrid>
                <a:gridCol w="4125850"/>
                <a:gridCol w="4125850"/>
                <a:gridCol w="4125850"/>
                <a:gridCol w="4125850"/>
              </a:tblGrid>
              <a:tr h="80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Estrategia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Cuándo Usar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Ventaja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Desventaja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31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Respaldo Completo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BD pequeña/mediana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Simple, rápido restaurar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Consume mucho espacio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31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Incremental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BD grande, cambios diarios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Pequeño tamaño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Restauración lenta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31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Diferencial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BD grande, Balance speed/tamaño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Buen balance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Más grande que incremental</a:t>
                      </a:r>
                      <a:endParaRPr/>
                    </a:p>
                  </a:txBody>
                  <a:tcPr marT="60950" marB="60950" marR="60950" marL="60950" anchor="ctr"/>
                </a:tc>
              </a:tr>
              <a:tr h="131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PITR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Recuperación a momento específico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Granular, preciso</a:t>
                      </a:r>
                      <a:endParaRPr/>
                    </a:p>
                  </a:txBody>
                  <a:tcPr marT="60950" marB="60950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/>
                        <a:t>Requiere logs WAL/binlogs</a:t>
                      </a:r>
                      <a:endParaRPr sz="3200" u="none" cap="none" strike="noStrike"/>
                    </a:p>
                  </a:txBody>
                  <a:tcPr marT="60950" marB="60950" marR="60950" marL="609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3507980" y="2563570"/>
            <a:ext cx="11272039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Recuperación de Datos - </a:t>
            </a:r>
            <a:r>
              <a:rPr b="0" i="0" lang="en-US" sz="2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Restauración de BD a estado conocido y consistente tras fallos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Respaldo Completo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Copia íntegra de toda la BD en un momento específico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Respaldo Incremental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Copia solo datos que han cambiado desde el último respaldo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Respaldo Diferencial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Copia datos que han cambiado desde el respaldo completo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Point-in-Time Recovery (PITR) - </a:t>
            </a:r>
            <a:r>
              <a:rPr b="0" i="0" lang="en-US" sz="2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Recuperar BD a un momento específico en el pasado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Tablespace Recovery - </a:t>
            </a:r>
            <a:r>
              <a:rPr b="0" i="0" lang="en-US" sz="2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Restauración selectiva de tablas específicas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de Recuperación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SQL Server, MySQL, PostgreSQL, RMAN (Oracle), Veeam, Bacula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para Recuperación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Lectura, validación y limpieza de datos post-recuperación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/>
        </p:nvSpPr>
        <p:spPr>
          <a:xfrm>
            <a:off x="2507390" y="1000125"/>
            <a:ext cx="135033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RESILIENCIA</a:t>
            </a:r>
            <a:endParaRPr/>
          </a:p>
        </p:txBody>
      </p:sp>
      <p:sp>
        <p:nvSpPr>
          <p:cNvPr id="260" name="Google Shape;260;p43"/>
          <p:cNvSpPr txBox="1"/>
          <p:nvPr/>
        </p:nvSpPr>
        <p:spPr>
          <a:xfrm>
            <a:off x="2507389" y="2479988"/>
            <a:ext cx="12442095" cy="43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“La RESILIENCIA en recuperación de datos garantiza que la organización pueda recuperarse rápidamente de cualquier desastre mediante estrategias planificadas, respaldos probados y herramientas confiables"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3"/>
          <p:cNvSpPr txBox="1"/>
          <p:nvPr/>
        </p:nvSpPr>
        <p:spPr>
          <a:xfrm>
            <a:off x="2507388" y="7384283"/>
            <a:ext cx="12442095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empresa con buena resiliencia recupera su BD en 1 hora; sin ella, pierden días de operación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67" name="Google Shape;267;p44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4"/>
          <p:cNvSpPr txBox="1"/>
          <p:nvPr/>
        </p:nvSpPr>
        <p:spPr>
          <a:xfrm>
            <a:off x="962526" y="4361449"/>
            <a:ext cx="16435137" cy="233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https://www.acronis.com/es/blog/posts/incremental-differential-backups/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https://www.purestorage.com/es/knowledge/what-is-mysqldump.html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74" name="Google Shape;274;p45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80" name="Google Shape;280;p46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6" name="Google Shape;286;p47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{6682626E-E580-470A-9FAC-9BD584069141}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47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7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" name="Google Shape;289;p47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{6682626E-E580-470A-9FAC-9BD584069141}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47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7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48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/>
        </p:nvSpPr>
        <p:spPr>
          <a:xfrm>
            <a:off x="3946352" y="5143500"/>
            <a:ext cx="10395289" cy="2304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7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8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3" name="Google Shape;303;p4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9"/>
          <p:cNvSpPr txBox="1"/>
          <p:nvPr/>
        </p:nvSpPr>
        <p:spPr>
          <a:xfrm>
            <a:off x="2050150" y="7217412"/>
            <a:ext cx="13465804" cy="109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joshua vasquez</dc:creator>
</cp:coreProperties>
</file>