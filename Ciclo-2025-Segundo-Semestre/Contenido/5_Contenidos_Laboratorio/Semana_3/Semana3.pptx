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76" r:id="rId2"/>
    <p:sldId id="279" r:id="rId3"/>
    <p:sldId id="287" r:id="rId4"/>
    <p:sldId id="288" r:id="rId5"/>
    <p:sldId id="27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8" r:id="rId16"/>
    <p:sldId id="280" r:id="rId17"/>
    <p:sldId id="281" r:id="rId18"/>
    <p:sldId id="282" r:id="rId19"/>
    <p:sldId id="283" r:id="rId20"/>
    <p:sldId id="284" r:id="rId21"/>
    <p:sldId id="285" r:id="rId22"/>
    <p:sldId id="286" r:id="rId23"/>
  </p:sldIdLst>
  <p:sldSz cx="18288000" cy="10287000"/>
  <p:notesSz cx="6858000" cy="9144000"/>
  <p:embeddedFontLst>
    <p:embeddedFont>
      <p:font typeface="DM Sans" pitchFamily="2" charset="0"/>
      <p:regular r:id="rId25"/>
      <p:bold r:id="rId26"/>
      <p:italic r:id="rId27"/>
      <p:boldItalic r:id="rId28"/>
    </p:embeddedFont>
    <p:embeddedFont>
      <p:font typeface="Impact" panose="020B0806030902050204" pitchFamily="34" charset="0"/>
      <p:regular r:id="rId29"/>
    </p:embeddedFont>
    <p:embeddedFont>
      <p:font typeface="Lobster" panose="00000500000000000000" pitchFamily="2" charset="0"/>
      <p:regular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Pacifico" panose="00000500000000000000" pitchFamily="2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hzGr1fy4M52vzx4a9oop33maZq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F7F655-7023-4593-93E4-76ED9151A7D6}">
  <a:tblStyle styleId="{13F7F655-7023-4593-93E4-76ED9151A7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g364afea4f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C6C5FBCA-D8A8-94DF-9DD6-8BB309839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>
            <a:extLst>
              <a:ext uri="{FF2B5EF4-FFF2-40B4-BE49-F238E27FC236}">
                <a16:creationId xmlns:a16="http://schemas.microsoft.com/office/drawing/2014/main" id="{9913ED6D-AAE3-A980-EC88-11E956C2A4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3:notes">
            <a:extLst>
              <a:ext uri="{FF2B5EF4-FFF2-40B4-BE49-F238E27FC236}">
                <a16:creationId xmlns:a16="http://schemas.microsoft.com/office/drawing/2014/main" id="{B90A787C-2097-E434-CE69-9EDA4EB42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7498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4f26217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4f26217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4afea4f6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64afea4f6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e2d797d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85e2d797d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afea4f6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64afea4f6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e2d797db_0_6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85e2d797db_0_6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g385e2d797db_0_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919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ionos.com/es-us/digitalguide/paginas-web/desarrollo-web/python-pandas-read-csv/" TargetMode="External"/><Relationship Id="rId4" Type="http://schemas.openxmlformats.org/officeDocument/2006/relationships/hyperlink" Target="https://www.datacamp.com/es/blog/acid-transaction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64afea4f6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s-GT" sz="3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</a:t>
            </a:r>
            <a:r>
              <a:rPr lang="es-GT" sz="3100" dirty="0">
                <a:latin typeface="Calibri"/>
                <a:ea typeface="Calibri"/>
                <a:cs typeface="Calibri"/>
                <a:sym typeface="Calibri"/>
              </a:rPr>
              <a:t>EMAS DE BASES DE DATOS 2 </a:t>
            </a:r>
            <a:endParaRPr sz="3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9;g364afea4f63_0_0">
            <a:extLst>
              <a:ext uri="{FF2B5EF4-FFF2-40B4-BE49-F238E27FC236}">
                <a16:creationId xmlns:a16="http://schemas.microsoft.com/office/drawing/2014/main" id="{AAAE2C5C-D868-833B-3D36-0A115E427168}"/>
              </a:ext>
            </a:extLst>
          </p:cNvPr>
          <p:cNvSpPr/>
          <p:nvPr/>
        </p:nvSpPr>
        <p:spPr>
          <a:xfrm>
            <a:off x="15565479" y="2125642"/>
            <a:ext cx="1904374" cy="40098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0/0/26</a:t>
            </a: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890248" y="7555025"/>
            <a:ext cx="933659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Sistema de Bases de </a:t>
            </a:r>
            <a:r>
              <a:rPr lang="en-US" sz="5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datos</a:t>
            </a:r>
            <a:r>
              <a:rPr lang="en-US" sz="5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  <a:endParaRPr sz="5000" b="1" i="0" u="none" strike="noStrike" cap="none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</a:t>
            </a:r>
            <a:r>
              <a:rPr lang="en-US" sz="2499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Ciencias</a:t>
            </a: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Sistemas</a:t>
            </a:r>
            <a:endParaRPr sz="2499" b="1" i="0" u="none" strike="noStrike" cap="none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</a:t>
            </a: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Ingenieria</a:t>
            </a:r>
            <a:endParaRPr sz="2499" b="1" i="0" u="none" strike="noStrike" cap="none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9;p1">
            <a:extLst>
              <a:ext uri="{FF2B5EF4-FFF2-40B4-BE49-F238E27FC236}">
                <a16:creationId xmlns:a16="http://schemas.microsoft.com/office/drawing/2014/main" id="{BC3A80FC-73C6-2EF7-9C62-AA023B19C22C}"/>
              </a:ext>
            </a:extLst>
          </p:cNvPr>
          <p:cNvSpPr txBox="1"/>
          <p:nvPr/>
        </p:nvSpPr>
        <p:spPr>
          <a:xfrm>
            <a:off x="890248" y="4148259"/>
            <a:ext cx="17640510" cy="284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</a:pPr>
            <a:r>
              <a:rPr lang="es-ES" sz="6600" dirty="0">
                <a:solidFill>
                  <a:srgbClr val="343434"/>
                </a:solidFill>
              </a:rPr>
              <a:t>Gestión de Transacciones y Concurrencia en Bases de Datos</a:t>
            </a:r>
            <a:endParaRPr lang="en-US" sz="6600" b="0" i="0" u="none" strike="noStrike" cap="none" dirty="0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88;p1">
            <a:extLst>
              <a:ext uri="{FF2B5EF4-FFF2-40B4-BE49-F238E27FC236}">
                <a16:creationId xmlns:a16="http://schemas.microsoft.com/office/drawing/2014/main" id="{02273682-A286-BD3F-5635-473A181DACC4}"/>
              </a:ext>
            </a:extLst>
          </p:cNvPr>
          <p:cNvSpPr txBox="1"/>
          <p:nvPr/>
        </p:nvSpPr>
        <p:spPr>
          <a:xfrm>
            <a:off x="5686960" y="1654757"/>
            <a:ext cx="9904619" cy="258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13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SEMANA 3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389270" y="3232617"/>
            <a:ext cx="9404435" cy="845385"/>
            <a:chOff x="0" y="-76200"/>
            <a:chExt cx="5646699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5646699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8017"/>
                </a:lnSpc>
                <a:buSzPts val="2799"/>
              </a:pPr>
              <a:r>
                <a:rPr lang="es-ES" sz="2799" dirty="0" err="1"/>
                <a:t>Introduccion</a:t>
              </a:r>
              <a:r>
                <a:rPr lang="es-ES" sz="2799" dirty="0"/>
                <a:t> a las </a:t>
              </a:r>
              <a:r>
                <a:rPr lang="es-ES" sz="2799" dirty="0" err="1"/>
                <a:t>transcciones</a:t>
              </a:r>
              <a:r>
                <a:rPr lang="es-ES" sz="2799" dirty="0"/>
                <a:t> en SQL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1091305" y="3452574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Google Shape;115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 dirty="0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400" b="0" i="0" u="none" strike="noStrike" cap="none" dirty="0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 dirty="0" err="1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400" b="0" i="0" u="none" strike="noStrike" cap="none" dirty="0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1739805" y="5032666"/>
            <a:ext cx="5353646" cy="1267162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23" name="Google Shape;123;p2"/>
          <p:cNvGrpSpPr/>
          <p:nvPr/>
        </p:nvGrpSpPr>
        <p:grpSpPr>
          <a:xfrm>
            <a:off x="389270" y="4156435"/>
            <a:ext cx="14538841" cy="845385"/>
            <a:chOff x="0" y="-76200"/>
            <a:chExt cx="6189917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76200"/>
              <a:ext cx="6189917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8017"/>
                </a:lnSpc>
                <a:buSzPts val="2799"/>
              </a:pPr>
              <a:r>
                <a:rPr lang="es-ES" sz="2799" dirty="0"/>
                <a:t>Propiedades ACID (Atomicidad, Consistencia, Aislamiento, Durabilidad).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389270" y="5138008"/>
            <a:ext cx="13567361" cy="845385"/>
            <a:chOff x="0" y="-76200"/>
            <a:chExt cx="5776309" cy="359923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0" y="-76200"/>
              <a:ext cx="5776309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8017"/>
                </a:lnSpc>
                <a:buSzPts val="2799"/>
              </a:pPr>
              <a:r>
                <a:rPr lang="es-ES" sz="2799" dirty="0"/>
                <a:t>Estrategias de control de concurrencia: </a:t>
              </a:r>
              <a:r>
                <a:rPr lang="es-ES" sz="2799" dirty="0" err="1"/>
                <a:t>Locking</a:t>
              </a:r>
              <a:r>
                <a:rPr lang="es-ES" sz="2799" dirty="0"/>
                <a:t> y Time-</a:t>
              </a:r>
              <a:r>
                <a:rPr lang="es-ES" sz="2799" dirty="0" err="1"/>
                <a:t>stamping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389270" y="6061590"/>
            <a:ext cx="12725152" cy="845385"/>
            <a:chOff x="0" y="-76200"/>
            <a:chExt cx="5417738" cy="359923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0" y="-76200"/>
              <a:ext cx="5417738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8017"/>
                </a:lnSpc>
                <a:buSzPts val="2799"/>
              </a:pPr>
              <a:r>
                <a:rPr lang="es-ES" sz="2799" dirty="0"/>
                <a:t>Problemas comunes en concurrencia: Bloqueos y </a:t>
              </a:r>
              <a:r>
                <a:rPr lang="es-ES" sz="2799" dirty="0" err="1"/>
                <a:t>Deadlocks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389270" y="7125048"/>
            <a:ext cx="13326730" cy="845385"/>
            <a:chOff x="0" y="-76200"/>
            <a:chExt cx="5673860" cy="359923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76200"/>
              <a:ext cx="5673860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8017"/>
                </a:lnSpc>
                <a:buSzPts val="2799"/>
              </a:pPr>
              <a:r>
                <a:rPr lang="es-ES" sz="2799" dirty="0"/>
                <a:t>Recuperación de transacciones: Puntos de guardado y </a:t>
              </a:r>
              <a:r>
                <a:rPr lang="es-ES" sz="2799" dirty="0" err="1"/>
                <a:t>rollbacks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1091305" y="4335413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Google Shape;136;p2"/>
          <p:cNvSpPr/>
          <p:nvPr/>
        </p:nvSpPr>
        <p:spPr>
          <a:xfrm>
            <a:off x="1091305" y="5316986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Google Shape;137;p2"/>
          <p:cNvSpPr/>
          <p:nvPr/>
        </p:nvSpPr>
        <p:spPr>
          <a:xfrm>
            <a:off x="1091305" y="6316768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Google Shape;138;p2"/>
          <p:cNvSpPr/>
          <p:nvPr/>
        </p:nvSpPr>
        <p:spPr>
          <a:xfrm>
            <a:off x="1091305" y="7317673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Google Shape;138;p2">
            <a:extLst>
              <a:ext uri="{FF2B5EF4-FFF2-40B4-BE49-F238E27FC236}">
                <a16:creationId xmlns:a16="http://schemas.microsoft.com/office/drawing/2014/main" id="{548349F3-ADE1-0C64-2270-7DF67E51E43A}"/>
              </a:ext>
            </a:extLst>
          </p:cNvPr>
          <p:cNvSpPr/>
          <p:nvPr/>
        </p:nvSpPr>
        <p:spPr>
          <a:xfrm>
            <a:off x="1091305" y="8520606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Google Shape;134;p2">
            <a:extLst>
              <a:ext uri="{FF2B5EF4-FFF2-40B4-BE49-F238E27FC236}">
                <a16:creationId xmlns:a16="http://schemas.microsoft.com/office/drawing/2014/main" id="{A590F649-D27F-84DE-529F-E7D21AACA2F7}"/>
              </a:ext>
            </a:extLst>
          </p:cNvPr>
          <p:cNvSpPr txBox="1"/>
          <p:nvPr/>
        </p:nvSpPr>
        <p:spPr>
          <a:xfrm>
            <a:off x="389270" y="8372960"/>
            <a:ext cx="10126330" cy="845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lvl="0" algn="ctr">
              <a:lnSpc>
                <a:spcPct val="148017"/>
              </a:lnSpc>
              <a:buSzPts val="2799"/>
            </a:pPr>
            <a:r>
              <a:rPr lang="es-ES" sz="2799" dirty="0"/>
              <a:t>Manejo de archivos CSV y TSV con </a:t>
            </a:r>
            <a:r>
              <a:rPr lang="es-ES" sz="2799" dirty="0" err="1"/>
              <a:t>python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50395621-604B-963D-965F-EE7BF04B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>
            <a:extLst>
              <a:ext uri="{FF2B5EF4-FFF2-40B4-BE49-F238E27FC236}">
                <a16:creationId xmlns:a16="http://schemas.microsoft.com/office/drawing/2014/main" id="{050F5806-4CA6-1B3D-80C6-FEA5E0ECD6AA}"/>
              </a:ext>
            </a:extLst>
          </p:cNvPr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384010E2-B78D-B961-6098-CA8232AEC0CB}"/>
              </a:ext>
            </a:extLst>
          </p:cNvPr>
          <p:cNvSpPr txBox="1"/>
          <p:nvPr/>
        </p:nvSpPr>
        <p:spPr>
          <a:xfrm>
            <a:off x="5064582" y="1876667"/>
            <a:ext cx="12748840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  <a:buSzPts val="5199"/>
            </a:pPr>
            <a:r>
              <a:rPr lang="es-ES" sz="40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diseña e implementa transacciones SQL seguras y eficientes en entornos multiusuario, aplicando las propiedades ACID, estrategias de control de concurrencia (</a:t>
            </a:r>
            <a:r>
              <a:rPr lang="es-ES" sz="40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locking</a:t>
            </a:r>
            <a:r>
              <a:rPr lang="es-ES" sz="40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time-</a:t>
            </a:r>
            <a:r>
              <a:rPr lang="es-ES" sz="40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stamping</a:t>
            </a:r>
            <a:r>
              <a:rPr lang="es-ES" sz="40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) y técnicas de recuperación (</a:t>
            </a:r>
            <a:r>
              <a:rPr lang="es-ES" sz="40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savepoints</a:t>
            </a:r>
            <a:r>
              <a:rPr lang="es-ES" sz="40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s-ES" sz="40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rollbacks</a:t>
            </a:r>
            <a:r>
              <a:rPr lang="es-ES" sz="40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). Además, procesa archivos de datos (CSV/TSV) con Python, garantizando integridad de datos antes de cargarlos a bases de datos transaccionales.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3" title="Gemini_Generated_Image_sfb0qdsfb0qdsfb0.png">
            <a:extLst>
              <a:ext uri="{FF2B5EF4-FFF2-40B4-BE49-F238E27FC236}">
                <a16:creationId xmlns:a16="http://schemas.microsoft.com/office/drawing/2014/main" id="{B2B39651-CFD3-8ACD-1FA1-1F3946B11F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2279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2148450" y="894996"/>
            <a:ext cx="13991100" cy="4590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ES" sz="8800" b="0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Gestión de Transacciones y Concurrencia en Bases de Datos</a:t>
            </a:r>
            <a:endParaRPr sz="2400" b="0" i="0" u="none" strike="noStrike" cap="none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2514664" y="5773223"/>
            <a:ext cx="12748840" cy="189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  <a:buSzPts val="5199"/>
            </a:pPr>
            <a:r>
              <a:rPr lang="es-ES" sz="44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SQL Avanzado - Garantizando integridad y rendimiento en entornos multiusuario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109046" y="1213847"/>
            <a:ext cx="12941400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Introducción a las Transacciones en SQL</a:t>
            </a:r>
            <a:endParaRPr sz="900" dirty="0"/>
          </a:p>
        </p:txBody>
      </p:sp>
      <p:sp>
        <p:nvSpPr>
          <p:cNvPr id="105" name="Google Shape;105;p3"/>
          <p:cNvSpPr txBox="1"/>
          <p:nvPr/>
        </p:nvSpPr>
        <p:spPr>
          <a:xfrm>
            <a:off x="787336" y="54466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595424" y="2276146"/>
            <a:ext cx="8755054" cy="76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¿Qué es una Transacción?</a:t>
            </a: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Una transacción es un conjunto de operaciones SQL que se ejecutan como una unidad lógica e indivisible. O todas se completan exitosamente, o ninguna se ejecuta.</a:t>
            </a: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Características principales:</a:t>
            </a: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Comienza con BEGIN TRANSACTION o START TRANSACTION</a:t>
            </a: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 confirma con COMMIT (guardar cambios)</a:t>
            </a: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 revierte con ROLLBACK (deshacer cambios)</a:t>
            </a: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Garantiza consistencia de datos incluso ante fallos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1DFC7-77E6-EFA8-844B-4E87FCA26A09}"/>
              </a:ext>
            </a:extLst>
          </p:cNvPr>
          <p:cNvSpPr txBox="1"/>
          <p:nvPr/>
        </p:nvSpPr>
        <p:spPr>
          <a:xfrm>
            <a:off x="8316204" y="4761377"/>
            <a:ext cx="9566216" cy="20621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B294BB"/>
                </a:solidFill>
                <a:effectLst/>
                <a:latin typeface="berkeleyMono"/>
              </a:rPr>
              <a:t>BEGIN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</a:t>
            </a:r>
            <a:r>
              <a:rPr lang="en-US" sz="3200" b="1" i="0" dirty="0">
                <a:solidFill>
                  <a:srgbClr val="B294BB"/>
                </a:solidFill>
                <a:effectLst/>
                <a:latin typeface="berkeleyMono"/>
              </a:rPr>
              <a:t>TRANSACTION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; </a:t>
            </a:r>
            <a:b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</a:br>
            <a:r>
              <a:rPr lang="en-US" sz="3200" b="1" i="0" dirty="0">
                <a:solidFill>
                  <a:srgbClr val="B294BB"/>
                </a:solidFill>
                <a:effectLst/>
                <a:latin typeface="berkeleyMono"/>
              </a:rPr>
              <a:t>UPDATE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</a:t>
            </a:r>
            <a:r>
              <a:rPr lang="en-US" sz="3200" b="1" i="0" dirty="0" err="1">
                <a:solidFill>
                  <a:srgbClr val="C5C8C6"/>
                </a:solidFill>
                <a:effectLst/>
                <a:latin typeface="berkeleyMono"/>
              </a:rPr>
              <a:t>cuentas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</a:t>
            </a:r>
            <a:r>
              <a:rPr lang="en-US" sz="3200" b="1" i="0" dirty="0">
                <a:solidFill>
                  <a:srgbClr val="B294BB"/>
                </a:solidFill>
                <a:effectLst/>
                <a:latin typeface="berkeleyMono"/>
              </a:rPr>
              <a:t>SET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</a:t>
            </a:r>
            <a:r>
              <a:rPr lang="en-US" sz="3200" b="1" i="0" dirty="0" err="1">
                <a:solidFill>
                  <a:srgbClr val="C5C8C6"/>
                </a:solidFill>
                <a:effectLst/>
                <a:latin typeface="berkeleyMono"/>
              </a:rPr>
              <a:t>saldo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= </a:t>
            </a:r>
            <a:r>
              <a:rPr lang="en-US" sz="3200" b="1" i="0" dirty="0" err="1">
                <a:solidFill>
                  <a:srgbClr val="C5C8C6"/>
                </a:solidFill>
                <a:effectLst/>
                <a:latin typeface="berkeleyMono"/>
              </a:rPr>
              <a:t>saldo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- </a:t>
            </a:r>
            <a:r>
              <a:rPr lang="en-US" sz="3200" b="1" i="0" dirty="0">
                <a:solidFill>
                  <a:srgbClr val="DE935F"/>
                </a:solidFill>
                <a:effectLst/>
                <a:latin typeface="berkeleyMono"/>
              </a:rPr>
              <a:t>100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</a:t>
            </a:r>
            <a:r>
              <a:rPr lang="en-US" sz="3200" b="1" i="0" dirty="0">
                <a:solidFill>
                  <a:srgbClr val="B294BB"/>
                </a:solidFill>
                <a:effectLst/>
                <a:latin typeface="berkeleyMono"/>
              </a:rPr>
              <a:t>WHERE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id = </a:t>
            </a:r>
            <a:r>
              <a:rPr lang="en-US" sz="3200" b="1" i="0" dirty="0">
                <a:solidFill>
                  <a:srgbClr val="DE935F"/>
                </a:solidFill>
                <a:effectLst/>
                <a:latin typeface="berkeleyMono"/>
              </a:rPr>
              <a:t>1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; </a:t>
            </a:r>
            <a:r>
              <a:rPr lang="en-US" sz="3200" b="1" i="0" dirty="0">
                <a:solidFill>
                  <a:srgbClr val="B294BB"/>
                </a:solidFill>
                <a:effectLst/>
                <a:latin typeface="berkeleyMono"/>
              </a:rPr>
              <a:t>UPDATE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</a:t>
            </a:r>
            <a:r>
              <a:rPr lang="en-US" sz="3200" b="1" i="0" dirty="0" err="1">
                <a:solidFill>
                  <a:srgbClr val="C5C8C6"/>
                </a:solidFill>
                <a:effectLst/>
                <a:latin typeface="berkeleyMono"/>
              </a:rPr>
              <a:t>cuentas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</a:t>
            </a:r>
            <a:r>
              <a:rPr lang="en-US" sz="3200" b="1" i="0" dirty="0">
                <a:solidFill>
                  <a:srgbClr val="B294BB"/>
                </a:solidFill>
                <a:effectLst/>
                <a:latin typeface="berkeleyMono"/>
              </a:rPr>
              <a:t>SET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</a:t>
            </a:r>
            <a:r>
              <a:rPr lang="en-US" sz="3200" b="1" i="0" dirty="0" err="1">
                <a:solidFill>
                  <a:srgbClr val="C5C8C6"/>
                </a:solidFill>
                <a:effectLst/>
                <a:latin typeface="berkeleyMono"/>
              </a:rPr>
              <a:t>saldo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= </a:t>
            </a:r>
            <a:r>
              <a:rPr lang="en-US" sz="3200" b="1" i="0" dirty="0" err="1">
                <a:solidFill>
                  <a:srgbClr val="C5C8C6"/>
                </a:solidFill>
                <a:effectLst/>
                <a:latin typeface="berkeleyMono"/>
              </a:rPr>
              <a:t>saldo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+ </a:t>
            </a:r>
            <a:r>
              <a:rPr lang="en-US" sz="3200" b="1" i="0" dirty="0">
                <a:solidFill>
                  <a:srgbClr val="DE935F"/>
                </a:solidFill>
                <a:effectLst/>
                <a:latin typeface="berkeleyMono"/>
              </a:rPr>
              <a:t>100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</a:t>
            </a:r>
            <a:r>
              <a:rPr lang="en-US" sz="3200" b="1" i="0" dirty="0">
                <a:solidFill>
                  <a:srgbClr val="B294BB"/>
                </a:solidFill>
                <a:effectLst/>
                <a:latin typeface="berkeleyMono"/>
              </a:rPr>
              <a:t>WHERE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 id = </a:t>
            </a:r>
            <a:r>
              <a:rPr lang="en-US" sz="3200" b="1" i="0" dirty="0">
                <a:solidFill>
                  <a:srgbClr val="DE935F"/>
                </a:solidFill>
                <a:effectLst/>
                <a:latin typeface="berkeleyMono"/>
              </a:rPr>
              <a:t>2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; </a:t>
            </a:r>
            <a:r>
              <a:rPr lang="en-US" sz="3200" b="1" i="0" dirty="0">
                <a:solidFill>
                  <a:srgbClr val="B294BB"/>
                </a:solidFill>
                <a:effectLst/>
                <a:latin typeface="berkeleyMono"/>
              </a:rPr>
              <a:t>COMMIT</a:t>
            </a:r>
            <a:r>
              <a:rPr lang="en-US" sz="3200" b="1" i="0" dirty="0">
                <a:solidFill>
                  <a:srgbClr val="C5C8C6"/>
                </a:solidFill>
                <a:effectLst/>
                <a:latin typeface="berkeleyMono"/>
              </a:rPr>
              <a:t>;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1381E-E5CA-8DD8-4BC8-66984050715B}"/>
              </a:ext>
            </a:extLst>
          </p:cNvPr>
          <p:cNvSpPr txBox="1"/>
          <p:nvPr/>
        </p:nvSpPr>
        <p:spPr>
          <a:xfrm>
            <a:off x="9350478" y="7056747"/>
            <a:ext cx="74976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0" i="1" dirty="0">
                <a:effectLst/>
                <a:latin typeface="+mj-lt"/>
              </a:rPr>
              <a:t>Si una actualización falla, ambas se revierten automáticamente.</a:t>
            </a:r>
            <a:endParaRPr lang="en-US" sz="2800" i="1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-218281" y="-4272591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Google Shape;114;p4"/>
          <p:cNvSpPr txBox="1"/>
          <p:nvPr/>
        </p:nvSpPr>
        <p:spPr>
          <a:xfrm>
            <a:off x="4984288" y="974307"/>
            <a:ext cx="8525919" cy="152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 b="1" i="0" u="none" strike="noStrike" cap="none" dirty="0" err="1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Propiedades</a:t>
            </a:r>
            <a:r>
              <a:rPr lang="en-US" sz="71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 ACID</a:t>
            </a:r>
          </a:p>
        </p:txBody>
      </p:sp>
      <p:sp>
        <p:nvSpPr>
          <p:cNvPr id="115" name="Google Shape;115;p4"/>
          <p:cNvSpPr txBox="1"/>
          <p:nvPr/>
        </p:nvSpPr>
        <p:spPr>
          <a:xfrm>
            <a:off x="787336" y="55532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E826825F-5698-81CC-D00C-28767BE4C5D3}"/>
              </a:ext>
            </a:extLst>
          </p:cNvPr>
          <p:cNvSpPr txBox="1"/>
          <p:nvPr/>
        </p:nvSpPr>
        <p:spPr>
          <a:xfrm>
            <a:off x="2800840" y="2503957"/>
            <a:ext cx="12892813" cy="7017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s-ES" sz="2400" b="1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¿Qué son las propiedades ACID?</a:t>
            </a:r>
          </a:p>
          <a:p>
            <a:pPr algn="just"/>
            <a:endParaRPr lang="es-ES" sz="24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algn="just"/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Son cuatro principios fundamentales que garantizan la confiabilidad de las transacciones:</a:t>
            </a:r>
          </a:p>
          <a:p>
            <a:pPr algn="just"/>
            <a:endParaRPr lang="es-ES" sz="24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algn="just"/>
            <a:r>
              <a:rPr lang="es-ES" sz="2400" b="1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A - Atomicidad</a:t>
            </a:r>
          </a:p>
          <a:p>
            <a:pPr algn="just"/>
            <a:endParaRPr lang="es-ES" sz="24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La transacción es "todo o nada"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ES" sz="2400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Si falla un paso, todo se revierte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ES" sz="2400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Garantiza que no haya datos parcialmente actualizados</a:t>
            </a:r>
          </a:p>
          <a:p>
            <a:pPr algn="just"/>
            <a:endParaRPr lang="es-ES" sz="24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algn="just"/>
            <a:r>
              <a:rPr lang="es-ES" sz="2400" b="1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C - Consistencia</a:t>
            </a:r>
          </a:p>
          <a:p>
            <a:pPr algn="just"/>
            <a:endParaRPr lang="es-ES" sz="24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Los datos pasan de un estado válido a otro estado válido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ES" sz="2400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Se respetan todas las reglas y restricciones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ES" sz="2400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Ejemplo: No puede haber cuentas con saldo </a:t>
            </a:r>
            <a:r>
              <a:rPr lang="es-ES" sz="2400" b="1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negativo si así lo definen las reglas</a:t>
            </a:r>
            <a:endParaRPr lang="en-US" sz="2400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-265453" y="-4187531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Google Shape;122;p5"/>
          <p:cNvSpPr txBox="1"/>
          <p:nvPr/>
        </p:nvSpPr>
        <p:spPr>
          <a:xfrm>
            <a:off x="3478800" y="856172"/>
            <a:ext cx="11330400" cy="152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 b="1" i="0" u="none" strike="noStrike" cap="none" dirty="0" err="1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Propiedades</a:t>
            </a:r>
            <a:r>
              <a:rPr lang="en-US" sz="71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 ACID</a:t>
            </a:r>
          </a:p>
        </p:txBody>
      </p:sp>
      <p:sp>
        <p:nvSpPr>
          <p:cNvPr id="123" name="Google Shape;123;p5"/>
          <p:cNvSpPr txBox="1"/>
          <p:nvPr/>
        </p:nvSpPr>
        <p:spPr>
          <a:xfrm>
            <a:off x="787336" y="55532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55570A8E-9E83-D88F-8A99-D764FF0645A7}"/>
              </a:ext>
            </a:extLst>
          </p:cNvPr>
          <p:cNvSpPr txBox="1"/>
          <p:nvPr/>
        </p:nvSpPr>
        <p:spPr>
          <a:xfrm>
            <a:off x="572501" y="2671514"/>
            <a:ext cx="8999204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spcBef>
                <a:spcPct val="0"/>
              </a:spcBef>
            </a:pPr>
            <a:r>
              <a:rPr lang="es-ES" sz="2400" b="1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I - Aislamiento</a:t>
            </a:r>
          </a:p>
          <a:p>
            <a:pPr marL="0" lvl="0" indent="0" algn="just">
              <a:spcBef>
                <a:spcPct val="0"/>
              </a:spcBef>
            </a:pPr>
            <a:endParaRPr lang="es-ES" sz="24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Las transacciones concurrentes no se interfieren entre sí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s-ES" sz="2400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Cada transacción ve datos consistentes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s-ES" sz="2400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Evita problemas como lecturas sucias o fantasmas</a:t>
            </a:r>
          </a:p>
          <a:p>
            <a:pPr marL="0" lvl="0" indent="0" algn="just">
              <a:spcBef>
                <a:spcPct val="0"/>
              </a:spcBef>
            </a:pPr>
            <a:endParaRPr lang="es-ES" sz="24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0" lvl="0" indent="0" algn="just">
              <a:spcBef>
                <a:spcPct val="0"/>
              </a:spcBef>
            </a:pPr>
            <a:r>
              <a:rPr lang="es-ES" sz="2400" b="1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D - Durabilidad</a:t>
            </a:r>
          </a:p>
          <a:p>
            <a:pPr marL="0" lvl="0" indent="0" algn="just">
              <a:spcBef>
                <a:spcPct val="0"/>
              </a:spcBef>
            </a:pPr>
            <a:endParaRPr lang="es-ES" sz="2400" b="1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Una vez confirmada (COMMIT), los cambios son permanentes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s-ES" sz="2400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Persisten incluso ante fallos del sistema, apagones, etc.</a:t>
            </a: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s-ES" sz="2400" spc="-70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marL="342900" lvl="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400" spc="-70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Se almacenan en almacenamiento persistente (disco duro)</a:t>
            </a:r>
            <a:endParaRPr lang="en-US" sz="2400" u="none" strike="noStrike" spc="-70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414EFD-1354-8266-24E2-764E5A565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50288"/>
              </p:ext>
            </p:extLst>
          </p:nvPr>
        </p:nvGraphicFramePr>
        <p:xfrm>
          <a:off x="9363581" y="3125023"/>
          <a:ext cx="8229600" cy="4632960"/>
        </p:xfrm>
        <a:graphic>
          <a:graphicData uri="http://schemas.openxmlformats.org/drawingml/2006/table">
            <a:tbl>
              <a:tblPr>
                <a:tableStyleId>{13F7F655-7023-4593-93E4-76ED9151A7D6}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55873427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90591785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24124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 err="1">
                          <a:effectLst/>
                        </a:rPr>
                        <a:t>Propiedad</a:t>
                      </a:r>
                      <a:endParaRPr lang="en-US" sz="2400" dirty="0">
                        <a:effectLst/>
                      </a:endParaRPr>
                    </a:p>
                  </a:txBody>
                  <a:tcPr marL="60960" marR="60960" marT="60960" marB="6096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Garantiza</a:t>
                      </a:r>
                    </a:p>
                  </a:txBody>
                  <a:tcPr marL="60960" marR="60960" marT="60960" marB="6096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 err="1">
                          <a:effectLst/>
                        </a:rPr>
                        <a:t>Ejemplo</a:t>
                      </a:r>
                      <a:endParaRPr lang="en-US" sz="2400" dirty="0">
                        <a:effectLst/>
                      </a:endParaRPr>
                    </a:p>
                  </a:txBody>
                  <a:tcPr marL="60960" marR="60960" marT="60960" marB="6096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123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Atomicidad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Todo o nada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 err="1">
                          <a:effectLst/>
                        </a:rPr>
                        <a:t>Transferencia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bancaria</a:t>
                      </a:r>
                      <a:r>
                        <a:rPr lang="en-US" sz="2400" dirty="0">
                          <a:effectLst/>
                        </a:rPr>
                        <a:t> completa o nada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441670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Consistencia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Reglas válidas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Saldo no negativo siempre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156639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Aislamiento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No interferencia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Dos usuarios no ven cambios a medias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619973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 err="1">
                          <a:effectLst/>
                        </a:rPr>
                        <a:t>Durabilidad</a:t>
                      </a:r>
                      <a:endParaRPr lang="en-US" sz="2400" dirty="0">
                        <a:effectLst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 err="1">
                          <a:effectLst/>
                        </a:rPr>
                        <a:t>Permanencia</a:t>
                      </a:r>
                      <a:endParaRPr lang="en-US" sz="2400" dirty="0">
                        <a:effectLst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effectLst/>
                        </a:rPr>
                        <a:t>Datos </a:t>
                      </a:r>
                      <a:r>
                        <a:rPr lang="en-US" sz="2400" dirty="0" err="1">
                          <a:effectLst/>
                        </a:rPr>
                        <a:t>guardados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tras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apagón</a:t>
                      </a:r>
                      <a:endParaRPr lang="en-US" sz="2400" dirty="0">
                        <a:effectLst/>
                      </a:endParaRP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8600649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r>
              <a:rPr lang="en-US"/>
              <a:t>-- Transacción A</a:t>
            </a:r>
          </a:p>
          <a:p>
            <a:r>
              <a:rPr lang="en-US"/>
              <a:t>BEGIN TRANSACTION;</a:t>
            </a:r>
          </a:p>
          <a:p>
            <a:r>
              <a:rPr lang="en-US"/>
              <a:t>UPDATE productos SET precio = 50 WHERE id = 1;</a:t>
            </a:r>
          </a:p>
          <a:p>
            <a:r>
              <a:rPr lang="en-US"/>
              <a:t>-- Bloquea exclusivamente el registro</a:t>
            </a:r>
          </a:p>
          <a:p>
            <a:endParaRPr lang="en-US"/>
          </a:p>
          <a:p>
            <a:r>
              <a:rPr lang="en-US"/>
              <a:t>-- Transacción B (intenta acceder al mismo registro)</a:t>
            </a:r>
          </a:p>
          <a:p>
            <a:r>
              <a:rPr lang="en-US"/>
              <a:t>SELECT * FROM productos WHERE id = 1;</a:t>
            </a:r>
          </a:p>
          <a:p>
            <a:r>
              <a:rPr lang="en-US"/>
              <a:t>-- Espera hasta que Transacción A haga COMMIT</a:t>
            </a:r>
            <a:endParaRPr lang="en-US" dirty="0"/>
          </a:p>
        </p:txBody>
      </p:sp>
      <p:sp>
        <p:nvSpPr>
          <p:cNvPr id="129" name="Google Shape;129;p6"/>
          <p:cNvSpPr txBox="1"/>
          <p:nvPr/>
        </p:nvSpPr>
        <p:spPr>
          <a:xfrm>
            <a:off x="2117936" y="1457977"/>
            <a:ext cx="1504918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Estrategias</a:t>
            </a:r>
            <a:r>
              <a:rPr lang="en-US" sz="48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 de Control de </a:t>
            </a:r>
            <a:r>
              <a:rPr lang="en-US" sz="4800" b="1" i="0" u="none" strike="noStrike" cap="none" dirty="0" err="1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Concurrencia</a:t>
            </a:r>
            <a:r>
              <a:rPr lang="en-US" sz="48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 - Locking</a:t>
            </a:r>
          </a:p>
        </p:txBody>
      </p:sp>
      <p:sp>
        <p:nvSpPr>
          <p:cNvPr id="130" name="Google Shape;130;p6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582905" y="3098565"/>
            <a:ext cx="8708580" cy="609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¿Qué es </a:t>
            </a:r>
            <a:r>
              <a:rPr lang="es-ES" sz="2200" b="1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Locking</a:t>
            </a:r>
            <a:r>
              <a:rPr lang="es-ES" sz="22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(Bloqueo)?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200" b="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Mecanismo que impide que dos transacciones modifiquen los mismos datos simultáneamente.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200" b="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5" algn="just"/>
            <a:r>
              <a:rPr lang="es-ES" sz="22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Tipos de Bloqueos: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		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s-ES" sz="22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1) </a:t>
            </a:r>
            <a:r>
              <a:rPr lang="es-ES" sz="2200" b="1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Shared</a:t>
            </a:r>
            <a:r>
              <a:rPr lang="es-ES" sz="22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ES" sz="2200" b="1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Lock</a:t>
            </a:r>
            <a:r>
              <a:rPr lang="es-ES" sz="22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(Bloqueo Compartido)</a:t>
            </a: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ES" sz="2200" b="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s-ES" sz="2200" b="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Múltiples transacciones pueden leer simultáneamente</a:t>
            </a: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ES" sz="2200" b="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s-ES" sz="2200" b="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 usa en operaciones SELECT</a:t>
            </a: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ES" sz="2200" b="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s-ES" sz="22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2) Exclusive </a:t>
            </a:r>
            <a:r>
              <a:rPr lang="es-ES" sz="2200" b="1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Lock</a:t>
            </a:r>
            <a:r>
              <a:rPr lang="es-ES" sz="22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(Bloqueo Exclusivo)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200" b="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Solo una transacción puede acceder (lectura y escritura)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200" b="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 usa en INSERT, UPDATE, DELETE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AFEC06-AFB9-F591-D27F-36F98AE1844C}"/>
              </a:ext>
            </a:extLst>
          </p:cNvPr>
          <p:cNvSpPr txBox="1"/>
          <p:nvPr/>
        </p:nvSpPr>
        <p:spPr>
          <a:xfrm>
            <a:off x="8286707" y="4600446"/>
            <a:ext cx="9566216" cy="40318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B294BB"/>
                </a:solidFill>
                <a:latin typeface="berkeleyMono"/>
              </a:rPr>
              <a:t>--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Transacción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A</a:t>
            </a:r>
          </a:p>
          <a:p>
            <a:r>
              <a:rPr lang="en-US" sz="3200" b="1" dirty="0">
                <a:solidFill>
                  <a:srgbClr val="B294BB"/>
                </a:solidFill>
                <a:latin typeface="berkeleyMono"/>
              </a:rPr>
              <a:t>BEGIN TRANSACTION;</a:t>
            </a:r>
          </a:p>
          <a:p>
            <a:r>
              <a:rPr lang="en-US" sz="3200" b="1" dirty="0">
                <a:solidFill>
                  <a:srgbClr val="B294BB"/>
                </a:solidFill>
                <a:latin typeface="berkeleyMono"/>
              </a:rPr>
              <a:t>UPDATE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productos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SET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precio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= 50 WHERE id = 1;</a:t>
            </a:r>
          </a:p>
          <a:p>
            <a:r>
              <a:rPr lang="en-US" sz="3200" b="1" dirty="0">
                <a:solidFill>
                  <a:srgbClr val="B294BB"/>
                </a:solidFill>
                <a:latin typeface="berkeleyMono"/>
              </a:rPr>
              <a:t>--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Bloquea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exclusivamente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el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registro</a:t>
            </a:r>
            <a:endParaRPr lang="en-US" sz="3200" b="1" dirty="0">
              <a:solidFill>
                <a:srgbClr val="B294BB"/>
              </a:solidFill>
              <a:latin typeface="berkeleyMono"/>
            </a:endParaRPr>
          </a:p>
          <a:p>
            <a:endParaRPr lang="en-US" sz="3200" b="1" dirty="0">
              <a:solidFill>
                <a:srgbClr val="B294BB"/>
              </a:solidFill>
              <a:latin typeface="berkeleyMono"/>
            </a:endParaRPr>
          </a:p>
          <a:p>
            <a:r>
              <a:rPr lang="en-US" sz="3200" b="1" dirty="0">
                <a:solidFill>
                  <a:srgbClr val="B294BB"/>
                </a:solidFill>
                <a:latin typeface="berkeleyMono"/>
              </a:rPr>
              <a:t>--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Transacción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B (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intenta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acceder al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mismo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registro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)</a:t>
            </a:r>
          </a:p>
          <a:p>
            <a:r>
              <a:rPr lang="en-US" sz="3200" b="1" dirty="0">
                <a:solidFill>
                  <a:srgbClr val="B294BB"/>
                </a:solidFill>
                <a:latin typeface="berkeleyMono"/>
              </a:rPr>
              <a:t>SELECT * FROM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productos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WHERE id = 1;</a:t>
            </a:r>
          </a:p>
          <a:p>
            <a:r>
              <a:rPr lang="en-US" sz="3200" b="1" dirty="0">
                <a:solidFill>
                  <a:srgbClr val="B294BB"/>
                </a:solidFill>
                <a:latin typeface="berkeleyMono"/>
              </a:rPr>
              <a:t>-- Espera hasta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que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Transacción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A </a:t>
            </a:r>
            <a:r>
              <a:rPr lang="en-US" sz="3200" b="1" dirty="0" err="1">
                <a:solidFill>
                  <a:srgbClr val="B294BB"/>
                </a:solidFill>
                <a:latin typeface="berkeleyMono"/>
              </a:rPr>
              <a:t>haga</a:t>
            </a:r>
            <a:r>
              <a:rPr lang="en-US" sz="3200" b="1" dirty="0">
                <a:solidFill>
                  <a:srgbClr val="B294BB"/>
                </a:solidFill>
                <a:latin typeface="berkeleyMono"/>
              </a:rPr>
              <a:t> COMMIT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/>
        </p:nvSpPr>
        <p:spPr>
          <a:xfrm>
            <a:off x="2173546" y="1817887"/>
            <a:ext cx="1413817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Estrategias</a:t>
            </a:r>
            <a:r>
              <a:rPr lang="en-US" sz="48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 de Control de </a:t>
            </a:r>
            <a:r>
              <a:rPr lang="en-US" sz="4800" b="1" i="0" u="none" strike="noStrike" cap="none" dirty="0" err="1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Concurrencia</a:t>
            </a:r>
            <a:r>
              <a:rPr lang="en-US" sz="48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 - Time-stamping</a:t>
            </a:r>
            <a:endParaRPr sz="1000" dirty="0"/>
          </a:p>
        </p:txBody>
      </p:sp>
      <p:sp>
        <p:nvSpPr>
          <p:cNvPr id="140" name="Google Shape;140;p7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4" name="Google Shape;131;p6">
            <a:extLst>
              <a:ext uri="{FF2B5EF4-FFF2-40B4-BE49-F238E27FC236}">
                <a16:creationId xmlns:a16="http://schemas.microsoft.com/office/drawing/2014/main" id="{42B0A8DE-F0F2-6B66-DB7E-CA3FCC2E4FB5}"/>
              </a:ext>
            </a:extLst>
          </p:cNvPr>
          <p:cNvSpPr txBox="1"/>
          <p:nvPr/>
        </p:nvSpPr>
        <p:spPr>
          <a:xfrm>
            <a:off x="1300967" y="4328596"/>
            <a:ext cx="16633072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¿Qué es Time-</a:t>
            </a:r>
            <a:r>
              <a:rPr lang="es-ES" sz="2400" b="1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stamping</a:t>
            </a: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Mecanismo alternativo que usa marcas de tiempo para ordenar y validar transacciones concurrentes, sin usar bloqueos.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Cómo funciona: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Cada transacción recibe una marca de tiempo única (</a:t>
            </a:r>
            <a:r>
              <a:rPr lang="es-ES" sz="2400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timestamp</a:t>
            </a: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40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Las transacciones se ejecutan en orden de </a:t>
            </a:r>
            <a:r>
              <a:rPr lang="es-ES" sz="2400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timestamp</a:t>
            </a:r>
            <a:endParaRPr lang="es-ES" sz="240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40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 una transacción más nueva intenta modificar datos de una más vieja, se rechaza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Google Shape;153;p8"/>
          <p:cNvSpPr txBox="1"/>
          <p:nvPr/>
        </p:nvSpPr>
        <p:spPr>
          <a:xfrm>
            <a:off x="1592825" y="1194425"/>
            <a:ext cx="16105239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Problemas Comunes en Concurrencia (Bloqueos y </a:t>
            </a:r>
            <a:r>
              <a:rPr lang="es-ES" sz="4800" b="1" i="0" u="none" strike="noStrike" cap="none" dirty="0" err="1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Deadlocks</a:t>
            </a:r>
            <a:r>
              <a:rPr lang="es-ES" sz="48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000" dirty="0"/>
          </a:p>
        </p:txBody>
      </p:sp>
      <p:sp>
        <p:nvSpPr>
          <p:cNvPr id="154" name="Google Shape;154;p8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C6F4E138-3225-B97D-BB01-4122799F3DA8}"/>
              </a:ext>
            </a:extLst>
          </p:cNvPr>
          <p:cNvSpPr txBox="1"/>
          <p:nvPr/>
        </p:nvSpPr>
        <p:spPr>
          <a:xfrm>
            <a:off x="13411003" y="1959250"/>
            <a:ext cx="3988639" cy="3544977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612"/>
              </a:lnSpc>
            </a:pPr>
            <a:endParaRPr/>
          </a:p>
        </p:txBody>
      </p:sp>
      <p:sp>
        <p:nvSpPr>
          <p:cNvPr id="3" name="Google Shape;131;p6">
            <a:extLst>
              <a:ext uri="{FF2B5EF4-FFF2-40B4-BE49-F238E27FC236}">
                <a16:creationId xmlns:a16="http://schemas.microsoft.com/office/drawing/2014/main" id="{7ACDDAAE-7D4D-32D3-9F8D-F42AF632FA98}"/>
              </a:ext>
            </a:extLst>
          </p:cNvPr>
          <p:cNvSpPr txBox="1"/>
          <p:nvPr/>
        </p:nvSpPr>
        <p:spPr>
          <a:xfrm>
            <a:off x="581756" y="3605591"/>
            <a:ext cx="7828114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Bloqueos (</a:t>
            </a:r>
            <a:r>
              <a:rPr lang="es-ES" sz="2400" b="1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Locks</a:t>
            </a: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):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Transacciones esperan indefinidamente a liberar un recurso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40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Reducen el rendimiento del sistema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Deadlocks</a:t>
            </a: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(Interbloqueos):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4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Dos o más transacciones se bloquean mutuamente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40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Ninguna puede avanzar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es-ES" sz="240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131;p6">
            <a:extLst>
              <a:ext uri="{FF2B5EF4-FFF2-40B4-BE49-F238E27FC236}">
                <a16:creationId xmlns:a16="http://schemas.microsoft.com/office/drawing/2014/main" id="{0DAC2789-0727-E6C4-92D3-602E87FC8F9B}"/>
              </a:ext>
            </a:extLst>
          </p:cNvPr>
          <p:cNvSpPr txBox="1"/>
          <p:nvPr/>
        </p:nvSpPr>
        <p:spPr>
          <a:xfrm>
            <a:off x="9476660" y="3927349"/>
            <a:ext cx="895536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Ejemplo de </a:t>
            </a:r>
            <a:r>
              <a:rPr lang="es-ES" sz="2000" b="1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Deadlock</a:t>
            </a:r>
            <a:r>
              <a:rPr lang="es-ES" sz="20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Transacción A: Bloquea Registro 1, intenta bloquear Registro 2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Transacción B: Bloquea Registro 2, intenta bloquear Registro 1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Ambas esperan indefinidamente = DEADLOCK</a:t>
            </a:r>
          </a:p>
        </p:txBody>
      </p:sp>
      <p:sp>
        <p:nvSpPr>
          <p:cNvPr id="16" name="Google Shape;131;p6">
            <a:extLst>
              <a:ext uri="{FF2B5EF4-FFF2-40B4-BE49-F238E27FC236}">
                <a16:creationId xmlns:a16="http://schemas.microsoft.com/office/drawing/2014/main" id="{70328EDD-43F7-8123-3BD2-8A8C450F4AE2}"/>
              </a:ext>
            </a:extLst>
          </p:cNvPr>
          <p:cNvSpPr txBox="1"/>
          <p:nvPr/>
        </p:nvSpPr>
        <p:spPr>
          <a:xfrm>
            <a:off x="9817665" y="6269052"/>
            <a:ext cx="6862761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Soluciones: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b="1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Timeout</a:t>
            </a:r>
            <a:r>
              <a:rPr lang="es-ES" sz="20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(esperar máximo X segundos, luego abortar)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00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Detección y </a:t>
            </a:r>
            <a:r>
              <a:rPr lang="es-ES" sz="2000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rollback</a:t>
            </a:r>
            <a:r>
              <a:rPr lang="es-ES" sz="20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de transacciones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000" i="0" u="none" strike="noStrike" cap="none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Ordenar acceso a recursos consistentemente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/>
        </p:nvSpPr>
        <p:spPr>
          <a:xfrm>
            <a:off x="858580" y="1276820"/>
            <a:ext cx="15939834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4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Recuperación de Transacciones - </a:t>
            </a:r>
            <a:r>
              <a:rPr lang="es-ES" sz="5400" b="1" i="0" u="none" strike="noStrike" cap="none" dirty="0" err="1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Savepoints</a:t>
            </a:r>
            <a:r>
              <a:rPr lang="es-ES" sz="54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s-ES" sz="5400" b="1" i="0" u="none" strike="noStrike" cap="none" dirty="0" err="1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Rollbacks</a:t>
            </a:r>
            <a:endParaRPr sz="1050" dirty="0"/>
          </a:p>
        </p:txBody>
      </p:sp>
      <p:sp>
        <p:nvSpPr>
          <p:cNvPr id="167" name="Google Shape;167;p9"/>
          <p:cNvSpPr txBox="1"/>
          <p:nvPr/>
        </p:nvSpPr>
        <p:spPr>
          <a:xfrm>
            <a:off x="809827" y="55067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809827" y="3603611"/>
            <a:ext cx="8053954" cy="142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Savepoints</a:t>
            </a: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(Puntos de Guardado)</a:t>
            </a:r>
          </a:p>
          <a:p>
            <a:pPr marL="0" marR="0" lvl="0" indent="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Permiten revertir solo parte de una transacción, no toda.</a:t>
            </a:r>
          </a:p>
          <a:p>
            <a:pPr marL="0" marR="0" lvl="0" indent="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Ejemplo: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240A1D-5128-8B17-0110-63A0024B6AF7}"/>
              </a:ext>
            </a:extLst>
          </p:cNvPr>
          <p:cNvSpPr txBox="1"/>
          <p:nvPr/>
        </p:nvSpPr>
        <p:spPr>
          <a:xfrm>
            <a:off x="691840" y="5143500"/>
            <a:ext cx="6472196" cy="452431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B294BB"/>
                </a:solidFill>
                <a:latin typeface="berkeleyMono"/>
              </a:rPr>
              <a:t>BEGIN TRANSACTION;</a:t>
            </a:r>
          </a:p>
          <a:p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 INSERT INTO </a:t>
            </a:r>
            <a:r>
              <a:rPr lang="en-US" sz="2400" b="1" dirty="0" err="1">
                <a:solidFill>
                  <a:srgbClr val="B294BB"/>
                </a:solidFill>
                <a:latin typeface="berkeleyMono"/>
              </a:rPr>
              <a:t>clientes</a:t>
            </a:r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VALUES (1, 'Juan');</a:t>
            </a:r>
          </a:p>
          <a:p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 SAVEPOINT sp1;</a:t>
            </a:r>
          </a:p>
          <a:p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 </a:t>
            </a:r>
          </a:p>
          <a:p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 INSERT INTO </a:t>
            </a:r>
            <a:r>
              <a:rPr lang="en-US" sz="2400" b="1" dirty="0" err="1">
                <a:solidFill>
                  <a:srgbClr val="B294BB"/>
                </a:solidFill>
                <a:latin typeface="berkeleyMono"/>
              </a:rPr>
              <a:t>pedidos</a:t>
            </a:r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VALUES (100, 1, 500);</a:t>
            </a:r>
          </a:p>
          <a:p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 -- Error </a:t>
            </a:r>
            <a:r>
              <a:rPr lang="en-US" sz="2400" b="1" dirty="0" err="1">
                <a:solidFill>
                  <a:srgbClr val="B294BB"/>
                </a:solidFill>
                <a:latin typeface="berkeleyMono"/>
              </a:rPr>
              <a:t>aquí</a:t>
            </a:r>
            <a:endParaRPr lang="en-US" sz="2400" b="1" dirty="0">
              <a:solidFill>
                <a:srgbClr val="B294BB"/>
              </a:solidFill>
              <a:latin typeface="berkeleyMono"/>
            </a:endParaRPr>
          </a:p>
          <a:p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 </a:t>
            </a:r>
          </a:p>
          <a:p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 ROLLBACK TO sp1;</a:t>
            </a:r>
          </a:p>
          <a:p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 -- </a:t>
            </a:r>
            <a:r>
              <a:rPr lang="en-US" sz="2400" b="1" dirty="0" err="1">
                <a:solidFill>
                  <a:srgbClr val="B294BB"/>
                </a:solidFill>
                <a:latin typeface="berkeleyMono"/>
              </a:rPr>
              <a:t>Revierte</a:t>
            </a:r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solo </a:t>
            </a:r>
            <a:r>
              <a:rPr lang="en-US" sz="2400" b="1" dirty="0" err="1">
                <a:solidFill>
                  <a:srgbClr val="B294BB"/>
                </a:solidFill>
                <a:latin typeface="berkeleyMono"/>
              </a:rPr>
              <a:t>el</a:t>
            </a:r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INSERT de </a:t>
            </a:r>
            <a:r>
              <a:rPr lang="en-US" sz="2400" b="1" dirty="0" err="1">
                <a:solidFill>
                  <a:srgbClr val="B294BB"/>
                </a:solidFill>
                <a:latin typeface="berkeleyMono"/>
              </a:rPr>
              <a:t>pedidos</a:t>
            </a:r>
            <a:endParaRPr lang="en-US" sz="2400" b="1" dirty="0">
              <a:solidFill>
                <a:srgbClr val="B294BB"/>
              </a:solidFill>
              <a:latin typeface="berkeleyMono"/>
            </a:endParaRPr>
          </a:p>
          <a:p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 -- </a:t>
            </a:r>
            <a:r>
              <a:rPr lang="en-US" sz="2400" b="1" dirty="0" err="1">
                <a:solidFill>
                  <a:srgbClr val="B294BB"/>
                </a:solidFill>
                <a:latin typeface="berkeleyMono"/>
              </a:rPr>
              <a:t>Mantiene</a:t>
            </a:r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</a:t>
            </a:r>
            <a:r>
              <a:rPr lang="en-US" sz="2400" b="1" dirty="0" err="1">
                <a:solidFill>
                  <a:srgbClr val="B294BB"/>
                </a:solidFill>
                <a:latin typeface="berkeleyMono"/>
              </a:rPr>
              <a:t>el</a:t>
            </a:r>
            <a:r>
              <a:rPr lang="en-US" sz="2400" b="1" dirty="0">
                <a:solidFill>
                  <a:srgbClr val="B294BB"/>
                </a:solidFill>
                <a:latin typeface="berkeleyMono"/>
              </a:rPr>
              <a:t> INSERT de </a:t>
            </a:r>
            <a:r>
              <a:rPr lang="en-US" sz="2400" b="1" dirty="0" err="1">
                <a:solidFill>
                  <a:srgbClr val="B294BB"/>
                </a:solidFill>
                <a:latin typeface="berkeleyMono"/>
              </a:rPr>
              <a:t>clientes</a:t>
            </a:r>
            <a:endParaRPr lang="en-US" sz="2400" b="1" dirty="0">
              <a:solidFill>
                <a:srgbClr val="B294BB"/>
              </a:solidFill>
              <a:latin typeface="berkeleyMono"/>
            </a:endParaRPr>
          </a:p>
          <a:p>
            <a:endParaRPr lang="en-US" sz="2400" b="1" dirty="0">
              <a:solidFill>
                <a:srgbClr val="B294BB"/>
              </a:solidFill>
              <a:latin typeface="berkeleyMono"/>
            </a:endParaRPr>
          </a:p>
          <a:p>
            <a:r>
              <a:rPr lang="en-US" sz="2400" b="1" dirty="0">
                <a:solidFill>
                  <a:srgbClr val="B294BB"/>
                </a:solidFill>
                <a:latin typeface="berkeleyMono"/>
              </a:rPr>
              <a:t>COMMIT;</a:t>
            </a:r>
          </a:p>
        </p:txBody>
      </p:sp>
      <p:sp>
        <p:nvSpPr>
          <p:cNvPr id="5" name="Google Shape;168;p9">
            <a:extLst>
              <a:ext uri="{FF2B5EF4-FFF2-40B4-BE49-F238E27FC236}">
                <a16:creationId xmlns:a16="http://schemas.microsoft.com/office/drawing/2014/main" id="{FDFA8E50-D7DA-488A-11C9-62F8EEA28F6B}"/>
              </a:ext>
            </a:extLst>
          </p:cNvPr>
          <p:cNvSpPr txBox="1"/>
          <p:nvPr/>
        </p:nvSpPr>
        <p:spPr>
          <a:xfrm>
            <a:off x="10705995" y="4556435"/>
            <a:ext cx="3924405" cy="47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8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Rollback</a:t>
            </a:r>
            <a:r>
              <a:rPr lang="es-ES" sz="2400" b="1" i="0" u="none" strike="noStrike" cap="none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Total vs Parcial: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AA5FD7-D517-E130-8378-C53D7B641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378272"/>
              </p:ext>
            </p:extLst>
          </p:nvPr>
        </p:nvGraphicFramePr>
        <p:xfrm>
          <a:off x="8863781" y="5254153"/>
          <a:ext cx="8229600" cy="30480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6538976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755531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Rollback Total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Rollback Parcial (SAVEPOINT)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4183286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Revierte toda la transacción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400">
                          <a:effectLst/>
                        </a:rPr>
                        <a:t>Revierte solo hasta el savepoint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383442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ROLLBACK;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ROLLBACK TO savepoint_name;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946984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effectLst/>
                        </a:rPr>
                        <a:t>Más simple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effectLst/>
                        </a:rPr>
                        <a:t>Más control y </a:t>
                      </a:r>
                      <a:r>
                        <a:rPr lang="en-US" sz="2400" dirty="0" err="1">
                          <a:effectLst/>
                        </a:rPr>
                        <a:t>flexibilidad</a:t>
                      </a:r>
                      <a:endParaRPr lang="en-US" sz="2400" dirty="0">
                        <a:effectLst/>
                      </a:endParaRP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0477492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/>
        </p:nvSpPr>
        <p:spPr>
          <a:xfrm>
            <a:off x="830992" y="572512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9022D5D-9D3A-C065-5927-93B5AD189DE4}"/>
              </a:ext>
            </a:extLst>
          </p:cNvPr>
          <p:cNvSpPr txBox="1"/>
          <p:nvPr/>
        </p:nvSpPr>
        <p:spPr>
          <a:xfrm>
            <a:off x="1709493" y="1912057"/>
            <a:ext cx="10118714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97"/>
              </a:lnSpc>
            </a:pPr>
            <a:r>
              <a:rPr lang="es-ES" sz="2000" b="1" spc="-85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¿Por qué usar Python para CSV/TSV?</a:t>
            </a:r>
          </a:p>
          <a:p>
            <a:pPr algn="just">
              <a:lnSpc>
                <a:spcPts val="2397"/>
              </a:lnSpc>
            </a:pPr>
            <a:endParaRPr lang="es-ES" sz="2000" b="1" spc="-85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algn="just">
              <a:lnSpc>
                <a:spcPts val="2397"/>
              </a:lnSpc>
            </a:pPr>
            <a:r>
              <a:rPr lang="es-ES" sz="2000" spc="-85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Extraer datos de archivos planos, transformarlos y cargarlos en bases de datos transaccionales</a:t>
            </a:r>
            <a:r>
              <a:rPr lang="es-ES" sz="2000" b="1" spc="-85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.</a:t>
            </a:r>
          </a:p>
          <a:p>
            <a:pPr algn="just">
              <a:lnSpc>
                <a:spcPts val="2397"/>
              </a:lnSpc>
            </a:pPr>
            <a:endParaRPr lang="es-ES" sz="2000" b="1" spc="-85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algn="just">
              <a:lnSpc>
                <a:spcPts val="2397"/>
              </a:lnSpc>
            </a:pPr>
            <a:r>
              <a:rPr lang="en-US" sz="2000" b="1" u="none" strike="noStrike" spc="-85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Métodos</a:t>
            </a:r>
            <a:r>
              <a:rPr lang="en-US" sz="2000" b="1" u="none" strike="noStrike" spc="-85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000" b="1" u="none" strike="noStrike" spc="-85" dirty="0" err="1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principales</a:t>
            </a:r>
            <a:r>
              <a:rPr lang="en-US" sz="2000" b="1" u="none" strike="noStrike" spc="-85" dirty="0">
                <a:solidFill>
                  <a:schemeClr val="tx1"/>
                </a:solidFill>
                <a:latin typeface="+mj-lt"/>
                <a:ea typeface="TT Hoves"/>
                <a:cs typeface="TT Hoves"/>
                <a:sym typeface="TT Hoves"/>
              </a:rPr>
              <a:t>:</a:t>
            </a:r>
          </a:p>
        </p:txBody>
      </p:sp>
      <p:sp>
        <p:nvSpPr>
          <p:cNvPr id="4" name="Google Shape;166;p9">
            <a:extLst>
              <a:ext uri="{FF2B5EF4-FFF2-40B4-BE49-F238E27FC236}">
                <a16:creationId xmlns:a16="http://schemas.microsoft.com/office/drawing/2014/main" id="{1B1757E0-73E2-70C6-C639-CA1B3810D1F6}"/>
              </a:ext>
            </a:extLst>
          </p:cNvPr>
          <p:cNvSpPr txBox="1"/>
          <p:nvPr/>
        </p:nvSpPr>
        <p:spPr>
          <a:xfrm>
            <a:off x="830992" y="748662"/>
            <a:ext cx="15939834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400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Manejo de Archivos CSV y TSV con Python</a:t>
            </a:r>
            <a:endParaRPr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49075-C333-13CE-0283-4127BE75B65A}"/>
              </a:ext>
            </a:extLst>
          </p:cNvPr>
          <p:cNvSpPr txBox="1"/>
          <p:nvPr/>
        </p:nvSpPr>
        <p:spPr>
          <a:xfrm>
            <a:off x="1222797" y="4053705"/>
            <a:ext cx="8068688" cy="449353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berkeleyMono"/>
              </a:rPr>
              <a:t>import pandas as pd</a:t>
            </a:r>
          </a:p>
          <a:p>
            <a:endParaRPr lang="en-US" sz="2200" b="1" dirty="0">
              <a:solidFill>
                <a:srgbClr val="B294BB"/>
              </a:solidFill>
              <a:latin typeface="berkeleyMono"/>
            </a:endParaRPr>
          </a:p>
          <a:p>
            <a:r>
              <a:rPr lang="en-US" sz="2200" b="1" dirty="0">
                <a:solidFill>
                  <a:srgbClr val="B294BB"/>
                </a:solidFill>
                <a:latin typeface="berkeleyMono"/>
              </a:rPr>
              <a:t># Leer CSV</a:t>
            </a:r>
          </a:p>
          <a:p>
            <a:r>
              <a:rPr lang="en-US" sz="2200" b="1" dirty="0" err="1">
                <a:solidFill>
                  <a:srgbClr val="B294BB"/>
                </a:solidFill>
                <a:latin typeface="berkeleyMono"/>
              </a:rPr>
              <a:t>df</a:t>
            </a:r>
            <a:r>
              <a:rPr lang="en-US" sz="2200" b="1" dirty="0">
                <a:solidFill>
                  <a:srgbClr val="B294BB"/>
                </a:solidFill>
                <a:latin typeface="berkeleyMono"/>
              </a:rPr>
              <a:t> = </a:t>
            </a:r>
            <a:r>
              <a:rPr lang="en-US" sz="2200" b="1" dirty="0" err="1">
                <a:solidFill>
                  <a:srgbClr val="B294BB"/>
                </a:solidFill>
                <a:latin typeface="berkeleyMono"/>
              </a:rPr>
              <a:t>pd.read_csv</a:t>
            </a:r>
            <a:r>
              <a:rPr lang="en-US" sz="2200" b="1" dirty="0">
                <a:solidFill>
                  <a:srgbClr val="B294BB"/>
                </a:solidFill>
                <a:latin typeface="berkeleyMono"/>
              </a:rPr>
              <a:t>('datos.csv')</a:t>
            </a:r>
          </a:p>
          <a:p>
            <a:endParaRPr lang="en-US" sz="2200" b="1" dirty="0">
              <a:solidFill>
                <a:srgbClr val="B294BB"/>
              </a:solidFill>
              <a:latin typeface="berkeleyMono"/>
            </a:endParaRPr>
          </a:p>
          <a:p>
            <a:r>
              <a:rPr lang="en-US" sz="2200" b="1" dirty="0">
                <a:solidFill>
                  <a:srgbClr val="B294BB"/>
                </a:solidFill>
                <a:latin typeface="berkeleyMono"/>
              </a:rPr>
              <a:t># </a:t>
            </a:r>
            <a:r>
              <a:rPr lang="en-US" sz="2200" b="1" dirty="0" err="1">
                <a:solidFill>
                  <a:srgbClr val="B294BB"/>
                </a:solidFill>
                <a:latin typeface="berkeleyMono"/>
              </a:rPr>
              <a:t>Limpiar</a:t>
            </a:r>
            <a:r>
              <a:rPr lang="en-US" sz="2200" b="1" dirty="0">
                <a:solidFill>
                  <a:srgbClr val="B294BB"/>
                </a:solidFill>
                <a:latin typeface="berkeleyMono"/>
              </a:rPr>
              <a:t> </a:t>
            </a:r>
            <a:r>
              <a:rPr lang="en-US" sz="2200" b="1" dirty="0" err="1">
                <a:solidFill>
                  <a:srgbClr val="B294BB"/>
                </a:solidFill>
                <a:latin typeface="berkeleyMono"/>
              </a:rPr>
              <a:t>datos</a:t>
            </a:r>
            <a:r>
              <a:rPr lang="en-US" sz="2200" b="1" dirty="0">
                <a:solidFill>
                  <a:srgbClr val="B294BB"/>
                </a:solidFill>
                <a:latin typeface="berkeleyMono"/>
              </a:rPr>
              <a:t> (</a:t>
            </a:r>
            <a:r>
              <a:rPr lang="en-US" sz="2200" b="1" dirty="0" err="1">
                <a:solidFill>
                  <a:srgbClr val="B294BB"/>
                </a:solidFill>
                <a:latin typeface="berkeleyMono"/>
              </a:rPr>
              <a:t>transaccionalidad</a:t>
            </a:r>
            <a:r>
              <a:rPr lang="en-US" sz="2200" b="1" dirty="0">
                <a:solidFill>
                  <a:srgbClr val="B294BB"/>
                </a:solidFill>
                <a:latin typeface="berkeleyMono"/>
              </a:rPr>
              <a:t> </a:t>
            </a:r>
            <a:r>
              <a:rPr lang="en-US" sz="2200" b="1" dirty="0" err="1">
                <a:solidFill>
                  <a:srgbClr val="B294BB"/>
                </a:solidFill>
                <a:latin typeface="berkeleyMono"/>
              </a:rPr>
              <a:t>en</a:t>
            </a:r>
            <a:r>
              <a:rPr lang="en-US" sz="2200" b="1" dirty="0">
                <a:solidFill>
                  <a:srgbClr val="B294BB"/>
                </a:solidFill>
                <a:latin typeface="berkeleyMono"/>
              </a:rPr>
              <a:t> Python)</a:t>
            </a:r>
          </a:p>
          <a:p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df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 =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df.dropna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()  #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Eliminar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nulos</a:t>
            </a:r>
            <a:endParaRPr lang="en-US" sz="2200" b="1" dirty="0">
              <a:solidFill>
                <a:schemeClr val="tx1"/>
              </a:solidFill>
              <a:latin typeface="berkeleyMono"/>
            </a:endParaRPr>
          </a:p>
          <a:p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df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 =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df.drop_duplicates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()  #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Eliminar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duplicados</a:t>
            </a:r>
            <a:endParaRPr lang="en-US" sz="2200" b="1" dirty="0">
              <a:solidFill>
                <a:schemeClr val="tx1"/>
              </a:solidFill>
              <a:latin typeface="berkeleyMono"/>
            </a:endParaRPr>
          </a:p>
          <a:p>
            <a:endParaRPr lang="en-US" sz="2200" b="1" dirty="0">
              <a:solidFill>
                <a:srgbClr val="B294BB"/>
              </a:solidFill>
              <a:latin typeface="berkeleyMono"/>
            </a:endParaRPr>
          </a:p>
          <a:p>
            <a:r>
              <a:rPr lang="en-US" sz="2200" b="1" dirty="0">
                <a:solidFill>
                  <a:srgbClr val="B294BB"/>
                </a:solidFill>
                <a:latin typeface="berkeleyMono"/>
              </a:rPr>
              <a:t># </a:t>
            </a:r>
            <a:r>
              <a:rPr lang="en-US" sz="2200" b="1" dirty="0" err="1">
                <a:solidFill>
                  <a:srgbClr val="B294BB"/>
                </a:solidFill>
                <a:latin typeface="berkeleyMono"/>
              </a:rPr>
              <a:t>Escribir</a:t>
            </a:r>
            <a:r>
              <a:rPr lang="en-US" sz="2200" b="1" dirty="0">
                <a:solidFill>
                  <a:srgbClr val="B294BB"/>
                </a:solidFill>
                <a:latin typeface="berkeleyMono"/>
              </a:rPr>
              <a:t> a base de </a:t>
            </a:r>
            <a:r>
              <a:rPr lang="en-US" sz="2200" b="1" dirty="0" err="1">
                <a:solidFill>
                  <a:srgbClr val="B294BB"/>
                </a:solidFill>
                <a:latin typeface="berkeleyMono"/>
              </a:rPr>
              <a:t>datos</a:t>
            </a:r>
            <a:endParaRPr lang="en-US" sz="2200" b="1" dirty="0">
              <a:solidFill>
                <a:srgbClr val="B294BB"/>
              </a:solidFill>
              <a:latin typeface="berkeleyMono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berkeleyMono"/>
              </a:rPr>
              <a:t>from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sqlalchemy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 import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create_engine</a:t>
            </a:r>
            <a:endParaRPr lang="en-US" sz="2200" b="1" dirty="0">
              <a:solidFill>
                <a:schemeClr val="tx1"/>
              </a:solidFill>
              <a:latin typeface="berkeleyMono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berkeleyMono"/>
              </a:rPr>
              <a:t>engine =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create_engine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('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mysql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://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user:pass@localhost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/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db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')</a:t>
            </a:r>
          </a:p>
          <a:p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df.to_sql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('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tabla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', con=engine,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if_exists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='append', index=False</a:t>
            </a:r>
            <a:r>
              <a:rPr lang="en-US" sz="2200" b="1" dirty="0">
                <a:solidFill>
                  <a:srgbClr val="B294BB"/>
                </a:solidFill>
                <a:latin typeface="berkeleyMono"/>
              </a:rPr>
              <a:t>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3DB3C0D0-3171-A588-61CF-8A9689727F2C}"/>
              </a:ext>
            </a:extLst>
          </p:cNvPr>
          <p:cNvSpPr txBox="1"/>
          <p:nvPr/>
        </p:nvSpPr>
        <p:spPr>
          <a:xfrm>
            <a:off x="1832396" y="3584211"/>
            <a:ext cx="260686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97"/>
              </a:lnSpc>
            </a:pPr>
            <a:r>
              <a:rPr lang="es-ES" sz="2000" b="1" spc="-85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1. Usando pandas:</a:t>
            </a:r>
            <a:endParaRPr lang="en-US" sz="2000" b="1" u="none" strike="noStrike" spc="-85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5044A3C-E737-9BCA-972F-1ED98AE87815}"/>
              </a:ext>
            </a:extLst>
          </p:cNvPr>
          <p:cNvSpPr txBox="1"/>
          <p:nvPr/>
        </p:nvSpPr>
        <p:spPr>
          <a:xfrm>
            <a:off x="12028448" y="3584211"/>
            <a:ext cx="304440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97"/>
              </a:lnSpc>
            </a:pPr>
            <a:r>
              <a:rPr lang="es-ES" sz="2000" b="1" spc="-85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2. Usando </a:t>
            </a:r>
            <a:r>
              <a:rPr lang="es-ES" sz="2000" b="1" spc="-85" dirty="0" err="1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csv</a:t>
            </a:r>
            <a:r>
              <a:rPr lang="es-ES" sz="2000" b="1" spc="-85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 estándar:</a:t>
            </a:r>
            <a:endParaRPr lang="en-US" sz="2000" b="1" u="none" strike="noStrike" spc="-85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21711-DA92-324E-1031-A530994A7EEC}"/>
              </a:ext>
            </a:extLst>
          </p:cNvPr>
          <p:cNvSpPr txBox="1"/>
          <p:nvPr/>
        </p:nvSpPr>
        <p:spPr>
          <a:xfrm>
            <a:off x="10594848" y="4192489"/>
            <a:ext cx="6175978" cy="246221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berkeleyMono"/>
              </a:rPr>
              <a:t>import csv</a:t>
            </a:r>
          </a:p>
          <a:p>
            <a:endParaRPr lang="en-US" sz="2200" b="1" dirty="0">
              <a:solidFill>
                <a:schemeClr val="tx1"/>
              </a:solidFill>
              <a:latin typeface="berkeleyMono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berkeleyMono"/>
              </a:rPr>
              <a:t>with open('datos.csv', 'r') as file:</a:t>
            </a:r>
          </a:p>
          <a:p>
            <a:r>
              <a:rPr lang="en-US" sz="2200" b="1" dirty="0">
                <a:solidFill>
                  <a:schemeClr val="tx1"/>
                </a:solidFill>
                <a:latin typeface="berkeleyMono"/>
              </a:rPr>
              <a:t>    reader =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csv.DictReader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(file)</a:t>
            </a:r>
          </a:p>
          <a:p>
            <a:r>
              <a:rPr lang="en-US" sz="2200" b="1" dirty="0">
                <a:solidFill>
                  <a:schemeClr val="tx1"/>
                </a:solidFill>
                <a:latin typeface="berkeleyMono"/>
              </a:rPr>
              <a:t>    for row in reader:</a:t>
            </a:r>
          </a:p>
          <a:p>
            <a:r>
              <a:rPr lang="en-US" sz="2200" b="1" dirty="0">
                <a:solidFill>
                  <a:schemeClr val="tx1"/>
                </a:solidFill>
                <a:latin typeface="berkeleyMono"/>
              </a:rPr>
              <a:t>        #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Procesar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 </a:t>
            </a:r>
            <a:r>
              <a:rPr lang="en-US" sz="2200" b="1" dirty="0" err="1">
                <a:solidFill>
                  <a:schemeClr val="tx1"/>
                </a:solidFill>
                <a:latin typeface="berkeleyMono"/>
              </a:rPr>
              <a:t>cada</a:t>
            </a:r>
            <a:r>
              <a:rPr lang="en-US" sz="2200" b="1" dirty="0">
                <a:solidFill>
                  <a:schemeClr val="tx1"/>
                </a:solidFill>
                <a:latin typeface="berkeleyMono"/>
              </a:rPr>
              <a:t> fila</a:t>
            </a:r>
          </a:p>
          <a:p>
            <a:r>
              <a:rPr lang="en-US" sz="2200" b="1" dirty="0">
                <a:solidFill>
                  <a:schemeClr val="tx1"/>
                </a:solidFill>
                <a:latin typeface="berkeleyMono"/>
              </a:rPr>
              <a:t>        print(row)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A7B20E74-CDC1-EEA2-5920-01A4CD869A91}"/>
              </a:ext>
            </a:extLst>
          </p:cNvPr>
          <p:cNvSpPr txBox="1"/>
          <p:nvPr/>
        </p:nvSpPr>
        <p:spPr>
          <a:xfrm>
            <a:off x="10089665" y="7088475"/>
            <a:ext cx="7186343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97"/>
              </a:lnSpc>
            </a:pPr>
            <a:r>
              <a:rPr lang="es-ES" sz="2000" b="1" spc="-85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CSV vs TSV:</a:t>
            </a:r>
          </a:p>
          <a:p>
            <a:pPr algn="just">
              <a:lnSpc>
                <a:spcPts val="2397"/>
              </a:lnSpc>
            </a:pPr>
            <a:endParaRPr lang="es-ES" sz="2000" spc="-85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algn="just">
              <a:lnSpc>
                <a:spcPts val="2397"/>
              </a:lnSpc>
            </a:pPr>
            <a:r>
              <a:rPr lang="es-ES" sz="2000" spc="-85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CSV: Separado por comas (,)</a:t>
            </a:r>
          </a:p>
          <a:p>
            <a:pPr algn="just">
              <a:lnSpc>
                <a:spcPts val="2397"/>
              </a:lnSpc>
            </a:pPr>
            <a:endParaRPr lang="es-ES" sz="2000" spc="-85" dirty="0">
              <a:solidFill>
                <a:schemeClr val="tx1"/>
              </a:solidFill>
              <a:latin typeface="+mj-lt"/>
              <a:ea typeface="TT Hoves Bold"/>
              <a:cs typeface="TT Hoves Bold"/>
              <a:sym typeface="TT Hoves Bold"/>
            </a:endParaRPr>
          </a:p>
          <a:p>
            <a:pPr algn="just">
              <a:lnSpc>
                <a:spcPts val="2397"/>
              </a:lnSpc>
            </a:pPr>
            <a:r>
              <a:rPr lang="es-ES" sz="2000" spc="-85" dirty="0">
                <a:solidFill>
                  <a:schemeClr val="tx1"/>
                </a:solidFill>
                <a:latin typeface="+mj-lt"/>
                <a:ea typeface="TT Hoves Bold"/>
                <a:cs typeface="TT Hoves Bold"/>
                <a:sym typeface="TT Hoves Bold"/>
              </a:rPr>
              <a:t>TSV: Separado por tabulaciones (\t)</a:t>
            </a:r>
            <a:endParaRPr lang="en-US" sz="2000" u="none" strike="noStrike" spc="-85" dirty="0">
              <a:solidFill>
                <a:schemeClr val="tx1"/>
              </a:solidFill>
              <a:latin typeface="+mj-lt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/>
        </p:nvSpPr>
        <p:spPr>
          <a:xfrm>
            <a:off x="915724" y="530146"/>
            <a:ext cx="6472196" cy="3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4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SISTEMAS DE BASES DE DATOS 2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2308794" y="1182387"/>
            <a:ext cx="15362517" cy="1572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99" b="1" i="0" u="none" strike="noStrike" cap="none" dirty="0" err="1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Síntesis</a:t>
            </a:r>
            <a:r>
              <a:rPr lang="en-US" sz="7299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7299" b="1" i="0" u="none" strike="noStrike" cap="none" dirty="0" err="1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Buenas</a:t>
            </a:r>
            <a:r>
              <a:rPr lang="en-US" sz="7299" b="1" i="0" u="none" strike="noStrike" cap="none" dirty="0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299" b="1" i="0" u="none" strike="noStrike" cap="none" dirty="0" err="1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Prácticas</a:t>
            </a:r>
            <a:endParaRPr lang="en-US" sz="7299" b="1" i="0" u="none" strike="noStrike" cap="none" dirty="0">
              <a:solidFill>
                <a:srgbClr val="3434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1844DEA-328B-4D7B-DEEB-A0F610A12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775354"/>
              </p:ext>
            </p:extLst>
          </p:nvPr>
        </p:nvGraphicFramePr>
        <p:xfrm>
          <a:off x="1940084" y="2754933"/>
          <a:ext cx="13929180" cy="6819873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4643060">
                  <a:extLst>
                    <a:ext uri="{9D8B030D-6E8A-4147-A177-3AD203B41FA5}">
                      <a16:colId xmlns:a16="http://schemas.microsoft.com/office/drawing/2014/main" val="1801389314"/>
                    </a:ext>
                  </a:extLst>
                </a:gridCol>
                <a:gridCol w="4643060">
                  <a:extLst>
                    <a:ext uri="{9D8B030D-6E8A-4147-A177-3AD203B41FA5}">
                      <a16:colId xmlns:a16="http://schemas.microsoft.com/office/drawing/2014/main" val="697156465"/>
                    </a:ext>
                  </a:extLst>
                </a:gridCol>
                <a:gridCol w="4643060">
                  <a:extLst>
                    <a:ext uri="{9D8B030D-6E8A-4147-A177-3AD203B41FA5}">
                      <a16:colId xmlns:a16="http://schemas.microsoft.com/office/drawing/2014/main" val="105816629"/>
                    </a:ext>
                  </a:extLst>
                </a:gridCol>
              </a:tblGrid>
              <a:tr h="6686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Concepto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 err="1">
                          <a:effectLst/>
                        </a:rPr>
                        <a:t>Función</a:t>
                      </a:r>
                      <a:endParaRPr lang="en-US" sz="3200" dirty="0">
                        <a:effectLst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Comando/Herramienta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578942554"/>
                  </a:ext>
                </a:extLst>
              </a:tr>
              <a:tr h="12035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Transacciones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Unidad lógica indivisible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BEGIN, COMMIT, ROLLBACK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175666002"/>
                  </a:ext>
                </a:extLst>
              </a:tr>
              <a:tr h="12035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ACID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Garantías de confiabilidad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Propiedades fundamentales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695564937"/>
                  </a:ext>
                </a:extLst>
              </a:tr>
              <a:tr h="12035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Locking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Evitar conflictos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Bloqueos compartidos/exclusivos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707084412"/>
                  </a:ext>
                </a:extLst>
              </a:tr>
              <a:tr h="6686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Time-stamping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Ordenar transacciones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Marcas de tiempo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757057210"/>
                  </a:ext>
                </a:extLst>
              </a:tr>
              <a:tr h="12035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Savepoints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Recuperación parcial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SAVEPOINT, ROLLBACK TO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862376255"/>
                  </a:ext>
                </a:extLst>
              </a:tr>
              <a:tr h="6686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CSV/TSV con Python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Cargar/extraer datos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>
                          <a:effectLst/>
                        </a:rPr>
                        <a:t>pandas, csv module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6944164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/>
        </p:nvSpPr>
        <p:spPr>
          <a:xfrm>
            <a:off x="2392350" y="498680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1400" b="0" i="0" u="none" strike="noStrike" cap="none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3623020" y="2062125"/>
            <a:ext cx="11272039" cy="710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5199"/>
            </a:pPr>
            <a:r>
              <a:rPr lang="es-ES" sz="2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Transacciones SQL - </a:t>
            </a:r>
            <a:r>
              <a:rPr lang="es-ES" sz="220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Unidades lógicas indivisibles que garantizan integridad de datos</a:t>
            </a:r>
          </a:p>
          <a:p>
            <a:pPr lvl="0" algn="ctr">
              <a:lnSpc>
                <a:spcPct val="150000"/>
              </a:lnSpc>
              <a:buSzPts val="5199"/>
            </a:pPr>
            <a:endParaRPr lang="es-ES" sz="2200" b="1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ctr">
              <a:lnSpc>
                <a:spcPct val="150000"/>
              </a:lnSpc>
              <a:buSzPts val="5199"/>
            </a:pPr>
            <a:r>
              <a:rPr lang="es-ES" sz="2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Propiedades ACID - </a:t>
            </a:r>
            <a:r>
              <a:rPr lang="es-ES" sz="220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Atomicidad, Consistencia, Aislamiento y Durabilidad</a:t>
            </a:r>
          </a:p>
          <a:p>
            <a:pPr lvl="0" algn="ctr">
              <a:lnSpc>
                <a:spcPct val="150000"/>
              </a:lnSpc>
              <a:buSzPts val="5199"/>
            </a:pPr>
            <a:endParaRPr lang="es-ES" sz="2200" b="1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ctr">
              <a:lnSpc>
                <a:spcPct val="150000"/>
              </a:lnSpc>
              <a:buSzPts val="5199"/>
            </a:pPr>
            <a:r>
              <a:rPr lang="es-ES" sz="2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Time-</a:t>
            </a:r>
            <a:r>
              <a:rPr lang="es-ES" sz="22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stamping</a:t>
            </a:r>
            <a:r>
              <a:rPr lang="es-ES" sz="2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  <a:r>
              <a:rPr lang="es-ES" sz="220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Ordenamiento de transacciones usando marcas de tiempo</a:t>
            </a:r>
          </a:p>
          <a:p>
            <a:pPr lvl="0" algn="ctr">
              <a:lnSpc>
                <a:spcPct val="150000"/>
              </a:lnSpc>
              <a:buSzPts val="5199"/>
            </a:pPr>
            <a:endParaRPr lang="es-ES" sz="2200" b="1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ctr">
              <a:lnSpc>
                <a:spcPct val="150000"/>
              </a:lnSpc>
              <a:buSzPts val="5199"/>
            </a:pPr>
            <a:r>
              <a:rPr lang="es-ES" sz="22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Deadlocks</a:t>
            </a:r>
            <a:r>
              <a:rPr lang="es-ES" sz="2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  <a:r>
              <a:rPr lang="es-ES" sz="220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Interbloqueos que ocurren cuando transacciones se bloquean mutuamente</a:t>
            </a:r>
          </a:p>
          <a:p>
            <a:pPr lvl="0" algn="ctr">
              <a:lnSpc>
                <a:spcPct val="150000"/>
              </a:lnSpc>
              <a:buSzPts val="5199"/>
            </a:pPr>
            <a:endParaRPr lang="es-ES" sz="2200" b="1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ctr">
              <a:lnSpc>
                <a:spcPct val="150000"/>
              </a:lnSpc>
              <a:buSzPts val="5199"/>
            </a:pPr>
            <a:r>
              <a:rPr lang="es-ES" sz="22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Savepoints</a:t>
            </a:r>
            <a:r>
              <a:rPr lang="es-ES" sz="2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  <a:r>
              <a:rPr lang="es-ES" sz="220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Puntos de guardado que permiten </a:t>
            </a:r>
            <a:r>
              <a:rPr lang="es-ES" sz="2200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rollbacks</a:t>
            </a:r>
            <a:r>
              <a:rPr lang="es-ES" sz="220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parciales</a:t>
            </a:r>
          </a:p>
          <a:p>
            <a:pPr lvl="0" algn="ctr">
              <a:lnSpc>
                <a:spcPct val="150000"/>
              </a:lnSpc>
              <a:buSzPts val="5199"/>
            </a:pPr>
            <a:endParaRPr lang="es-ES" sz="2200" b="1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ctr">
              <a:lnSpc>
                <a:spcPct val="150000"/>
              </a:lnSpc>
              <a:buSzPts val="5199"/>
            </a:pPr>
            <a:r>
              <a:rPr lang="es-ES" sz="22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Rollback</a:t>
            </a:r>
            <a:r>
              <a:rPr lang="es-ES" sz="2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s-ES" sz="22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Commit</a:t>
            </a:r>
            <a:r>
              <a:rPr lang="es-ES" sz="2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  <a:r>
              <a:rPr lang="es-ES" sz="220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Revertir o confirmar cambios en transacciones</a:t>
            </a:r>
          </a:p>
          <a:p>
            <a:pPr lvl="0" algn="ctr">
              <a:lnSpc>
                <a:spcPct val="150000"/>
              </a:lnSpc>
              <a:buSzPts val="5199"/>
            </a:pPr>
            <a:endParaRPr lang="es-ES" sz="2200" b="1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ctr">
              <a:lnSpc>
                <a:spcPct val="150000"/>
              </a:lnSpc>
              <a:buSzPts val="5199"/>
            </a:pPr>
            <a:r>
              <a:rPr lang="es-ES" sz="2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Manejo de CSV/TSV con Python - </a:t>
            </a:r>
            <a:r>
              <a:rPr lang="es-ES" sz="220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Extracción, transformación y carga de datos</a:t>
            </a:r>
            <a:endParaRPr lang="es-E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2241919" y="970629"/>
            <a:ext cx="135033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None/>
            </a:pPr>
            <a:r>
              <a:rPr lang="en-US" sz="8800" b="1" i="0" dirty="0">
                <a:effectLst/>
                <a:latin typeface="fkGrotesk"/>
              </a:rPr>
              <a:t>CONFIABILIDAD</a:t>
            </a:r>
          </a:p>
        </p:txBody>
      </p:sp>
      <p:sp>
        <p:nvSpPr>
          <p:cNvPr id="3" name="Google Shape;171;p7">
            <a:extLst>
              <a:ext uri="{FF2B5EF4-FFF2-40B4-BE49-F238E27FC236}">
                <a16:creationId xmlns:a16="http://schemas.microsoft.com/office/drawing/2014/main" id="{E93ED446-D29E-F061-D7B9-4B31C430624D}"/>
              </a:ext>
            </a:extLst>
          </p:cNvPr>
          <p:cNvSpPr txBox="1"/>
          <p:nvPr/>
        </p:nvSpPr>
        <p:spPr>
          <a:xfrm>
            <a:off x="2507389" y="2479988"/>
            <a:ext cx="12442095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s-ES" sz="4000" b="0" dirty="0">
                <a:effectLst/>
                <a:latin typeface="+mj-lt"/>
              </a:rPr>
              <a:t>“La CONFIABILIDAD en transacciones garantiza que los datos sean siempre exactos y consistentes, incluso cuando múltiples usuarios acceden simultáneamente, gracias a las propiedades ACID y mecanismos de control de concurrencia"</a:t>
            </a:r>
            <a:endParaRPr sz="1400" b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1;p7">
            <a:extLst>
              <a:ext uri="{FF2B5EF4-FFF2-40B4-BE49-F238E27FC236}">
                <a16:creationId xmlns:a16="http://schemas.microsoft.com/office/drawing/2014/main" id="{5E187018-7A84-3C15-39D4-3DD811377B94}"/>
              </a:ext>
            </a:extLst>
          </p:cNvPr>
          <p:cNvSpPr txBox="1"/>
          <p:nvPr/>
        </p:nvSpPr>
        <p:spPr>
          <a:xfrm>
            <a:off x="2507388" y="7384283"/>
            <a:ext cx="12442095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s-ES" sz="3200" b="0" dirty="0">
                <a:effectLst/>
                <a:latin typeface="+mj-lt"/>
              </a:rPr>
              <a:t>Los usuarios confían en que sus operaciones se completarán correctamente o no afectarán nada</a:t>
            </a:r>
            <a:endParaRPr sz="1100" b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4" name="Google Shape;184;p8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81;p8">
            <a:extLst>
              <a:ext uri="{FF2B5EF4-FFF2-40B4-BE49-F238E27FC236}">
                <a16:creationId xmlns:a16="http://schemas.microsoft.com/office/drawing/2014/main" id="{E09DCDFF-15ED-CD08-EE5C-518965EDA413}"/>
              </a:ext>
            </a:extLst>
          </p:cNvPr>
          <p:cNvSpPr txBox="1"/>
          <p:nvPr/>
        </p:nvSpPr>
        <p:spPr>
          <a:xfrm>
            <a:off x="962526" y="4361449"/>
            <a:ext cx="16435137" cy="301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19"/>
              </a:lnSpc>
              <a:buSzPts val="3151"/>
            </a:pPr>
            <a:r>
              <a:rPr lang="en-US" sz="3151" dirty="0">
                <a:solidFill>
                  <a:srgbClr val="131416"/>
                </a:solidFill>
                <a:hlinkClick r:id="rId4"/>
              </a:rPr>
              <a:t>https://www.datacamp.com/es/blog/acid-transactions</a:t>
            </a:r>
            <a:endParaRPr lang="en-US" sz="3151" dirty="0">
              <a:solidFill>
                <a:srgbClr val="131416"/>
              </a:solidFill>
            </a:endParaRPr>
          </a:p>
          <a:p>
            <a:pPr lvl="0" algn="ctr">
              <a:lnSpc>
                <a:spcPct val="140019"/>
              </a:lnSpc>
              <a:buSzPts val="3151"/>
            </a:pPr>
            <a:endParaRPr lang="en-US" sz="3151" dirty="0">
              <a:solidFill>
                <a:srgbClr val="131416"/>
              </a:solidFill>
            </a:endParaRPr>
          </a:p>
          <a:p>
            <a:pPr lvl="0" algn="ctr">
              <a:lnSpc>
                <a:spcPct val="140019"/>
              </a:lnSpc>
              <a:buSzPts val="3151"/>
            </a:pPr>
            <a:r>
              <a:rPr lang="en-US" sz="3151" dirty="0">
                <a:solidFill>
                  <a:srgbClr val="131416"/>
                </a:solidFill>
                <a:hlinkClick r:id="rId5"/>
              </a:rPr>
              <a:t>https://www.ionos.com/es-us/digitalguide/paginas-web/desarrollo-web/python-pandas-read-csv/</a:t>
            </a:r>
            <a:endParaRPr lang="en-US" sz="3151" dirty="0">
              <a:solidFill>
                <a:srgbClr val="131416"/>
              </a:solidFill>
            </a:endParaRPr>
          </a:p>
          <a:p>
            <a:pPr lvl="0" algn="ctr">
              <a:lnSpc>
                <a:spcPct val="140019"/>
              </a:lnSpc>
              <a:buSzPts val="3151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4f262177b_0_2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2" name="Google Shape;192;g364f262177b_0_2" title="Gemini_Generated_Image_u2i06ou2i06ou2i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"/>
            <a:ext cx="4695574" cy="64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4afea4f63_0_148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8" name="Google Shape;198;g364afea4f63_0_148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85e2d797db_0_12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g385e2d797db_0_12"/>
          <p:cNvGraphicFramePr/>
          <p:nvPr/>
        </p:nvGraphicFramePr>
        <p:xfrm>
          <a:off x="16900" y="1507250"/>
          <a:ext cx="10459750" cy="28039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" name="Google Shape;207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g385e2d797db_0_12"/>
          <p:cNvGraphicFramePr/>
          <p:nvPr/>
        </p:nvGraphicFramePr>
        <p:xfrm>
          <a:off x="10656400" y="1940050"/>
          <a:ext cx="7381150" cy="2377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1000" b="1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" name="Google Shape;210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/>
          <p:nvPr/>
        </p:nvSpPr>
        <p:spPr>
          <a:xfrm>
            <a:off x="3946352" y="5143500"/>
            <a:ext cx="10395289" cy="2304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800" b="0" i="0" u="none" strike="noStrike" cap="none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sz="7200" b="0" i="0" u="none" strike="noStrike" cap="none" dirty="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765363" y="5966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4" name="Google Shape;224;p9"/>
          <p:cNvSpPr txBox="1"/>
          <p:nvPr/>
        </p:nvSpPr>
        <p:spPr>
          <a:xfrm>
            <a:off x="2050150" y="7217412"/>
            <a:ext cx="13465804" cy="109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1480</Words>
  <Application>Microsoft Office PowerPoint</Application>
  <PresentationFormat>Custom</PresentationFormat>
  <Paragraphs>281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DM Sans</vt:lpstr>
      <vt:lpstr>berkeleyMono</vt:lpstr>
      <vt:lpstr>Calibri</vt:lpstr>
      <vt:lpstr>fkGrotesk</vt:lpstr>
      <vt:lpstr>Impact</vt:lpstr>
      <vt:lpstr>Arial</vt:lpstr>
      <vt:lpstr>Open Sans</vt:lpstr>
      <vt:lpstr>Lobster</vt:lpstr>
      <vt:lpstr>Pacifico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joshua vasquez</dc:creator>
  <cp:lastModifiedBy>Joshua Vasquez</cp:lastModifiedBy>
  <cp:revision>7</cp:revision>
  <dcterms:created xsi:type="dcterms:W3CDTF">2006-08-16T00:00:00Z</dcterms:created>
  <dcterms:modified xsi:type="dcterms:W3CDTF">2025-12-14T02:12:50Z</dcterms:modified>
</cp:coreProperties>
</file>